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74" r:id="rId7"/>
    <p:sldId id="261" r:id="rId8"/>
    <p:sldId id="275" r:id="rId9"/>
    <p:sldId id="262" r:id="rId10"/>
    <p:sldId id="264" r:id="rId11"/>
    <p:sldId id="297" r:id="rId12"/>
    <p:sldId id="265" r:id="rId13"/>
    <p:sldId id="268" r:id="rId14"/>
    <p:sldId id="269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CA897-CCBB-4CED-8998-3583EA046E44}" v="1" dt="2026-04-22T22:16:42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2" autoAdjust="0"/>
    <p:restoredTop sz="86552"/>
  </p:normalViewPr>
  <p:slideViewPr>
    <p:cSldViewPr snapToGrid="0">
      <p:cViewPr varScale="1">
        <p:scale>
          <a:sx n="83" d="100"/>
          <a:sy n="83" d="100"/>
        </p:scale>
        <p:origin x="52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5:27.429" v="39"/>
      <pc:docMkLst>
        <pc:docMk/>
      </pc:docMkLst>
      <pc:sldChg chg="del">
        <pc:chgData name="christopher posadas" userId="c785335156d879ca" providerId="LiveId" clId="{C9D886FB-ED5B-489B-8330-669FD307C29D}" dt="2026-04-22T23:15:26.464" v="35" actId="2696"/>
        <pc:sldMkLst>
          <pc:docMk/>
          <pc:sldMk cId="396691275" sldId="256"/>
        </pc:sldMkLst>
      </pc:sldChg>
      <pc:sldChg chg="modSp add mod">
        <pc:chgData name="christopher posadas" userId="c785335156d879ca" providerId="LiveId" clId="{C9D886FB-ED5B-489B-8330-669FD307C29D}" dt="2026-04-22T23:15:26.584" v="38" actId="20577"/>
        <pc:sldMkLst>
          <pc:docMk/>
          <pc:sldMk cId="3366929923" sldId="256"/>
        </pc:sldMkLst>
        <pc:spChg chg="mod">
          <ac:chgData name="christopher posadas" userId="c785335156d879ca" providerId="LiveId" clId="{C9D886FB-ED5B-489B-8330-669FD307C29D}" dt="2026-04-22T23:15:26.538" v="37" actId="20577"/>
          <ac:spMkLst>
            <pc:docMk/>
            <pc:sldMk cId="3366929923" sldId="256"/>
            <ac:spMk id="2" creationId="{E3F8F5A1-A2CD-5EFA-AA0F-E5844E761331}"/>
          </ac:spMkLst>
        </pc:spChg>
        <pc:spChg chg="mod">
          <ac:chgData name="christopher posadas" userId="c785335156d879ca" providerId="LiveId" clId="{C9D886FB-ED5B-489B-8330-669FD307C29D}" dt="2026-04-22T23:15:26.584" v="38" actId="20577"/>
          <ac:spMkLst>
            <pc:docMk/>
            <pc:sldMk cId="3366929923" sldId="256"/>
            <ac:spMk id="3" creationId="{8480F93D-75F9-AE11-776D-22BC6491A41D}"/>
          </ac:spMkLst>
        </pc:spChg>
      </pc:sldChg>
      <pc:sldChg chg="del">
        <pc:chgData name="christopher posadas" userId="c785335156d879ca" providerId="LiveId" clId="{C9D886FB-ED5B-489B-8330-669FD307C29D}" dt="2026-04-22T23:15:26.447" v="34" actId="2696"/>
        <pc:sldMkLst>
          <pc:docMk/>
          <pc:sldMk cId="2290781825" sldId="258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3645120665" sldId="258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2808833798" sldId="261"/>
        </pc:sldMkLst>
      </pc:sldChg>
      <pc:sldChg chg="del">
        <pc:chgData name="christopher posadas" userId="c785335156d879ca" providerId="LiveId" clId="{C9D886FB-ED5B-489B-8330-669FD307C29D}" dt="2026-04-22T23:15:26.429" v="32" actId="2696"/>
        <pc:sldMkLst>
          <pc:docMk/>
          <pc:sldMk cId="3227061500" sldId="261"/>
        </pc:sldMkLst>
      </pc:sldChg>
      <pc:sldChg chg="del">
        <pc:chgData name="christopher posadas" userId="c785335156d879ca" providerId="LiveId" clId="{C9D886FB-ED5B-489B-8330-669FD307C29D}" dt="2026-04-22T23:15:26.397" v="30" actId="2696"/>
        <pc:sldMkLst>
          <pc:docMk/>
          <pc:sldMk cId="2142662458" sldId="262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3958487052" sldId="262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3083769978" sldId="264"/>
        </pc:sldMkLst>
      </pc:sldChg>
      <pc:sldChg chg="del">
        <pc:chgData name="christopher posadas" userId="c785335156d879ca" providerId="LiveId" clId="{C9D886FB-ED5B-489B-8330-669FD307C29D}" dt="2026-04-22T23:15:26.389" v="29" actId="2696"/>
        <pc:sldMkLst>
          <pc:docMk/>
          <pc:sldMk cId="3095086504" sldId="264"/>
        </pc:sldMkLst>
      </pc:sldChg>
      <pc:sldChg chg="del">
        <pc:chgData name="christopher posadas" userId="c785335156d879ca" providerId="LiveId" clId="{C9D886FB-ED5B-489B-8330-669FD307C29D}" dt="2026-04-22T23:15:26.315" v="27" actId="2696"/>
        <pc:sldMkLst>
          <pc:docMk/>
          <pc:sldMk cId="2061383315" sldId="265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2748598708" sldId="265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13949354" sldId="268"/>
        </pc:sldMkLst>
      </pc:sldChg>
      <pc:sldChg chg="del">
        <pc:chgData name="christopher posadas" userId="c785335156d879ca" providerId="LiveId" clId="{C9D886FB-ED5B-489B-8330-669FD307C29D}" dt="2026-04-22T23:15:26.309" v="26" actId="2696"/>
        <pc:sldMkLst>
          <pc:docMk/>
          <pc:sldMk cId="454612365" sldId="268"/>
        </pc:sldMkLst>
      </pc:sldChg>
      <pc:sldChg chg="del">
        <pc:chgData name="christopher posadas" userId="c785335156d879ca" providerId="LiveId" clId="{C9D886FB-ED5B-489B-8330-669FD307C29D}" dt="2026-04-22T23:15:26.301" v="25" actId="2696"/>
        <pc:sldMkLst>
          <pc:docMk/>
          <pc:sldMk cId="2013240545" sldId="269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3387756409" sldId="269"/>
        </pc:sldMkLst>
      </pc:sldChg>
      <pc:sldChg chg="del">
        <pc:chgData name="christopher posadas" userId="c785335156d879ca" providerId="LiveId" clId="{C9D886FB-ED5B-489B-8330-669FD307C29D}" dt="2026-04-22T23:15:26.439" v="33" actId="2696"/>
        <pc:sldMkLst>
          <pc:docMk/>
          <pc:sldMk cId="2221445698" sldId="274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3919156426" sldId="274"/>
        </pc:sldMkLst>
      </pc:sldChg>
      <pc:sldChg chg="del">
        <pc:chgData name="christopher posadas" userId="c785335156d879ca" providerId="LiveId" clId="{C9D886FB-ED5B-489B-8330-669FD307C29D}" dt="2026-04-22T23:15:26.413" v="31" actId="2696"/>
        <pc:sldMkLst>
          <pc:docMk/>
          <pc:sldMk cId="2937078629" sldId="275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3613047383" sldId="275"/>
        </pc:sldMkLst>
      </pc:sldChg>
      <pc:sldChg chg="del">
        <pc:chgData name="christopher posadas" userId="c785335156d879ca" providerId="LiveId" clId="{C9D886FB-ED5B-489B-8330-669FD307C29D}" dt="2026-04-22T23:15:26.256" v="22" actId="2696"/>
        <pc:sldMkLst>
          <pc:docMk/>
          <pc:sldMk cId="1621632221" sldId="277"/>
        </pc:sldMkLst>
      </pc:sldChg>
      <pc:sldChg chg="del">
        <pc:chgData name="christopher posadas" userId="c785335156d879ca" providerId="LiveId" clId="{C9D886FB-ED5B-489B-8330-669FD307C29D}" dt="2026-04-22T23:15:26.287" v="23" actId="2696"/>
        <pc:sldMkLst>
          <pc:docMk/>
          <pc:sldMk cId="3436246834" sldId="278"/>
        </pc:sldMkLst>
      </pc:sldChg>
      <pc:sldChg chg="del">
        <pc:chgData name="christopher posadas" userId="c785335156d879ca" providerId="LiveId" clId="{C9D886FB-ED5B-489B-8330-669FD307C29D}" dt="2026-04-22T23:15:26.228" v="21" actId="2696"/>
        <pc:sldMkLst>
          <pc:docMk/>
          <pc:sldMk cId="2598992123" sldId="279"/>
        </pc:sldMkLst>
      </pc:sldChg>
      <pc:sldChg chg="del">
        <pc:chgData name="christopher posadas" userId="c785335156d879ca" providerId="LiveId" clId="{C9D886FB-ED5B-489B-8330-669FD307C29D}" dt="2026-04-22T23:15:26.156" v="20" actId="2696"/>
        <pc:sldMkLst>
          <pc:docMk/>
          <pc:sldMk cId="2383109312" sldId="280"/>
        </pc:sldMkLst>
      </pc:sldChg>
      <pc:sldChg chg="del">
        <pc:chgData name="christopher posadas" userId="c785335156d879ca" providerId="LiveId" clId="{C9D886FB-ED5B-489B-8330-669FD307C29D}" dt="2026-04-22T23:15:25.956" v="17" actId="2696"/>
        <pc:sldMkLst>
          <pc:docMk/>
          <pc:sldMk cId="3605495435" sldId="281"/>
        </pc:sldMkLst>
      </pc:sldChg>
      <pc:sldChg chg="del">
        <pc:chgData name="christopher posadas" userId="c785335156d879ca" providerId="LiveId" clId="{C9D886FB-ED5B-489B-8330-669FD307C29D}" dt="2026-04-22T23:15:25.951" v="16" actId="2696"/>
        <pc:sldMkLst>
          <pc:docMk/>
          <pc:sldMk cId="1849942314" sldId="282"/>
        </pc:sldMkLst>
      </pc:sldChg>
      <pc:sldChg chg="del">
        <pc:chgData name="christopher posadas" userId="c785335156d879ca" providerId="LiveId" clId="{C9D886FB-ED5B-489B-8330-669FD307C29D}" dt="2026-04-22T23:15:26.006" v="18" actId="2696"/>
        <pc:sldMkLst>
          <pc:docMk/>
          <pc:sldMk cId="2280493007" sldId="283"/>
        </pc:sldMkLst>
      </pc:sldChg>
      <pc:sldChg chg="del">
        <pc:chgData name="christopher posadas" userId="c785335156d879ca" providerId="LiveId" clId="{C9D886FB-ED5B-489B-8330-669FD307C29D}" dt="2026-04-22T23:15:25.946" v="14" actId="2696"/>
        <pc:sldMkLst>
          <pc:docMk/>
          <pc:sldMk cId="309275044" sldId="285"/>
        </pc:sldMkLst>
      </pc:sldChg>
      <pc:sldChg chg="del">
        <pc:chgData name="christopher posadas" userId="c785335156d879ca" providerId="LiveId" clId="{C9D886FB-ED5B-489B-8330-669FD307C29D}" dt="2026-04-22T23:15:25.793" v="9" actId="2696"/>
        <pc:sldMkLst>
          <pc:docMk/>
          <pc:sldMk cId="283709182" sldId="286"/>
        </pc:sldMkLst>
      </pc:sldChg>
      <pc:sldChg chg="del">
        <pc:chgData name="christopher posadas" userId="c785335156d879ca" providerId="LiveId" clId="{C9D886FB-ED5B-489B-8330-669FD307C29D}" dt="2026-04-22T23:15:25.604" v="5" actId="2696"/>
        <pc:sldMkLst>
          <pc:docMk/>
          <pc:sldMk cId="2602283100" sldId="287"/>
        </pc:sldMkLst>
      </pc:sldChg>
      <pc:sldChg chg="del">
        <pc:chgData name="christopher posadas" userId="c785335156d879ca" providerId="LiveId" clId="{C9D886FB-ED5B-489B-8330-669FD307C29D}" dt="2026-04-22T23:15:25.806" v="10" actId="2696"/>
        <pc:sldMkLst>
          <pc:docMk/>
          <pc:sldMk cId="2395723899" sldId="288"/>
        </pc:sldMkLst>
      </pc:sldChg>
      <pc:sldChg chg="del">
        <pc:chgData name="christopher posadas" userId="c785335156d879ca" providerId="LiveId" clId="{C9D886FB-ED5B-489B-8330-669FD307C29D}" dt="2026-04-22T23:15:25.919" v="11" actId="2696"/>
        <pc:sldMkLst>
          <pc:docMk/>
          <pc:sldMk cId="2557136691" sldId="289"/>
        </pc:sldMkLst>
      </pc:sldChg>
      <pc:sldChg chg="del">
        <pc:chgData name="christopher posadas" userId="c785335156d879ca" providerId="LiveId" clId="{C9D886FB-ED5B-489B-8330-669FD307C29D}" dt="2026-04-22T23:15:25.934" v="12" actId="2696"/>
        <pc:sldMkLst>
          <pc:docMk/>
          <pc:sldMk cId="3652411697" sldId="290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499256428" sldId="293"/>
        </pc:sldMkLst>
      </pc:sldChg>
      <pc:sldChg chg="del">
        <pc:chgData name="christopher posadas" userId="c785335156d879ca" providerId="LiveId" clId="{C9D886FB-ED5B-489B-8330-669FD307C29D}" dt="2026-04-22T23:15:26.293" v="24" actId="2696"/>
        <pc:sldMkLst>
          <pc:docMk/>
          <pc:sldMk cId="669868085" sldId="293"/>
        </pc:sldMkLst>
      </pc:sldChg>
      <pc:sldChg chg="del">
        <pc:chgData name="christopher posadas" userId="c785335156d879ca" providerId="LiveId" clId="{C9D886FB-ED5B-489B-8330-669FD307C29D}" dt="2026-04-22T23:15:26.092" v="19" actId="2696"/>
        <pc:sldMkLst>
          <pc:docMk/>
          <pc:sldMk cId="3337125227" sldId="294"/>
        </pc:sldMkLst>
      </pc:sldChg>
      <pc:sldChg chg="del">
        <pc:chgData name="christopher posadas" userId="c785335156d879ca" providerId="LiveId" clId="{C9D886FB-ED5B-489B-8330-669FD307C29D}" dt="2026-04-22T23:15:26.322" v="28" actId="2696"/>
        <pc:sldMkLst>
          <pc:docMk/>
          <pc:sldMk cId="1825093525" sldId="297"/>
        </pc:sldMkLst>
      </pc:sldChg>
      <pc:sldChg chg="add">
        <pc:chgData name="christopher posadas" userId="c785335156d879ca" providerId="LiveId" clId="{C9D886FB-ED5B-489B-8330-669FD307C29D}" dt="2026-04-22T23:15:27.429" v="39"/>
        <pc:sldMkLst>
          <pc:docMk/>
          <pc:sldMk cId="2811241736" sldId="297"/>
        </pc:sldMkLst>
      </pc:sldChg>
      <pc:sldChg chg="del">
        <pc:chgData name="christopher posadas" userId="c785335156d879ca" providerId="LiveId" clId="{C9D886FB-ED5B-489B-8330-669FD307C29D}" dt="2026-04-22T23:15:25.949" v="15" actId="2696"/>
        <pc:sldMkLst>
          <pc:docMk/>
          <pc:sldMk cId="1696392127" sldId="302"/>
        </pc:sldMkLst>
      </pc:sldChg>
      <pc:sldChg chg="del">
        <pc:chgData name="christopher posadas" userId="c785335156d879ca" providerId="LiveId" clId="{C9D886FB-ED5B-489B-8330-669FD307C29D}" dt="2026-04-22T23:15:25.942" v="13" actId="2696"/>
        <pc:sldMkLst>
          <pc:docMk/>
          <pc:sldMk cId="2646266552" sldId="303"/>
        </pc:sldMkLst>
      </pc:sldChg>
      <pc:sldChg chg="del">
        <pc:chgData name="christopher posadas" userId="c785335156d879ca" providerId="LiveId" clId="{C9D886FB-ED5B-489B-8330-669FD307C29D}" dt="2026-04-22T23:15:25.751" v="8" actId="2696"/>
        <pc:sldMkLst>
          <pc:docMk/>
          <pc:sldMk cId="1742610758" sldId="305"/>
        </pc:sldMkLst>
      </pc:sldChg>
      <pc:sldChg chg="modSp add del mod">
        <pc:chgData name="christopher posadas" userId="c785335156d879ca" providerId="LiveId" clId="{C9D886FB-ED5B-489B-8330-669FD307C29D}" dt="2026-04-22T23:15:25.684" v="7" actId="2696"/>
        <pc:sldMkLst>
          <pc:docMk/>
          <pc:sldMk cId="2520088859" sldId="306"/>
        </pc:sldMkLst>
        <pc:spChg chg="mod">
          <ac:chgData name="christopher posadas" userId="c785335156d879ca" providerId="LiveId" clId="{C9D886FB-ED5B-489B-8330-669FD307C29D}" dt="2026-04-22T22:35:05.415" v="2" actId="20577"/>
          <ac:spMkLst>
            <pc:docMk/>
            <pc:sldMk cId="2520088859" sldId="306"/>
            <ac:spMk id="3" creationId="{56BA7DC2-7FDA-1914-E677-41C61AB65D86}"/>
          </ac:spMkLst>
        </pc:spChg>
      </pc:sldChg>
      <pc:sldChg chg="del">
        <pc:chgData name="christopher posadas" userId="c785335156d879ca" providerId="LiveId" clId="{C9D886FB-ED5B-489B-8330-669FD307C29D}" dt="2026-04-22T23:15:25.656" v="6" actId="2696"/>
        <pc:sldMkLst>
          <pc:docMk/>
          <pc:sldMk cId="3474127650" sldId="307"/>
        </pc:sldMkLst>
      </pc:sldChg>
      <pc:sldChg chg="del">
        <pc:chgData name="christopher posadas" userId="c785335156d879ca" providerId="LiveId" clId="{C9D886FB-ED5B-489B-8330-669FD307C29D}" dt="2026-04-22T23:15:25.565" v="4" actId="2696"/>
        <pc:sldMkLst>
          <pc:docMk/>
          <pc:sldMk cId="3964713656" sldId="308"/>
        </pc:sldMkLst>
      </pc:sldChg>
      <pc:sldChg chg="del">
        <pc:chgData name="christopher posadas" userId="c785335156d879ca" providerId="LiveId" clId="{C9D886FB-ED5B-489B-8330-669FD307C29D}" dt="2026-04-22T23:15:25.484" v="3" actId="2696"/>
        <pc:sldMkLst>
          <pc:docMk/>
          <pc:sldMk cId="2113771593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Reasons we need to clean data</a:t>
            </a:r>
          </a:p>
          <a:p>
            <a:endParaRPr lang="en-US" dirty="0"/>
          </a:p>
          <a:p>
            <a:r>
              <a:rPr lang="en-US" dirty="0"/>
              <a:t>Missing or Incomplete Data</a:t>
            </a:r>
          </a:p>
          <a:p>
            <a:r>
              <a:rPr lang="en-US" dirty="0"/>
              <a:t>Inconsistency with survey responses</a:t>
            </a:r>
          </a:p>
          <a:p>
            <a:r>
              <a:rPr lang="en-US" dirty="0"/>
              <a:t>Inconsistent Units or Scales – height in inches vs cm</a:t>
            </a:r>
          </a:p>
          <a:p>
            <a:r>
              <a:rPr lang="en-US" dirty="0"/>
              <a:t>Duplicates</a:t>
            </a:r>
          </a:p>
          <a:p>
            <a:r>
              <a:rPr lang="en-US" dirty="0"/>
              <a:t>Impossible values</a:t>
            </a:r>
          </a:p>
          <a:p>
            <a:r>
              <a:rPr lang="en-US" dirty="0"/>
              <a:t>Incorrect data types – numbers stored as strings, categories as integers, dates as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5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not to impute? Ex: “Did not answer” is itself a category</a:t>
            </a:r>
          </a:p>
          <a:p>
            <a:r>
              <a:rPr lang="en-US" dirty="0"/>
              <a:t>When the variable isn’t needed</a:t>
            </a:r>
          </a:p>
          <a:p>
            <a:r>
              <a:rPr lang="en-US" dirty="0"/>
              <a:t>When missingness is too extensive</a:t>
            </a:r>
          </a:p>
          <a:p>
            <a:r>
              <a:rPr lang="en-US" dirty="0"/>
              <a:t>When imputation would introduce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2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F5A1-A2CD-5EFA-AA0F-E5844E761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 Quality, Cleaning, and Trustworthy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0F93D-75F9-AE11-776D-22BC6491A4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3</a:t>
            </a:r>
          </a:p>
          <a:p>
            <a:r>
              <a:rPr lang="en-US"/>
              <a:t>Built from current L3 conceptual cleaning slides 2-12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64771-BA8B-C6BF-9831-CD03A262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2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DCC3-9DA6-6905-5313-176290E3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3777-1EEC-CE1E-CAF3-6D82C55C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this as “listening to the data.”</a:t>
            </a:r>
          </a:p>
          <a:p>
            <a:r>
              <a:rPr lang="en-US" dirty="0"/>
              <a:t>Gain a big-picture understanding of what the data is telling us.</a:t>
            </a:r>
          </a:p>
          <a:p>
            <a:r>
              <a:rPr lang="en-US" dirty="0"/>
              <a:t>Do this before asking targeted questions of the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675C-09DF-1829-529C-82730EB5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20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230B-4133-8788-AF0D-BFBF0E00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4AE81-EAAE-3C98-608B-6AB4E166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takes numbers as values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Can</a:t>
            </a:r>
            <a:r>
              <a:rPr lang="en-US" dirty="0"/>
              <a:t> take any value between its minimum and maximum.</a:t>
            </a:r>
          </a:p>
          <a:p>
            <a:pPr lvl="2"/>
            <a:r>
              <a:rPr lang="en-US" dirty="0"/>
              <a:t>ex: age, temperature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Cannot </a:t>
            </a:r>
            <a:r>
              <a:rPr lang="en-US" dirty="0"/>
              <a:t>take any value between its min and max; usually integers.</a:t>
            </a:r>
          </a:p>
          <a:p>
            <a:pPr lvl="2"/>
            <a:r>
              <a:rPr lang="en-US" dirty="0"/>
              <a:t>ex: number of ice cream flavors, number of Army and Air National Guard officers</a:t>
            </a:r>
          </a:p>
          <a:p>
            <a:r>
              <a:rPr lang="en-US" dirty="0"/>
              <a:t>Ordinal variables: Takes </a:t>
            </a:r>
            <a:r>
              <a:rPr lang="en-US" i="1" dirty="0"/>
              <a:t>ordered</a:t>
            </a:r>
            <a:r>
              <a:rPr lang="en-US" dirty="0"/>
              <a:t> </a:t>
            </a:r>
            <a:r>
              <a:rPr lang="en-US" i="1" dirty="0"/>
              <a:t>categories</a:t>
            </a:r>
            <a:r>
              <a:rPr lang="en-US" dirty="0"/>
              <a:t> as its values</a:t>
            </a:r>
          </a:p>
          <a:p>
            <a:pPr lvl="1"/>
            <a:r>
              <a:rPr lang="en-US" dirty="0"/>
              <a:t>ex: Enlisted ranks</a:t>
            </a:r>
          </a:p>
          <a:p>
            <a:r>
              <a:rPr lang="en-US" dirty="0"/>
              <a:t>Categorical variables: Takes </a:t>
            </a:r>
            <a:r>
              <a:rPr lang="en-US" i="1" dirty="0"/>
              <a:t>unordered categories </a:t>
            </a:r>
            <a:r>
              <a:rPr lang="en-US" dirty="0"/>
              <a:t>as its values</a:t>
            </a:r>
          </a:p>
          <a:p>
            <a:pPr lvl="1"/>
            <a:r>
              <a:rPr lang="en-US" dirty="0"/>
              <a:t>ex: Service branch, property view (“ocean”, “mountain”, etc.)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4938-8961-E4B3-749D-3149CA60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5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2300-694C-CBE3-0AC8-73339334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cleaning?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095B-4E8E-270E-8A8A-A705AE8B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be messy/dirty. Why?</a:t>
            </a:r>
          </a:p>
          <a:p>
            <a:pPr lvl="1"/>
            <a:r>
              <a:rPr lang="en-US" dirty="0"/>
              <a:t>Data entry errors</a:t>
            </a:r>
          </a:p>
          <a:p>
            <a:pPr lvl="1"/>
            <a:r>
              <a:rPr lang="en-US" dirty="0"/>
              <a:t>Non-standardization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B051-3D27-6D37-23AC-14E96B51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3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6D2D-CAE1-DA1F-70A5-26CD5FE6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50B5-7162-99EC-F391-5EC9C7AF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8"/>
            <a:ext cx="10515600" cy="50461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Categorical variables may be recorded in an incorrect variable type in the dataset. </a:t>
            </a:r>
          </a:p>
          <a:p>
            <a:r>
              <a:rPr lang="en-US" dirty="0"/>
              <a:t>Example: Survey Responses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“difference” between services?</a:t>
            </a:r>
          </a:p>
          <a:p>
            <a:r>
              <a:rPr lang="en-US" dirty="0"/>
              <a:t>Later: We will examine ways to encode categorical data numerically (binary, one-hot encoding,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ABEF-F865-7FAC-391F-330FA4A0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D710C-2FC0-B9D1-809F-100C2330691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16192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11121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046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Service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0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28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Marine Corps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3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Space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3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Coast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9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04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F856-BAA2-A81F-75D9-6072E997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9702-31CC-EE89-B33D-2231B0E5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  <a:p>
            <a:r>
              <a:rPr lang="en-US" dirty="0"/>
              <a:t>Fixing data types</a:t>
            </a:r>
          </a:p>
          <a:p>
            <a:r>
              <a:rPr lang="en-US" dirty="0"/>
              <a:t>Renaming and standardizing columns</a:t>
            </a:r>
          </a:p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  <a:p>
            <a:r>
              <a:rPr lang="en-US" dirty="0"/>
              <a:t>Detecting outliers</a:t>
            </a:r>
          </a:p>
          <a:p>
            <a:r>
              <a:rPr lang="en-US" dirty="0"/>
              <a:t>Basic sanity checks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A91B-7203-B4A1-FF08-3A484F70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8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E46F-8C46-0604-3681-E496F4CA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D38F-F8E6-E344-300D-A8F96C87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 missingness / count missing values</a:t>
                </a:r>
              </a:p>
              <a:p>
                <a:r>
                  <a:rPr lang="en-US" dirty="0"/>
                  <a:t>Distinguish </a:t>
                </a:r>
                <a:r>
                  <a:rPr lang="en-US" i="1" dirty="0"/>
                  <a:t>true zeros</a:t>
                </a:r>
                <a:r>
                  <a:rPr lang="en-US" dirty="0"/>
                  <a:t> from </a:t>
                </a:r>
                <a:r>
                  <a:rPr lang="en-US" i="1" dirty="0"/>
                  <a:t>missing zeros</a:t>
                </a:r>
              </a:p>
              <a:p>
                <a:pPr lvl="1"/>
                <a:r>
                  <a:rPr lang="en-US" dirty="0"/>
                  <a:t>Weight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This is not a true zero, but a placeholder for missing data</a:t>
                </a:r>
              </a:p>
              <a:p>
                <a:pPr lvl="1"/>
                <a:r>
                  <a:rPr lang="en-US" dirty="0"/>
                  <a:t>Siblings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Valid entry</a:t>
                </a:r>
              </a:p>
              <a:p>
                <a:r>
                  <a:rPr lang="en-US" dirty="0"/>
                  <a:t>Dropping vs. Imputing data</a:t>
                </a:r>
              </a:p>
              <a:p>
                <a:pPr lvl="1"/>
                <a:r>
                  <a:rPr lang="en-US" dirty="0"/>
                  <a:t>Dropping rows is simple, but can remove a lot of data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Justifications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6C42C-FC4A-1568-0FB5-0F6CA96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6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9D31-7925-BE3F-27FB-95F0348E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CE3B-D97B-A208-38C1-457FE26C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5597-7CB6-B6D5-D084-43A15E96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5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Imputation: replacing missing values with </a:t>
            </a:r>
            <a:r>
              <a:rPr lang="en-US" i="1" dirty="0"/>
              <a:t>reasonable </a:t>
            </a:r>
            <a:r>
              <a:rPr lang="en-US" dirty="0"/>
              <a:t>substitutes so we don’t lose entire rows of data.</a:t>
            </a:r>
          </a:p>
          <a:p>
            <a:r>
              <a:rPr lang="en-US" dirty="0"/>
              <a:t>Ensure summaries and models can run</a:t>
            </a:r>
          </a:p>
          <a:p>
            <a:r>
              <a:rPr lang="en-US" dirty="0"/>
              <a:t>Dataset remains as representative as possible</a:t>
            </a:r>
          </a:p>
          <a:p>
            <a:pPr lvl="1"/>
            <a:r>
              <a:rPr lang="en-US" dirty="0"/>
              <a:t>Simple (Univariate) Imputation</a:t>
            </a:r>
          </a:p>
          <a:p>
            <a:pPr lvl="2"/>
            <a:r>
              <a:rPr lang="en-US" dirty="0"/>
              <a:t>Mean, Median, Mode, or replace with a constant</a:t>
            </a:r>
          </a:p>
          <a:p>
            <a:pPr lvl="2"/>
            <a:r>
              <a:rPr lang="en-US" dirty="0"/>
              <a:t>Intuitive but can distort distributions</a:t>
            </a:r>
          </a:p>
          <a:p>
            <a:pPr lvl="1"/>
            <a:r>
              <a:rPr lang="en-US" dirty="0"/>
              <a:t>Conditional (Multivariate) Imputation</a:t>
            </a:r>
          </a:p>
          <a:p>
            <a:pPr lvl="2"/>
            <a:r>
              <a:rPr lang="en-US" dirty="0"/>
              <a:t>Use other variables to make better guesses</a:t>
            </a:r>
          </a:p>
          <a:p>
            <a:pPr lvl="2"/>
            <a:r>
              <a:rPr lang="en-US" dirty="0"/>
              <a:t>Regression, k-nearest neighbors (</a:t>
            </a:r>
            <a:r>
              <a:rPr lang="en-US" dirty="0" err="1"/>
              <a:t>kNN</a:t>
            </a:r>
            <a:r>
              <a:rPr lang="en-US" dirty="0"/>
              <a:t>), predictive mean matching</a:t>
            </a:r>
          </a:p>
          <a:p>
            <a:pPr lvl="2"/>
            <a:r>
              <a:rPr lang="en-US" dirty="0"/>
              <a:t>Preserves relationships between variables, but complex and requires modeling assumptions</a:t>
            </a:r>
          </a:p>
          <a:p>
            <a:pPr lvl="1"/>
            <a:r>
              <a:rPr lang="en-US" dirty="0"/>
              <a:t>Multiple Imputation</a:t>
            </a:r>
          </a:p>
          <a:p>
            <a:pPr lvl="2"/>
            <a:r>
              <a:rPr lang="en-US" dirty="0"/>
              <a:t>Create several plausible datasets, analyze each, and combine results</a:t>
            </a:r>
          </a:p>
          <a:p>
            <a:r>
              <a:rPr lang="en-US" dirty="0"/>
              <a:t>Know when </a:t>
            </a:r>
            <a:r>
              <a:rPr lang="en-US" i="1" dirty="0"/>
              <a:t>not </a:t>
            </a:r>
            <a:r>
              <a:rPr lang="en-US" dirty="0"/>
              <a:t>to impute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46DB-3725-4465-30C5-E9FE04A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4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239-65C7-A915-E504-3682DE02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79E-97DA-DBEB-5265-952CA2BD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F708-68F7-3407-180F-8A412F23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0201" cy="4351338"/>
          </a:xfrm>
        </p:spPr>
        <p:txBody>
          <a:bodyPr/>
          <a:lstStyle/>
          <a:p>
            <a:r>
              <a:rPr lang="en-US" dirty="0"/>
              <a:t>Numeric columns read as strings</a:t>
            </a:r>
          </a:p>
          <a:p>
            <a:r>
              <a:rPr lang="en-US" dirty="0"/>
              <a:t>Categorical variables read as integers</a:t>
            </a:r>
          </a:p>
          <a:p>
            <a:r>
              <a:rPr lang="en-US" dirty="0"/>
              <a:t>Dates read as text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A0E5D-38E4-924A-A1AB-BA839F1F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9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5FEA-52E3-888D-EAC3-1C61DEAB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D863-085E-D7AE-1BEE-154CBAB8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D40F-9664-A8C2-B409-540B4311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Outliers: </a:t>
            </a:r>
            <a:r>
              <a:rPr lang="en-US" dirty="0"/>
              <a:t>Observations that are unusually far </a:t>
            </a:r>
            <a:br>
              <a:rPr lang="en-US" dirty="0"/>
            </a:br>
            <a:r>
              <a:rPr lang="en-US" dirty="0"/>
              <a:t>from the data, do not follow overall pattern</a:t>
            </a:r>
          </a:p>
          <a:p>
            <a:r>
              <a:rPr lang="en-US" dirty="0"/>
              <a:t>Also consider this during your visual EDA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Boxplots</a:t>
            </a:r>
          </a:p>
          <a:p>
            <a:pPr lvl="1"/>
            <a:r>
              <a:rPr lang="en-US" dirty="0"/>
              <a:t>Scatterplots</a:t>
            </a:r>
          </a:p>
          <a:p>
            <a:r>
              <a:rPr lang="en-US" dirty="0"/>
              <a:t>Later: More techniques (e.g., leverage)</a:t>
            </a:r>
          </a:p>
          <a:p>
            <a:endParaRPr lang="en-US" dirty="0"/>
          </a:p>
          <a:p>
            <a:r>
              <a:rPr lang="en-US" i="1" dirty="0"/>
              <a:t>Look</a:t>
            </a:r>
            <a:r>
              <a:rPr lang="en-US" dirty="0"/>
              <a:t> for these before you compute</a:t>
            </a:r>
          </a:p>
          <a:p>
            <a:r>
              <a:rPr lang="en-US" dirty="0"/>
              <a:t>You may be justified in cleaning (removing) outlier data</a:t>
            </a:r>
          </a:p>
          <a:p>
            <a:pPr lvl="1"/>
            <a:r>
              <a:rPr lang="en-US" dirty="0"/>
              <a:t>Remember: </a:t>
            </a:r>
            <a:r>
              <a:rPr lang="en-US" i="1" dirty="0"/>
              <a:t>Repeatable </a:t>
            </a:r>
            <a:r>
              <a:rPr lang="en-US" dirty="0"/>
              <a:t>and</a:t>
            </a:r>
            <a:r>
              <a:rPr lang="en-US" i="1" dirty="0"/>
              <a:t> Defensible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3D10-BB9B-03EF-6A1D-B8FA314B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02E33099-12BD-D5CB-4E63-FC4536AD5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875355"/>
            <a:ext cx="4589721" cy="417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FD60E-2801-A83B-7D3A-4940531EDCD6}"/>
              </a:ext>
            </a:extLst>
          </p:cNvPr>
          <p:cNvSpPr txBox="1"/>
          <p:nvPr/>
        </p:nvSpPr>
        <p:spPr>
          <a:xfrm>
            <a:off x="0" y="6567586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13949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7139-8C16-97B2-2E5E-E7FCE712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E6BE-A806-9DCD-4B71-03CFE876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CDAB-804F-A14A-991D-3255EF9D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Prof. Alderson: “Be wary of taking data at face value, especially when you don’t know how it was generated.”</a:t>
            </a:r>
          </a:p>
          <a:p>
            <a:pPr lvl="1"/>
            <a:r>
              <a:rPr lang="en-US" dirty="0"/>
              <a:t>Are units consistent?</a:t>
            </a:r>
          </a:p>
          <a:p>
            <a:pPr lvl="1"/>
            <a:r>
              <a:rPr lang="en-US" dirty="0"/>
              <a:t>Are there impossible values?</a:t>
            </a:r>
          </a:p>
          <a:p>
            <a:pPr lvl="1"/>
            <a:r>
              <a:rPr lang="en-US" dirty="0"/>
              <a:t>Does the number of rows match our expectations?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5ACF-CBC3-08D7-61E4-BA769F6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6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AA4A-6670-4EEF-2B4A-A2EA5DBE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673D-198A-89CD-ADF1-DFD99AC19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Data-driven studies involve very large datasets</a:t>
            </a:r>
          </a:p>
          <a:p>
            <a:r>
              <a:rPr lang="en-US" dirty="0"/>
              <a:t>Ideally, errors fixed at the data entry point</a:t>
            </a:r>
          </a:p>
          <a:p>
            <a:r>
              <a:rPr lang="en-US" dirty="0"/>
              <a:t>Fix what we can</a:t>
            </a:r>
          </a:p>
          <a:p>
            <a:pPr lvl="1"/>
            <a:r>
              <a:rPr lang="en-US" dirty="0"/>
              <a:t>Standardize variable (column) names across datasets</a:t>
            </a:r>
          </a:p>
          <a:p>
            <a:pPr lvl="1"/>
            <a:r>
              <a:rPr lang="en-US" dirty="0"/>
              <a:t>Parse / remove nonsensical data</a:t>
            </a:r>
          </a:p>
          <a:p>
            <a:r>
              <a:rPr lang="en-US" dirty="0"/>
              <a:t>Numerical issues may be easier to spot</a:t>
            </a:r>
          </a:p>
          <a:p>
            <a:pPr lvl="1"/>
            <a:r>
              <a:rPr lang="en-US" dirty="0"/>
              <a:t>Summary statistics</a:t>
            </a:r>
          </a:p>
          <a:p>
            <a:pPr lvl="1"/>
            <a:r>
              <a:rPr lang="en-US" dirty="0"/>
              <a:t>Visual EDA</a:t>
            </a:r>
          </a:p>
          <a:p>
            <a:r>
              <a:rPr lang="en-US" dirty="0"/>
              <a:t>Our toy example: Errors can be an indicator of credibility of the data source</a:t>
            </a:r>
          </a:p>
          <a:p>
            <a:pPr lvl="1"/>
            <a:r>
              <a:rPr lang="en-US" dirty="0"/>
              <a:t>Maybe we need to find another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C04F0-C820-9760-F3F9-3AB6AEE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5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0e81aeba-3fbe-492c-aacc-230c0d9347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721</Words>
  <Application>Microsoft Office PowerPoint</Application>
  <PresentationFormat>Widescreen</PresentationFormat>
  <Paragraphs>137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Data Quality, Cleaning, and Trustworthy Variables</vt:lpstr>
      <vt:lpstr>Exploratory Data Analysis</vt:lpstr>
      <vt:lpstr>Variable types</vt:lpstr>
      <vt:lpstr>Why data cleaning?</vt:lpstr>
      <vt:lpstr>Data Cleaning</vt:lpstr>
      <vt:lpstr>Data Cleaning 101</vt:lpstr>
      <vt:lpstr>Identifying and handling missing values</vt:lpstr>
      <vt:lpstr>Identifying and handling missing values</vt:lpstr>
      <vt:lpstr>Fixing data types</vt:lpstr>
      <vt:lpstr>Detecting outliers</vt:lpstr>
      <vt:lpstr>Basic sanity checks</vt:lpstr>
      <vt:lpstr>Realities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9</cp:revision>
  <dcterms:created xsi:type="dcterms:W3CDTF">2026-04-01T15:46:41Z</dcterms:created>
  <dcterms:modified xsi:type="dcterms:W3CDTF">2026-04-22T23:15:27Z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