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78" r:id="rId6"/>
    <p:sldId id="277" r:id="rId7"/>
    <p:sldId id="279" r:id="rId8"/>
    <p:sldId id="280" r:id="rId9"/>
    <p:sldId id="294" r:id="rId10"/>
    <p:sldId id="283" r:id="rId11"/>
    <p:sldId id="281" r:id="rId12"/>
    <p:sldId id="282" r:id="rId13"/>
    <p:sldId id="302" r:id="rId14"/>
    <p:sldId id="285" r:id="rId15"/>
    <p:sldId id="303" r:id="rId16"/>
    <p:sldId id="290" r:id="rId17"/>
    <p:sldId id="289" r:id="rId18"/>
    <p:sldId id="288" r:id="rId19"/>
    <p:sldId id="286" r:id="rId20"/>
    <p:sldId id="305" r:id="rId21"/>
    <p:sldId id="306" r:id="rId22"/>
    <p:sldId id="307" r:id="rId23"/>
    <p:sldId id="287" r:id="rId24"/>
    <p:sldId id="308" r:id="rId25"/>
    <p:sldId id="3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CA897-CCBB-4CED-8998-3583EA046E44}" v="1" dt="2026-04-22T22:16:42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2" autoAdjust="0"/>
    <p:restoredTop sz="86552"/>
  </p:normalViewPr>
  <p:slideViewPr>
    <p:cSldViewPr snapToGrid="0">
      <p:cViewPr varScale="1">
        <p:scale>
          <a:sx n="83" d="100"/>
          <a:sy n="83" d="100"/>
        </p:scale>
        <p:origin x="52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5:33.396" v="39"/>
      <pc:docMkLst>
        <pc:docMk/>
      </pc:docMkLst>
      <pc:sldChg chg="del">
        <pc:chgData name="christopher posadas" userId="c785335156d879ca" providerId="LiveId" clId="{C9D886FB-ED5B-489B-8330-669FD307C29D}" dt="2026-04-22T23:15:32.353" v="35" actId="2696"/>
        <pc:sldMkLst>
          <pc:docMk/>
          <pc:sldMk cId="396691275" sldId="256"/>
        </pc:sldMkLst>
      </pc:sldChg>
      <pc:sldChg chg="modSp add mod">
        <pc:chgData name="christopher posadas" userId="c785335156d879ca" providerId="LiveId" clId="{C9D886FB-ED5B-489B-8330-669FD307C29D}" dt="2026-04-22T23:15:32.412" v="38" actId="20577"/>
        <pc:sldMkLst>
          <pc:docMk/>
          <pc:sldMk cId="2810195214" sldId="256"/>
        </pc:sldMkLst>
        <pc:spChg chg="mod">
          <ac:chgData name="christopher posadas" userId="c785335156d879ca" providerId="LiveId" clId="{C9D886FB-ED5B-489B-8330-669FD307C29D}" dt="2026-04-22T23:15:32.397" v="37" actId="20577"/>
          <ac:spMkLst>
            <pc:docMk/>
            <pc:sldMk cId="2810195214" sldId="256"/>
            <ac:spMk id="2" creationId="{114F91AD-34AA-82E6-3CFF-E94DF92029F8}"/>
          </ac:spMkLst>
        </pc:spChg>
        <pc:spChg chg="mod">
          <ac:chgData name="christopher posadas" userId="c785335156d879ca" providerId="LiveId" clId="{C9D886FB-ED5B-489B-8330-669FD307C29D}" dt="2026-04-22T23:15:32.412" v="38" actId="20577"/>
          <ac:spMkLst>
            <pc:docMk/>
            <pc:sldMk cId="2810195214" sldId="256"/>
            <ac:spMk id="3" creationId="{C97A0F65-E757-04D1-AA51-F5A14A8256EF}"/>
          </ac:spMkLst>
        </pc:spChg>
      </pc:sldChg>
      <pc:sldChg chg="del">
        <pc:chgData name="christopher posadas" userId="c785335156d879ca" providerId="LiveId" clId="{C9D886FB-ED5B-489B-8330-669FD307C29D}" dt="2026-04-22T23:15:32.324" v="34" actId="2696"/>
        <pc:sldMkLst>
          <pc:docMk/>
          <pc:sldMk cId="2290781825" sldId="258"/>
        </pc:sldMkLst>
      </pc:sldChg>
      <pc:sldChg chg="del">
        <pc:chgData name="christopher posadas" userId="c785335156d879ca" providerId="LiveId" clId="{C9D886FB-ED5B-489B-8330-669FD307C29D}" dt="2026-04-22T23:15:32.282" v="32" actId="2696"/>
        <pc:sldMkLst>
          <pc:docMk/>
          <pc:sldMk cId="3227061500" sldId="261"/>
        </pc:sldMkLst>
      </pc:sldChg>
      <pc:sldChg chg="del">
        <pc:chgData name="christopher posadas" userId="c785335156d879ca" providerId="LiveId" clId="{C9D886FB-ED5B-489B-8330-669FD307C29D}" dt="2026-04-22T23:15:32.251" v="30" actId="2696"/>
        <pc:sldMkLst>
          <pc:docMk/>
          <pc:sldMk cId="2142662458" sldId="262"/>
        </pc:sldMkLst>
      </pc:sldChg>
      <pc:sldChg chg="del">
        <pc:chgData name="christopher posadas" userId="c785335156d879ca" providerId="LiveId" clId="{C9D886FB-ED5B-489B-8330-669FD307C29D}" dt="2026-04-22T23:15:32.232" v="29" actId="2696"/>
        <pc:sldMkLst>
          <pc:docMk/>
          <pc:sldMk cId="3095086504" sldId="264"/>
        </pc:sldMkLst>
      </pc:sldChg>
      <pc:sldChg chg="del">
        <pc:chgData name="christopher posadas" userId="c785335156d879ca" providerId="LiveId" clId="{C9D886FB-ED5B-489B-8330-669FD307C29D}" dt="2026-04-22T23:15:32.143" v="27" actId="2696"/>
        <pc:sldMkLst>
          <pc:docMk/>
          <pc:sldMk cId="2061383315" sldId="265"/>
        </pc:sldMkLst>
      </pc:sldChg>
      <pc:sldChg chg="del">
        <pc:chgData name="christopher posadas" userId="c785335156d879ca" providerId="LiveId" clId="{C9D886FB-ED5B-489B-8330-669FD307C29D}" dt="2026-04-22T23:15:32.139" v="26" actId="2696"/>
        <pc:sldMkLst>
          <pc:docMk/>
          <pc:sldMk cId="454612365" sldId="268"/>
        </pc:sldMkLst>
      </pc:sldChg>
      <pc:sldChg chg="del">
        <pc:chgData name="christopher posadas" userId="c785335156d879ca" providerId="LiveId" clId="{C9D886FB-ED5B-489B-8330-669FD307C29D}" dt="2026-04-22T23:15:32.134" v="25" actId="2696"/>
        <pc:sldMkLst>
          <pc:docMk/>
          <pc:sldMk cId="2013240545" sldId="269"/>
        </pc:sldMkLst>
      </pc:sldChg>
      <pc:sldChg chg="del">
        <pc:chgData name="christopher posadas" userId="c785335156d879ca" providerId="LiveId" clId="{C9D886FB-ED5B-489B-8330-669FD307C29D}" dt="2026-04-22T23:15:32.303" v="33" actId="2696"/>
        <pc:sldMkLst>
          <pc:docMk/>
          <pc:sldMk cId="2221445698" sldId="274"/>
        </pc:sldMkLst>
      </pc:sldChg>
      <pc:sldChg chg="del">
        <pc:chgData name="christopher posadas" userId="c785335156d879ca" providerId="LiveId" clId="{C9D886FB-ED5B-489B-8330-669FD307C29D}" dt="2026-04-22T23:15:32.263" v="31" actId="2696"/>
        <pc:sldMkLst>
          <pc:docMk/>
          <pc:sldMk cId="2937078629" sldId="275"/>
        </pc:sldMkLst>
      </pc:sldChg>
      <pc:sldChg chg="del">
        <pc:chgData name="christopher posadas" userId="c785335156d879ca" providerId="LiveId" clId="{C9D886FB-ED5B-489B-8330-669FD307C29D}" dt="2026-04-22T23:15:32.089" v="22" actId="2696"/>
        <pc:sldMkLst>
          <pc:docMk/>
          <pc:sldMk cId="1621632221" sldId="277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2978661766" sldId="277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2327200675" sldId="278"/>
        </pc:sldMkLst>
      </pc:sldChg>
      <pc:sldChg chg="del">
        <pc:chgData name="christopher posadas" userId="c785335156d879ca" providerId="LiveId" clId="{C9D886FB-ED5B-489B-8330-669FD307C29D}" dt="2026-04-22T23:15:32.101" v="23" actId="2696"/>
        <pc:sldMkLst>
          <pc:docMk/>
          <pc:sldMk cId="3436246834" sldId="278"/>
        </pc:sldMkLst>
      </pc:sldChg>
      <pc:sldChg chg="del">
        <pc:chgData name="christopher posadas" userId="c785335156d879ca" providerId="LiveId" clId="{C9D886FB-ED5B-489B-8330-669FD307C29D}" dt="2026-04-22T23:15:32.074" v="21" actId="2696"/>
        <pc:sldMkLst>
          <pc:docMk/>
          <pc:sldMk cId="2598992123" sldId="279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3703484971" sldId="279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803976470" sldId="280"/>
        </pc:sldMkLst>
      </pc:sldChg>
      <pc:sldChg chg="del">
        <pc:chgData name="christopher posadas" userId="c785335156d879ca" providerId="LiveId" clId="{C9D886FB-ED5B-489B-8330-669FD307C29D}" dt="2026-04-22T23:15:32.004" v="20" actId="2696"/>
        <pc:sldMkLst>
          <pc:docMk/>
          <pc:sldMk cId="2383109312" sldId="280"/>
        </pc:sldMkLst>
      </pc:sldChg>
      <pc:sldChg chg="del">
        <pc:chgData name="christopher posadas" userId="c785335156d879ca" providerId="LiveId" clId="{C9D886FB-ED5B-489B-8330-669FD307C29D}" dt="2026-04-22T23:15:31.772" v="17" actId="2696"/>
        <pc:sldMkLst>
          <pc:docMk/>
          <pc:sldMk cId="3605495435" sldId="281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4230663660" sldId="281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1433294695" sldId="282"/>
        </pc:sldMkLst>
      </pc:sldChg>
      <pc:sldChg chg="del">
        <pc:chgData name="christopher posadas" userId="c785335156d879ca" providerId="LiveId" clId="{C9D886FB-ED5B-489B-8330-669FD307C29D}" dt="2026-04-22T23:15:31.769" v="16" actId="2696"/>
        <pc:sldMkLst>
          <pc:docMk/>
          <pc:sldMk cId="1849942314" sldId="282"/>
        </pc:sldMkLst>
      </pc:sldChg>
      <pc:sldChg chg="del">
        <pc:chgData name="christopher posadas" userId="c785335156d879ca" providerId="LiveId" clId="{C9D886FB-ED5B-489B-8330-669FD307C29D}" dt="2026-04-22T23:15:31.855" v="18" actId="2696"/>
        <pc:sldMkLst>
          <pc:docMk/>
          <pc:sldMk cId="2280493007" sldId="283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2501924820" sldId="283"/>
        </pc:sldMkLst>
      </pc:sldChg>
      <pc:sldChg chg="del">
        <pc:chgData name="christopher posadas" userId="c785335156d879ca" providerId="LiveId" clId="{C9D886FB-ED5B-489B-8330-669FD307C29D}" dt="2026-04-22T23:15:31.763" v="14" actId="2696"/>
        <pc:sldMkLst>
          <pc:docMk/>
          <pc:sldMk cId="309275044" sldId="285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584506603" sldId="285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154619377" sldId="286"/>
        </pc:sldMkLst>
      </pc:sldChg>
      <pc:sldChg chg="del">
        <pc:chgData name="christopher posadas" userId="c785335156d879ca" providerId="LiveId" clId="{C9D886FB-ED5B-489B-8330-669FD307C29D}" dt="2026-04-22T23:15:31.624" v="9" actId="2696"/>
        <pc:sldMkLst>
          <pc:docMk/>
          <pc:sldMk cId="283709182" sldId="286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595804415" sldId="287"/>
        </pc:sldMkLst>
      </pc:sldChg>
      <pc:sldChg chg="del">
        <pc:chgData name="christopher posadas" userId="c785335156d879ca" providerId="LiveId" clId="{C9D886FB-ED5B-489B-8330-669FD307C29D}" dt="2026-04-22T23:15:31.440" v="5" actId="2696"/>
        <pc:sldMkLst>
          <pc:docMk/>
          <pc:sldMk cId="2602283100" sldId="287"/>
        </pc:sldMkLst>
      </pc:sldChg>
      <pc:sldChg chg="del">
        <pc:chgData name="christopher posadas" userId="c785335156d879ca" providerId="LiveId" clId="{C9D886FB-ED5B-489B-8330-669FD307C29D}" dt="2026-04-22T23:15:31.634" v="10" actId="2696"/>
        <pc:sldMkLst>
          <pc:docMk/>
          <pc:sldMk cId="2395723899" sldId="288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3713133146" sldId="288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493339326" sldId="289"/>
        </pc:sldMkLst>
      </pc:sldChg>
      <pc:sldChg chg="del">
        <pc:chgData name="christopher posadas" userId="c785335156d879ca" providerId="LiveId" clId="{C9D886FB-ED5B-489B-8330-669FD307C29D}" dt="2026-04-22T23:15:31.743" v="11" actId="2696"/>
        <pc:sldMkLst>
          <pc:docMk/>
          <pc:sldMk cId="2557136691" sldId="289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1592881911" sldId="290"/>
        </pc:sldMkLst>
      </pc:sldChg>
      <pc:sldChg chg="del">
        <pc:chgData name="christopher posadas" userId="c785335156d879ca" providerId="LiveId" clId="{C9D886FB-ED5B-489B-8330-669FD307C29D}" dt="2026-04-22T23:15:31.754" v="12" actId="2696"/>
        <pc:sldMkLst>
          <pc:docMk/>
          <pc:sldMk cId="3652411697" sldId="290"/>
        </pc:sldMkLst>
      </pc:sldChg>
      <pc:sldChg chg="del">
        <pc:chgData name="christopher posadas" userId="c785335156d879ca" providerId="LiveId" clId="{C9D886FB-ED5B-489B-8330-669FD307C29D}" dt="2026-04-22T23:15:32.115" v="24" actId="2696"/>
        <pc:sldMkLst>
          <pc:docMk/>
          <pc:sldMk cId="669868085" sldId="293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2209645266" sldId="294"/>
        </pc:sldMkLst>
      </pc:sldChg>
      <pc:sldChg chg="del">
        <pc:chgData name="christopher posadas" userId="c785335156d879ca" providerId="LiveId" clId="{C9D886FB-ED5B-489B-8330-669FD307C29D}" dt="2026-04-22T23:15:31.938" v="19" actId="2696"/>
        <pc:sldMkLst>
          <pc:docMk/>
          <pc:sldMk cId="3337125227" sldId="294"/>
        </pc:sldMkLst>
      </pc:sldChg>
      <pc:sldChg chg="del">
        <pc:chgData name="christopher posadas" userId="c785335156d879ca" providerId="LiveId" clId="{C9D886FB-ED5B-489B-8330-669FD307C29D}" dt="2026-04-22T23:15:32.153" v="28" actId="2696"/>
        <pc:sldMkLst>
          <pc:docMk/>
          <pc:sldMk cId="1825093525" sldId="297"/>
        </pc:sldMkLst>
      </pc:sldChg>
      <pc:sldChg chg="del">
        <pc:chgData name="christopher posadas" userId="c785335156d879ca" providerId="LiveId" clId="{C9D886FB-ED5B-489B-8330-669FD307C29D}" dt="2026-04-22T23:15:31.765" v="15" actId="2696"/>
        <pc:sldMkLst>
          <pc:docMk/>
          <pc:sldMk cId="1696392127" sldId="302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3853312522" sldId="302"/>
        </pc:sldMkLst>
      </pc:sldChg>
      <pc:sldChg chg="del">
        <pc:chgData name="christopher posadas" userId="c785335156d879ca" providerId="LiveId" clId="{C9D886FB-ED5B-489B-8330-669FD307C29D}" dt="2026-04-22T23:15:31.759" v="13" actId="2696"/>
        <pc:sldMkLst>
          <pc:docMk/>
          <pc:sldMk cId="2646266552" sldId="303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3253643387" sldId="303"/>
        </pc:sldMkLst>
      </pc:sldChg>
      <pc:sldChg chg="del">
        <pc:chgData name="christopher posadas" userId="c785335156d879ca" providerId="LiveId" clId="{C9D886FB-ED5B-489B-8330-669FD307C29D}" dt="2026-04-22T23:15:31.580" v="8" actId="2696"/>
        <pc:sldMkLst>
          <pc:docMk/>
          <pc:sldMk cId="1742610758" sldId="305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3981825709" sldId="305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199367936" sldId="306"/>
        </pc:sldMkLst>
      </pc:sldChg>
      <pc:sldChg chg="modSp add del mod">
        <pc:chgData name="christopher posadas" userId="c785335156d879ca" providerId="LiveId" clId="{C9D886FB-ED5B-489B-8330-669FD307C29D}" dt="2026-04-22T23:15:31.511" v="7" actId="2696"/>
        <pc:sldMkLst>
          <pc:docMk/>
          <pc:sldMk cId="2520088859" sldId="306"/>
        </pc:sldMkLst>
        <pc:spChg chg="mod">
          <ac:chgData name="christopher posadas" userId="c785335156d879ca" providerId="LiveId" clId="{C9D886FB-ED5B-489B-8330-669FD307C29D}" dt="2026-04-22T22:35:05.415" v="2" actId="20577"/>
          <ac:spMkLst>
            <pc:docMk/>
            <pc:sldMk cId="2520088859" sldId="306"/>
            <ac:spMk id="3" creationId="{56BA7DC2-7FDA-1914-E677-41C61AB65D86}"/>
          </ac:spMkLst>
        </pc:spChg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3229535624" sldId="307"/>
        </pc:sldMkLst>
      </pc:sldChg>
      <pc:sldChg chg="del">
        <pc:chgData name="christopher posadas" userId="c785335156d879ca" providerId="LiveId" clId="{C9D886FB-ED5B-489B-8330-669FD307C29D}" dt="2026-04-22T23:15:31.483" v="6" actId="2696"/>
        <pc:sldMkLst>
          <pc:docMk/>
          <pc:sldMk cId="3474127650" sldId="307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2868410136" sldId="308"/>
        </pc:sldMkLst>
      </pc:sldChg>
      <pc:sldChg chg="del">
        <pc:chgData name="christopher posadas" userId="c785335156d879ca" providerId="LiveId" clId="{C9D886FB-ED5B-489B-8330-669FD307C29D}" dt="2026-04-22T23:15:31.434" v="4" actId="2696"/>
        <pc:sldMkLst>
          <pc:docMk/>
          <pc:sldMk cId="3964713656" sldId="308"/>
        </pc:sldMkLst>
      </pc:sldChg>
      <pc:sldChg chg="add">
        <pc:chgData name="christopher posadas" userId="c785335156d879ca" providerId="LiveId" clId="{C9D886FB-ED5B-489B-8330-669FD307C29D}" dt="2026-04-22T23:15:33.396" v="39"/>
        <pc:sldMkLst>
          <pc:docMk/>
          <pc:sldMk cId="418199781" sldId="310"/>
        </pc:sldMkLst>
      </pc:sldChg>
      <pc:sldChg chg="del">
        <pc:chgData name="christopher posadas" userId="c785335156d879ca" providerId="LiveId" clId="{C9D886FB-ED5B-489B-8330-669FD307C29D}" dt="2026-04-22T23:15:31.403" v="3" actId="2696"/>
        <pc:sldMkLst>
          <pc:docMk/>
          <pc:sldMk cId="2113771593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Bell curves show up for several reasons. </a:t>
            </a:r>
          </a:p>
          <a:p>
            <a:r>
              <a:rPr lang="en-US" dirty="0"/>
              <a:t>Sometimes it’s the Central Limit Theorem — many small additive effects. </a:t>
            </a:r>
          </a:p>
          <a:p>
            <a:r>
              <a:rPr lang="en-US" dirty="0"/>
              <a:t>- In physics, maximum entropy: if all we know is mean and variance, the most natural shape is the normal. </a:t>
            </a:r>
          </a:p>
          <a:p>
            <a:r>
              <a:rPr lang="en-US" dirty="0"/>
              <a:t>- Biology, symmetry and aggregation. The normal distribution is the ‘default’ shape of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52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questions/84158/how-is-the-kurtosis-of-a-distribution-related-to-the-geometry-of-the-density-fun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workshop.com/joint-probability-distribution/chebyshev-inequality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91AD-34AA-82E6-3CFF-E94DF92029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Exploratory Data Analysis: Summaries and Visual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A0F65-E757-04D1-AA51-F5A14A8256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4</a:t>
            </a:r>
          </a:p>
          <a:p>
            <a:r>
              <a:rPr lang="en-US"/>
              <a:t>Built from current L3 EDA slides 13-33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12103-731E-F7EB-BAB0-98DFD576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95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D1CC-BB31-9E11-7886-222FB9E2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Number 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7773-B98A-2032-B24A-F14DB571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Ways to characterize the entire distribution of a dataset variable into one number that answers a specific question about the data’s behavior.</a:t>
            </a:r>
          </a:p>
          <a:p>
            <a:r>
              <a:rPr lang="en-US" dirty="0"/>
              <a:t>Measures of Center</a:t>
            </a:r>
          </a:p>
          <a:p>
            <a:r>
              <a:rPr lang="en-US" dirty="0"/>
              <a:t>Measures of Spread</a:t>
            </a:r>
          </a:p>
          <a:p>
            <a:r>
              <a:rPr lang="en-US" dirty="0"/>
              <a:t>Measures of Shape</a:t>
            </a:r>
          </a:p>
          <a:p>
            <a:r>
              <a:rPr lang="en-US" dirty="0"/>
              <a:t>Measures of Extremes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41F6-2122-1A16-C6DF-0D1CD471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00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158E-29E8-0F08-073A-021E6BA7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873A-9A33-1C4C-A9E7-EB13115B0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Mean: The center of mass, or “balance point.” </a:t>
            </a:r>
          </a:p>
          <a:p>
            <a:pPr lvl="1"/>
            <a:r>
              <a:rPr lang="en-US" dirty="0"/>
              <a:t>Sensitive to outliers.</a:t>
            </a:r>
          </a:p>
          <a:p>
            <a:r>
              <a:rPr lang="en-US" dirty="0"/>
              <a:t>Median: The middle value when data are ordered.</a:t>
            </a:r>
          </a:p>
          <a:p>
            <a:pPr lvl="1"/>
            <a:r>
              <a:rPr lang="en-US" dirty="0"/>
              <a:t>Robust to outliers.</a:t>
            </a:r>
          </a:p>
          <a:p>
            <a:r>
              <a:rPr lang="en-US" dirty="0"/>
              <a:t>Mode: The most common value.</a:t>
            </a:r>
          </a:p>
          <a:p>
            <a:pPr lvl="1"/>
            <a:r>
              <a:rPr lang="en-US" dirty="0"/>
              <a:t>Useful for categorical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1B02-ED2C-3263-F494-63E8106A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61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34BB-91F1-C5D5-2DD3-50F80088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How variable are the data?</a:t>
                </a:r>
                <a:endParaRPr lang="en-US" dirty="0"/>
              </a:p>
              <a:p>
                <a:r>
                  <a:rPr lang="en-US" dirty="0"/>
                  <a:t>Range: Max – Min</a:t>
                </a:r>
              </a:p>
              <a:p>
                <a:r>
                  <a:rPr lang="en-US" dirty="0"/>
                  <a:t>Interquartile Range (IQR):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Variance</a:t>
                </a:r>
              </a:p>
              <a:p>
                <a:pPr lvl="1"/>
                <a:r>
                  <a:rPr lang="en-US" dirty="0"/>
                  <a:t>Average squared deviation from the mean</a:t>
                </a:r>
              </a:p>
              <a:p>
                <a:r>
                  <a:rPr lang="en-US" dirty="0"/>
                  <a:t>Standard Deviation</a:t>
                </a:r>
              </a:p>
              <a:p>
                <a:pPr lvl="1"/>
                <a:r>
                  <a:rPr lang="en-US" dirty="0"/>
                  <a:t>Square root of variance</a:t>
                </a:r>
              </a:p>
              <a:p>
                <a:pPr lvl="1"/>
                <a:r>
                  <a:rPr lang="en-US" dirty="0"/>
                  <a:t>Useful for intuiting units of measure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2E76-38CB-7CD4-0F56-50DB5494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3384446-77F6-752F-02DB-272AF080B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F1C81-1EF8-B8CA-5533-649134EAFFC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370348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7871-BDC7-85A4-D9F4-86478A56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B4EFF-52E3-6C16-00E2-D33928DD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3E689D64-B041-479E-ADD2-8D0C94D2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599" y="3519328"/>
            <a:ext cx="7518401" cy="283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Third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Skewness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The directional tilt or asymmetry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Positive skewness – long / heavy right tail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Negative skewness – long / heavy left tail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blipFill>
                <a:blip r:embed="rId3"/>
                <a:stretch>
                  <a:fillRect l="-866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07094E-CE98-7DFD-2EC6-8F6543A4DA3D}"/>
              </a:ext>
            </a:extLst>
          </p:cNvPr>
          <p:cNvSpPr txBox="1"/>
          <p:nvPr/>
        </p:nvSpPr>
        <p:spPr>
          <a:xfrm>
            <a:off x="0" y="6604084"/>
            <a:ext cx="77046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Image source: Jain, D. “Relationship between mean and median under different </a:t>
            </a:r>
            <a:r>
              <a:rPr lang="en-US" sz="1050" dirty="0" err="1"/>
              <a:t>skewness.png</a:t>
            </a:r>
            <a:r>
              <a:rPr lang="en-US" sz="1050" dirty="0"/>
              <a:t>” CC BY SA-4.0.</a:t>
            </a:r>
          </a:p>
        </p:txBody>
      </p:sp>
    </p:spTree>
    <p:extLst>
      <p:ext uri="{BB962C8B-B14F-4D97-AF65-F5344CB8AC3E}">
        <p14:creationId xmlns:p14="http://schemas.microsoft.com/office/powerpoint/2010/main" val="80397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DFDD-A7F2-D7A2-FCA0-F86057AC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nter image description here">
            <a:extLst>
              <a:ext uri="{FF2B5EF4-FFF2-40B4-BE49-F238E27FC236}">
                <a16:creationId xmlns:a16="http://schemas.microsoft.com/office/drawing/2014/main" id="{B8B8C289-80AD-0A12-ED38-2525EF9E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2317618"/>
            <a:ext cx="8308622" cy="417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Fourth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Kurtosis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“Fatness” or tail weight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How much probability lives far from the mean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High kurtosis – more extreme values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Low kurtosis – fewer extremes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Excess Kurtosis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b="1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Normal distribution has kurtosis 3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blipFill>
                <a:blip r:embed="rId3"/>
                <a:stretch>
                  <a:fillRect l="-866"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13983D6-88AE-3E56-4B69-EB486880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C27C-967A-8863-765D-CAB1D96C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63CB6-594C-D77A-F8C9-63FADE1E0FC8}"/>
              </a:ext>
            </a:extLst>
          </p:cNvPr>
          <p:cNvSpPr txBox="1"/>
          <p:nvPr/>
        </p:nvSpPr>
        <p:spPr>
          <a:xfrm>
            <a:off x="0" y="6538912"/>
            <a:ext cx="9076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Image source: </a:t>
            </a:r>
            <a:r>
              <a:rPr lang="en-US" sz="1050" dirty="0">
                <a:hlinkClick r:id="rId4"/>
              </a:rPr>
              <a:t>https://stats.stackexchange.com/questions/84158/how-is-the-kurtosis-of-a-distribution-related-to-the-geometry-of-the-density-fun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964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2C6E-AC3D-2125-0CD7-D08575B8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Nonparametric / Quantile Based Analogs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B6B8-222D-4F8C-9925-8ACA5E94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measures are more robust to outliers than others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9AD6E-E22A-4E07-D388-B8C15443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654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Bowley Skewness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𝑆𝑘𝑒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1077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92741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94" t="-124658" r="-89967" b="-50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0192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9444-5A5C-3021-5699-84AF347D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Extremes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FD3A-30F7-4D26-2329-06D26B910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</a:t>
            </a:r>
          </a:p>
          <a:p>
            <a:r>
              <a:rPr lang="en-US" dirty="0"/>
              <a:t>Maximum</a:t>
            </a:r>
          </a:p>
          <a:p>
            <a:r>
              <a:rPr lang="en-US" dirty="0"/>
              <a:t>Outlier Flags</a:t>
            </a:r>
          </a:p>
          <a:p>
            <a:pPr lvl="1"/>
            <a:r>
              <a:rPr lang="en-US" dirty="0"/>
              <a:t>Tukey fences: Named after John Tukey,</a:t>
            </a:r>
            <a:br>
              <a:rPr lang="en-US" dirty="0"/>
            </a:br>
            <a:r>
              <a:rPr lang="en-US" dirty="0"/>
              <a:t>who invented the box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EFC65-D99B-492B-AF35-8A8F416E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2EED60F-39E0-D7FF-FF73-E9EC75191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9E1F2-2F81-3B13-E1DA-361D86F026F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423066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3CAC-0217-7888-8ECE-84F829DB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DA65C-CDCC-F9BD-F801-72206746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focused on numbers to summarize the observations of a variable.</a:t>
            </a:r>
          </a:p>
          <a:p>
            <a:r>
              <a:rPr lang="en-US" dirty="0"/>
              <a:t>Visual EDA uses plots as a powerful tool to show the behavior of these observations.</a:t>
            </a:r>
          </a:p>
          <a:p>
            <a:r>
              <a:rPr lang="en-US" dirty="0"/>
              <a:t>We will tie the single-number summary statistics to this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0D3F-C0BB-98F5-CA9C-D76EADA2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9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DB57-DC34-813C-9858-EB8CBB3E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B310-3D3B-F510-6046-10741DB2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7B23-A635-7226-1E90-9A06FE31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Categorize visual EDA into three types, based on how many variables we examine:</a:t>
            </a:r>
          </a:p>
          <a:p>
            <a:pPr lvl="1"/>
            <a:r>
              <a:rPr lang="en-US" dirty="0"/>
              <a:t>Univariate Data – behavior of a single variable (distributions)</a:t>
            </a:r>
          </a:p>
          <a:p>
            <a:pPr lvl="2"/>
            <a:r>
              <a:rPr lang="en-US" dirty="0"/>
              <a:t>ex: ages, heights, service, communities</a:t>
            </a:r>
          </a:p>
          <a:p>
            <a:pPr lvl="1"/>
            <a:r>
              <a:rPr lang="en-US" dirty="0"/>
              <a:t>Bivariate Data – behavior of the </a:t>
            </a:r>
            <a:r>
              <a:rPr lang="en-US" i="1" dirty="0"/>
              <a:t>relationships</a:t>
            </a:r>
            <a:r>
              <a:rPr lang="en-US" dirty="0"/>
              <a:t> between two variables</a:t>
            </a:r>
          </a:p>
          <a:p>
            <a:pPr lvl="2"/>
            <a:r>
              <a:rPr lang="en-US" dirty="0"/>
              <a:t>ex: height vs weight</a:t>
            </a:r>
          </a:p>
          <a:p>
            <a:pPr lvl="1"/>
            <a:r>
              <a:rPr lang="en-US" dirty="0"/>
              <a:t>Multivariate Data – </a:t>
            </a:r>
          </a:p>
          <a:p>
            <a:pPr lvl="2"/>
            <a:r>
              <a:rPr lang="en-US" dirty="0"/>
              <a:t>Suggest interactions between two variables that affect a third</a:t>
            </a:r>
          </a:p>
          <a:p>
            <a:pPr lvl="3"/>
            <a:r>
              <a:rPr lang="en-US" dirty="0"/>
              <a:t>ex: effect of seniority and education on income</a:t>
            </a:r>
          </a:p>
          <a:p>
            <a:pPr lvl="2"/>
            <a:r>
              <a:rPr lang="en-US" dirty="0"/>
              <a:t>Patterns across many bivariate relationships at once</a:t>
            </a:r>
          </a:p>
          <a:p>
            <a:pPr lvl="3"/>
            <a:r>
              <a:rPr lang="en-US" dirty="0"/>
              <a:t>ex: Pairwise behaviors of height, weight, wingspan, and age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13678-C43B-5737-119A-F6B5CDC1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1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131C-B551-9A91-C317-5D649A5D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4FA7-6127-1C6B-FF16-0E4A1DBD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Recommended plots per type of variable</a:t>
            </a:r>
          </a:p>
          <a:p>
            <a:r>
              <a:rPr lang="en-US" dirty="0"/>
              <a:t>Categorical data: Bar Plots</a:t>
            </a:r>
          </a:p>
          <a:p>
            <a:r>
              <a:rPr lang="en-US" dirty="0"/>
              <a:t>Numerical data: Histograms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4B3E-555C-EB58-8D4E-12371400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81265-E6CE-D4D3-9C8F-4DB982D5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49" y="1723771"/>
            <a:ext cx="4654299" cy="417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A70C9-E7BD-7482-A21F-ABFB9B7773AB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</p:spTree>
    <p:extLst>
      <p:ext uri="{BB962C8B-B14F-4D97-AF65-F5344CB8AC3E}">
        <p14:creationId xmlns:p14="http://schemas.microsoft.com/office/powerpoint/2010/main" val="58450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E4C9C1-1203-C035-7956-D81508AD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77" y="0"/>
            <a:ext cx="45393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5A398B-B23A-3391-FDA6-AD94C6E0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ED23-B087-5646-0F86-07196D274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 check:</a:t>
            </a:r>
          </a:p>
          <a:p>
            <a:pPr lvl="1"/>
            <a:r>
              <a:rPr lang="en-US" dirty="0"/>
              <a:t>Symmetry vs Skewness</a:t>
            </a:r>
          </a:p>
          <a:p>
            <a:pPr lvl="1"/>
            <a:r>
              <a:rPr lang="en-US" dirty="0"/>
              <a:t>Multimodality</a:t>
            </a:r>
          </a:p>
          <a:p>
            <a:pPr lvl="2"/>
            <a:r>
              <a:rPr lang="en-US" dirty="0"/>
              <a:t>Unimodal: single peak</a:t>
            </a:r>
          </a:p>
          <a:p>
            <a:pPr lvl="2"/>
            <a:r>
              <a:rPr lang="en-US" dirty="0"/>
              <a:t>Bimodal: two peaks</a:t>
            </a:r>
          </a:p>
          <a:p>
            <a:pPr lvl="2"/>
            <a:r>
              <a:rPr lang="en-US" dirty="0"/>
              <a:t>Multimodal: two or more peaks</a:t>
            </a:r>
          </a:p>
          <a:p>
            <a:pPr lvl="1"/>
            <a:r>
              <a:rPr lang="en-US" dirty="0"/>
              <a:t>Shape</a:t>
            </a:r>
          </a:p>
          <a:p>
            <a:pPr lvl="2"/>
            <a:r>
              <a:rPr lang="en-US" dirty="0"/>
              <a:t>Bell-shaped: Tells us what?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CD24-574C-868D-E5D8-2FD8D1E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C443E-57C7-F78B-271B-43F573EF9C4A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Figures 3.2 and 3.3.</a:t>
            </a:r>
          </a:p>
        </p:txBody>
      </p:sp>
    </p:spTree>
    <p:extLst>
      <p:ext uri="{BB962C8B-B14F-4D97-AF65-F5344CB8AC3E}">
        <p14:creationId xmlns:p14="http://schemas.microsoft.com/office/powerpoint/2010/main" val="325364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4395-47EF-296A-F2C1-BED365A5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14E8-59E0-3A70-4237-7968D38B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A7AC-1F90-BDC0-55E2-CD5744EE2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Rule:</a:t>
            </a:r>
          </a:p>
          <a:p>
            <a:pPr lvl="1"/>
            <a:r>
              <a:rPr lang="en-US" dirty="0"/>
              <a:t>If the histogram of a set of observations is bell-shaped, or approximately Gaussian (why would this happen?):</a:t>
            </a:r>
          </a:p>
          <a:p>
            <a:pPr lvl="2"/>
            <a:r>
              <a:rPr lang="en-US" sz="2400" dirty="0"/>
              <a:t>About 68% of observations lie within 1 standard deviation of the mean.</a:t>
            </a:r>
          </a:p>
          <a:p>
            <a:pPr lvl="2"/>
            <a:r>
              <a:rPr lang="en-US" sz="2400" dirty="0"/>
              <a:t>About 95% of observations lie within 2 standard deviations of the mean.</a:t>
            </a:r>
          </a:p>
          <a:p>
            <a:pPr lvl="2"/>
            <a:r>
              <a:rPr lang="en-US" sz="2400" dirty="0"/>
              <a:t>About 99.7% of the observations lie within 3 standard deviations of the mean.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91C5-D1CA-DC88-7289-F9DFDE4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81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BFA4-C11C-9E6B-C61D-FA0AC124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C0DC-9EA2-DF1D-5E6E-3532B709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about when the data do not appear to be approximately normal?</a:t>
                </a:r>
              </a:p>
              <a:p>
                <a:r>
                  <a:rPr lang="en-US" dirty="0"/>
                  <a:t>We can generalize via </a:t>
                </a:r>
                <a:r>
                  <a:rPr lang="en-US" b="1" dirty="0"/>
                  <a:t>Chebyshev’s Inequality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For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finite non-zero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finite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for any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i="1" dirty="0"/>
                  <a:t>In (slightly more) English:</a:t>
                </a:r>
                <a:r>
                  <a:rPr lang="en-US" dirty="0"/>
                  <a:t> For any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observations lie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standard deviations of the mean.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1481-6D73-884B-5F66-C2EE5362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39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B367-60BF-F803-293F-FD067232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5216-A956-804E-BC04-95B2AE62F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/>
          <a:lstStyle/>
          <a:p>
            <a:r>
              <a:rPr lang="en-US" dirty="0"/>
              <a:t>Empirical Rule gives us an </a:t>
            </a:r>
            <a:r>
              <a:rPr lang="en-US" i="1" dirty="0"/>
              <a:t>approximate </a:t>
            </a:r>
            <a:r>
              <a:rPr lang="en-US" dirty="0"/>
              <a:t>percentage of the data contained within a window of the mean.</a:t>
            </a:r>
          </a:p>
          <a:p>
            <a:r>
              <a:rPr lang="en-US" dirty="0"/>
              <a:t>Chebyshev gives a </a:t>
            </a:r>
            <a:r>
              <a:rPr lang="en-US" i="1" dirty="0"/>
              <a:t>lower bound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1220B-29F6-E6C7-15C6-4CDC9DDD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  <p:pic>
        <p:nvPicPr>
          <p:cNvPr id="3074" name="Picture 2" descr="empirical rule vs chebyshev theorem">
            <a:extLst>
              <a:ext uri="{FF2B5EF4-FFF2-40B4-BE49-F238E27FC236}">
                <a16:creationId xmlns:a16="http://schemas.microsoft.com/office/drawing/2014/main" id="{8954049A-EEF1-B419-F95E-78AACFC02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0" t="15022" r="4400" b="18844"/>
          <a:stretch>
            <a:fillRect/>
          </a:stretch>
        </p:blipFill>
        <p:spPr bwMode="auto">
          <a:xfrm>
            <a:off x="1718733" y="2929467"/>
            <a:ext cx="8619067" cy="360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E34E0-AF20-6AFC-8604-6B1D79DF7F56}"/>
              </a:ext>
            </a:extLst>
          </p:cNvPr>
          <p:cNvSpPr txBox="1"/>
          <p:nvPr/>
        </p:nvSpPr>
        <p:spPr>
          <a:xfrm>
            <a:off x="0" y="6590670"/>
            <a:ext cx="1099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dirty="0" err="1"/>
              <a:t>CalcWorkshop</a:t>
            </a:r>
            <a:r>
              <a:rPr lang="en-US" sz="1100" dirty="0"/>
              <a:t>. </a:t>
            </a:r>
            <a:r>
              <a:rPr lang="en-US" sz="1100" i="1" dirty="0"/>
              <a:t>Chebyshev’s Inequality</a:t>
            </a:r>
            <a:r>
              <a:rPr lang="en-US" sz="1100" dirty="0"/>
              <a:t>. Retrieved from </a:t>
            </a:r>
            <a:r>
              <a:rPr lang="en-US" sz="1100" dirty="0">
                <a:hlinkClick r:id="rId3"/>
              </a:rPr>
              <a:t>https://calcworkshop.com/joint-probability-distribution/chebyshev-inequality/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3133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9C52-62B7-EDDB-7F14-2AE7B095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269A22-5777-59E1-2114-AAB68662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526577"/>
              </p:ext>
            </p:extLst>
          </p:nvPr>
        </p:nvGraphicFramePr>
        <p:xfrm>
          <a:off x="1439418" y="3132513"/>
          <a:ext cx="931316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4388">
                  <a:extLst>
                    <a:ext uri="{9D8B030D-6E8A-4147-A177-3AD203B41FA5}">
                      <a16:colId xmlns:a16="http://schemas.microsoft.com/office/drawing/2014/main" val="133389282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2215027930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4089765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Data Types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0797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Bar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40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Scatter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060186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299A6-AE86-2056-7CC2-688A44AC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Examine the relationship between a pair of variables.</a:t>
                </a:r>
              </a:p>
              <a:p>
                <a:r>
                  <a:rPr lang="en-US" dirty="0"/>
                  <a:t>Recommended EDA plots by variable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variable type: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  <a:blipFill>
                <a:blip r:embed="rId2"/>
                <a:stretch>
                  <a:fillRect l="-1043" t="-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19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13EC-C6B4-0E96-530D-E12EA6D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Bar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Categorical / Ordinal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Categorical / Ordinal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2879A-C612-44AC-E60E-C9750B08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3A203-6070-E7D8-D058-B2FC8493B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95" y="2514600"/>
            <a:ext cx="4248456" cy="35355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9F233F-F708-75E2-149C-57916A8A82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81469-9D96-6828-F12F-30E0FE75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517" y="2645838"/>
            <a:ext cx="3952751" cy="35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2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57A7-A88F-C519-AA06-299A54A9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box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A7DC2-7FDA-1914-E677-41C61AB65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6975348" cy="5029835"/>
          </a:xfrm>
        </p:spPr>
        <p:txBody>
          <a:bodyPr>
            <a:normAutofit fontScale="55000" lnSpcReduction="20000"/>
          </a:bodyPr>
          <a:lstStyle/>
          <a:p>
            <a:r>
              <a:rPr lang="en-US" sz="3300"/>
              <a:t>Categorical / Ordinal x Numerical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73FD-5DE2-5D97-4235-914AA984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B1D9E-5B89-2DAB-EB6A-15CF149A1BB6}"/>
              </a:ext>
            </a:extLst>
          </p:cNvPr>
          <p:cNvSpPr txBox="1"/>
          <p:nvPr/>
        </p:nvSpPr>
        <p:spPr>
          <a:xfrm>
            <a:off x="0" y="6538912"/>
            <a:ext cx="10145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R (top) and Python/Seaborn (bottom) plots from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pft.csv </a:t>
            </a:r>
            <a:r>
              <a:rPr lang="en-US" sz="1200" dirty="0"/>
              <a:t>dataset.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F1F583-F093-8F26-5B87-7A16284C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217" y="232532"/>
            <a:ext cx="4099280" cy="3629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A36BB-AEDC-36C3-A439-2E4D2FC44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17" y="3862387"/>
            <a:ext cx="4315214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7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3E410-FAC5-0B40-D1A6-39C6CF7A4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30" y="253746"/>
            <a:ext cx="5935442" cy="6350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EE7F35-3E41-DEDB-5CEE-6B78FD4E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Numerical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Numerical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86A9-2316-81CA-F28D-82C262BD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4B4E4-3D6B-7C8F-6A77-B0CD5F4ECB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 3.8.</a:t>
            </a:r>
          </a:p>
        </p:txBody>
      </p:sp>
    </p:spTree>
    <p:extLst>
      <p:ext uri="{BB962C8B-B14F-4D97-AF65-F5344CB8AC3E}">
        <p14:creationId xmlns:p14="http://schemas.microsoft.com/office/powerpoint/2010/main" val="3229535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E122-310A-4F01-6639-8972BED9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A7D3-8AFF-47EC-591E-668E6020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scatterplots</a:t>
            </a:r>
          </a:p>
          <a:p>
            <a:r>
              <a:rPr lang="en-US" dirty="0"/>
              <a:t>Scatterplot matrices</a:t>
            </a:r>
          </a:p>
          <a:p>
            <a:r>
              <a:rPr lang="en-US" dirty="0"/>
              <a:t>Correlation Heatmaps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0BAC-7133-B4DA-25E1-E64D7D6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A diagram of a triangle with red dots and lines&#10;&#10;AI-generated content may be incorrect.">
            <a:extLst>
              <a:ext uri="{FF2B5EF4-FFF2-40B4-BE49-F238E27FC236}">
                <a16:creationId xmlns:a16="http://schemas.microsoft.com/office/drawing/2014/main" id="{FFBB2F80-5302-06CB-6502-0C1F5942F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4" y="522564"/>
            <a:ext cx="5508564" cy="5682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5A54E-3AE2-BB26-4E23-068E4B0A4C54}"/>
              </a:ext>
            </a:extLst>
          </p:cNvPr>
          <p:cNvSpPr txBox="1"/>
          <p:nvPr/>
        </p:nvSpPr>
        <p:spPr>
          <a:xfrm>
            <a:off x="159488" y="6413698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ISLP</a:t>
            </a:r>
            <a:r>
              <a:rPr lang="en-US" sz="14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59580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Scatterplot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Correlation heatmaps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B742-B9E5-4A9B-6C7E-7A71FBFC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truly “multivariate”</a:t>
            </a:r>
          </a:p>
          <a:p>
            <a:r>
              <a:rPr lang="en-US" dirty="0"/>
              <a:t>Behavior of many variables together, often summarized through collections of pairwise relationships.</a:t>
            </a:r>
          </a:p>
          <a:p>
            <a:r>
              <a:rPr lang="en-US" dirty="0"/>
              <a:t>As the number of variables grows, pairwise plots become visually dense. </a:t>
            </a:r>
          </a:p>
          <a:p>
            <a:r>
              <a:rPr lang="en-US" dirty="0"/>
              <a:t>Heatmaps can summarize the same information more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8807-A7C9-969C-FDA3-F4CFF7A3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101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55EE-C65B-18BC-DF8B-DF298A5D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from last week: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Why are the diagonal entries +1?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  <a:blipFill>
                <a:blip r:embed="rId2"/>
                <a:stretch>
                  <a:fillRect l="-2766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67BB-94A2-2D8E-BB82-17F93585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B7A38-A85C-04A0-1A1E-78DE6C6E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25638"/>
            <a:ext cx="7085076" cy="61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0e81aeba-3fbe-492c-aacc-230c0d93479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1059</Words>
  <Application>Microsoft Office PowerPoint</Application>
  <PresentationFormat>Widescreen</PresentationFormat>
  <Paragraphs>184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Courier New</vt:lpstr>
      <vt:lpstr>Office Theme</vt:lpstr>
      <vt:lpstr>Exploratory Data Analysis: Summaries and Visual Structure</vt:lpstr>
      <vt:lpstr>Single Number Summary Statistics</vt:lpstr>
      <vt:lpstr>Measures of Center</vt:lpstr>
      <vt:lpstr>Measures of Spread</vt:lpstr>
      <vt:lpstr>Measures of Shape</vt:lpstr>
      <vt:lpstr>Measures of Shape</vt:lpstr>
      <vt:lpstr>Nonparametric / Quantile Based Analogs</vt:lpstr>
      <vt:lpstr>Measures of Extremes</vt:lpstr>
      <vt:lpstr>Visual EDA</vt:lpstr>
      <vt:lpstr>Visual EDA - Categories</vt:lpstr>
      <vt:lpstr>Univariate Data</vt:lpstr>
      <vt:lpstr>Histograms</vt:lpstr>
      <vt:lpstr>Applications of Standard Deviation</vt:lpstr>
      <vt:lpstr>Applications of Standard Deviation</vt:lpstr>
      <vt:lpstr>Applications of Standard Deviation</vt:lpstr>
      <vt:lpstr>Bivariate Data</vt:lpstr>
      <vt:lpstr>Grouped Bar Plots</vt:lpstr>
      <vt:lpstr>Grouped box plot</vt:lpstr>
      <vt:lpstr>Scatterplots</vt:lpstr>
      <vt:lpstr>Multivariate Data</vt:lpstr>
      <vt:lpstr>Scatterplot matrices → Correlation heatmaps</vt:lpstr>
      <vt:lpstr>Correlation  Heatmap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9</cp:revision>
  <dcterms:created xsi:type="dcterms:W3CDTF">2026-04-01T15:46:41Z</dcterms:created>
  <dcterms:modified xsi:type="dcterms:W3CDTF">2026-04-22T23:15:34Z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