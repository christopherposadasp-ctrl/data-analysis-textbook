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sldIdLst>
    <p:sldId id="256" r:id="rId5"/>
    <p:sldId id="257" r:id="rId6"/>
    <p:sldId id="263" r:id="rId7"/>
    <p:sldId id="264" r:id="rId8"/>
    <p:sldId id="260" r:id="rId9"/>
    <p:sldId id="261" r:id="rId10"/>
    <p:sldId id="266" r:id="rId11"/>
    <p:sldId id="267" r:id="rId12"/>
    <p:sldId id="262" r:id="rId13"/>
    <p:sldId id="268" r:id="rId14"/>
    <p:sldId id="269" r:id="rId15"/>
    <p:sldId id="270" r:id="rId16"/>
    <p:sldId id="271" r:id="rId17"/>
    <p:sldId id="272" r:id="rId18"/>
    <p:sldId id="265" r:id="rId19"/>
    <p:sldId id="273" r:id="rId20"/>
    <p:sldId id="275" r:id="rId21"/>
    <p:sldId id="276" r:id="rId22"/>
    <p:sldId id="278" r:id="rId23"/>
    <p:sldId id="277" r:id="rId24"/>
    <p:sldId id="274" r:id="rId25"/>
    <p:sldId id="279" r:id="rId26"/>
    <p:sldId id="280" r:id="rId27"/>
    <p:sldId id="281" r:id="rId28"/>
    <p:sldId id="282" r:id="rId29"/>
    <p:sldId id="287" r:id="rId30"/>
    <p:sldId id="288" r:id="rId31"/>
    <p:sldId id="285" r:id="rId32"/>
    <p:sldId id="289" r:id="rId33"/>
    <p:sldId id="290" r:id="rId34"/>
    <p:sldId id="291" r:id="rId35"/>
    <p:sldId id="259" r:id="rId36"/>
    <p:sldId id="258" r:id="rId37"/>
    <p:sldId id="292" r:id="rId38"/>
    <p:sldId id="293" r:id="rId39"/>
    <p:sldId id="294" r:id="rId40"/>
    <p:sldId id="295" r:id="rId41"/>
    <p:sldId id="297" r:id="rId42"/>
    <p:sldId id="29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C4"/>
    <a:srgbClr val="F8766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7A7106-3F15-4784-9911-4E8DA698A8FD}" v="266" dt="2026-04-02T15:49:10.177"/>
    <p1510:client id="{95296BBF-4311-2748-8D67-99E5265683C2}" v="1208" dt="2026-04-02T13:48:36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4" autoAdjust="0"/>
    <p:restoredTop sz="94655"/>
  </p:normalViewPr>
  <p:slideViewPr>
    <p:cSldViewPr snapToGrid="0">
      <p:cViewPr varScale="1">
        <p:scale>
          <a:sx n="105" d="100"/>
          <a:sy n="105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3F521-F4D1-444D-88E6-BCBDC8A1A2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57C2-5E1D-41E6-9645-1767E40D4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D56-10DE-4BAA-806D-A0DF0DFC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4396-C6B3-6892-281A-5056AD46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FBF2-0715-99D0-BBA9-8CB3CAC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09DE-8109-44F0-8C7E-CFE793DEB423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BC3C-12FC-F93F-AEBD-F3F9429A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88E7-0E3B-4DDD-5293-59AF817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A96-0B2D-2E8D-B271-433F4B8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0E32-41B2-77F3-3958-10AAE2D3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822-9077-6BC3-6C1D-A810D6DB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9A2-A1B9-4DAF-987E-C5F6F8B2AB0C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6D09-64CB-01E8-26BE-9317E53B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B24-73E9-13BC-961D-B02BA2AE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AFBA-D09F-BE45-43EC-4FD8D94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881F-6DFC-BB0E-1E2E-5DC049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41FF-F5B2-0562-12FD-85D82A45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CC4E-CB0E-4A2B-A15C-872305F0EF20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7F93-4809-799B-89F3-0B4CF36A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F09-D82D-4526-CBA2-A1E04560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F8F3-E518-5837-9655-4E272CD9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69A6-7BA9-A4E5-9C7B-220FDA280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B099-9D06-AB2B-A29A-AEDC6906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D349-6D13-0872-3C2D-AA06B42A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740-153B-4D3F-9334-6E05DF714D5B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81DE-8E6F-8BE0-2221-4BE5A05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AF78-4068-9688-E4EA-19B2976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F9D-B461-9AF4-6C0B-D52C703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544C-F870-B59C-4B41-FDAFA1E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C4B0-C07D-A3D1-B5BE-120B14A8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1863F-B07D-A53B-A2A6-B3293D29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071A-5317-3BFA-7F6D-FCB99A79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60B6E-A2D7-BEDD-D8B5-CF778E7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5C91-DC2B-4871-905F-857B60E8F0C9}" type="datetime1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685C-0169-1716-6107-CF54D435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0FBDA-F965-68BE-E6F4-631A459B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4281-B184-223B-7363-269C801C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B531-09B3-7C2A-03B3-EEE3BFE1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7DF2-BDFD-43DD-822D-D0F89EEAEB15}" type="datetime1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18E-F575-F6E1-5B95-C02B70EE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BB6C-3D82-F94D-E6B0-D88B099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F964-5F02-2879-6CF3-1798F46F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F6CA-3C87-43B0-ACE2-B61A5700DE7A}" type="datetime1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CAD-E229-6838-669D-96712B7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8D8A3-696C-7AB7-2393-71C0403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4338-4EAA-15A3-B188-249FE69E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DAE3-FC4B-BB29-E8C0-3B08FBB3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1BD9-A8D0-FE38-D95A-FF13F42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CB25-01F0-7041-CC70-4B57DC0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462-8B33-45EE-833D-3ABCC66C620D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74F0-750B-00B9-FDC6-5D1D287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6A6C6-4695-329F-5E3F-956BFB8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D7-1D26-5758-8157-A3891B47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E0FB2-F6BA-DD07-E5C6-25FED981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70B8-CE9A-F0E5-FBCC-FC04E3F3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431C-5B34-6DAB-589C-5F2C5857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51E4-017A-464E-A06A-69811D32577D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DB368-93F9-4E1F-162D-F21FBFB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D7D5-2477-1219-068F-ED69124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434-9730-DBA5-FF17-C2F2ADE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49ED3-C88A-D763-B5BB-DE45D382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91FF-F762-5A82-467B-44E7E01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E9AE-2E6F-4739-BC0F-A181D584D3BB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3CB0-7A7C-2C02-FDF0-7E158B9B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EDD9-2468-0132-4B3A-C9569B1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0C14C-AB9D-3E02-BF64-D9AAAF816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839D2-707D-A934-4739-F6552D5B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C6A-9D61-2F49-D23F-0E0E6E57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3DF-E48A-405E-A597-21579A82FCCE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5B13-B4DD-0246-5964-67597460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864B-C293-97F7-592D-CAA2F65E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F365-D77F-B672-FB54-522C669F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5A52-2105-60AA-CE03-F844F862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3C10-F4C3-9191-ADF8-E8CEABC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17C-753A-41BF-85DF-F31E939C9D88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E080-9AD1-73E4-33B7-D9F36C17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F518-56D5-42D1-1DB1-457D80F4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eJD6dqJ5lo&amp;t=1312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hedonometer.org/timeseries/en_all/?from=2021-11-23&amp;to=2023-05-22&amp;viz=wordshift" TargetMode="External"/><Relationship Id="rId2" Type="http://schemas.openxmlformats.org/officeDocument/2006/relationships/hyperlink" Target="https://heyjackas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9979-9923-BC09-E841-3BE1A142E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AF64F-654F-318D-0993-7805F463D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Statistical concepts review and Bias-Variance Decomposition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DF67D-2F46-5DB7-2CDD-D9D90524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856C-1D9E-A3F7-C7D6-8813BA74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B918-53CE-D62A-3EF0-94225E956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ISLP: Chapter 2</a:t>
            </a:r>
          </a:p>
          <a:p>
            <a:r>
              <a:rPr lang="en-US" dirty="0"/>
              <a:t>Shalizi: Chapters 1-2 (lite)</a:t>
            </a:r>
          </a:p>
          <a:p>
            <a:endParaRPr lang="en-US" dirty="0"/>
          </a:p>
          <a:p>
            <a:r>
              <a:rPr lang="en-US" dirty="0"/>
              <a:t>Central Limit Theorem (CLT) Review video:</a:t>
            </a:r>
          </a:p>
          <a:p>
            <a:pPr lvl="1"/>
            <a:r>
              <a:rPr lang="en-US" dirty="0"/>
              <a:t>3blue1brown: “But what is the Central Limit Theorem?”</a:t>
            </a:r>
          </a:p>
          <a:p>
            <a:pPr lvl="1"/>
            <a:r>
              <a:rPr lang="en-US" dirty="0">
                <a:hlinkClick r:id="rId2"/>
              </a:rPr>
              <a:t>https://www.youtube.com/watch?v=zeJD6dqJ5lo&amp;t=1312s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A7F28-3941-401D-28E0-116EF040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4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CE60-7E95-FC25-0FDC-A8B3B1F71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Using Math to Prove or Explain Real Phenomena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5A6CD-3840-F3E9-1B3D-F01E27DE20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9096"/>
                <a:ext cx="10515600" cy="494306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class example for my daughter: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𝐵𝑜𝑦𝑠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𝑒𝑣𝑖𝑙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baseline="-25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𝑃𝑟𝑜𝑜𝑓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0" indent="0">
                  <a:buNone/>
                </a:pPr>
                <a:r>
                  <a:rPr lang="en-US" b="0" dirty="0"/>
                  <a:t>  1. Boys require time and money.	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𝐵𝑜𝑦𝑠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𝑚𝑜𝑛𝑒𝑦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  2. Time is money. 		</a:t>
                </a:r>
                <a:r>
                  <a:rPr lang="en-US" dirty="0"/>
                  <a:t>                </a:t>
                </a:r>
                <a:r>
                  <a:rPr lang="en-US" b="0" dirty="0"/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𝐵𝑜𝑦𝑠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𝑚𝑜𝑛𝑒𝑦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𝑚𝑜𝑛𝑒𝑦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 						   	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𝑚𝑜𝑛𝑒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/>
                  <a:t>  3. Money is the root of all evil.</a:t>
                </a:r>
                <a:r>
                  <a:rPr lang="en-US" dirty="0"/>
                  <a:t>	      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𝐵𝑜𝑦𝑠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𝑒𝑣𝑖𝑙</m:t>
                            </m:r>
                          </m:e>
                        </m:ra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				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𝐵𝑜𝑦𝑠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𝑒𝑣𝑖𝑙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			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∎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95A6CD-3840-F3E9-1B3D-F01E27DE2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9096"/>
                <a:ext cx="10515600" cy="4943061"/>
              </a:xfrm>
              <a:blipFill>
                <a:blip r:embed="rId2"/>
                <a:stretch>
                  <a:fillRect l="-1043" t="-2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62544-1F82-58FF-3535-057251B2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26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A346-5108-968A-EA85-697F7AD86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Using Math to Prove or Explain Real Phenomena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B1490-D744-BD54-5868-1EF23DE3F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will quantify the phrase:</a:t>
            </a:r>
          </a:p>
          <a:p>
            <a:pPr marL="0" indent="0" algn="ctr">
              <a:buNone/>
            </a:pPr>
            <a:r>
              <a:rPr lang="en-US" dirty="0"/>
              <a:t>“All models are wrong.”</a:t>
            </a:r>
          </a:p>
          <a:p>
            <a:r>
              <a:rPr lang="en-US" dirty="0"/>
              <a:t>First, we will review the statistical concepts from yesterday.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193C8-3AD5-1587-04F9-0BC2597C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8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A583-B56F-70FB-F362-07444223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00178-5EE5-4609-F32E-F69F344EB4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Expectation: (Intuitively) The weighted average of all possible outcomes.</a:t>
                </a:r>
              </a:p>
              <a:p>
                <a:pPr lvl="1"/>
                <a:r>
                  <a:rPr lang="en-US" dirty="0"/>
                  <a:t>For Random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constants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Linearity of expectation: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regardless of independence </a:t>
                </a:r>
                <a:r>
                  <a:rPr lang="en-US" dirty="0"/>
                  <a:t>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A00178-5EE5-4609-F32E-F69F344EB4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0AF56-3C6F-80A1-ABBA-4356B3EC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85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D5076-D95E-5F06-C136-6CBF5486C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EDFD-4FD8-856F-E3E6-8BEA1BA7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B6530-BA0F-C662-A19F-A47AB69E08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Variance: (Intuitively) The weighted average of the squared deviations from the mean.</a:t>
                </a:r>
              </a:p>
              <a:p>
                <a:r>
                  <a:rPr lang="en-US" dirty="0"/>
                  <a:t>Calculating variance: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Rules: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(they are independent),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But not necessarily true in the other direction!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B6530-BA0F-C662-A19F-A47AB69E08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CF3E4-5002-061B-1905-5D7A2F17D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2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F3F3F-44F8-9D11-EE59-D71514C3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690FE-A4D2-F4BD-4431-2E97132CE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A98335-D95E-DA49-424D-F459D86E0E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Covariance: The weighted average of the product of deviations </a:t>
                </a:r>
                <a:br>
                  <a:rPr lang="en-US" dirty="0"/>
                </a:b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1" dirty="0"/>
                  <a:t>. </a:t>
                </a:r>
                <a:r>
                  <a:rPr lang="en-US" dirty="0"/>
                  <a:t>For respective true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Correlation: Scaled covariance into the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[−1,1]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A98335-D95E-DA49-424D-F459D86E0E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5611A-1CB5-4062-9C74-ADFB3E12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36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EE41-C30E-8713-FA3E-823CB3DD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A20F-9C89-E53E-AB44-B6ED19902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Statistical Concepts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38936-409D-1713-A759-C7690D6633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</p:spPr>
            <p:txBody>
              <a:bodyPr/>
              <a:lstStyle/>
              <a:p>
                <a:r>
                  <a:rPr lang="en-US" dirty="0"/>
                  <a:t>Finally, we examine </a:t>
                </a:r>
                <a:r>
                  <a:rPr lang="en-US" b="1" i="1" dirty="0"/>
                  <a:t>bias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Bias: The difference between the expected value of an 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and the true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it aims to estimate.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Bias is about </a:t>
                </a:r>
                <a:r>
                  <a:rPr lang="en-US" b="1" dirty="0"/>
                  <a:t>systematic error </a:t>
                </a:r>
                <a:r>
                  <a:rPr lang="en-US" dirty="0"/>
                  <a:t>(induced by our measurements or our model choice), not random error.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38936-409D-1713-A759-C7690D6633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04879"/>
              </a:xfrm>
              <a:blipFill>
                <a:blip r:embed="rId2"/>
                <a:stretch>
                  <a:fillRect l="-1043" t="-2155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657A1-C10B-022D-1D99-2EA70B02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62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066C-E546-9121-93AF-369A5B83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E434-0E19-C5C6-3F20-C158701E15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model the relationship between output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and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(as a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Assume the following: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a random variable with mean zero,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and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 independent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7E434-0E19-C5C6-3F20-C158701E15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EBA89-2911-35C3-225C-5C77954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4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30D4-5DF4-61CF-0E59-5354C3E72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4648F-B9FA-F23C-F591-39695D484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don’t actually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Therefore, we have to estimate it.</a:t>
                </a:r>
              </a:p>
              <a:p>
                <a:pPr lvl="1"/>
                <a:r>
                  <a:rPr lang="en-US" dirty="0"/>
                  <a:t>Denote estimated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, and predicted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. Then we have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The formula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is a general </a:t>
                </a:r>
                <a:r>
                  <a:rPr lang="en-US" i="1" dirty="0"/>
                  <a:t>statistical model</a:t>
                </a:r>
              </a:p>
              <a:p>
                <a:pPr lvl="1"/>
                <a:r>
                  <a:rPr lang="en-US" dirty="0"/>
                  <a:t>Reminder:</a:t>
                </a:r>
              </a:p>
              <a:p>
                <a:pPr lvl="2"/>
                <a:r>
                  <a:rPr lang="en-US" dirty="0"/>
                  <a:t>Prediction: Use input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in our model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to </a:t>
                </a:r>
                <a:r>
                  <a:rPr lang="en-US" b="1" dirty="0"/>
                  <a:t>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  <a:p>
                <a:pPr lvl="2"/>
                <a:r>
                  <a:rPr lang="en-US" dirty="0"/>
                  <a:t>Inference: Understand the relationship between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lvl="3"/>
                <a:r>
                  <a:rPr lang="en-US" dirty="0"/>
                  <a:t>Which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are (most) relevant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r>
                  <a:rPr lang="en-US" dirty="0"/>
                  <a:t>How does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affect the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our model?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84648F-B9FA-F23C-F591-39695D484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5615D-4CD9-0614-E146-E0EE7E0A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91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D667-98F4-EEC1-D968-6B18A16B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Prediction: What is the best we can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7FD52D-F6D6-1D47-958A-CED66F92D5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We introduce </a:t>
                </a:r>
                <a:r>
                  <a:rPr lang="en-US" b="1" dirty="0"/>
                  <a:t>Mean Square Error (MSE)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substituting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gives us: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i="1" dirty="0"/>
                  <a:t>(some sorcery here … this is what we derived in class)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= </a:t>
                </a:r>
                <a:r>
                  <a:rPr lang="en-US" dirty="0">
                    <a:solidFill>
                      <a:srgbClr val="FF0000"/>
                    </a:solidFill>
                  </a:rPr>
                  <a:t>bias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2 </a:t>
                </a:r>
                <a:r>
                  <a:rPr lang="en-US" baseline="30000" dirty="0"/>
                  <a:t> </a:t>
                </a:r>
                <a:r>
                  <a:rPr lang="en-US" dirty="0"/>
                  <a:t>+ </a:t>
                </a:r>
                <a:r>
                  <a:rPr lang="en-US" dirty="0">
                    <a:solidFill>
                      <a:srgbClr val="00B050"/>
                    </a:solidFill>
                  </a:rPr>
                  <a:t>Model variance </a:t>
                </a:r>
                <a:r>
                  <a:rPr lang="en-US" dirty="0"/>
                  <a:t>+ </a:t>
                </a:r>
                <a:r>
                  <a:rPr lang="en-US" dirty="0">
                    <a:solidFill>
                      <a:srgbClr val="0070C0"/>
                    </a:solidFill>
                  </a:rPr>
                  <a:t>Noise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7FD52D-F6D6-1D47-958A-CED66F92D5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206" t="-2981" b="-1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FEC50-E8E8-1B38-687B-081343F4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35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81E25-7F22-687A-7F78-058495B2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F9F2A-9F60-A02E-9FFD-FACCD3CDA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called a bias-variance decomposition.</a:t>
            </a:r>
          </a:p>
          <a:p>
            <a:pPr marL="0" indent="0" algn="ctr">
              <a:buNone/>
            </a:pPr>
            <a:r>
              <a:rPr lang="en-US" dirty="0"/>
              <a:t>MSE = </a:t>
            </a:r>
            <a:r>
              <a:rPr lang="en-US" dirty="0">
                <a:solidFill>
                  <a:srgbClr val="FF0000"/>
                </a:solidFill>
              </a:rPr>
              <a:t>bias</a:t>
            </a:r>
            <a:r>
              <a:rPr lang="en-US" baseline="30000" dirty="0">
                <a:solidFill>
                  <a:srgbClr val="FF0000"/>
                </a:solidFill>
              </a:rPr>
              <a:t>2 </a:t>
            </a:r>
            <a:r>
              <a:rPr lang="en-US" baseline="30000" dirty="0"/>
              <a:t> </a:t>
            </a:r>
            <a:r>
              <a:rPr lang="en-US" dirty="0"/>
              <a:t>+ </a:t>
            </a:r>
            <a:r>
              <a:rPr lang="en-US" dirty="0">
                <a:solidFill>
                  <a:srgbClr val="00B050"/>
                </a:solidFill>
              </a:rPr>
              <a:t>Model variance </a:t>
            </a:r>
            <a:r>
              <a:rPr lang="en-US" dirty="0"/>
              <a:t>+ </a:t>
            </a:r>
            <a:r>
              <a:rPr lang="en-US" dirty="0">
                <a:solidFill>
                  <a:srgbClr val="0070C0"/>
                </a:solidFill>
              </a:rPr>
              <a:t>Noise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cannot control the randomness in the </a:t>
            </a:r>
            <a:r>
              <a:rPr lang="en-US" b="1" dirty="0"/>
              <a:t>irreducible error. </a:t>
            </a:r>
            <a:r>
              <a:rPr lang="en-US" dirty="0"/>
              <a:t>We can, however, control the reducible error by selecting a model and training the parameters with </a:t>
            </a:r>
            <a:r>
              <a:rPr lang="en-US" i="1" dirty="0"/>
              <a:t>training data</a:t>
            </a:r>
            <a:r>
              <a:rPr lang="en-US" dirty="0"/>
              <a:t>. Thus the best we can do is to approach the irreducible error as close as possible from above.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F92BC-E2E7-06A7-A412-A38393A3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6562AB0C-AC45-D77F-558F-E0AFB85B12DD}"/>
              </a:ext>
            </a:extLst>
          </p:cNvPr>
          <p:cNvSpPr/>
          <p:nvPr/>
        </p:nvSpPr>
        <p:spPr>
          <a:xfrm rot="16200000">
            <a:off x="5751443" y="1325217"/>
            <a:ext cx="512418" cy="340139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2BC94F1E-3A90-3E86-4075-5C1CEBA68292}"/>
              </a:ext>
            </a:extLst>
          </p:cNvPr>
          <p:cNvSpPr/>
          <p:nvPr/>
        </p:nvSpPr>
        <p:spPr>
          <a:xfrm rot="16200000">
            <a:off x="8264662" y="2579480"/>
            <a:ext cx="512418" cy="89286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5C2E22-2C16-9F8D-BC4F-B10FD59C70D8}"/>
              </a:ext>
            </a:extLst>
          </p:cNvPr>
          <p:cNvSpPr txBox="1"/>
          <p:nvPr/>
        </p:nvSpPr>
        <p:spPr>
          <a:xfrm>
            <a:off x="4947478" y="3241261"/>
            <a:ext cx="2133600" cy="375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Reducible error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DC6F0-6CC1-C0C2-A7D9-78661A041C13}"/>
              </a:ext>
            </a:extLst>
          </p:cNvPr>
          <p:cNvSpPr txBox="1"/>
          <p:nvPr/>
        </p:nvSpPr>
        <p:spPr>
          <a:xfrm>
            <a:off x="7454071" y="3229320"/>
            <a:ext cx="2133600" cy="375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Irreducible error</a:t>
            </a:r>
          </a:p>
        </p:txBody>
      </p:sp>
    </p:spTree>
    <p:extLst>
      <p:ext uri="{BB962C8B-B14F-4D97-AF65-F5344CB8AC3E}">
        <p14:creationId xmlns:p14="http://schemas.microsoft.com/office/powerpoint/2010/main" val="1417869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E72F-AD96-A671-7903-F3EAD3DD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we are doing </a:t>
            </a:r>
            <a:r>
              <a:rPr lang="en-US" i="1" dirty="0"/>
              <a:t>prediction</a:t>
            </a:r>
            <a:r>
              <a:rPr lang="en-US" dirty="0"/>
              <a:t> with our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461A1-1CDB-0674-5FE5-38C90D4B9C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Therefore, we are interested in its ability to accurately predict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train the model using </a:t>
                </a:r>
                <a:r>
                  <a:rPr lang="en-US" i="1" dirty="0"/>
                  <a:t>training data </a:t>
                </a:r>
                <a:r>
                  <a:rPr lang="en-US" dirty="0"/>
                  <a:t>so we can hopefully maximize the accuracy of the predictions using previously unseen </a:t>
                </a:r>
                <a:r>
                  <a:rPr lang="en-US" i="1" dirty="0"/>
                  <a:t>test data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Ex: We train a model using data from existing diabetes patients to predict the risk of diabetes.</a:t>
                </a:r>
              </a:p>
              <a:p>
                <a:pPr lvl="1"/>
                <a:r>
                  <a:rPr lang="en-US" dirty="0"/>
                  <a:t>We don’t “care” about the risk of diabetes in the training data, because we already know which of those patients have diabetes.</a:t>
                </a:r>
              </a:p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E461A1-1CDB-0674-5FE5-38C90D4B9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6D69D-DDD9-B5EB-90E1-6C81F34FC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69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68B02-50B3-F26A-BA8F-9CA013A4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vs Test RMSE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99409-85A2-0A3E-371F-32F949FE68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99409-85A2-0A3E-371F-32F949FE68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A3721-B6AF-34D8-6552-E0A587BD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40A56-5410-EB31-8527-C4ED70AB04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626519-9334-CBDE-F193-45B8C663620C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2469766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379E-A94C-5E28-2C9D-8F5C2260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71CA0-2BEF-AB6F-6945-BF44B60F6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ISLP does not formally define this but we can use the following:</a:t>
                </a:r>
              </a:p>
              <a:p>
                <a:r>
                  <a:rPr lang="en-US" b="1" i="1" dirty="0"/>
                  <a:t>Flexibility</a:t>
                </a:r>
                <a:r>
                  <a:rPr lang="en-US" i="1" dirty="0"/>
                  <a:t> </a:t>
                </a:r>
                <a:r>
                  <a:rPr lang="en-US" dirty="0"/>
                  <a:t>is the capacity of a model to approximate a wide range of functions (shapes).</a:t>
                </a:r>
              </a:p>
              <a:p>
                <a:pPr lvl="1"/>
                <a:r>
                  <a:rPr lang="en-US" dirty="0"/>
                  <a:t>A model is more </a:t>
                </a:r>
                <a:r>
                  <a:rPr lang="en-US" b="1" i="1" dirty="0"/>
                  <a:t>flexible </a:t>
                </a:r>
                <a:r>
                  <a:rPr lang="en-US" dirty="0"/>
                  <a:t>if it can represent a larger set of possible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Since a flexible model can take more shapes, it can capture more training data… at the cost of </a:t>
                </a:r>
                <a:r>
                  <a:rPr lang="en-US" b="1" i="1" dirty="0"/>
                  <a:t>overfitting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Mathematically: </a:t>
                </a:r>
                <a:r>
                  <a:rPr lang="en-US" b="1" dirty="0"/>
                  <a:t>flexibility</a:t>
                </a:r>
                <a:r>
                  <a:rPr lang="en-US" dirty="0"/>
                  <a:t> corresponds to higher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As a general rule, as we use more flexible methods, variance will increase and bias will decrease.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71CA0-2BEF-AB6F-6945-BF44B60F6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6D29C-9F73-1184-A1A7-796E737D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91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F7A4-CC18-F32E-06BF-1E78A4972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D577-06A3-35E1-71A1-258267E6C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vs Test RMSE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0FD15A-3CFB-BEF6-07C7-E29AE55321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sz="2000" dirty="0"/>
                  <a:t>The left plot depicts</a:t>
                </a:r>
                <a:br>
                  <a:rPr lang="en-US" sz="2000" dirty="0"/>
                </a:br>
                <a:r>
                  <a:rPr lang="en-US" sz="2000" dirty="0"/>
                  <a:t>various fits via a</a:t>
                </a:r>
                <a:br>
                  <a:rPr lang="en-US" sz="2000" dirty="0"/>
                </a:br>
                <a:r>
                  <a:rPr lang="en-US" sz="2000" dirty="0"/>
                  <a:t>smoothing spline</a:t>
                </a:r>
                <a:br>
                  <a:rPr lang="en-US" sz="2000" dirty="0"/>
                </a:br>
                <a:r>
                  <a:rPr lang="en-US" sz="2000" dirty="0"/>
                  <a:t>process.</a:t>
                </a:r>
              </a:p>
              <a:p>
                <a:r>
                  <a:rPr lang="en-US" sz="2000" dirty="0"/>
                  <a:t>Right plot: Flexibility (x-axis) </a:t>
                </a:r>
                <a:br>
                  <a:rPr lang="en-US" sz="2000" dirty="0"/>
                </a:br>
                <a:r>
                  <a:rPr lang="en-US" sz="2000" dirty="0"/>
                  <a:t>is quantified by the degrees of </a:t>
                </a:r>
                <a:br>
                  <a:rPr lang="en-US" sz="2000" dirty="0"/>
                </a:br>
                <a:r>
                  <a:rPr lang="en-US" sz="2000" dirty="0"/>
                  <a:t>freedom of the respective </a:t>
                </a:r>
                <a:br>
                  <a:rPr lang="en-US" sz="2000" dirty="0"/>
                </a:br>
                <a:r>
                  <a:rPr lang="en-US" sz="2000" dirty="0"/>
                  <a:t>smoothing spline model.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0FD15A-3CFB-BEF6-07C7-E29AE55321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EBDAF-3E60-2DC1-99A3-02744889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908FB-E02B-3E54-1CBB-762A8F4946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988016-0B8D-7F77-3577-29CA4E7800E3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1752006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6352-A443-DE6E-D94F-F46807D2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7F0DC-1A26-0184-89B1-4D448A1AC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2B20F-D94D-696A-8903-2716F150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73A749-0A84-55AB-A673-E57DB4377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200" y="0"/>
            <a:ext cx="8927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93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5C1F-B0F6-0B98-53E4-91349335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7254A-2E15-8C41-4DEC-AC7E5B059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8AE7F-1E5F-0551-7430-F93B02A6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02DD42-946D-1923-D487-DDBC281B3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62" y="0"/>
            <a:ext cx="8902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35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22707-F8F4-F6A0-CE36-8B487D3A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2FA02-3A85-26C4-9F2B-1FE4CB2B8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6427B-D4AA-1731-2CB4-B448F2390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CB6DB2-68D5-05F8-7CF9-6B8CF4AF8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588" y="0"/>
            <a:ext cx="8884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62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B426-59BF-205B-7DA3-64520611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76166-1085-82F1-87B0-032055416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256BF-AF4F-F944-6B3F-F820BBF1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9899A-6DA4-1B01-C59D-0D5AA3561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95" y="0"/>
            <a:ext cx="88118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A002-AFB4-70C7-621F-EA426E914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6E08-B2B7-0E34-915B-0D851028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14A72-7A1A-027C-3A11-764D169983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Hence our optimal model is a balance of the training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𝑇𝑟𝑎𝑖𝑛</m:t>
                        </m:r>
                      </m:sub>
                    </m:sSub>
                  </m:oMath>
                </a14:m>
                <a:r>
                  <a:rPr lang="en-US" dirty="0"/>
                  <a:t>, and our test MSE,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sz="2000" b="1" dirty="0"/>
                  <a:t>Overfitting </a:t>
                </a:r>
                <a:r>
                  <a:rPr lang="en-US" sz="2000" dirty="0"/>
                  <a:t>occurs when our</a:t>
                </a:r>
                <a:br>
                  <a:rPr lang="en-US" sz="2000" dirty="0"/>
                </a:br>
                <a:r>
                  <a:rPr lang="en-US" sz="2000" dirty="0"/>
                  <a:t>model too closely follows the</a:t>
                </a:r>
                <a:br>
                  <a:rPr lang="en-US" sz="2000" dirty="0"/>
                </a:br>
                <a:r>
                  <a:rPr lang="en-US" sz="2000" dirty="0"/>
                  <a:t>error or noise.</a:t>
                </a:r>
              </a:p>
              <a:p>
                <a:r>
                  <a:rPr lang="en-US" sz="2000" dirty="0"/>
                  <a:t>This is undesirable!</a:t>
                </a:r>
              </a:p>
              <a:p>
                <a:r>
                  <a:rPr lang="en-US" sz="2000" dirty="0"/>
                  <a:t>The fit will not yield accurate</a:t>
                </a:r>
                <a:br>
                  <a:rPr lang="en-US" sz="2000" dirty="0"/>
                </a:br>
                <a:r>
                  <a:rPr lang="en-US" sz="2000" dirty="0"/>
                  <a:t>predictions on new</a:t>
                </a:r>
                <a:br>
                  <a:rPr lang="en-US" sz="2000" dirty="0"/>
                </a:br>
                <a:r>
                  <a:rPr lang="en-US" sz="2000" dirty="0"/>
                  <a:t>observations (test data)</a:t>
                </a:r>
                <a:br>
                  <a:rPr lang="en-US" sz="2000" dirty="0"/>
                </a:br>
                <a:r>
                  <a:rPr lang="en-US" sz="2000" dirty="0"/>
                  <a:t>that the model hasn’t yet</a:t>
                </a:r>
                <a:br>
                  <a:rPr lang="en-US" sz="2000" dirty="0"/>
                </a:br>
                <a:r>
                  <a:rPr lang="en-US" sz="2000" dirty="0"/>
                  <a:t>seen.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614A72-7A1A-027C-3A11-764D16998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7CB93-F1CB-2378-48A8-B5B850C3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BAC13-CF46-E5E1-A13C-A348560FDF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146"/>
          <a:stretch>
            <a:fillRect/>
          </a:stretch>
        </p:blipFill>
        <p:spPr>
          <a:xfrm>
            <a:off x="4598670" y="2668562"/>
            <a:ext cx="7593330" cy="3920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1748FC-E34F-6662-DEA1-42AF33BB9D06}"/>
              </a:ext>
            </a:extLst>
          </p:cNvPr>
          <p:cNvSpPr txBox="1"/>
          <p:nvPr/>
        </p:nvSpPr>
        <p:spPr>
          <a:xfrm>
            <a:off x="5490860" y="6539075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Image sourced from Figure 2.9 of ISLP.</a:t>
            </a:r>
          </a:p>
        </p:txBody>
      </p:sp>
    </p:spTree>
    <p:extLst>
      <p:ext uri="{BB962C8B-B14F-4D97-AF65-F5344CB8AC3E}">
        <p14:creationId xmlns:p14="http://schemas.microsoft.com/office/powerpoint/2010/main" val="1273730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587F-4971-AAFA-0F19-32D947BA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26C82-EE97-E5DA-270D-BE34D8721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b="1" dirty="0"/>
                  <a:t>More flexibility 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</m:oMath>
                </a14:m>
                <a:r>
                  <a:rPr lang="en-US" b="1" dirty="0"/>
                  <a:t> doesn’t mean it’s a better predictor.</a:t>
                </a:r>
              </a:p>
              <a:p>
                <a:r>
                  <a:rPr lang="en-US" dirty="0"/>
                  <a:t>Flexible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may fit to specific artifacts (noise) of our observations</a:t>
                </a:r>
              </a:p>
              <a:p>
                <a:r>
                  <a:rPr lang="en-US" dirty="0"/>
                  <a:t>We aren’t actually interested in the MSE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on the training data used to create the model (by itself)</a:t>
                </a:r>
              </a:p>
              <a:p>
                <a:r>
                  <a:rPr lang="en-US" dirty="0"/>
                  <a:t>Instead, we want to know how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generalizes to </a:t>
                </a:r>
                <a:r>
                  <a:rPr lang="en-US" i="1" dirty="0"/>
                  <a:t>new data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Enter: </a:t>
                </a:r>
                <a:r>
                  <a:rPr lang="en-US" b="1" dirty="0"/>
                  <a:t>Train/test split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26C82-EE97-E5DA-270D-BE34D8721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EF0C0-82C5-1E8E-8F9C-BDCAF55B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1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6FF00-5DEE-5C88-9306-B813697FB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Train/test split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5AE9F0-B126-A2C9-3076-1F0BE777CD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Use a portion of the data, the </a:t>
                </a:r>
                <a:r>
                  <a:rPr lang="en-US" i="1" dirty="0"/>
                  <a:t>training data, </a:t>
                </a:r>
                <a:r>
                  <a:rPr lang="en-US" dirty="0"/>
                  <a:t>to build the model.</a:t>
                </a:r>
              </a:p>
              <a:p>
                <a:r>
                  <a:rPr lang="en-US" dirty="0"/>
                  <a:t>Use the remaining data, which the model has not “seen”, to test its performance.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A simulation: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𝑈𝑛𝑖𝑓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−3,3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0,9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5AE9F0-B126-A2C9-3076-1F0BE777CD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E58C7-A763-CA2E-16F9-A4B64E5A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4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ABD0-1B78-2E6B-08D6-3567B1DE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Truth and Sample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C587E-C7AA-DCC5-BB75-27367EAE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24</a:t>
            </a:fld>
            <a:endParaRPr lang="en-US"/>
          </a:p>
        </p:txBody>
      </p:sp>
      <p:pic>
        <p:nvPicPr>
          <p:cNvPr id="450" name="Graphic 449">
            <a:extLst>
              <a:ext uri="{FF2B5EF4-FFF2-40B4-BE49-F238E27FC236}">
                <a16:creationId xmlns:a16="http://schemas.microsoft.com/office/drawing/2014/main" id="{F536E339-8AB1-73AA-5BE6-C7D4C1B2D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2478" y="1514007"/>
            <a:ext cx="7667043" cy="484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98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91BC-5ED6-EAB9-B8DE-8D3A81BB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Train/Test Split and Truth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F60E4-2620-8E52-94A6-64969E28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25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EB6D242-5B81-0FDE-C8B9-97B56AC7E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77833" y="1529789"/>
            <a:ext cx="8436334" cy="532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90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293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391181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275069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158958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33956" y="449228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3331168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217005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6016149" y="22485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10875" y="3464930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5254" y="41655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13197" y="44849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25244" y="32956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87814" y="2364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00015" y="24942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00753" y="344472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3075" y="43221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00304" y="33857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84327" y="286390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38853" y="3920439"/>
            <a:ext cx="13464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6493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68238" y="464285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5267" y="2699074"/>
            <a:ext cx="75375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630448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40328" y="2068764"/>
            <a:ext cx="123318" cy="314381"/>
          </a:xfrm>
          <a:prstGeom prst="rect">
            <a:avLst/>
          </a:prstGeom>
        </p:spPr>
        <p:txBody>
          <a:bodyPr vert="horz" wrap="square" lIns="0" tIns="61659" rIns="0" bIns="0" rtlCol="0">
            <a:spAutoFit/>
          </a:bodyPr>
          <a:lstStyle/>
          <a:p>
            <a:pPr>
              <a:spcBef>
                <a:spcPts val="486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30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58675" y="289554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36060" y="39227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40620" y="23324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27097" y="36521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00170" y="258126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88595" y="263167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7559" y="3388951"/>
            <a:ext cx="63169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483218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15101" y="1337733"/>
            <a:ext cx="122058" cy="428517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99"/>
              </a:spcBef>
            </a:pPr>
            <a:endParaRPr sz="1090">
              <a:latin typeface="Wingdings"/>
              <a:cs typeface="Wingdings"/>
            </a:endParaRPr>
          </a:p>
          <a:p>
            <a:pPr marL="3775"/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26161" y="37039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24215" y="4040393"/>
            <a:ext cx="44293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95604" y="3059297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66763" y="24983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59703" y="398837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25489" y="26146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93355" y="247543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22285" y="3763118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73031" y="4081153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07537" y="2002044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54174" y="3409867"/>
            <a:ext cx="38128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84900" y="3106135"/>
            <a:ext cx="41777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06740" y="28004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52396" y="2608617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71993" y="3649779"/>
            <a:ext cx="208886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86828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39995" y="2433778"/>
            <a:ext cx="358629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5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5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89758" y="3489599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2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068038" y="304374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486406" y="2759678"/>
            <a:ext cx="254186" cy="35913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8020">
              <a:lnSpc>
                <a:spcPts val="69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9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30871">
              <a:spcBef>
                <a:spcPts val="34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3780" y="3334427"/>
            <a:ext cx="5624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9174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44059" y="3274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96272" y="3843746"/>
            <a:ext cx="2818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81079" y="2120572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-36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15468" y="3679096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721481" y="2624883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566308" y="3608304"/>
            <a:ext cx="85441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80783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8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690740" y="32630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176866" y="3898807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6855" y="2538180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617086" y="3776885"/>
            <a:ext cx="329687" cy="3828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endParaRPr sz="793">
              <a:latin typeface="Wingdings"/>
              <a:cs typeface="Wingdings"/>
            </a:endParaRPr>
          </a:p>
          <a:p>
            <a:pPr algn="r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601210" y="3874674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568407" y="2850492"/>
            <a:ext cx="24789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  <a:tab pos="2305351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4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00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24744" y="2258581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55647" y="2718560"/>
            <a:ext cx="9236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749994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24508" y="2852103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76194" y="3706806"/>
            <a:ext cx="20636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79" dirty="0">
                <a:solidFill>
                  <a:srgbClr val="00D2D7"/>
                </a:solidFill>
                <a:latin typeface="Times New Roman"/>
                <a:cs typeface="Times New Roman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72931" y="3676238"/>
            <a:ext cx="57254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49241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259179" y="2967588"/>
            <a:ext cx="33975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8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600015" y="206229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75715" y="3326918"/>
            <a:ext cx="180069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938749" algn="l"/>
                <a:tab pos="1627085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63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414227" y="187869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06966" y="29561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30128" y="3894694"/>
            <a:ext cx="36869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8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52541" y="4142472"/>
            <a:ext cx="3120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44251" y="3240392"/>
            <a:ext cx="58009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9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9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87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57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381691" y="3051074"/>
            <a:ext cx="245378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22061">
              <a:lnSpc>
                <a:spcPts val="67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70070" y="25560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405457" y="3963342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87186" y="267243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768048" y="268495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410285" y="2201553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44626" y="3138135"/>
            <a:ext cx="2304036" cy="22173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R="207633" algn="ctr"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23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  <a:p>
            <a:pPr marL="75503">
              <a:lnSpc>
                <a:spcPts val="188"/>
              </a:lnSpc>
              <a:tabLst>
                <a:tab pos="2012149" algn="l"/>
              </a:tabLst>
            </a:pP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03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99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0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-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46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  <a:p>
            <a:pPr marL="534811" algn="ctr">
              <a:lnSpc>
                <a:spcPts val="436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684741" y="2932727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538785" y="410546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091636" y="3146539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90056" y="2932905"/>
            <a:ext cx="15490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775162" algn="l"/>
              </a:tabLst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30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2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7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972974" y="3059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927166" y="299619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254272" y="2748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800943" y="3343365"/>
            <a:ext cx="8179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73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918927" y="3425241"/>
            <a:ext cx="19189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840598" algn="l"/>
                <a:tab pos="1374150" algn="l"/>
              </a:tabLst>
            </a:pPr>
            <a:r>
              <a:rPr sz="1040" spc="87" baseline="-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892" baseline="-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29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1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744048" y="3500327"/>
            <a:ext cx="18422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48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133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3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4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9" baseline="-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058687" y="3274895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054136" y="43189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049972" y="2998874"/>
            <a:ext cx="81163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482239" y="3816788"/>
            <a:ext cx="646791" cy="342453"/>
          </a:xfrm>
          <a:prstGeom prst="rect">
            <a:avLst/>
          </a:prstGeom>
        </p:spPr>
        <p:txBody>
          <a:bodyPr vert="horz" wrap="square" lIns="0" tIns="76759" rIns="0" bIns="0" rtlCol="0">
            <a:spAutoFit/>
          </a:bodyPr>
          <a:lstStyle/>
          <a:p>
            <a:pPr marL="50335">
              <a:spcBef>
                <a:spcPts val="60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  <a:p>
            <a:pPr marL="93120">
              <a:spcBef>
                <a:spcPts val="41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4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550754" y="2809019"/>
            <a:ext cx="145087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00329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921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39682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840684" y="29060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735329" y="3617422"/>
            <a:ext cx="21303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1020544" algn="l"/>
                <a:tab pos="1805775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8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1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235087" y="4562225"/>
            <a:ext cx="85945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906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418684" y="3751141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6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174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980383" y="2477040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111243" y="279721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804573" y="3211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747985" y="1732460"/>
            <a:ext cx="463070" cy="33772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algn="ctr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  <a:p>
            <a:pPr marL="98154" algn="ctr">
              <a:spcBef>
                <a:spcPts val="71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322195" y="3098450"/>
            <a:ext cx="95005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44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9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560150" y="3823008"/>
            <a:ext cx="5259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02681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741824" y="42908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186601" y="4748899"/>
            <a:ext cx="654341" cy="595911"/>
          </a:xfrm>
          <a:prstGeom prst="rect">
            <a:avLst/>
          </a:prstGeom>
        </p:spPr>
        <p:txBody>
          <a:bodyPr vert="horz" wrap="square" lIns="0" tIns="50334" rIns="0" bIns="0" rtlCol="0">
            <a:spAutoFit/>
          </a:bodyPr>
          <a:lstStyle/>
          <a:p>
            <a:pPr marL="198824">
              <a:spcBef>
                <a:spcPts val="39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4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211408">
              <a:spcBef>
                <a:spcPts val="21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 marL="25168">
              <a:spcBef>
                <a:spcPts val="58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3184415" y="2549402"/>
            <a:ext cx="5010744" cy="1515052"/>
          </a:xfrm>
          <a:custGeom>
            <a:avLst/>
            <a:gdLst/>
            <a:ahLst/>
            <a:cxnLst/>
            <a:rect l="l" t="t" r="r" b="b"/>
            <a:pathLst>
              <a:path w="2528570" h="764539">
                <a:moveTo>
                  <a:pt x="0" y="764105"/>
                </a:moveTo>
                <a:lnTo>
                  <a:pt x="42219" y="751385"/>
                </a:lnTo>
                <a:lnTo>
                  <a:pt x="84349" y="738665"/>
                </a:lnTo>
                <a:lnTo>
                  <a:pt x="126478" y="725945"/>
                </a:lnTo>
                <a:lnTo>
                  <a:pt x="168608" y="713225"/>
                </a:lnTo>
                <a:lnTo>
                  <a:pt x="210737" y="700415"/>
                </a:lnTo>
                <a:lnTo>
                  <a:pt x="252867" y="687695"/>
                </a:lnTo>
                <a:lnTo>
                  <a:pt x="294997" y="674975"/>
                </a:lnTo>
                <a:lnTo>
                  <a:pt x="337126" y="662254"/>
                </a:lnTo>
                <a:lnTo>
                  <a:pt x="379256" y="649534"/>
                </a:lnTo>
                <a:lnTo>
                  <a:pt x="421385" y="636724"/>
                </a:lnTo>
                <a:lnTo>
                  <a:pt x="463515" y="624004"/>
                </a:lnTo>
                <a:lnTo>
                  <a:pt x="505644" y="611284"/>
                </a:lnTo>
                <a:lnTo>
                  <a:pt x="547774" y="598564"/>
                </a:lnTo>
                <a:lnTo>
                  <a:pt x="589904" y="585844"/>
                </a:lnTo>
                <a:lnTo>
                  <a:pt x="632033" y="573124"/>
                </a:lnTo>
                <a:lnTo>
                  <a:pt x="674163" y="560314"/>
                </a:lnTo>
                <a:lnTo>
                  <a:pt x="716382" y="547594"/>
                </a:lnTo>
                <a:lnTo>
                  <a:pt x="758512" y="534873"/>
                </a:lnTo>
                <a:lnTo>
                  <a:pt x="800641" y="522153"/>
                </a:lnTo>
                <a:lnTo>
                  <a:pt x="842771" y="509433"/>
                </a:lnTo>
                <a:lnTo>
                  <a:pt x="884901" y="496713"/>
                </a:lnTo>
                <a:lnTo>
                  <a:pt x="927030" y="483903"/>
                </a:lnTo>
                <a:lnTo>
                  <a:pt x="969160" y="471183"/>
                </a:lnTo>
                <a:lnTo>
                  <a:pt x="1011289" y="458463"/>
                </a:lnTo>
                <a:lnTo>
                  <a:pt x="1053419" y="445743"/>
                </a:lnTo>
                <a:lnTo>
                  <a:pt x="1095548" y="433023"/>
                </a:lnTo>
                <a:lnTo>
                  <a:pt x="1137678" y="420213"/>
                </a:lnTo>
                <a:lnTo>
                  <a:pt x="1179808" y="407492"/>
                </a:lnTo>
                <a:lnTo>
                  <a:pt x="1221937" y="394772"/>
                </a:lnTo>
                <a:lnTo>
                  <a:pt x="1264067" y="382052"/>
                </a:lnTo>
                <a:lnTo>
                  <a:pt x="1306196" y="369332"/>
                </a:lnTo>
                <a:lnTo>
                  <a:pt x="1348326" y="356612"/>
                </a:lnTo>
                <a:lnTo>
                  <a:pt x="1390546" y="343802"/>
                </a:lnTo>
                <a:lnTo>
                  <a:pt x="1432675" y="331082"/>
                </a:lnTo>
                <a:lnTo>
                  <a:pt x="1474805" y="318362"/>
                </a:lnTo>
                <a:lnTo>
                  <a:pt x="1516934" y="305642"/>
                </a:lnTo>
                <a:lnTo>
                  <a:pt x="1559064" y="292922"/>
                </a:lnTo>
                <a:lnTo>
                  <a:pt x="1601193" y="280202"/>
                </a:lnTo>
                <a:lnTo>
                  <a:pt x="1643323" y="267391"/>
                </a:lnTo>
                <a:lnTo>
                  <a:pt x="1685452" y="254671"/>
                </a:lnTo>
                <a:lnTo>
                  <a:pt x="1727582" y="241951"/>
                </a:lnTo>
                <a:lnTo>
                  <a:pt x="1769712" y="229231"/>
                </a:lnTo>
                <a:lnTo>
                  <a:pt x="1811841" y="216511"/>
                </a:lnTo>
                <a:lnTo>
                  <a:pt x="1853971" y="203701"/>
                </a:lnTo>
                <a:lnTo>
                  <a:pt x="1896100" y="190981"/>
                </a:lnTo>
                <a:lnTo>
                  <a:pt x="1938230" y="178261"/>
                </a:lnTo>
                <a:lnTo>
                  <a:pt x="1980359" y="165541"/>
                </a:lnTo>
                <a:lnTo>
                  <a:pt x="2022489" y="152821"/>
                </a:lnTo>
                <a:lnTo>
                  <a:pt x="2064709" y="140101"/>
                </a:lnTo>
                <a:lnTo>
                  <a:pt x="2106838" y="127290"/>
                </a:lnTo>
                <a:lnTo>
                  <a:pt x="2148968" y="114570"/>
                </a:lnTo>
                <a:lnTo>
                  <a:pt x="2191097" y="101850"/>
                </a:lnTo>
                <a:lnTo>
                  <a:pt x="2233227" y="89130"/>
                </a:lnTo>
                <a:lnTo>
                  <a:pt x="2275356" y="76410"/>
                </a:lnTo>
                <a:lnTo>
                  <a:pt x="2317486" y="63690"/>
                </a:lnTo>
                <a:lnTo>
                  <a:pt x="2359616" y="50880"/>
                </a:lnTo>
                <a:lnTo>
                  <a:pt x="2401745" y="38160"/>
                </a:lnTo>
                <a:lnTo>
                  <a:pt x="2443875" y="25440"/>
                </a:lnTo>
                <a:lnTo>
                  <a:pt x="2486004" y="12720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1" name="object 121"/>
          <p:cNvSpPr txBox="1"/>
          <p:nvPr/>
        </p:nvSpPr>
        <p:spPr>
          <a:xfrm>
            <a:off x="2547852" y="4364147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731271" y="3202850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641707" y="2041734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2884975" y="4492287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5" name="object 125"/>
          <p:cNvSpPr/>
          <p:nvPr/>
        </p:nvSpPr>
        <p:spPr>
          <a:xfrm>
            <a:off x="2884975" y="333116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6" name="object 126"/>
          <p:cNvSpPr/>
          <p:nvPr/>
        </p:nvSpPr>
        <p:spPr>
          <a:xfrm>
            <a:off x="2884975" y="217005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7" name="object 127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8" name="object 128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0" name="object 130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Title 1">
            <a:extLst>
              <a:ext uri="{FF2B5EF4-FFF2-40B4-BE49-F238E27FC236}">
                <a16:creationId xmlns:a16="http://schemas.microsoft.com/office/drawing/2014/main" id="{22983431-02FB-9D04-B8B5-58E73AFC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 linear estimate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293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391181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275069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158958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33956" y="449228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3331168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217005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6016149" y="22485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10875" y="3464930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5254" y="41655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13197" y="44849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25244" y="32956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87814" y="2364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00015" y="24942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00753" y="344472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63075" y="43221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00304" y="338573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84327" y="286390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38853" y="3920439"/>
            <a:ext cx="13464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6493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68238" y="464285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85267" y="2699074"/>
            <a:ext cx="75375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630448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40328" y="2068764"/>
            <a:ext cx="123318" cy="314381"/>
          </a:xfrm>
          <a:prstGeom prst="rect">
            <a:avLst/>
          </a:prstGeom>
        </p:spPr>
        <p:txBody>
          <a:bodyPr vert="horz" wrap="square" lIns="0" tIns="61659" rIns="0" bIns="0" rtlCol="0">
            <a:spAutoFit/>
          </a:bodyPr>
          <a:lstStyle/>
          <a:p>
            <a:pPr>
              <a:spcBef>
                <a:spcPts val="486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30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58675" y="289554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36060" y="39227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140620" y="23324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27097" y="365210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00170" y="258126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88595" y="263167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7559" y="3388951"/>
            <a:ext cx="63169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483218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115101" y="1337733"/>
            <a:ext cx="122058" cy="428517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99"/>
              </a:spcBef>
            </a:pPr>
            <a:endParaRPr sz="1090">
              <a:latin typeface="Wingdings"/>
              <a:cs typeface="Wingdings"/>
            </a:endParaRPr>
          </a:p>
          <a:p>
            <a:pPr marL="3775"/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026161" y="37039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324215" y="4040393"/>
            <a:ext cx="44293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095604" y="3059297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566763" y="249831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59703" y="3988372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25489" y="26146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93355" y="247543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22285" y="3763118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73031" y="4081153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07537" y="2002044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254174" y="3409867"/>
            <a:ext cx="38128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384900" y="3106135"/>
            <a:ext cx="41777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06740" y="28004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52396" y="2608617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71993" y="3649779"/>
            <a:ext cx="208886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86828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39995" y="2433778"/>
            <a:ext cx="358629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5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5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889758" y="3489599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2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068038" y="304374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486406" y="2759678"/>
            <a:ext cx="254186" cy="35913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8020">
              <a:lnSpc>
                <a:spcPts val="69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9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30871">
              <a:spcBef>
                <a:spcPts val="34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053780" y="3334427"/>
            <a:ext cx="5624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9174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744059" y="3274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296272" y="3843746"/>
            <a:ext cx="2818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481079" y="2120572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-36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415468" y="3679096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721481" y="2624883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566308" y="3608304"/>
            <a:ext cx="85441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80783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8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690740" y="32630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176866" y="3898807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536855" y="2538180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617086" y="3776885"/>
            <a:ext cx="329687" cy="3828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9"/>
              </a:spcBef>
            </a:pPr>
            <a:endParaRPr sz="793">
              <a:latin typeface="Wingdings"/>
              <a:cs typeface="Wingdings"/>
            </a:endParaRPr>
          </a:p>
          <a:p>
            <a:pPr algn="r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601210" y="3874674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568407" y="2850492"/>
            <a:ext cx="24789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  <a:tab pos="2305351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4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00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03" baseline="39682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724744" y="2258581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55647" y="2718560"/>
            <a:ext cx="9236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749994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24508" y="2852103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776194" y="3706806"/>
            <a:ext cx="20636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79" dirty="0">
                <a:solidFill>
                  <a:srgbClr val="00D2D7"/>
                </a:solidFill>
                <a:latin typeface="Times New Roman"/>
                <a:cs typeface="Times New Roman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572931" y="3676238"/>
            <a:ext cx="57254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49241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259179" y="2967588"/>
            <a:ext cx="33975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8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600015" y="206229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875715" y="3326918"/>
            <a:ext cx="180069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938749" algn="l"/>
                <a:tab pos="1627085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63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414227" y="187869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06966" y="29561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030128" y="3894694"/>
            <a:ext cx="36869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8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152541" y="4142472"/>
            <a:ext cx="31207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044251" y="3240392"/>
            <a:ext cx="58009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9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9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87" baseline="-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57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381691" y="3051074"/>
            <a:ext cx="245378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22061">
              <a:lnSpc>
                <a:spcPts val="67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170070" y="25560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405457" y="3963342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87186" y="267243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768048" y="268495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410285" y="2201553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344626" y="3138135"/>
            <a:ext cx="2304036" cy="22173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R="207633" algn="ctr"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23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  <a:p>
            <a:pPr marL="75503">
              <a:lnSpc>
                <a:spcPts val="188"/>
              </a:lnSpc>
              <a:tabLst>
                <a:tab pos="2012149" algn="l"/>
              </a:tabLst>
            </a:pP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03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99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0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-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46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  <a:p>
            <a:pPr marL="534811" algn="ctr">
              <a:lnSpc>
                <a:spcPts val="436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684741" y="2932727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538785" y="410546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091636" y="3146539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5890056" y="2932905"/>
            <a:ext cx="15490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775162" algn="l"/>
              </a:tabLst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30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2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47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3972974" y="3059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927166" y="299619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6254272" y="274859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800943" y="3343365"/>
            <a:ext cx="8179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73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3918927" y="3425241"/>
            <a:ext cx="19189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840598" algn="l"/>
                <a:tab pos="1374150" algn="l"/>
              </a:tabLst>
            </a:pPr>
            <a:r>
              <a:rPr sz="1040" spc="87" baseline="-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892" baseline="-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29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1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-3174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744048" y="3500327"/>
            <a:ext cx="18422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48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7936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133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3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4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9" baseline="-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4058687" y="3274895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4054136" y="43189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049972" y="2998874"/>
            <a:ext cx="81163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5482239" y="3816788"/>
            <a:ext cx="646791" cy="342453"/>
          </a:xfrm>
          <a:prstGeom prst="rect">
            <a:avLst/>
          </a:prstGeom>
        </p:spPr>
        <p:txBody>
          <a:bodyPr vert="horz" wrap="square" lIns="0" tIns="76759" rIns="0" bIns="0" rtlCol="0">
            <a:spAutoFit/>
          </a:bodyPr>
          <a:lstStyle/>
          <a:p>
            <a:pPr marL="50335">
              <a:spcBef>
                <a:spcPts val="60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  <a:p>
            <a:pPr marL="93120">
              <a:spcBef>
                <a:spcPts val="41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4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550754" y="2809019"/>
            <a:ext cx="145087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00329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921" baseline="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87" baseline="39682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1040" spc="87" baseline="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840684" y="29060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3735329" y="3617422"/>
            <a:ext cx="21303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  <a:tabLst>
                <a:tab pos="1020544" algn="l"/>
                <a:tab pos="1805775" algn="l"/>
              </a:tabLst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81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F8766D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1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235087" y="4562225"/>
            <a:ext cx="85945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906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3418684" y="3751141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26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174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980383" y="2477040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4111243" y="279721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3804573" y="3211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747985" y="1732460"/>
            <a:ext cx="463070" cy="33772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algn="ctr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9682">
              <a:latin typeface="Wingdings"/>
              <a:cs typeface="Wingdings"/>
            </a:endParaRPr>
          </a:p>
          <a:p>
            <a:pPr marL="98154" algn="ctr">
              <a:spcBef>
                <a:spcPts val="71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4322195" y="3098450"/>
            <a:ext cx="95005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-44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9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6560150" y="3823008"/>
            <a:ext cx="5259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02681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741824" y="42908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186601" y="4748899"/>
            <a:ext cx="654341" cy="595911"/>
          </a:xfrm>
          <a:prstGeom prst="rect">
            <a:avLst/>
          </a:prstGeom>
        </p:spPr>
        <p:txBody>
          <a:bodyPr vert="horz" wrap="square" lIns="0" tIns="50334" rIns="0" bIns="0" rtlCol="0">
            <a:spAutoFit/>
          </a:bodyPr>
          <a:lstStyle/>
          <a:p>
            <a:pPr marL="198824">
              <a:spcBef>
                <a:spcPts val="396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4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211408">
              <a:spcBef>
                <a:spcPts val="21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 marL="25168">
              <a:spcBef>
                <a:spcPts val="58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3184415" y="1952308"/>
            <a:ext cx="5010744" cy="2731875"/>
          </a:xfrm>
          <a:custGeom>
            <a:avLst/>
            <a:gdLst/>
            <a:ahLst/>
            <a:cxnLst/>
            <a:rect l="l" t="t" r="r" b="b"/>
            <a:pathLst>
              <a:path w="2528570" h="1378585">
                <a:moveTo>
                  <a:pt x="0" y="1378277"/>
                </a:moveTo>
                <a:lnTo>
                  <a:pt x="42219" y="1310707"/>
                </a:lnTo>
                <a:lnTo>
                  <a:pt x="84349" y="1247648"/>
                </a:lnTo>
                <a:lnTo>
                  <a:pt x="126478" y="1189009"/>
                </a:lnTo>
                <a:lnTo>
                  <a:pt x="168608" y="1134520"/>
                </a:lnTo>
                <a:lnTo>
                  <a:pt x="210737" y="1084182"/>
                </a:lnTo>
                <a:lnTo>
                  <a:pt x="252867" y="1037632"/>
                </a:lnTo>
                <a:lnTo>
                  <a:pt x="294997" y="994870"/>
                </a:lnTo>
                <a:lnTo>
                  <a:pt x="337126" y="955718"/>
                </a:lnTo>
                <a:lnTo>
                  <a:pt x="379256" y="919903"/>
                </a:lnTo>
                <a:lnTo>
                  <a:pt x="421385" y="887427"/>
                </a:lnTo>
                <a:lnTo>
                  <a:pt x="463515" y="858107"/>
                </a:lnTo>
                <a:lnTo>
                  <a:pt x="505644" y="831675"/>
                </a:lnTo>
                <a:lnTo>
                  <a:pt x="547774" y="808129"/>
                </a:lnTo>
                <a:lnTo>
                  <a:pt x="589904" y="787200"/>
                </a:lnTo>
                <a:lnTo>
                  <a:pt x="632033" y="768706"/>
                </a:lnTo>
                <a:lnTo>
                  <a:pt x="674163" y="752648"/>
                </a:lnTo>
                <a:lnTo>
                  <a:pt x="716382" y="738755"/>
                </a:lnTo>
                <a:lnTo>
                  <a:pt x="758512" y="726847"/>
                </a:lnTo>
                <a:lnTo>
                  <a:pt x="800641" y="716833"/>
                </a:lnTo>
                <a:lnTo>
                  <a:pt x="842771" y="708624"/>
                </a:lnTo>
                <a:lnTo>
                  <a:pt x="884901" y="701858"/>
                </a:lnTo>
                <a:lnTo>
                  <a:pt x="927030" y="696535"/>
                </a:lnTo>
                <a:lnTo>
                  <a:pt x="969160" y="692476"/>
                </a:lnTo>
                <a:lnTo>
                  <a:pt x="1011289" y="689499"/>
                </a:lnTo>
                <a:lnTo>
                  <a:pt x="1053419" y="687514"/>
                </a:lnTo>
                <a:lnTo>
                  <a:pt x="1095548" y="686251"/>
                </a:lnTo>
                <a:lnTo>
                  <a:pt x="1137678" y="685620"/>
                </a:lnTo>
                <a:lnTo>
                  <a:pt x="1179808" y="685529"/>
                </a:lnTo>
                <a:lnTo>
                  <a:pt x="1221937" y="685710"/>
                </a:lnTo>
                <a:lnTo>
                  <a:pt x="1264067" y="686071"/>
                </a:lnTo>
                <a:lnTo>
                  <a:pt x="1306196" y="686341"/>
                </a:lnTo>
                <a:lnTo>
                  <a:pt x="1348326" y="686612"/>
                </a:lnTo>
                <a:lnTo>
                  <a:pt x="1390546" y="686522"/>
                </a:lnTo>
                <a:lnTo>
                  <a:pt x="1432675" y="685890"/>
                </a:lnTo>
                <a:lnTo>
                  <a:pt x="1474805" y="684718"/>
                </a:lnTo>
                <a:lnTo>
                  <a:pt x="1516934" y="682823"/>
                </a:lnTo>
                <a:lnTo>
                  <a:pt x="1559064" y="679936"/>
                </a:lnTo>
                <a:lnTo>
                  <a:pt x="1601193" y="675967"/>
                </a:lnTo>
                <a:lnTo>
                  <a:pt x="1643323" y="670735"/>
                </a:lnTo>
                <a:lnTo>
                  <a:pt x="1685452" y="664149"/>
                </a:lnTo>
                <a:lnTo>
                  <a:pt x="1727582" y="656030"/>
                </a:lnTo>
                <a:lnTo>
                  <a:pt x="1769712" y="646197"/>
                </a:lnTo>
                <a:lnTo>
                  <a:pt x="1811841" y="634469"/>
                </a:lnTo>
                <a:lnTo>
                  <a:pt x="1853971" y="620756"/>
                </a:lnTo>
                <a:lnTo>
                  <a:pt x="1896100" y="604879"/>
                </a:lnTo>
                <a:lnTo>
                  <a:pt x="1938230" y="586656"/>
                </a:lnTo>
                <a:lnTo>
                  <a:pt x="1980359" y="565997"/>
                </a:lnTo>
                <a:lnTo>
                  <a:pt x="2022489" y="542632"/>
                </a:lnTo>
                <a:lnTo>
                  <a:pt x="2064709" y="516470"/>
                </a:lnTo>
                <a:lnTo>
                  <a:pt x="2106838" y="487421"/>
                </a:lnTo>
                <a:lnTo>
                  <a:pt x="2148968" y="455215"/>
                </a:lnTo>
                <a:lnTo>
                  <a:pt x="2191097" y="419761"/>
                </a:lnTo>
                <a:lnTo>
                  <a:pt x="2233227" y="380880"/>
                </a:lnTo>
                <a:lnTo>
                  <a:pt x="2275356" y="338389"/>
                </a:lnTo>
                <a:lnTo>
                  <a:pt x="2317486" y="292290"/>
                </a:lnTo>
                <a:lnTo>
                  <a:pt x="2359616" y="242222"/>
                </a:lnTo>
                <a:lnTo>
                  <a:pt x="2401745" y="188094"/>
                </a:lnTo>
                <a:lnTo>
                  <a:pt x="2443875" y="129816"/>
                </a:lnTo>
                <a:lnTo>
                  <a:pt x="2486004" y="67118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1" name="object 121"/>
          <p:cNvSpPr txBox="1"/>
          <p:nvPr/>
        </p:nvSpPr>
        <p:spPr>
          <a:xfrm>
            <a:off x="2547852" y="4364147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731271" y="3202850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641707" y="2041734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2884975" y="4492287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5" name="object 125"/>
          <p:cNvSpPr/>
          <p:nvPr/>
        </p:nvSpPr>
        <p:spPr>
          <a:xfrm>
            <a:off x="2884975" y="333116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6" name="object 126"/>
          <p:cNvSpPr/>
          <p:nvPr/>
        </p:nvSpPr>
        <p:spPr>
          <a:xfrm>
            <a:off x="2884975" y="217005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7" name="object 127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8" name="object 128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0" name="object 130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Title 1">
            <a:extLst>
              <a:ext uri="{FF2B5EF4-FFF2-40B4-BE49-F238E27FC236}">
                <a16:creationId xmlns:a16="http://schemas.microsoft.com/office/drawing/2014/main" id="{978A1635-ED9C-194B-C237-A76DBE5E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Another estimate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33956" y="1233291"/>
            <a:ext cx="5511567" cy="4239377"/>
          </a:xfrm>
          <a:custGeom>
            <a:avLst/>
            <a:gdLst/>
            <a:ahLst/>
            <a:cxnLst/>
            <a:rect l="l" t="t" r="r" b="b"/>
            <a:pathLst>
              <a:path w="2781300" h="2139315">
                <a:moveTo>
                  <a:pt x="0" y="2139044"/>
                </a:moveTo>
                <a:lnTo>
                  <a:pt x="2780911" y="2139044"/>
                </a:lnTo>
                <a:lnTo>
                  <a:pt x="2780911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33956" y="507168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33956" y="4270609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33956" y="3469537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2933956" y="2668464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2933956" y="1867391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318441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48544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65243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819429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33956" y="4671236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2933956" y="3870163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2933956" y="3069090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/>
          <p:nvPr/>
        </p:nvSpPr>
        <p:spPr>
          <a:xfrm>
            <a:off x="2933956" y="2268016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7" name="object 17"/>
          <p:cNvSpPr/>
          <p:nvPr/>
        </p:nvSpPr>
        <p:spPr>
          <a:xfrm>
            <a:off x="2933956" y="1466943"/>
            <a:ext cx="5511567" cy="0"/>
          </a:xfrm>
          <a:custGeom>
            <a:avLst/>
            <a:gdLst/>
            <a:ahLst/>
            <a:cxnLst/>
            <a:rect l="l" t="t" r="r" b="b"/>
            <a:pathLst>
              <a:path w="2781300">
                <a:moveTo>
                  <a:pt x="0" y="0"/>
                </a:moveTo>
                <a:lnTo>
                  <a:pt x="2780911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/>
          <p:nvPr/>
        </p:nvSpPr>
        <p:spPr>
          <a:xfrm>
            <a:off x="40194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9" name="object 19"/>
          <p:cNvSpPr/>
          <p:nvPr/>
        </p:nvSpPr>
        <p:spPr>
          <a:xfrm>
            <a:off x="5689355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0" name="object 20"/>
          <p:cNvSpPr/>
          <p:nvPr/>
        </p:nvSpPr>
        <p:spPr>
          <a:xfrm>
            <a:off x="735943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1" name="object 21"/>
          <p:cNvSpPr txBox="1"/>
          <p:nvPr/>
        </p:nvSpPr>
        <p:spPr>
          <a:xfrm>
            <a:off x="4476394" y="356504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16149" y="212325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75254" y="377634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80461" y="354269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03168" y="3044818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95077" y="288303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87814" y="222336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63075" y="391132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00304" y="310399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44394" y="36683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20116" y="2653845"/>
            <a:ext cx="33723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92" baseline="-39682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38852" y="362886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85266" y="251172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568237" y="418805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15971" y="2511007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40328" y="1984026"/>
            <a:ext cx="123318" cy="268404"/>
          </a:xfrm>
          <a:prstGeom prst="rect">
            <a:avLst/>
          </a:prstGeom>
        </p:spPr>
        <p:txBody>
          <a:bodyPr vert="horz" wrap="square" lIns="0" tIns="41526" rIns="0" bIns="0" rtlCol="0">
            <a:spAutoFit/>
          </a:bodyPr>
          <a:lstStyle/>
          <a:p>
            <a:pPr>
              <a:spcBef>
                <a:spcPts val="327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14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958675" y="268119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66752" y="3380727"/>
            <a:ext cx="38253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39682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430" baseline="-39682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36060" y="356700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40620" y="219547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00170" y="241018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19392" y="1573175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566307" y="3295811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3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888595" y="245362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211768" y="466090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297893" y="3106672"/>
            <a:ext cx="5561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  <a:tabLst>
                <a:tab pos="432883" algn="l"/>
              </a:tabLst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115101" y="133773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324215" y="36624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095604" y="2845130"/>
            <a:ext cx="4441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15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956261" y="3378406"/>
            <a:ext cx="192527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69211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566763" y="233867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886943" y="2713377"/>
            <a:ext cx="52724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15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225489" y="2438962"/>
            <a:ext cx="304520" cy="23949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7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181207">
              <a:lnSpc>
                <a:spcPts val="77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793355" y="231900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73031" y="3703587"/>
            <a:ext cx="45552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371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507537" y="1910692"/>
            <a:ext cx="30326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771993" y="342989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307134" y="2949890"/>
            <a:ext cx="31710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60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106740" y="259914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52396" y="2433778"/>
            <a:ext cx="22021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58876" y="333156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617623" y="275485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104371" y="312204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539995" y="2282895"/>
            <a:ext cx="358629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35317">
              <a:lnSpc>
                <a:spcPts val="704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ts val="704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94584" y="297867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565063" y="2563923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054486" y="2967588"/>
            <a:ext cx="89468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1040" spc="5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3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376764" y="3288338"/>
            <a:ext cx="531023" cy="357752"/>
          </a:xfrm>
          <a:prstGeom prst="rect">
            <a:avLst/>
          </a:prstGeom>
        </p:spPr>
        <p:txBody>
          <a:bodyPr vert="horz" wrap="square" lIns="0" tIns="45301" rIns="0" bIns="0" rtlCol="0">
            <a:spAutoFit/>
          </a:bodyPr>
          <a:lstStyle/>
          <a:p>
            <a:pPr marR="254193" algn="r">
              <a:spcBef>
                <a:spcPts val="357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9" baseline="-23809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R="142197" algn="r">
              <a:lnSpc>
                <a:spcPts val="743"/>
              </a:lnSpc>
              <a:spcBef>
                <a:spcPts val="188"/>
              </a:spcBef>
            </a:pP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R="60402" algn="r">
              <a:lnSpc>
                <a:spcPts val="74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493555" y="305965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053779" y="305929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296272" y="3498895"/>
            <a:ext cx="30703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10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481079" y="2036190"/>
            <a:ext cx="6543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1040" spc="-549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14" baseline="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694" spc="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3415468" y="3356951"/>
            <a:ext cx="40518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2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721481" y="2447722"/>
            <a:ext cx="4215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47345" y="3288304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690740" y="299815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176866" y="3546271"/>
            <a:ext cx="32087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536855" y="2372996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-59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6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849490" y="363655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601210" y="3525533"/>
            <a:ext cx="54612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4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568408" y="2636505"/>
            <a:ext cx="183844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42609" algn="l"/>
              </a:tabLst>
            </a:pPr>
            <a:r>
              <a:rPr sz="1040" spc="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55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22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89" baseline="-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724744" y="2131833"/>
            <a:ext cx="343529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830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705981" y="2272203"/>
            <a:ext cx="216436" cy="391050"/>
          </a:xfrm>
          <a:prstGeom prst="rect">
            <a:avLst/>
          </a:prstGeom>
        </p:spPr>
        <p:txBody>
          <a:bodyPr vert="horz" wrap="square" lIns="0" tIns="8808" rIns="0" bIns="0" rtlCol="0">
            <a:spAutoFit/>
          </a:bodyPr>
          <a:lstStyle/>
          <a:p>
            <a:pPr>
              <a:spcBef>
                <a:spcPts val="69"/>
              </a:spcBef>
            </a:pPr>
            <a:endParaRPr sz="595">
              <a:latin typeface="Times New Roman"/>
              <a:cs typeface="Times New Roman"/>
            </a:endParaRPr>
          </a:p>
          <a:p>
            <a:pPr marL="93120">
              <a:spcBef>
                <a:spcPts val="10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spcBef>
                <a:spcPts val="575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189234" y="3257734"/>
            <a:ext cx="65182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386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15873">
              <a:latin typeface="Wingdings"/>
              <a:cs typeface="Wingdings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6550754" y="2613800"/>
            <a:ext cx="54989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73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600015" y="196253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5693725" y="3053220"/>
            <a:ext cx="1293582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1119958" algn="l"/>
              </a:tabLst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252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377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414227" y="180414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384900" y="2720206"/>
            <a:ext cx="494529" cy="286310"/>
          </a:xfrm>
          <a:prstGeom prst="rect">
            <a:avLst/>
          </a:prstGeom>
        </p:spPr>
        <p:txBody>
          <a:bodyPr vert="horz" wrap="square" lIns="0" tIns="46559" rIns="0" bIns="0" rtlCol="0">
            <a:spAutoFit/>
          </a:bodyPr>
          <a:lstStyle/>
          <a:p>
            <a:pPr marL="320887">
              <a:spcBef>
                <a:spcPts val="367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50335">
              <a:spcBef>
                <a:spcPts val="18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225445" y="35947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4709769" y="3137958"/>
            <a:ext cx="9085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505869" algn="l"/>
              </a:tabLst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59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-14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519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963456" y="348101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170070" y="2388371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405457" y="3602046"/>
            <a:ext cx="62791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79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4387186" y="2488662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4768048" y="2499566"/>
            <a:ext cx="41902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92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410285" y="2082671"/>
            <a:ext cx="87832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103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222" baseline="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5369792" y="2946493"/>
            <a:ext cx="5738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787" baseline="15873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6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103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2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4486407" y="2625600"/>
            <a:ext cx="371213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23"/>
              </a:lnSpc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247901">
              <a:lnSpc>
                <a:spcPts val="72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4152541" y="3756503"/>
            <a:ext cx="55870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3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4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535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068039" y="2809020"/>
            <a:ext cx="179944" cy="50443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lnSpc>
                <a:spcPts val="763"/>
              </a:lnSpc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22651">
              <a:lnSpc>
                <a:spcPts val="763"/>
              </a:lnSpc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56627">
              <a:spcBef>
                <a:spcPts val="17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31459">
              <a:spcBef>
                <a:spcPts val="17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972974" y="2822428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5915222" y="2696391"/>
            <a:ext cx="118536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1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4761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-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47619">
              <a:latin typeface="Wingdings"/>
              <a:cs typeface="Wingdings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6254272" y="2554449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735329" y="3224126"/>
            <a:ext cx="1000387" cy="213843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58638">
              <a:lnSpc>
                <a:spcPts val="723"/>
              </a:lnSpc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3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98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30" baseline="793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 marL="75503">
              <a:lnSpc>
                <a:spcPts val="723"/>
              </a:lnSpc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162863" y="4105108"/>
            <a:ext cx="46810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71" baseline="3174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-10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800943" y="3023542"/>
            <a:ext cx="82296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-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535" baseline="-15873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0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39682">
              <a:latin typeface="Wingdings"/>
              <a:cs typeface="Wingding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744048" y="3202671"/>
            <a:ext cx="28400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897225" algn="l"/>
              </a:tabLst>
            </a:pPr>
            <a:r>
              <a:rPr sz="694" spc="-5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65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87" baseline="23809" dirty="0">
                <a:solidFill>
                  <a:srgbClr val="00D2D7"/>
                </a:solidFill>
                <a:latin typeface="Times New Roman"/>
                <a:cs typeface="Times New Roman"/>
              </a:rPr>
              <a:t>	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●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1040" spc="119" baseline="4761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15873" dirty="0">
                <a:solidFill>
                  <a:srgbClr val="F8766D"/>
                </a:solidFill>
                <a:latin typeface="Wingdings"/>
                <a:cs typeface="Wingdings"/>
              </a:rPr>
              <a:t>●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 ● </a:t>
            </a:r>
            <a:r>
              <a:rPr sz="1040" spc="149" baseline="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49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058687" y="3008347"/>
            <a:ext cx="35611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711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4054136" y="3908640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290598" y="2770224"/>
            <a:ext cx="57129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D2D7"/>
                </a:solidFill>
                <a:latin typeface="Wingdings"/>
                <a:cs typeface="Wingdings"/>
              </a:rPr>
              <a:t>●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-357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285420" y="4118517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5525503" y="3649956"/>
            <a:ext cx="83176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  <a:tabLst>
                <a:tab pos="632965" algn="l"/>
              </a:tabLst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218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87" baseline="7936" dirty="0">
                <a:solidFill>
                  <a:srgbClr val="00BFC4"/>
                </a:solidFill>
                <a:latin typeface="Times New Roman"/>
                <a:cs typeface="Times New Roman"/>
              </a:rPr>
              <a:t>	</a:t>
            </a:r>
            <a:r>
              <a:rPr sz="1040" spc="87" baseline="15873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306599" y="2606471"/>
            <a:ext cx="66944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 </a:t>
            </a:r>
            <a:r>
              <a:rPr sz="694" spc="-10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14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44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4964877" y="2845665"/>
            <a:ext cx="308295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14" baseline="-2380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10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840684" y="269013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4522597" y="3372683"/>
            <a:ext cx="673217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-119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39682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684" baseline="39682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41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15873">
              <a:latin typeface="Wingdings"/>
              <a:cs typeface="Wingdings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3612830" y="4158024"/>
            <a:ext cx="481946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1040" spc="684" baseline="79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418684" y="3418985"/>
            <a:ext cx="932434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-69" dirty="0">
                <a:solidFill>
                  <a:srgbClr val="00BFC4"/>
                </a:solidFill>
                <a:latin typeface="Wingdings"/>
                <a:cs typeface="Wingdings"/>
              </a:rPr>
              <a:t>●●</a:t>
            </a:r>
            <a:r>
              <a:rPr sz="694" spc="-178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906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62" baseline="-2380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311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23809">
              <a:latin typeface="Wingdings"/>
              <a:cs typeface="Wingdings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980383" y="2320258"/>
            <a:ext cx="6266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 ●</a:t>
            </a:r>
            <a:r>
              <a:rPr sz="694" spc="69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-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23809">
              <a:latin typeface="Wingdings"/>
              <a:cs typeface="Wingdings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111243" y="2596458"/>
            <a:ext cx="342271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694" spc="-575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7936">
              <a:latin typeface="Wingdings"/>
              <a:cs typeface="Wingdings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3804573" y="2953466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7747985" y="1623981"/>
            <a:ext cx="463070" cy="366713"/>
          </a:xfrm>
          <a:prstGeom prst="rect">
            <a:avLst/>
          </a:prstGeom>
        </p:spPr>
        <p:txBody>
          <a:bodyPr vert="horz" wrap="square" lIns="0" tIns="88084" rIns="0" bIns="0" rtlCol="0">
            <a:spAutoFit/>
          </a:bodyPr>
          <a:lstStyle/>
          <a:p>
            <a:pPr algn="ctr">
              <a:spcBef>
                <a:spcPts val="694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98154" algn="ctr">
              <a:spcBef>
                <a:spcPts val="503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73" baseline="15873" dirty="0">
                <a:solidFill>
                  <a:srgbClr val="00BFC4"/>
                </a:solidFill>
                <a:latin typeface="Times New Roman"/>
                <a:cs typeface="Times New Roman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322195" y="2873911"/>
            <a:ext cx="951310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50335">
              <a:spcBef>
                <a:spcPts val="268"/>
              </a:spcBef>
            </a:pPr>
            <a:r>
              <a:rPr sz="1040" spc="87" baseline="15873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6" baseline="15873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0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119" baseline="2380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119" baseline="7936" dirty="0">
                <a:solidFill>
                  <a:srgbClr val="00D2D7"/>
                </a:solidFill>
                <a:latin typeface="Wingdings"/>
                <a:cs typeface="Wingdings"/>
              </a:rPr>
              <a:t>●</a:t>
            </a:r>
            <a:r>
              <a:rPr sz="1040" spc="-654" baseline="7936" dirty="0">
                <a:solidFill>
                  <a:srgbClr val="00D2D7"/>
                </a:solidFill>
                <a:latin typeface="Wingdings"/>
                <a:cs typeface="Wingdings"/>
              </a:rPr>
              <a:t> </a:t>
            </a:r>
            <a:r>
              <a:rPr sz="1040" spc="87" baseline="793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r>
              <a:rPr sz="1040" spc="-87" baseline="7936" dirty="0">
                <a:solidFill>
                  <a:srgbClr val="00BFC4"/>
                </a:solidFill>
                <a:latin typeface="Wingdings"/>
                <a:cs typeface="Wingdings"/>
              </a:rPr>
              <a:t> </a:t>
            </a:r>
            <a:r>
              <a:rPr sz="1040" spc="87" baseline="4761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1040" baseline="47619">
              <a:latin typeface="Wingdings"/>
              <a:cs typeface="Wingdings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6560151" y="3472617"/>
            <a:ext cx="96893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3741824" y="3884505"/>
            <a:ext cx="122058" cy="14113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3310927" y="4294428"/>
            <a:ext cx="504598" cy="26077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75503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r>
              <a:rPr sz="694" spc="436" dirty="0">
                <a:solidFill>
                  <a:srgbClr val="F8766D"/>
                </a:solidFill>
                <a:latin typeface="Wingdings"/>
                <a:cs typeface="Wingdings"/>
              </a:rPr>
              <a:t> </a:t>
            </a:r>
            <a:r>
              <a:rPr sz="1040" spc="87" baseline="-31746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1040" baseline="-31746">
              <a:latin typeface="Wingdings"/>
              <a:cs typeface="Wingdings"/>
            </a:endParaRPr>
          </a:p>
          <a:p>
            <a:pPr marL="86828">
              <a:spcBef>
                <a:spcPts val="6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3184415" y="1628374"/>
            <a:ext cx="5010744" cy="3651728"/>
          </a:xfrm>
          <a:custGeom>
            <a:avLst/>
            <a:gdLst/>
            <a:ahLst/>
            <a:cxnLst/>
            <a:rect l="l" t="t" r="r" b="b"/>
            <a:pathLst>
              <a:path w="2528570" h="1842770">
                <a:moveTo>
                  <a:pt x="0" y="1842423"/>
                </a:moveTo>
                <a:lnTo>
                  <a:pt x="42219" y="1358971"/>
                </a:lnTo>
                <a:lnTo>
                  <a:pt x="84349" y="1173402"/>
                </a:lnTo>
                <a:lnTo>
                  <a:pt x="126478" y="1112779"/>
                </a:lnTo>
                <a:lnTo>
                  <a:pt x="168608" y="1089504"/>
                </a:lnTo>
                <a:lnTo>
                  <a:pt x="210737" y="1065688"/>
                </a:lnTo>
                <a:lnTo>
                  <a:pt x="252867" y="1031046"/>
                </a:lnTo>
                <a:lnTo>
                  <a:pt x="294997" y="987834"/>
                </a:lnTo>
                <a:lnTo>
                  <a:pt x="337126" y="942457"/>
                </a:lnTo>
                <a:lnTo>
                  <a:pt x="379256" y="900959"/>
                </a:lnTo>
                <a:lnTo>
                  <a:pt x="421385" y="867129"/>
                </a:lnTo>
                <a:lnTo>
                  <a:pt x="463515" y="841959"/>
                </a:lnTo>
                <a:lnTo>
                  <a:pt x="505644" y="824638"/>
                </a:lnTo>
                <a:lnTo>
                  <a:pt x="547774" y="812820"/>
                </a:lnTo>
                <a:lnTo>
                  <a:pt x="589904" y="803889"/>
                </a:lnTo>
                <a:lnTo>
                  <a:pt x="632033" y="795590"/>
                </a:lnTo>
                <a:lnTo>
                  <a:pt x="674163" y="786298"/>
                </a:lnTo>
                <a:lnTo>
                  <a:pt x="716382" y="775382"/>
                </a:lnTo>
                <a:lnTo>
                  <a:pt x="758512" y="762932"/>
                </a:lnTo>
                <a:lnTo>
                  <a:pt x="800641" y="749942"/>
                </a:lnTo>
                <a:lnTo>
                  <a:pt x="842771" y="737763"/>
                </a:lnTo>
                <a:lnTo>
                  <a:pt x="884901" y="727659"/>
                </a:lnTo>
                <a:lnTo>
                  <a:pt x="927030" y="720893"/>
                </a:lnTo>
                <a:lnTo>
                  <a:pt x="969160" y="718187"/>
                </a:lnTo>
                <a:lnTo>
                  <a:pt x="1011289" y="719630"/>
                </a:lnTo>
                <a:lnTo>
                  <a:pt x="1053419" y="724772"/>
                </a:lnTo>
                <a:lnTo>
                  <a:pt x="1095548" y="732711"/>
                </a:lnTo>
                <a:lnTo>
                  <a:pt x="1137678" y="741823"/>
                </a:lnTo>
                <a:lnTo>
                  <a:pt x="1179808" y="750573"/>
                </a:lnTo>
                <a:lnTo>
                  <a:pt x="1221937" y="757339"/>
                </a:lnTo>
                <a:lnTo>
                  <a:pt x="1264067" y="760677"/>
                </a:lnTo>
                <a:lnTo>
                  <a:pt x="1306196" y="759595"/>
                </a:lnTo>
                <a:lnTo>
                  <a:pt x="1348326" y="753640"/>
                </a:lnTo>
                <a:lnTo>
                  <a:pt x="1390546" y="743176"/>
                </a:lnTo>
                <a:lnTo>
                  <a:pt x="1432675" y="728922"/>
                </a:lnTo>
                <a:lnTo>
                  <a:pt x="1474805" y="712233"/>
                </a:lnTo>
                <a:lnTo>
                  <a:pt x="1516934" y="694731"/>
                </a:lnTo>
                <a:lnTo>
                  <a:pt x="1559064" y="678222"/>
                </a:lnTo>
                <a:lnTo>
                  <a:pt x="1601193" y="664239"/>
                </a:lnTo>
                <a:lnTo>
                  <a:pt x="1643323" y="654045"/>
                </a:lnTo>
                <a:lnTo>
                  <a:pt x="1685452" y="648091"/>
                </a:lnTo>
                <a:lnTo>
                  <a:pt x="1727582" y="646467"/>
                </a:lnTo>
                <a:lnTo>
                  <a:pt x="1769712" y="648091"/>
                </a:lnTo>
                <a:lnTo>
                  <a:pt x="1811841" y="651429"/>
                </a:lnTo>
                <a:lnTo>
                  <a:pt x="1853971" y="654316"/>
                </a:lnTo>
                <a:lnTo>
                  <a:pt x="1896100" y="654316"/>
                </a:lnTo>
                <a:lnTo>
                  <a:pt x="1938230" y="649354"/>
                </a:lnTo>
                <a:lnTo>
                  <a:pt x="1980359" y="637536"/>
                </a:lnTo>
                <a:lnTo>
                  <a:pt x="2022489" y="618140"/>
                </a:lnTo>
                <a:lnTo>
                  <a:pt x="2064709" y="591527"/>
                </a:lnTo>
                <a:lnTo>
                  <a:pt x="2106838" y="559051"/>
                </a:lnTo>
                <a:lnTo>
                  <a:pt x="2148968" y="523416"/>
                </a:lnTo>
                <a:lnTo>
                  <a:pt x="2191097" y="487512"/>
                </a:lnTo>
                <a:lnTo>
                  <a:pt x="2233227" y="454223"/>
                </a:lnTo>
                <a:lnTo>
                  <a:pt x="2275356" y="424813"/>
                </a:lnTo>
                <a:lnTo>
                  <a:pt x="2317486" y="397930"/>
                </a:lnTo>
                <a:lnTo>
                  <a:pt x="2359616" y="368340"/>
                </a:lnTo>
                <a:lnTo>
                  <a:pt x="2401745" y="326571"/>
                </a:lnTo>
                <a:lnTo>
                  <a:pt x="2443875" y="259543"/>
                </a:lnTo>
                <a:lnTo>
                  <a:pt x="2486004" y="153272"/>
                </a:lnTo>
                <a:lnTo>
                  <a:pt x="2528134" y="0"/>
                </a:lnTo>
              </a:path>
            </a:pathLst>
          </a:custGeom>
          <a:ln w="96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9" name="object 129"/>
          <p:cNvSpPr txBox="1"/>
          <p:nvPr/>
        </p:nvSpPr>
        <p:spPr>
          <a:xfrm>
            <a:off x="2547852" y="4542918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−40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2547852" y="3741845"/>
            <a:ext cx="323396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2731271" y="2940773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641707" y="2139701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2641707" y="1338626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40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2884975" y="4671236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5" name="object 135"/>
          <p:cNvSpPr/>
          <p:nvPr/>
        </p:nvSpPr>
        <p:spPr>
          <a:xfrm>
            <a:off x="2884975" y="3870163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6" name="object 136"/>
          <p:cNvSpPr/>
          <p:nvPr/>
        </p:nvSpPr>
        <p:spPr>
          <a:xfrm>
            <a:off x="2884975" y="3069090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7" name="object 137"/>
          <p:cNvSpPr/>
          <p:nvPr/>
        </p:nvSpPr>
        <p:spPr>
          <a:xfrm>
            <a:off x="2884975" y="2268016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8" name="object 138"/>
          <p:cNvSpPr/>
          <p:nvPr/>
        </p:nvSpPr>
        <p:spPr>
          <a:xfrm>
            <a:off x="2884975" y="1466943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9" name="object 139"/>
          <p:cNvSpPr/>
          <p:nvPr/>
        </p:nvSpPr>
        <p:spPr>
          <a:xfrm>
            <a:off x="40194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0" name="object 140"/>
          <p:cNvSpPr/>
          <p:nvPr/>
        </p:nvSpPr>
        <p:spPr>
          <a:xfrm>
            <a:off x="5689355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1" name="object 141"/>
          <p:cNvSpPr/>
          <p:nvPr/>
        </p:nvSpPr>
        <p:spPr>
          <a:xfrm>
            <a:off x="735943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2" name="object 142"/>
          <p:cNvSpPr txBox="1"/>
          <p:nvPr/>
        </p:nvSpPr>
        <p:spPr>
          <a:xfrm>
            <a:off x="3902577" y="5489691"/>
            <a:ext cx="234053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−2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7289396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2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5615027" y="5489691"/>
            <a:ext cx="149743" cy="460053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8941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0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50"/>
              </a:spcBef>
            </a:pPr>
            <a:r>
              <a:rPr sz="1486" spc="30" dirty="0">
                <a:latin typeface="Helvetica"/>
                <a:cs typeface="Helvetica"/>
              </a:rPr>
              <a:t>x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277585" y="3278293"/>
            <a:ext cx="228652" cy="149743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y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8713486" y="2843521"/>
            <a:ext cx="1067080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Data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30" dirty="0">
                <a:latin typeface="Helvetica"/>
                <a:cs typeface="Helvetica"/>
              </a:rPr>
              <a:t>Group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8738655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8" name="object 148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9" name="object 149"/>
          <p:cNvSpPr/>
          <p:nvPr/>
        </p:nvSpPr>
        <p:spPr>
          <a:xfrm>
            <a:off x="8738655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0" name="object 150"/>
          <p:cNvSpPr txBox="1"/>
          <p:nvPr/>
        </p:nvSpPr>
        <p:spPr>
          <a:xfrm>
            <a:off x="8738655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9120371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54" name="Title 1">
            <a:extLst>
              <a:ext uri="{FF2B5EF4-FFF2-40B4-BE49-F238E27FC236}">
                <a16:creationId xmlns:a16="http://schemas.microsoft.com/office/drawing/2014/main" id="{70DCCFD3-E943-B934-3ADE-D34BCC8A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Another estimate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29488" y="1233291"/>
            <a:ext cx="5627335" cy="4239377"/>
          </a:xfrm>
          <a:custGeom>
            <a:avLst/>
            <a:gdLst/>
            <a:ahLst/>
            <a:cxnLst/>
            <a:rect l="l" t="t" r="r" b="b"/>
            <a:pathLst>
              <a:path w="2839720" h="2139315">
                <a:moveTo>
                  <a:pt x="0" y="2139044"/>
                </a:moveTo>
                <a:lnTo>
                  <a:pt x="2839369" y="2139044"/>
                </a:lnTo>
                <a:lnTo>
                  <a:pt x="2839369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80506" y="1233292"/>
          <a:ext cx="5676410" cy="4287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2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2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8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F8766D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7550" marB="0">
                    <a:lnR w="63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80010" algn="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00BFC4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0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R="197485" algn="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F8766D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197485" algn="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700" dirty="0">
                          <a:solidFill>
                            <a:srgbClr val="F8766D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F8766D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6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9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19748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700" dirty="0">
                          <a:solidFill>
                            <a:srgbClr val="00BFC4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377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7485" algn="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00BFC4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>
                        <a:latin typeface="Wingdings"/>
                        <a:cs typeface="Wingdings"/>
                      </a:endParaRPr>
                    </a:p>
                  </a:txBody>
                  <a:tcPr marL="0" marR="0" marT="8808" marB="0">
                    <a:lnL w="635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00" dirty="0">
                          <a:solidFill>
                            <a:srgbClr val="00BFC4"/>
                          </a:solidFill>
                          <a:latin typeface="Wingdings"/>
                          <a:cs typeface="Wingdings"/>
                        </a:rPr>
                        <a:t>●</a:t>
                      </a:r>
                      <a:endParaRPr sz="700" dirty="0">
                        <a:latin typeface="Wingdings"/>
                        <a:cs typeface="Wingdings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T w="6350">
                      <a:solidFill>
                        <a:srgbClr val="FFFFFF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637238" y="4161780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90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7851" y="2849242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7851" y="1536703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0400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90625" y="5489691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28144" y="5679545"/>
            <a:ext cx="2029716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Number </a:t>
            </a:r>
            <a:r>
              <a:rPr sz="1486" spc="20" dirty="0">
                <a:latin typeface="Helvetica"/>
                <a:cs typeface="Helvetica"/>
              </a:rPr>
              <a:t>of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20" dirty="0">
                <a:latin typeface="Helvetica"/>
                <a:cs typeface="Helvetica"/>
              </a:rPr>
              <a:t>Parameters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7586" y="3114416"/>
            <a:ext cx="228652" cy="476914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MSE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24861" y="2843521"/>
            <a:ext cx="956345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20" dirty="0">
                <a:latin typeface="Helvetica"/>
                <a:cs typeface="Helvetica"/>
              </a:rPr>
              <a:t>Error</a:t>
            </a:r>
            <a:r>
              <a:rPr sz="1486" spc="-79" dirty="0">
                <a:latin typeface="Helvetica"/>
                <a:cs typeface="Helvetica"/>
              </a:rPr>
              <a:t> </a:t>
            </a:r>
            <a:r>
              <a:rPr sz="1486" spc="-20" dirty="0">
                <a:latin typeface="Helvetica"/>
                <a:cs typeface="Helvetica"/>
              </a:rPr>
              <a:t>Type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850028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 txBox="1"/>
          <p:nvPr/>
        </p:nvSpPr>
        <p:spPr>
          <a:xfrm>
            <a:off x="8850028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 dirty="0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31744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CF5A111-521B-CCD1-EBFE-02DBA268133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Train and test error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109F38-0C33-D7F7-C516-91C9EC760C44}"/>
              </a:ext>
            </a:extLst>
          </p:cNvPr>
          <p:cNvSpPr/>
          <p:nvPr/>
        </p:nvSpPr>
        <p:spPr>
          <a:xfrm>
            <a:off x="3266142" y="1387061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156703-4811-1C16-AC1F-9E413BF37E50}"/>
              </a:ext>
            </a:extLst>
          </p:cNvPr>
          <p:cNvSpPr/>
          <p:nvPr/>
        </p:nvSpPr>
        <p:spPr>
          <a:xfrm>
            <a:off x="4315119" y="4131318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98F9ED-DA83-D300-C0A6-E8FF8242F830}"/>
              </a:ext>
            </a:extLst>
          </p:cNvPr>
          <p:cNvSpPr/>
          <p:nvPr/>
        </p:nvSpPr>
        <p:spPr>
          <a:xfrm>
            <a:off x="6644634" y="4179820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10A0E6-A062-B433-3AA5-DAC399252731}"/>
              </a:ext>
            </a:extLst>
          </p:cNvPr>
          <p:cNvSpPr/>
          <p:nvPr/>
        </p:nvSpPr>
        <p:spPr>
          <a:xfrm>
            <a:off x="8279633" y="3935817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724FD6-44DB-C432-C61C-F0EC6D79143C}"/>
              </a:ext>
            </a:extLst>
          </p:cNvPr>
          <p:cNvSpPr/>
          <p:nvPr/>
        </p:nvSpPr>
        <p:spPr>
          <a:xfrm>
            <a:off x="3279393" y="2682021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BE07F67-5969-EDB2-0DA8-A293F6EBA208}"/>
              </a:ext>
            </a:extLst>
          </p:cNvPr>
          <p:cNvSpPr/>
          <p:nvPr/>
        </p:nvSpPr>
        <p:spPr>
          <a:xfrm>
            <a:off x="8963513" y="3306193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34C0B2-33EB-6A28-4A17-0928FE6D29B8}"/>
              </a:ext>
            </a:extLst>
          </p:cNvPr>
          <p:cNvSpPr/>
          <p:nvPr/>
        </p:nvSpPr>
        <p:spPr>
          <a:xfrm>
            <a:off x="4323685" y="4991552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6F03FB-0C35-269F-95D5-178E6962945A}"/>
              </a:ext>
            </a:extLst>
          </p:cNvPr>
          <p:cNvSpPr/>
          <p:nvPr/>
        </p:nvSpPr>
        <p:spPr>
          <a:xfrm>
            <a:off x="6644634" y="510263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183700-693D-9245-A28C-E11C14AEC925}"/>
              </a:ext>
            </a:extLst>
          </p:cNvPr>
          <p:cNvSpPr/>
          <p:nvPr/>
        </p:nvSpPr>
        <p:spPr>
          <a:xfrm>
            <a:off x="8279633" y="5261694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D92CCE3-AD41-7FB8-06C5-B0226407A95F}"/>
              </a:ext>
            </a:extLst>
          </p:cNvPr>
          <p:cNvSpPr/>
          <p:nvPr/>
        </p:nvSpPr>
        <p:spPr>
          <a:xfrm>
            <a:off x="8963513" y="363247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929488" y="1233291"/>
            <a:ext cx="5627335" cy="4239377"/>
          </a:xfrm>
          <a:custGeom>
            <a:avLst/>
            <a:gdLst/>
            <a:ahLst/>
            <a:cxnLst/>
            <a:rect l="l" t="t" r="r" b="b"/>
            <a:pathLst>
              <a:path w="2839720" h="2139315">
                <a:moveTo>
                  <a:pt x="0" y="2139044"/>
                </a:moveTo>
                <a:lnTo>
                  <a:pt x="2839369" y="2139044"/>
                </a:lnTo>
                <a:lnTo>
                  <a:pt x="2839369" y="0"/>
                </a:lnTo>
                <a:lnTo>
                  <a:pt x="0" y="0"/>
                </a:lnTo>
                <a:lnTo>
                  <a:pt x="0" y="2139044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2929488" y="4673917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/>
          <p:nvPr/>
        </p:nvSpPr>
        <p:spPr>
          <a:xfrm>
            <a:off x="2929488" y="3462922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6" name="object 6"/>
          <p:cNvSpPr/>
          <p:nvPr/>
        </p:nvSpPr>
        <p:spPr>
          <a:xfrm>
            <a:off x="2929488" y="225210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7" name="object 7"/>
          <p:cNvSpPr/>
          <p:nvPr/>
        </p:nvSpPr>
        <p:spPr>
          <a:xfrm>
            <a:off x="3417711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/>
          <p:nvPr/>
        </p:nvSpPr>
        <p:spPr>
          <a:xfrm>
            <a:off x="5742808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9" name="object 9"/>
          <p:cNvSpPr/>
          <p:nvPr/>
        </p:nvSpPr>
        <p:spPr>
          <a:xfrm>
            <a:off x="8067904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478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0" name="object 10"/>
          <p:cNvSpPr/>
          <p:nvPr/>
        </p:nvSpPr>
        <p:spPr>
          <a:xfrm>
            <a:off x="2929488" y="527941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/>
          <p:nvPr/>
        </p:nvSpPr>
        <p:spPr>
          <a:xfrm>
            <a:off x="2929488" y="4068421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12"/>
          <p:cNvSpPr/>
          <p:nvPr/>
        </p:nvSpPr>
        <p:spPr>
          <a:xfrm>
            <a:off x="2929488" y="2857605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13"/>
          <p:cNvSpPr/>
          <p:nvPr/>
        </p:nvSpPr>
        <p:spPr>
          <a:xfrm>
            <a:off x="2929488" y="1646608"/>
            <a:ext cx="5627335" cy="0"/>
          </a:xfrm>
          <a:custGeom>
            <a:avLst/>
            <a:gdLst/>
            <a:ahLst/>
            <a:cxnLst/>
            <a:rect l="l" t="t" r="r" b="b"/>
            <a:pathLst>
              <a:path w="2839720">
                <a:moveTo>
                  <a:pt x="0" y="0"/>
                </a:moveTo>
                <a:lnTo>
                  <a:pt x="2839369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4" name="object 14"/>
          <p:cNvSpPr/>
          <p:nvPr/>
        </p:nvSpPr>
        <p:spPr>
          <a:xfrm>
            <a:off x="4580261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5" name="object 15"/>
          <p:cNvSpPr/>
          <p:nvPr/>
        </p:nvSpPr>
        <p:spPr>
          <a:xfrm>
            <a:off x="690535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6" name="object 16"/>
          <p:cNvSpPr txBox="1"/>
          <p:nvPr/>
        </p:nvSpPr>
        <p:spPr>
          <a:xfrm>
            <a:off x="3146873" y="1337732"/>
            <a:ext cx="5212080" cy="393537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spcBef>
                <a:spcPts val="624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spcBef>
                <a:spcPts val="30"/>
              </a:spcBef>
            </a:pPr>
            <a:endParaRPr sz="991" dirty="0">
              <a:latin typeface="Wingdings"/>
              <a:cs typeface="Wingdings"/>
            </a:endParaRPr>
          </a:p>
          <a:p>
            <a:pPr marL="5114054"/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929942">
              <a:lnSpc>
                <a:spcPts val="674"/>
              </a:lnSpc>
              <a:spcBef>
                <a:spcPts val="503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3254169">
              <a:lnSpc>
                <a:spcPts val="674"/>
              </a:lnSpc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 dirty="0">
              <a:latin typeface="Wingdings"/>
              <a:cs typeface="Wingdings"/>
            </a:endParaRPr>
          </a:p>
          <a:p>
            <a:pPr marL="929942">
              <a:spcBef>
                <a:spcPts val="535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3254169">
              <a:spcBef>
                <a:spcPts val="149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  <a:p>
            <a:pPr marL="5114054">
              <a:spcBef>
                <a:spcPts val="178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 dirty="0">
              <a:latin typeface="Wingdings"/>
              <a:cs typeface="Wingding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15276" y="1233291"/>
            <a:ext cx="0" cy="4239377"/>
          </a:xfrm>
          <a:custGeom>
            <a:avLst/>
            <a:gdLst/>
            <a:ahLst/>
            <a:cxnLst/>
            <a:rect l="l" t="t" r="r" b="b"/>
            <a:pathLst>
              <a:path h="2139315">
                <a:moveTo>
                  <a:pt x="0" y="2139044"/>
                </a:moveTo>
                <a:lnTo>
                  <a:pt x="0" y="0"/>
                </a:lnTo>
              </a:path>
            </a:pathLst>
          </a:custGeom>
          <a:ln w="96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8" name="object 18"/>
          <p:cNvSpPr txBox="1"/>
          <p:nvPr/>
        </p:nvSpPr>
        <p:spPr>
          <a:xfrm>
            <a:off x="4137087" y="5128214"/>
            <a:ext cx="887136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The</a:t>
            </a:r>
            <a:r>
              <a:rPr sz="1486" spc="-119" dirty="0">
                <a:latin typeface="Helvetica"/>
                <a:cs typeface="Helvetica"/>
              </a:rPr>
              <a:t> </a:t>
            </a:r>
            <a:r>
              <a:rPr sz="1486" spc="-10" dirty="0">
                <a:latin typeface="Helvetica"/>
                <a:cs typeface="Helvetica"/>
              </a:rPr>
              <a:t>Truth!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37238" y="5151098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80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37238" y="3940103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90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47851" y="2729287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47851" y="1518292"/>
            <a:ext cx="319621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80506" y="5279415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4" name="object 24"/>
          <p:cNvSpPr/>
          <p:nvPr/>
        </p:nvSpPr>
        <p:spPr>
          <a:xfrm>
            <a:off x="2880506" y="4068421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5" name="object 25"/>
          <p:cNvSpPr/>
          <p:nvPr/>
        </p:nvSpPr>
        <p:spPr>
          <a:xfrm>
            <a:off x="2880506" y="2857605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6" name="object 26"/>
          <p:cNvSpPr/>
          <p:nvPr/>
        </p:nvSpPr>
        <p:spPr>
          <a:xfrm>
            <a:off x="2880506" y="1646608"/>
            <a:ext cx="49076" cy="0"/>
          </a:xfrm>
          <a:custGeom>
            <a:avLst/>
            <a:gdLst/>
            <a:ahLst/>
            <a:cxnLst/>
            <a:rect l="l" t="t" r="r" b="b"/>
            <a:pathLst>
              <a:path w="24765">
                <a:moveTo>
                  <a:pt x="0" y="0"/>
                </a:moveTo>
                <a:lnTo>
                  <a:pt x="24718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7" name="object 27"/>
          <p:cNvSpPr/>
          <p:nvPr/>
        </p:nvSpPr>
        <p:spPr>
          <a:xfrm>
            <a:off x="4580261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8" name="object 28"/>
          <p:cNvSpPr/>
          <p:nvPr/>
        </p:nvSpPr>
        <p:spPr>
          <a:xfrm>
            <a:off x="6905356" y="5472131"/>
            <a:ext cx="0" cy="49076"/>
          </a:xfrm>
          <a:custGeom>
            <a:avLst/>
            <a:gdLst/>
            <a:ahLst/>
            <a:cxnLst/>
            <a:rect l="l" t="t" r="r" b="b"/>
            <a:pathLst>
              <a:path h="24764">
                <a:moveTo>
                  <a:pt x="0" y="24718"/>
                </a:moveTo>
                <a:lnTo>
                  <a:pt x="0" y="0"/>
                </a:lnTo>
              </a:path>
            </a:pathLst>
          </a:custGeom>
          <a:ln w="9652">
            <a:solidFill>
              <a:srgbClr val="333333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29" name="object 29"/>
          <p:cNvSpPr txBox="1"/>
          <p:nvPr/>
        </p:nvSpPr>
        <p:spPr>
          <a:xfrm>
            <a:off x="4510400" y="5489689"/>
            <a:ext cx="140935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5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90625" y="5489691"/>
            <a:ext cx="230278" cy="218577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40" dirty="0">
                <a:solidFill>
                  <a:srgbClr val="4D4D4D"/>
                </a:solidFill>
                <a:latin typeface="Helvetica"/>
                <a:cs typeface="Helvetica"/>
              </a:rPr>
              <a:t>10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28144" y="5679545"/>
            <a:ext cx="2029716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30" dirty="0">
                <a:latin typeface="Helvetica"/>
                <a:cs typeface="Helvetica"/>
              </a:rPr>
              <a:t>Number </a:t>
            </a:r>
            <a:r>
              <a:rPr sz="1486" spc="20" dirty="0">
                <a:latin typeface="Helvetica"/>
                <a:cs typeface="Helvetica"/>
              </a:rPr>
              <a:t>of</a:t>
            </a:r>
            <a:r>
              <a:rPr sz="1486" spc="-99" dirty="0">
                <a:latin typeface="Helvetica"/>
                <a:cs typeface="Helvetica"/>
              </a:rPr>
              <a:t> </a:t>
            </a:r>
            <a:r>
              <a:rPr sz="1486" spc="20" dirty="0">
                <a:latin typeface="Helvetica"/>
                <a:cs typeface="Helvetica"/>
              </a:rPr>
              <a:t>Parameters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77586" y="3114416"/>
            <a:ext cx="228652" cy="476914"/>
          </a:xfrm>
          <a:prstGeom prst="rect">
            <a:avLst/>
          </a:prstGeom>
        </p:spPr>
        <p:txBody>
          <a:bodyPr vert="vert270" wrap="square" lIns="0" tIns="13842" rIns="0" bIns="0" rtlCol="0">
            <a:spAutoFit/>
          </a:bodyPr>
          <a:lstStyle/>
          <a:p>
            <a:pPr marL="25168">
              <a:spcBef>
                <a:spcPts val="109"/>
              </a:spcBef>
            </a:pPr>
            <a:r>
              <a:rPr sz="1486" dirty="0">
                <a:latin typeface="Helvetica"/>
                <a:cs typeface="Helvetica"/>
              </a:rPr>
              <a:t>MSE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824861" y="2843521"/>
            <a:ext cx="956345" cy="261689"/>
          </a:xfrm>
          <a:prstGeom prst="rect">
            <a:avLst/>
          </a:prstGeom>
        </p:spPr>
        <p:txBody>
          <a:bodyPr vert="horz" wrap="square" lIns="0" tIns="32717" rIns="0" bIns="0" rtlCol="0">
            <a:spAutoFit/>
          </a:bodyPr>
          <a:lstStyle/>
          <a:p>
            <a:pPr marL="25168">
              <a:spcBef>
                <a:spcPts val="258"/>
              </a:spcBef>
            </a:pPr>
            <a:r>
              <a:rPr sz="1486" spc="20" dirty="0">
                <a:latin typeface="Helvetica"/>
                <a:cs typeface="Helvetica"/>
              </a:rPr>
              <a:t>Error</a:t>
            </a:r>
            <a:r>
              <a:rPr sz="1486" spc="-79" dirty="0">
                <a:latin typeface="Helvetica"/>
                <a:cs typeface="Helvetica"/>
              </a:rPr>
              <a:t> </a:t>
            </a:r>
            <a:r>
              <a:rPr sz="1486" spc="-20" dirty="0">
                <a:latin typeface="Helvetica"/>
                <a:cs typeface="Helvetica"/>
              </a:rPr>
              <a:t>Type</a:t>
            </a:r>
            <a:endParaRPr sz="1486">
              <a:latin typeface="Helvetica"/>
              <a:cs typeface="Helvetic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850028" y="3184934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5" name="object 35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6" name="object 36"/>
          <p:cNvSpPr/>
          <p:nvPr/>
        </p:nvSpPr>
        <p:spPr>
          <a:xfrm>
            <a:off x="8850028" y="3493849"/>
            <a:ext cx="309554" cy="309554"/>
          </a:xfrm>
          <a:custGeom>
            <a:avLst/>
            <a:gdLst/>
            <a:ahLst/>
            <a:cxnLst/>
            <a:rect l="l" t="t" r="r" b="b"/>
            <a:pathLst>
              <a:path w="156210" h="156210">
                <a:moveTo>
                  <a:pt x="0" y="155888"/>
                </a:moveTo>
                <a:lnTo>
                  <a:pt x="155888" y="155888"/>
                </a:lnTo>
                <a:lnTo>
                  <a:pt x="155888" y="0"/>
                </a:lnTo>
                <a:lnTo>
                  <a:pt x="0" y="0"/>
                </a:lnTo>
                <a:lnTo>
                  <a:pt x="0" y="155888"/>
                </a:lnTo>
                <a:close/>
              </a:path>
            </a:pathLst>
          </a:custGeom>
          <a:ln w="965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7" name="object 37"/>
          <p:cNvSpPr txBox="1"/>
          <p:nvPr/>
        </p:nvSpPr>
        <p:spPr>
          <a:xfrm>
            <a:off x="8850028" y="3251120"/>
            <a:ext cx="309554" cy="47436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115769">
              <a:spcBef>
                <a:spcPts val="268"/>
              </a:spcBef>
            </a:pPr>
            <a:r>
              <a:rPr sz="694" spc="59" dirty="0">
                <a:solidFill>
                  <a:srgbClr val="F8766D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  <a:p>
            <a:pPr>
              <a:lnSpc>
                <a:spcPct val="100000"/>
              </a:lnSpc>
            </a:pPr>
            <a:endParaRPr sz="793">
              <a:latin typeface="Wingdings"/>
              <a:cs typeface="Wingdings"/>
            </a:endParaRPr>
          </a:p>
          <a:p>
            <a:pPr>
              <a:spcBef>
                <a:spcPts val="50"/>
              </a:spcBef>
            </a:pPr>
            <a:endParaRPr sz="595">
              <a:latin typeface="Wingdings"/>
              <a:cs typeface="Wingdings"/>
            </a:endParaRPr>
          </a:p>
          <a:p>
            <a:pPr marL="115769">
              <a:spcBef>
                <a:spcPts val="10"/>
              </a:spcBef>
            </a:pPr>
            <a:r>
              <a:rPr sz="694" spc="59" dirty="0">
                <a:solidFill>
                  <a:srgbClr val="00BFC4"/>
                </a:solidFill>
                <a:latin typeface="Wingdings"/>
                <a:cs typeface="Wingdings"/>
              </a:rPr>
              <a:t>●</a:t>
            </a:r>
            <a:endParaRPr sz="694">
              <a:latin typeface="Wingdings"/>
              <a:cs typeface="Wingding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231744" y="3211074"/>
            <a:ext cx="396380" cy="529816"/>
          </a:xfrm>
          <a:prstGeom prst="rect">
            <a:avLst/>
          </a:prstGeom>
        </p:spPr>
        <p:txBody>
          <a:bodyPr vert="horz" wrap="square" lIns="0" tIns="35234" rIns="0" bIns="0" rtlCol="0">
            <a:spAutoFit/>
          </a:bodyPr>
          <a:lstStyle/>
          <a:p>
            <a:pPr marL="25168">
              <a:spcBef>
                <a:spcPts val="277"/>
              </a:spcBef>
            </a:pPr>
            <a:r>
              <a:rPr sz="1189" spc="-10" dirty="0">
                <a:latin typeface="Helvetica"/>
                <a:cs typeface="Helvetica"/>
              </a:rPr>
              <a:t>Test</a:t>
            </a:r>
            <a:endParaRPr sz="1189">
              <a:latin typeface="Helvetica"/>
              <a:cs typeface="Helvetica"/>
            </a:endParaRPr>
          </a:p>
          <a:p>
            <a:pPr marL="25168">
              <a:spcBef>
                <a:spcPts val="1001"/>
              </a:spcBef>
            </a:pPr>
            <a:r>
              <a:rPr sz="1189" spc="-119" dirty="0">
                <a:latin typeface="Helvetica"/>
                <a:cs typeface="Helvetica"/>
              </a:rPr>
              <a:t>T</a:t>
            </a:r>
            <a:r>
              <a:rPr sz="1189" dirty="0">
                <a:latin typeface="Helvetica"/>
                <a:cs typeface="Helvetica"/>
              </a:rPr>
              <a:t>r</a:t>
            </a:r>
            <a:r>
              <a:rPr sz="1189" spc="30" dirty="0">
                <a:latin typeface="Helvetica"/>
                <a:cs typeface="Helvetica"/>
              </a:rPr>
              <a:t>ain</a:t>
            </a:r>
            <a:endParaRPr sz="1189">
              <a:latin typeface="Helvetica"/>
              <a:cs typeface="Helvetica"/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FF433E38-B20E-F199-98CA-D7C300679A2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Train and test error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0BA11F0-C9FD-B3A4-7C3D-06A5329ECB5B}"/>
              </a:ext>
            </a:extLst>
          </p:cNvPr>
          <p:cNvSpPr/>
          <p:nvPr/>
        </p:nvSpPr>
        <p:spPr>
          <a:xfrm>
            <a:off x="3146873" y="1387061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9F90AF9-D0F6-26E2-0270-C1A84AD91270}"/>
              </a:ext>
            </a:extLst>
          </p:cNvPr>
          <p:cNvSpPr/>
          <p:nvPr/>
        </p:nvSpPr>
        <p:spPr>
          <a:xfrm>
            <a:off x="4063329" y="4041582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62FA167-DDEC-DB44-F7B2-B9D1CAB20815}"/>
              </a:ext>
            </a:extLst>
          </p:cNvPr>
          <p:cNvSpPr/>
          <p:nvPr/>
        </p:nvSpPr>
        <p:spPr>
          <a:xfrm>
            <a:off x="6388426" y="4125534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C4454DE-E8FB-4080-8200-3A73081DD798}"/>
              </a:ext>
            </a:extLst>
          </p:cNvPr>
          <p:cNvSpPr/>
          <p:nvPr/>
        </p:nvSpPr>
        <p:spPr>
          <a:xfrm>
            <a:off x="8248712" y="3891642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FA6B23E-A043-64B0-0325-BDAF54B15BC1}"/>
              </a:ext>
            </a:extLst>
          </p:cNvPr>
          <p:cNvSpPr/>
          <p:nvPr/>
        </p:nvSpPr>
        <p:spPr>
          <a:xfrm>
            <a:off x="3146873" y="2664353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78803D5-33B2-3ACF-54E3-85827843986B}"/>
              </a:ext>
            </a:extLst>
          </p:cNvPr>
          <p:cNvSpPr/>
          <p:nvPr/>
        </p:nvSpPr>
        <p:spPr>
          <a:xfrm>
            <a:off x="8963513" y="3306193"/>
            <a:ext cx="72968" cy="66292"/>
          </a:xfrm>
          <a:prstGeom prst="ellipse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E7E5233-136F-F159-C4F6-E8EE1405EB7B}"/>
              </a:ext>
            </a:extLst>
          </p:cNvPr>
          <p:cNvSpPr/>
          <p:nvPr/>
        </p:nvSpPr>
        <p:spPr>
          <a:xfrm>
            <a:off x="4071895" y="490181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E3933E1-68C5-5BC9-B5E8-78BCB2D537E2}"/>
              </a:ext>
            </a:extLst>
          </p:cNvPr>
          <p:cNvSpPr/>
          <p:nvPr/>
        </p:nvSpPr>
        <p:spPr>
          <a:xfrm>
            <a:off x="6388426" y="500624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17F8D00-10B4-381B-07A1-98FBEB118261}"/>
              </a:ext>
            </a:extLst>
          </p:cNvPr>
          <p:cNvSpPr/>
          <p:nvPr/>
        </p:nvSpPr>
        <p:spPr>
          <a:xfrm>
            <a:off x="8248712" y="5168928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5350336-ABAD-3ACD-4B1D-5627BE1A39C9}"/>
              </a:ext>
            </a:extLst>
          </p:cNvPr>
          <p:cNvSpPr/>
          <p:nvPr/>
        </p:nvSpPr>
        <p:spPr>
          <a:xfrm>
            <a:off x="8963513" y="3648626"/>
            <a:ext cx="72968" cy="66292"/>
          </a:xfrm>
          <a:prstGeom prst="ellipse">
            <a:avLst/>
          </a:prstGeom>
          <a:solidFill>
            <a:srgbClr val="00BF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B8FF25-7A92-A664-9121-82807E6C8E2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Train and test error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6F82952-89BF-8D3B-EDDD-E81B1B3029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40076" y="1116623"/>
            <a:ext cx="5111848" cy="189327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8E913B7-23C3-D90C-D73A-76073D83A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7645"/>
            <a:ext cx="10515600" cy="3345230"/>
          </a:xfrm>
        </p:spPr>
        <p:txBody>
          <a:bodyPr>
            <a:normAutofit fontScale="92500" lnSpcReduction="10000"/>
          </a:bodyPr>
          <a:lstStyle/>
          <a:p>
            <a:pPr marL="594995" marR="130810" indent="-457200">
              <a:lnSpc>
                <a:spcPct val="102600"/>
              </a:lnSpc>
              <a:spcBef>
                <a:spcPts val="55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20" dirty="0">
                <a:latin typeface="Arial"/>
                <a:cs typeface="Arial"/>
              </a:rPr>
              <a:t>training </a:t>
            </a:r>
            <a:r>
              <a:rPr lang="en-US" spc="-60" dirty="0">
                <a:latin typeface="Arial"/>
                <a:cs typeface="Arial"/>
              </a:rPr>
              <a:t>MSE </a:t>
            </a:r>
            <a:r>
              <a:rPr lang="en-US" spc="-90" dirty="0">
                <a:latin typeface="Arial"/>
                <a:cs typeface="Arial"/>
              </a:rPr>
              <a:t>measures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55" dirty="0">
                <a:latin typeface="Arial"/>
                <a:cs typeface="Arial"/>
              </a:rPr>
              <a:t>performance </a:t>
            </a:r>
            <a:r>
              <a:rPr lang="en-US" spc="-60" dirty="0">
                <a:latin typeface="Arial"/>
                <a:cs typeface="Arial"/>
              </a:rPr>
              <a:t>on </a:t>
            </a:r>
            <a:r>
              <a:rPr lang="en-US" spc="-10" dirty="0">
                <a:latin typeface="Arial"/>
                <a:cs typeface="Arial"/>
              </a:rPr>
              <a:t>its  </a:t>
            </a:r>
            <a:r>
              <a:rPr lang="en-US" spc="-20" dirty="0">
                <a:latin typeface="Arial"/>
                <a:cs typeface="Arial"/>
              </a:rPr>
              <a:t>training</a:t>
            </a:r>
            <a:r>
              <a:rPr lang="en-US" spc="50" dirty="0">
                <a:latin typeface="Arial"/>
                <a:cs typeface="Arial"/>
              </a:rPr>
              <a:t> </a:t>
            </a:r>
            <a:r>
              <a:rPr lang="en-US" spc="-30" dirty="0">
                <a:latin typeface="Arial"/>
                <a:cs typeface="Arial"/>
              </a:rPr>
              <a:t>data.</a:t>
            </a:r>
            <a:endParaRPr lang="en-US" dirty="0">
              <a:latin typeface="Arial"/>
              <a:cs typeface="Arial"/>
            </a:endParaRPr>
          </a:p>
          <a:p>
            <a:pPr marL="594995" marR="148590" indent="-457200">
              <a:lnSpc>
                <a:spcPct val="102600"/>
              </a:lnSpc>
              <a:spcBef>
                <a:spcPts val="300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25" dirty="0">
                <a:latin typeface="Arial"/>
                <a:cs typeface="Arial"/>
              </a:rPr>
              <a:t>test </a:t>
            </a:r>
            <a:r>
              <a:rPr lang="en-US" spc="-60" dirty="0">
                <a:latin typeface="Arial"/>
                <a:cs typeface="Arial"/>
              </a:rPr>
              <a:t>MSE </a:t>
            </a:r>
            <a:r>
              <a:rPr lang="en-US" spc="-90" dirty="0">
                <a:latin typeface="Arial"/>
                <a:cs typeface="Arial"/>
              </a:rPr>
              <a:t>measures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15" dirty="0">
                <a:latin typeface="Arial"/>
                <a:cs typeface="Arial"/>
              </a:rPr>
              <a:t>ability </a:t>
            </a:r>
            <a:r>
              <a:rPr lang="en-US" spc="10" dirty="0">
                <a:latin typeface="Arial"/>
                <a:cs typeface="Arial"/>
              </a:rPr>
              <a:t>to </a:t>
            </a:r>
            <a:r>
              <a:rPr lang="en-US" spc="-65" dirty="0">
                <a:latin typeface="Arial"/>
                <a:cs typeface="Arial"/>
              </a:rPr>
              <a:t>generalize </a:t>
            </a:r>
            <a:r>
              <a:rPr lang="en-US" spc="10" dirty="0">
                <a:latin typeface="Arial"/>
                <a:cs typeface="Arial"/>
              </a:rPr>
              <a:t>to  </a:t>
            </a:r>
            <a:r>
              <a:rPr lang="en-US" spc="-90" dirty="0">
                <a:latin typeface="Arial"/>
                <a:cs typeface="Arial"/>
              </a:rPr>
              <a:t>unseen</a:t>
            </a:r>
            <a:r>
              <a:rPr lang="en-US" spc="50" dirty="0">
                <a:latin typeface="Arial"/>
                <a:cs typeface="Arial"/>
              </a:rPr>
              <a:t> </a:t>
            </a:r>
            <a:r>
              <a:rPr lang="en-US" spc="-30" dirty="0">
                <a:latin typeface="Arial"/>
                <a:cs typeface="Arial"/>
              </a:rPr>
              <a:t>data.</a:t>
            </a:r>
            <a:endParaRPr lang="en-US" dirty="0">
              <a:latin typeface="Arial"/>
              <a:cs typeface="Arial"/>
            </a:endParaRPr>
          </a:p>
          <a:p>
            <a:pPr marL="594995" marR="30480" indent="-457200">
              <a:lnSpc>
                <a:spcPct val="102699"/>
              </a:lnSpc>
              <a:spcBef>
                <a:spcPts val="300"/>
              </a:spcBef>
              <a:buClr>
                <a:schemeClr val="tx1"/>
              </a:buClr>
              <a:tabLst>
                <a:tab pos="315595" algn="l"/>
              </a:tabLst>
            </a:pPr>
            <a:r>
              <a:rPr lang="en-US" b="1" spc="-30" dirty="0">
                <a:latin typeface="Arial"/>
                <a:cs typeface="Arial"/>
              </a:rPr>
              <a:t>Overtraining</a:t>
            </a:r>
            <a:r>
              <a:rPr lang="en-US" spc="-30" dirty="0">
                <a:latin typeface="Arial"/>
                <a:cs typeface="Arial"/>
              </a:rPr>
              <a:t>: </a:t>
            </a:r>
            <a:r>
              <a:rPr lang="en-US" spc="-60" dirty="0">
                <a:latin typeface="Arial"/>
                <a:cs typeface="Arial"/>
              </a:rPr>
              <a:t>When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50" dirty="0">
                <a:latin typeface="Arial"/>
                <a:cs typeface="Arial"/>
              </a:rPr>
              <a:t>model’s </a:t>
            </a:r>
            <a:r>
              <a:rPr lang="en-US" spc="-70" dirty="0">
                <a:latin typeface="Arial"/>
                <a:cs typeface="Arial"/>
              </a:rPr>
              <a:t>overabundance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15" dirty="0">
                <a:latin typeface="Arial"/>
                <a:cs typeface="Arial"/>
              </a:rPr>
              <a:t>flexibility  </a:t>
            </a:r>
            <a:r>
              <a:rPr lang="en-US" spc="-80" dirty="0">
                <a:latin typeface="Arial"/>
                <a:cs typeface="Arial"/>
              </a:rPr>
              <a:t>increases </a:t>
            </a:r>
            <a:r>
              <a:rPr lang="en-US" spc="-25" dirty="0">
                <a:latin typeface="Arial"/>
                <a:cs typeface="Arial"/>
              </a:rPr>
              <a:t>test </a:t>
            </a:r>
            <a:r>
              <a:rPr lang="en-US" spc="-60" dirty="0">
                <a:latin typeface="Arial"/>
                <a:cs typeface="Arial"/>
              </a:rPr>
              <a:t>MSE over </a:t>
            </a:r>
            <a:r>
              <a:rPr lang="en-US" spc="-50" dirty="0">
                <a:latin typeface="Arial"/>
                <a:cs typeface="Arial"/>
              </a:rPr>
              <a:t>simpler</a:t>
            </a:r>
            <a:r>
              <a:rPr lang="en-US" spc="15" dirty="0">
                <a:latin typeface="Arial"/>
                <a:cs typeface="Arial"/>
              </a:rPr>
              <a:t> </a:t>
            </a:r>
            <a:r>
              <a:rPr lang="en-US" spc="-55" dirty="0">
                <a:latin typeface="Arial"/>
                <a:cs typeface="Arial"/>
              </a:rPr>
              <a:t>models.</a:t>
            </a:r>
            <a:endParaRPr lang="en-US" dirty="0">
              <a:latin typeface="Arial"/>
              <a:cs typeface="Arial"/>
            </a:endParaRPr>
          </a:p>
          <a:p>
            <a:pPr marL="0" marR="443230" indent="0">
              <a:lnSpc>
                <a:spcPct val="102600"/>
              </a:lnSpc>
              <a:spcBef>
                <a:spcPts val="295"/>
              </a:spcBef>
              <a:buNone/>
            </a:pPr>
            <a:r>
              <a:rPr lang="en-US" b="1" spc="-5" dirty="0">
                <a:latin typeface="Arial"/>
                <a:cs typeface="Arial"/>
              </a:rPr>
              <a:t>Note: </a:t>
            </a:r>
            <a:r>
              <a:rPr lang="en-US" spc="-40" dirty="0">
                <a:latin typeface="Arial"/>
                <a:cs typeface="Arial"/>
              </a:rPr>
              <a:t>The </a:t>
            </a:r>
            <a:r>
              <a:rPr lang="en-US" spc="-45" dirty="0">
                <a:latin typeface="Arial"/>
                <a:cs typeface="Arial"/>
              </a:rPr>
              <a:t>square-root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30" dirty="0">
                <a:latin typeface="Arial"/>
                <a:cs typeface="Arial"/>
              </a:rPr>
              <a:t>the </a:t>
            </a:r>
            <a:r>
              <a:rPr lang="en-US" spc="-60" dirty="0">
                <a:latin typeface="Arial"/>
                <a:cs typeface="Arial"/>
              </a:rPr>
              <a:t>MSE is </a:t>
            </a:r>
            <a:r>
              <a:rPr lang="en-US" spc="-65" dirty="0">
                <a:latin typeface="Arial"/>
                <a:cs typeface="Arial"/>
              </a:rPr>
              <a:t>sometimes </a:t>
            </a:r>
            <a:r>
              <a:rPr lang="en-US" spc="-90" dirty="0">
                <a:latin typeface="Arial"/>
                <a:cs typeface="Arial"/>
              </a:rPr>
              <a:t>used </a:t>
            </a:r>
            <a:r>
              <a:rPr lang="en-US" spc="-114" dirty="0">
                <a:latin typeface="Arial"/>
                <a:cs typeface="Arial"/>
              </a:rPr>
              <a:t>as </a:t>
            </a:r>
            <a:r>
              <a:rPr lang="en-US" spc="-90" dirty="0">
                <a:latin typeface="Arial"/>
                <a:cs typeface="Arial"/>
              </a:rPr>
              <a:t>a  </a:t>
            </a:r>
            <a:r>
              <a:rPr lang="en-US" spc="-85" dirty="0">
                <a:latin typeface="Arial"/>
                <a:cs typeface="Arial"/>
              </a:rPr>
              <a:t>measure </a:t>
            </a:r>
            <a:r>
              <a:rPr lang="en-US" spc="-20" dirty="0">
                <a:latin typeface="Arial"/>
                <a:cs typeface="Arial"/>
              </a:rPr>
              <a:t>of </a:t>
            </a:r>
            <a:r>
              <a:rPr lang="en-US" spc="-50" dirty="0">
                <a:latin typeface="Arial"/>
                <a:cs typeface="Arial"/>
              </a:rPr>
              <a:t>performance. </a:t>
            </a:r>
            <a:r>
              <a:rPr lang="en-US" spc="-25" dirty="0">
                <a:latin typeface="Arial"/>
                <a:cs typeface="Arial"/>
              </a:rPr>
              <a:t>This </a:t>
            </a:r>
            <a:r>
              <a:rPr lang="en-US" spc="-70" dirty="0">
                <a:latin typeface="Arial"/>
                <a:cs typeface="Arial"/>
              </a:rPr>
              <a:t>can </a:t>
            </a:r>
            <a:r>
              <a:rPr lang="en-US" spc="-75" dirty="0">
                <a:latin typeface="Arial"/>
                <a:cs typeface="Arial"/>
              </a:rPr>
              <a:t>be </a:t>
            </a:r>
            <a:r>
              <a:rPr lang="en-US" spc="-55" dirty="0">
                <a:latin typeface="Arial"/>
                <a:cs typeface="Arial"/>
              </a:rPr>
              <a:t>denoted</a:t>
            </a:r>
            <a:r>
              <a:rPr lang="en-US" spc="-135" dirty="0">
                <a:latin typeface="Arial"/>
                <a:cs typeface="Arial"/>
              </a:rPr>
              <a:t> </a:t>
            </a:r>
            <a:r>
              <a:rPr lang="en-US" spc="-55" dirty="0">
                <a:latin typeface="Arial"/>
                <a:cs typeface="Arial"/>
              </a:rPr>
              <a:t>RMSE.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73C5B-501F-12D7-1DF8-EF956C7EBD7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It’s a balance between flexibility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𝑇𝑒𝑠𝑡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9A73C5B-501F-12D7-1DF8-EF956C7EBD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812E7-4929-A363-3A31-C6E729CAD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9E50A0-750C-7BB9-118E-93E037144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778" y="1690688"/>
            <a:ext cx="6990713" cy="51673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7C64A-9B07-9AC7-A518-3178BA9A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20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9EA2F-DEAF-5CFC-9B7E-70D8372D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of the models we will encounter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843D-D78B-2EE4-8598-8E14DCF8B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C6F536-D954-5E15-A55F-9A6F7A91A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631"/>
          <a:stretch>
            <a:fillRect/>
          </a:stretch>
        </p:blipFill>
        <p:spPr>
          <a:xfrm>
            <a:off x="945173" y="1348579"/>
            <a:ext cx="10301654" cy="51903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253F9-F31F-B825-4B4C-C6DC3F21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359B07-2215-63BE-1BCA-7F841DB783D7}"/>
              </a:ext>
            </a:extLst>
          </p:cNvPr>
          <p:cNvSpPr txBox="1"/>
          <p:nvPr/>
        </p:nvSpPr>
        <p:spPr>
          <a:xfrm>
            <a:off x="171486" y="6513918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sourced from Figure 2.7 of ISLP.</a:t>
            </a:r>
          </a:p>
        </p:txBody>
      </p:sp>
    </p:spTree>
    <p:extLst>
      <p:ext uri="{BB962C8B-B14F-4D97-AF65-F5344CB8AC3E}">
        <p14:creationId xmlns:p14="http://schemas.microsoft.com/office/powerpoint/2010/main" val="4010015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F72EF-24F1-E8C7-66EE-0026D21A571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82F72EF-24F1-E8C7-66EE-0026D21A5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26E9D-9AF1-460B-109A-51954BAA5C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</p:spPr>
            <p:txBody>
              <a:bodyPr/>
              <a:lstStyle/>
              <a:p>
                <a:r>
                  <a:rPr lang="en-US" dirty="0"/>
                  <a:t>There are two types of estimators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Parametric: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has a certain form, which can be described using a finite number of </a:t>
                </a:r>
                <a:r>
                  <a:rPr lang="en-US" b="1" i="1" dirty="0"/>
                  <a:t>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Example: 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a </a:t>
                </a:r>
                <a:r>
                  <a:rPr lang="en-US" i="1" dirty="0"/>
                  <a:t>linear function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then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    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This is called a </a:t>
                </a:r>
                <a:r>
                  <a:rPr lang="en-US" i="1" dirty="0"/>
                  <a:t>linear model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Example: Can take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to be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bSup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p>
                      </m:sSub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+…</m:t>
                      </m:r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This is also a parametric model, though it is a bit pathological.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26E9D-9AF1-460B-109A-51954BAA5C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  <a:blipFill>
                <a:blip r:embed="rId3"/>
                <a:stretch>
                  <a:fillRect l="-1206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62D29-FA8C-82C1-7A65-F3A666E3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365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E5F4-94BD-F686-C99E-967570CF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9024C6-D029-10A4-3409-9721D2F8EC1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9024C6-D029-10A4-3409-9721D2F8E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EB6EF-CFF8-CA41-4A01-62E3D52931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b="1" dirty="0"/>
                  <a:t>Non-parametric:</a:t>
                </a:r>
                <a:r>
                  <a:rPr lang="en-US" dirty="0"/>
                  <a:t> If we do not impose a parametric structure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 Non-parametric methods can be deceptively simple or very complex. </a:t>
                </a:r>
              </a:p>
              <a:p>
                <a:pPr lvl="1"/>
                <a:r>
                  <a:rPr lang="en-US" dirty="0"/>
                  <a:t>We will use them, but not delve into their details.</a:t>
                </a:r>
              </a:p>
              <a:p>
                <a:pPr lvl="1"/>
                <a:r>
                  <a:rPr lang="en-US" dirty="0"/>
                  <a:t>They do not assume the form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but suffer from needing a very large number of observations.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DEB6EF-CFF8-CA41-4A01-62E3D52931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146"/>
                <a:ext cx="10515600" cy="4743817"/>
              </a:xfrm>
              <a:blipFill>
                <a:blip r:embed="rId3"/>
                <a:stretch>
                  <a:fillRect l="-1206" t="-2133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48E4DFBB-965E-D4E4-01E5-1E4AC31AB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561" y="3494658"/>
            <a:ext cx="4305300" cy="336334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EDEF7-5537-7A59-8468-F46042FD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67B24-9798-33AE-9FED-D71B3CC269AD}"/>
              </a:ext>
            </a:extLst>
          </p:cNvPr>
          <p:cNvSpPr txBox="1"/>
          <p:nvPr/>
        </p:nvSpPr>
        <p:spPr>
          <a:xfrm>
            <a:off x="171486" y="6513918"/>
            <a:ext cx="6601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sourced from Figure 2.5 of ISLP.</a:t>
            </a:r>
          </a:p>
        </p:txBody>
      </p:sp>
    </p:spTree>
    <p:extLst>
      <p:ext uri="{BB962C8B-B14F-4D97-AF65-F5344CB8AC3E}">
        <p14:creationId xmlns:p14="http://schemas.microsoft.com/office/powerpoint/2010/main" val="12755271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9835-C6C4-6AB2-DA70-AFD04BF7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Hard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ABCCE-6906-5124-F6BC-256B169AD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prediction, linear models are </a:t>
            </a:r>
            <a:r>
              <a:rPr lang="en-US" b="1" dirty="0"/>
              <a:t>largely obsolete.</a:t>
            </a:r>
          </a:p>
          <a:p>
            <a:r>
              <a:rPr lang="en-US" dirty="0"/>
              <a:t>They are still useful as a point of comparison for modern methods, but they are seldom the best option.</a:t>
            </a:r>
          </a:p>
          <a:p>
            <a:r>
              <a:rPr lang="en-US" dirty="0"/>
              <a:t>The </a:t>
            </a:r>
            <a:r>
              <a:rPr lang="en-US" b="1" dirty="0"/>
              <a:t>modeling skills </a:t>
            </a:r>
            <a:r>
              <a:rPr lang="en-US" dirty="0"/>
              <a:t>you develop working with linear models will extend to other methods.</a:t>
            </a:r>
          </a:p>
          <a:p>
            <a:endParaRPr lang="en-US" dirty="0"/>
          </a:p>
          <a:p>
            <a:r>
              <a:rPr lang="en-US" dirty="0"/>
              <a:t>For inference, linear models are still very relevant.</a:t>
            </a:r>
          </a:p>
          <a:p>
            <a:r>
              <a:rPr lang="en-US" dirty="0"/>
              <a:t>Their well-developed theory, which many modern methods lack, provide a foundation for difficult inference tasks.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0C236-1AE4-BDDF-5790-EBDE9E5B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955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009A-F277-1212-F29D-CFA6D012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884D6-3F41-932A-4851-2D972AD1E3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Involves examining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for information about 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/>
                  <a:t>Examples:</a:t>
                </a:r>
              </a:p>
              <a:p>
                <a:r>
                  <a:rPr lang="en-US" dirty="0"/>
                  <a:t>Does the daily temperature affect the number of non-accidental deaths in Chicago</a:t>
                </a:r>
                <a:r>
                  <a:rPr lang="en-US" baseline="30000" dirty="0"/>
                  <a:t>1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How do tweeted words play a role in overall population happiness</a:t>
                </a:r>
                <a:r>
                  <a:rPr lang="en-US" baseline="30000" dirty="0"/>
                  <a:t>2</a:t>
                </a:r>
                <a:r>
                  <a:rPr lang="en-US" dirty="0"/>
                  <a:t>?</a:t>
                </a:r>
              </a:p>
              <a:p>
                <a:r>
                  <a:rPr lang="en-US" dirty="0"/>
                  <a:t>Does inducing stress during training help SWOs better react to ship-handling emergencies?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F884D6-3F41-932A-4851-2D972AD1E3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610E0-B820-FAB1-8C43-07636AA0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6138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7104-ABA2-F774-B792-6B6BDF20D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8059C7-64E7-08BA-34D9-76E038B2E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Exploratory Data Analysis</a:t>
                </a:r>
              </a:p>
              <a:p>
                <a:pPr lvl="1"/>
                <a:r>
                  <a:rPr lang="en-US" dirty="0"/>
                  <a:t>Taking a step back and developing a qualitative look over the whole dataset</a:t>
                </a:r>
              </a:p>
              <a:p>
                <a:pPr lvl="1"/>
                <a:r>
                  <a:rPr lang="en-US" dirty="0"/>
                  <a:t>Cleaning!</a:t>
                </a:r>
              </a:p>
              <a:p>
                <a:r>
                  <a:rPr lang="en-US" dirty="0"/>
                  <a:t>Linear Models</a:t>
                </a:r>
              </a:p>
              <a:p>
                <a:pPr lvl="1"/>
                <a:r>
                  <a:rPr lang="en-US" dirty="0"/>
                  <a:t>Closing the loop: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Assume:</a:t>
                </a:r>
              </a:p>
              <a:p>
                <a:pPr marL="457200" lvl="1" indent="0">
                  <a:buNone/>
                </a:pPr>
                <a:r>
                  <a:rPr lang="en-US" dirty="0"/>
                  <a:t>	Irreducible Error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lvl="3"/>
                <a:r>
                  <a:rPr lang="en-US" dirty="0"/>
                  <a:t>Mean Zero,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r>
                  <a:rPr lang="en-US" dirty="0"/>
                  <a:t>Nonzero variance,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lvl="3"/>
                <a:r>
                  <a:rPr lang="en-US" dirty="0"/>
                  <a:t>The error terms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and independent across observations.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8059C7-64E7-08BA-34D9-76E038B2E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 t="-2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A29E9-D6D5-1833-6380-5B6825B3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867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68245-0C63-D3E3-E721-2C392BB7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2A71D-7061-F38A-EF69-E0D4F6B3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/>
          <a:lstStyle/>
          <a:p>
            <a:r>
              <a:rPr lang="en-US" baseline="30000" dirty="0"/>
              <a:t>1 </a:t>
            </a:r>
            <a:r>
              <a:rPr lang="en-US" dirty="0"/>
              <a:t> </a:t>
            </a:r>
            <a:r>
              <a:rPr lang="en-US" sz="1800" dirty="0">
                <a:hlinkClick r:id="rId2"/>
              </a:rPr>
              <a:t>https://heyjackass.com/</a:t>
            </a:r>
            <a:r>
              <a:rPr lang="en-US" sz="1800" dirty="0"/>
              <a:t> </a:t>
            </a:r>
          </a:p>
          <a:p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sz="1800" dirty="0">
                <a:hlinkClick r:id="rId3"/>
              </a:rPr>
              <a:t>https://hedonometer.org/timeseries/en_all/?from=2021-11-23&amp;to=2023-05-22&amp;viz=wordshift</a:t>
            </a:r>
            <a:r>
              <a:rPr lang="en-US" sz="1800" dirty="0"/>
              <a:t> </a:t>
            </a:r>
            <a:endParaRPr lang="en-US" baseline="30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C8D31-F8B9-B6FE-DAF8-37B4B899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 descr="A graph with colorful dots and lines&#10;&#10;AI-generated content may be incorrect.">
            <a:extLst>
              <a:ext uri="{FF2B5EF4-FFF2-40B4-BE49-F238E27FC236}">
                <a16:creationId xmlns:a16="http://schemas.microsoft.com/office/drawing/2014/main" id="{49F5D177-CDE0-FB75-8499-72F2631AE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069" y="2481566"/>
            <a:ext cx="7429500" cy="412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78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6E6435-4A2C-4A0D-BAA1-839AFE03D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C95BC1-9232-48BA-BC44-46620B8F7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6E6207-86C4-4F84-AC70-AF40681B0BDD}">
  <ds:schemaRefs>
    <ds:schemaRef ds:uri="http://purl.org/dc/dcmitype/"/>
    <ds:schemaRef ds:uri="http://schemas.microsoft.com/office/2006/documentManagement/types"/>
    <ds:schemaRef ds:uri="0e81aeba-3fbe-492c-aacc-230c0d934791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2668</Words>
  <Application>Microsoft Office PowerPoint</Application>
  <PresentationFormat>Widescreen</PresentationFormat>
  <Paragraphs>727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Aptos Display</vt:lpstr>
      <vt:lpstr>Arial</vt:lpstr>
      <vt:lpstr>Cambria Math</vt:lpstr>
      <vt:lpstr>Helvetica</vt:lpstr>
      <vt:lpstr>Times New Roman</vt:lpstr>
      <vt:lpstr>Wingdings</vt:lpstr>
      <vt:lpstr>Office Theme</vt:lpstr>
      <vt:lpstr>OA3103: Data Analysis</vt:lpstr>
      <vt:lpstr>References</vt:lpstr>
      <vt:lpstr>Using Math to Prove or Explain Real Phenomena</vt:lpstr>
      <vt:lpstr>Using Math to Prove or Explain Real Phenomena</vt:lpstr>
      <vt:lpstr>Review of Statistical Concepts</vt:lpstr>
      <vt:lpstr>Review of Statistical Concepts</vt:lpstr>
      <vt:lpstr>Review of Statistical Concepts</vt:lpstr>
      <vt:lpstr>Review of Statistical Concepts</vt:lpstr>
      <vt:lpstr>Statistical Modeling</vt:lpstr>
      <vt:lpstr>Statistical Modeling</vt:lpstr>
      <vt:lpstr>Prediction: What is the best we can do?</vt:lpstr>
      <vt:lpstr>Bias-Variance Decomposition</vt:lpstr>
      <vt:lpstr>But we are doing prediction with our model</vt:lpstr>
      <vt:lpstr>Training vs Test RMSE</vt:lpstr>
      <vt:lpstr>Flexibility</vt:lpstr>
      <vt:lpstr>Training vs Test RMSE</vt:lpstr>
      <vt:lpstr>PowerPoint Presentation</vt:lpstr>
      <vt:lpstr>PowerPoint Presentation</vt:lpstr>
      <vt:lpstr>PowerPoint Presentation</vt:lpstr>
      <vt:lpstr>PowerPoint Presentation</vt:lpstr>
      <vt:lpstr>Overfitting</vt:lpstr>
      <vt:lpstr>Takeaways</vt:lpstr>
      <vt:lpstr>Train/test split</vt:lpstr>
      <vt:lpstr>The Truth and Sample</vt:lpstr>
      <vt:lpstr>The Train/Test Split and Truth</vt:lpstr>
      <vt:lpstr>A linear estimate </vt:lpstr>
      <vt:lpstr>Another estimate </vt:lpstr>
      <vt:lpstr>Another estimate </vt:lpstr>
      <vt:lpstr>PowerPoint Presentation</vt:lpstr>
      <vt:lpstr>PowerPoint Presentation</vt:lpstr>
      <vt:lpstr>PowerPoint Presentation</vt:lpstr>
      <vt:lpstr>It’s a balance between flexibility and MSE_Test</vt:lpstr>
      <vt:lpstr>Some of the models we will encounter</vt:lpstr>
      <vt:lpstr>Estimating f</vt:lpstr>
      <vt:lpstr>Estimating f</vt:lpstr>
      <vt:lpstr>The Hard Truth</vt:lpstr>
      <vt:lpstr>Inference</vt:lpstr>
      <vt:lpstr>Coming up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Singh, Paolo (CDR)</cp:lastModifiedBy>
  <cp:revision>3</cp:revision>
  <dcterms:created xsi:type="dcterms:W3CDTF">2026-04-01T15:46:41Z</dcterms:created>
  <dcterms:modified xsi:type="dcterms:W3CDTF">2026-04-02T16:45:59Z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2026-04-01T16:54:00Z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3fe9a577-88ad-49c9-8ede-48a2274d3674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0x010100B5C1E69E284ED9449A95CFBB495AA443</vt:lpwstr>
  </property>
</Properties>
</file>