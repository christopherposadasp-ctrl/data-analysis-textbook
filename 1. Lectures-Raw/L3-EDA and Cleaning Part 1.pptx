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256" r:id="rId5"/>
    <p:sldId id="257" r:id="rId6"/>
    <p:sldId id="263" r:id="rId7"/>
    <p:sldId id="292" r:id="rId8"/>
    <p:sldId id="258" r:id="rId9"/>
    <p:sldId id="276" r:id="rId10"/>
    <p:sldId id="274" r:id="rId11"/>
    <p:sldId id="261" r:id="rId12"/>
    <p:sldId id="275" r:id="rId13"/>
    <p:sldId id="262" r:id="rId14"/>
    <p:sldId id="271" r:id="rId15"/>
    <p:sldId id="264" r:id="rId16"/>
    <p:sldId id="273" r:id="rId17"/>
    <p:sldId id="295" r:id="rId18"/>
    <p:sldId id="297" r:id="rId19"/>
    <p:sldId id="265" r:id="rId20"/>
    <p:sldId id="272" r:id="rId21"/>
    <p:sldId id="266" r:id="rId22"/>
    <p:sldId id="267" r:id="rId23"/>
    <p:sldId id="268" r:id="rId24"/>
    <p:sldId id="269" r:id="rId25"/>
    <p:sldId id="270" r:id="rId26"/>
    <p:sldId id="291" r:id="rId27"/>
    <p:sldId id="293" r:id="rId28"/>
    <p:sldId id="278" r:id="rId29"/>
    <p:sldId id="277" r:id="rId30"/>
    <p:sldId id="279" r:id="rId31"/>
    <p:sldId id="280" r:id="rId32"/>
    <p:sldId id="294" r:id="rId33"/>
    <p:sldId id="283" r:id="rId34"/>
    <p:sldId id="281" r:id="rId35"/>
    <p:sldId id="28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C4"/>
    <a:srgbClr val="F8766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2" autoAdjust="0"/>
    <p:restoredTop sz="86552"/>
  </p:normalViewPr>
  <p:slideViewPr>
    <p:cSldViewPr snapToGrid="0">
      <p:cViewPr varScale="1">
        <p:scale>
          <a:sx n="44" d="100"/>
          <a:sy n="44" d="100"/>
        </p:scale>
        <p:origin x="12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3F521-F4D1-444D-88E6-BCBDC8A1A2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57C2-5E1D-41E6-9645-1767E40D4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Reasons we need to clean data</a:t>
            </a:r>
          </a:p>
          <a:p>
            <a:endParaRPr lang="en-US" dirty="0"/>
          </a:p>
          <a:p>
            <a:r>
              <a:rPr lang="en-US" dirty="0"/>
              <a:t>Missing or Incomplete Data</a:t>
            </a:r>
          </a:p>
          <a:p>
            <a:r>
              <a:rPr lang="en-US" dirty="0"/>
              <a:t>Inconsistency with survey responses</a:t>
            </a:r>
          </a:p>
          <a:p>
            <a:r>
              <a:rPr lang="en-US" dirty="0"/>
              <a:t>Inconsistent Units or Scales – height in inches vs cm</a:t>
            </a:r>
          </a:p>
          <a:p>
            <a:r>
              <a:rPr lang="en-US" dirty="0"/>
              <a:t>Duplicates</a:t>
            </a:r>
          </a:p>
          <a:p>
            <a:r>
              <a:rPr lang="en-US" dirty="0"/>
              <a:t>Impossible values</a:t>
            </a:r>
          </a:p>
          <a:p>
            <a:r>
              <a:rPr lang="en-US" dirty="0"/>
              <a:t>Incorrect data types – numbers stored as strings, categories as integers, dates as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28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not to impute? Ex: “Did not answer” is itself a category</a:t>
            </a:r>
          </a:p>
          <a:p>
            <a:r>
              <a:rPr lang="en-US" dirty="0"/>
              <a:t>When the variable isn’t needed</a:t>
            </a:r>
          </a:p>
          <a:p>
            <a:r>
              <a:rPr lang="en-US" dirty="0"/>
              <a:t>When missingness is too extensive</a:t>
            </a:r>
          </a:p>
          <a:p>
            <a:r>
              <a:rPr lang="en-US" dirty="0"/>
              <a:t>When imputation would introduce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19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D56-10DE-4BAA-806D-A0DF0DFC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4396-C6B3-6892-281A-5056AD46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FBF2-0715-99D0-BBA9-8CB3CAC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09DE-8109-44F0-8C7E-CFE793DEB423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BC3C-12FC-F93F-AEBD-F3F9429A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88E7-0E3B-4DDD-5293-59AF817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A96-0B2D-2E8D-B271-433F4B8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0E32-41B2-77F3-3958-10AAE2D3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822-9077-6BC3-6C1D-A810D6DB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9A2-A1B9-4DAF-987E-C5F6F8B2AB0C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6D09-64CB-01E8-26BE-9317E53B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B24-73E9-13BC-961D-B02BA2AE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AFBA-D09F-BE45-43EC-4FD8D94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881F-6DFC-BB0E-1E2E-5DC049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41FF-F5B2-0562-12FD-85D82A45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CC4E-CB0E-4A2B-A15C-872305F0EF20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7F93-4809-799B-89F3-0B4CF36A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F09-D82D-4526-CBA2-A1E04560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F8F3-E518-5837-9655-4E272CD9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69A6-7BA9-A4E5-9C7B-220FDA280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B099-9D06-AB2B-A29A-AEDC6906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D349-6D13-0872-3C2D-AA06B42A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740-153B-4D3F-9334-6E05DF714D5B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81DE-8E6F-8BE0-2221-4BE5A05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AF78-4068-9688-E4EA-19B2976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F9D-B461-9AF4-6C0B-D52C703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544C-F870-B59C-4B41-FDAFA1E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C4B0-C07D-A3D1-B5BE-120B14A8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1863F-B07D-A53B-A2A6-B3293D29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071A-5317-3BFA-7F6D-FCB99A79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60B6E-A2D7-BEDD-D8B5-CF778E7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5C91-DC2B-4871-905F-857B60E8F0C9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685C-0169-1716-6107-CF54D435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0FBDA-F965-68BE-E6F4-631A459B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4281-B184-223B-7363-269C801C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B531-09B3-7C2A-03B3-EEE3BFE1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7DF2-BDFD-43DD-822D-D0F89EEAEB15}" type="datetime1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18E-F575-F6E1-5B95-C02B70EE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BB6C-3D82-F94D-E6B0-D88B099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F964-5F02-2879-6CF3-1798F46F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F6CA-3C87-43B0-ACE2-B61A5700DE7A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CAD-E229-6838-669D-96712B7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8D8A3-696C-7AB7-2393-71C0403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4338-4EAA-15A3-B188-249FE69E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DAE3-FC4B-BB29-E8C0-3B08FBB3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1BD9-A8D0-FE38-D95A-FF13F42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CB25-01F0-7041-CC70-4B57DC0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462-8B33-45EE-833D-3ABCC66C620D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74F0-750B-00B9-FDC6-5D1D287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6A6C6-4695-329F-5E3F-956BFB8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D7-1D26-5758-8157-A3891B47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E0FB2-F6BA-DD07-E5C6-25FED981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70B8-CE9A-F0E5-FBCC-FC04E3F3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431C-5B34-6DAB-589C-5F2C5857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51E4-017A-464E-A06A-69811D32577D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DB368-93F9-4E1F-162D-F21FBFB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D7D5-2477-1219-068F-ED69124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434-9730-DBA5-FF17-C2F2ADE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49ED3-C88A-D763-B5BB-DE45D382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91FF-F762-5A82-467B-44E7E01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E9AE-2E6F-4739-BC0F-A181D584D3BB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3CB0-7A7C-2C02-FDF0-7E158B9B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EDD9-2468-0132-4B3A-C9569B1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0C14C-AB9D-3E02-BF64-D9AAAF816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839D2-707D-A934-4739-F6552D5B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C6A-9D61-2F49-D23F-0E0E6E57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3DF-E48A-405E-A597-21579A82FCCE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5B13-B4DD-0246-5964-67597460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864B-C293-97F7-592D-CAA2F65E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F365-D77F-B672-FB54-522C669F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5A52-2105-60AA-CE03-F844F862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3C10-F4C3-9191-ADF8-E8CEABC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17C-753A-41BF-85DF-F31E939C9D88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E080-9AD1-73E4-33B7-D9F36C17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F518-56D5-42D1-1DB1-457D80F4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ts.stackexchange.com/questions/84158/how-is-the-kurtosis-of-a-distribution-related-to-the-geometry-of-the-density-fun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9979-9923-BC09-E841-3BE1A142E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AF64F-654F-318D-0993-7805F463D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Exploratory Data Analysis (EDA) and Data Cleaning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DF67D-2F46-5DB7-2CDD-D9D90524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856C-1D9E-A3F7-C7D6-8813BA74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B918-53CE-D62A-3EF0-94225E956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EDA: Chapter 3 (Primary)</a:t>
            </a:r>
          </a:p>
          <a:p>
            <a:r>
              <a:rPr lang="en-US" dirty="0"/>
              <a:t>ISLP: Chapter 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A7F28-3941-401D-28E0-116EF040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4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1589-7A66-E64E-A97D-F23FA65B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/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F753E-66A2-DB13-D877-066655948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Friday’s lab/HW introduced some basic data handling</a:t>
            </a:r>
          </a:p>
          <a:p>
            <a:r>
              <a:rPr lang="en-US" dirty="0"/>
              <a:t>Introduce data cleaning, numerical EDA, and Visual EDA</a:t>
            </a:r>
          </a:p>
          <a:p>
            <a:r>
              <a:rPr lang="en-US" dirty="0"/>
              <a:t>Build our data analysis cookbooks in Python and/or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46560-AEAD-5E3C-82F4-8E854E8F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8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DF492-A314-2968-86A2-1818169E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Week’s Roadmap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CC2899-0B66-EB41-4BDC-953A04C18E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Monday-Tuesday: </a:t>
                </a:r>
              </a:p>
              <a:p>
                <a:pPr lvl="1"/>
                <a:r>
                  <a:rPr lang="en-US" dirty="0"/>
                  <a:t>Cleaning and Exploratory Data Analysis (EDA)</a:t>
                </a:r>
              </a:p>
              <a:p>
                <a:pPr lvl="1"/>
                <a:r>
                  <a:rPr lang="en-US" dirty="0"/>
                  <a:t>Lecture slides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/>
                  <a:t> Python/R coding demo</a:t>
                </a:r>
              </a:p>
              <a:p>
                <a:r>
                  <a:rPr lang="en-US" strike="sngStrike" dirty="0"/>
                  <a:t>Wednesday –</a:t>
                </a:r>
                <a:r>
                  <a:rPr lang="en-US" b="1" strike="sngStrike" dirty="0"/>
                  <a:t>or</a:t>
                </a:r>
                <a:r>
                  <a:rPr lang="en-US" strike="sngStrike" dirty="0"/>
                  <a:t> – Thursday: </a:t>
                </a:r>
              </a:p>
              <a:p>
                <a:pPr lvl="1"/>
                <a:r>
                  <a:rPr lang="en-US" strike="sngStrike" dirty="0"/>
                  <a:t>Lab session </a:t>
                </a:r>
              </a:p>
              <a:p>
                <a:r>
                  <a:rPr lang="en-US" dirty="0"/>
                  <a:t>Wednesday-Thursday:</a:t>
                </a:r>
              </a:p>
              <a:p>
                <a:pPr lvl="1"/>
                <a:r>
                  <a:rPr lang="en-US" dirty="0"/>
                  <a:t>Simple Linear Regression</a:t>
                </a:r>
              </a:p>
              <a:p>
                <a:pPr lvl="2"/>
                <a:r>
                  <a:rPr lang="en-US" sz="2400" dirty="0"/>
                  <a:t>Theory</a:t>
                </a:r>
              </a:p>
              <a:p>
                <a:pPr lvl="2"/>
                <a:r>
                  <a:rPr lang="en-US" sz="2400" dirty="0"/>
                  <a:t>Application</a:t>
                </a:r>
              </a:p>
              <a:p>
                <a:r>
                  <a:rPr lang="en-US" sz="3200" dirty="0"/>
                  <a:t>Friday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 dirty="0"/>
                  <a:t> Monday</a:t>
                </a:r>
              </a:p>
              <a:p>
                <a:pPr lvl="1"/>
                <a:r>
                  <a:rPr lang="en-US" dirty="0"/>
                  <a:t>HW1 Due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CC2899-0B66-EB41-4BDC-953A04C18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11353-EA9D-7CA8-60BB-3C11E474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46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DCC3-9DA6-6905-5313-176290E3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3777-1EEC-CE1E-CAF3-6D82C55C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this as “listening to the data.”</a:t>
            </a:r>
          </a:p>
          <a:p>
            <a:r>
              <a:rPr lang="en-US" dirty="0"/>
              <a:t>Gain a big-picture understanding of what the data is telling us.</a:t>
            </a:r>
          </a:p>
          <a:p>
            <a:r>
              <a:rPr lang="en-US" dirty="0"/>
              <a:t>Do this before asking targeted questions of the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8675C-09DF-1829-529C-82730EB5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8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0DAA2-5F2E-F2F5-C7EC-A9424E18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8C11-25CE-7190-C75C-5BB146E7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2F286-75DC-2007-8997-CC32035C8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34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i="1" dirty="0"/>
              <a:t>variable</a:t>
            </a:r>
            <a:r>
              <a:rPr lang="en-US" dirty="0"/>
              <a:t> is any attribute which may change its value between observations in a data set.</a:t>
            </a:r>
          </a:p>
          <a:p>
            <a:r>
              <a:rPr lang="en-US" dirty="0"/>
              <a:t>Numeric variables:  </a:t>
            </a:r>
          </a:p>
          <a:p>
            <a:pPr lvl="1"/>
            <a:r>
              <a:rPr lang="en-US" dirty="0"/>
              <a:t>Continuous: </a:t>
            </a:r>
            <a:r>
              <a:rPr lang="en-US" i="1" dirty="0"/>
              <a:t> </a:t>
            </a:r>
            <a:endParaRPr lang="en-US" dirty="0"/>
          </a:p>
          <a:p>
            <a:pPr lvl="2"/>
            <a:r>
              <a:rPr lang="en-US" dirty="0"/>
              <a:t> </a:t>
            </a:r>
          </a:p>
          <a:p>
            <a:pPr lvl="1"/>
            <a:r>
              <a:rPr lang="en-US" dirty="0"/>
              <a:t>Discrete: </a:t>
            </a:r>
            <a:r>
              <a:rPr lang="en-US" i="1" dirty="0"/>
              <a:t> </a:t>
            </a:r>
            <a:endParaRPr lang="en-US" dirty="0"/>
          </a:p>
          <a:p>
            <a:pPr lvl="2"/>
            <a:r>
              <a:rPr lang="en-US" dirty="0"/>
              <a:t> </a:t>
            </a:r>
          </a:p>
          <a:p>
            <a:r>
              <a:rPr lang="en-US" dirty="0"/>
              <a:t>Ordinal variables:  </a:t>
            </a:r>
          </a:p>
          <a:p>
            <a:pPr lvl="1"/>
            <a:r>
              <a:rPr lang="en-US" dirty="0"/>
              <a:t> </a:t>
            </a:r>
          </a:p>
          <a:p>
            <a:r>
              <a:rPr lang="en-US" dirty="0"/>
              <a:t>Categorical variables:</a:t>
            </a:r>
          </a:p>
          <a:p>
            <a:pPr lvl="1"/>
            <a:r>
              <a:rPr lang="en-US" dirty="0"/>
              <a:t>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DB131-28D1-3755-855E-F50317F0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68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230B-4133-8788-AF0D-BFBF0E00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4AE81-EAAE-3C98-608B-6AB4E1667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34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i="1" dirty="0"/>
              <a:t>variable</a:t>
            </a:r>
            <a:r>
              <a:rPr lang="en-US" dirty="0"/>
              <a:t> is any attribute which may change its value between observations in a data set.</a:t>
            </a:r>
          </a:p>
          <a:p>
            <a:r>
              <a:rPr lang="en-US" dirty="0"/>
              <a:t>Numeric variables: takes numbers as values</a:t>
            </a:r>
          </a:p>
          <a:p>
            <a:pPr lvl="1"/>
            <a:r>
              <a:rPr lang="en-US" dirty="0"/>
              <a:t>Continuous: </a:t>
            </a:r>
            <a:r>
              <a:rPr lang="en-US" i="1" dirty="0"/>
              <a:t>Can</a:t>
            </a:r>
            <a:r>
              <a:rPr lang="en-US" dirty="0"/>
              <a:t> take any value between its minimum and maximum.</a:t>
            </a:r>
          </a:p>
          <a:p>
            <a:pPr lvl="2"/>
            <a:r>
              <a:rPr lang="en-US" dirty="0"/>
              <a:t>ex: age, temperature</a:t>
            </a:r>
          </a:p>
          <a:p>
            <a:pPr lvl="1"/>
            <a:r>
              <a:rPr lang="en-US" dirty="0"/>
              <a:t>Discrete: </a:t>
            </a:r>
            <a:r>
              <a:rPr lang="en-US" i="1" dirty="0"/>
              <a:t>Cannot </a:t>
            </a:r>
            <a:r>
              <a:rPr lang="en-US" dirty="0"/>
              <a:t>take any value between its min and max; usually integers.</a:t>
            </a:r>
          </a:p>
          <a:p>
            <a:pPr lvl="2"/>
            <a:r>
              <a:rPr lang="en-US" dirty="0"/>
              <a:t>ex: number of ice cream flavors, number of Army and Air National Guard officers</a:t>
            </a:r>
          </a:p>
          <a:p>
            <a:r>
              <a:rPr lang="en-US" dirty="0"/>
              <a:t>Ordinal variables: Takes </a:t>
            </a:r>
            <a:r>
              <a:rPr lang="en-US" i="1" dirty="0"/>
              <a:t>ordered</a:t>
            </a:r>
            <a:r>
              <a:rPr lang="en-US" dirty="0"/>
              <a:t> </a:t>
            </a:r>
            <a:r>
              <a:rPr lang="en-US" i="1" dirty="0"/>
              <a:t>categories</a:t>
            </a:r>
            <a:r>
              <a:rPr lang="en-US" dirty="0"/>
              <a:t> as its values</a:t>
            </a:r>
          </a:p>
          <a:p>
            <a:pPr lvl="1"/>
            <a:r>
              <a:rPr lang="en-US" dirty="0"/>
              <a:t>ex: Enlisted ranks</a:t>
            </a:r>
          </a:p>
          <a:p>
            <a:r>
              <a:rPr lang="en-US" dirty="0"/>
              <a:t>Categorical variables: Takes </a:t>
            </a:r>
            <a:r>
              <a:rPr lang="en-US" i="1" dirty="0"/>
              <a:t>unordered categories </a:t>
            </a:r>
            <a:r>
              <a:rPr lang="en-US" dirty="0"/>
              <a:t>as its values</a:t>
            </a:r>
          </a:p>
          <a:p>
            <a:pPr lvl="1"/>
            <a:r>
              <a:rPr lang="en-US" dirty="0"/>
              <a:t>ex: Service branch, property view (“ocean”, “mountain”, etc.)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64938-8961-E4B3-749D-3149CA60E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4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32300-694C-CBE3-0AC8-73339334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 cleaning?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095B-4E8E-270E-8A8A-A705AE8B6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can be messy/dirty. Why?</a:t>
            </a:r>
          </a:p>
          <a:p>
            <a:pPr lvl="1"/>
            <a:r>
              <a:rPr lang="en-US" dirty="0"/>
              <a:t>Data entry errors</a:t>
            </a:r>
          </a:p>
          <a:p>
            <a:pPr lvl="1"/>
            <a:r>
              <a:rPr lang="en-US" dirty="0"/>
              <a:t>Non-standardization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1B051-3D27-6D37-23AC-14E96B51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6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6D2D-CAE1-DA1F-70A5-26CD5FE6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50B5-7162-99EC-F391-5EC9C7AF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8"/>
            <a:ext cx="10515600" cy="50461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Categorical variables may be recorded in an incorrect variable type in the dataset. </a:t>
            </a:r>
          </a:p>
          <a:p>
            <a:r>
              <a:rPr lang="en-US" dirty="0"/>
              <a:t>Example: Survey Responses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is the “difference” between services?</a:t>
            </a:r>
          </a:p>
          <a:p>
            <a:r>
              <a:rPr lang="en-US" dirty="0"/>
              <a:t>Later: We will examine ways to encode categorical data numerically (binary, one-hot encoding, etc.)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9ABEF-F865-7FAC-391F-330FA4A0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AD710C-2FC0-B9D1-809F-100C2330691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616192"/>
          <a:ext cx="81280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111217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20469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Service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20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285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Marine Corps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13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25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Air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Space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737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Coast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96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078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F856-BAA2-A81F-75D9-6072E997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101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B9702-31CC-EE89-B33D-2231B0E51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  <a:p>
            <a:r>
              <a:rPr lang="en-US" dirty="0"/>
              <a:t>Fixing data types</a:t>
            </a:r>
          </a:p>
          <a:p>
            <a:r>
              <a:rPr lang="en-US" dirty="0"/>
              <a:t>Renaming and standardizing columns</a:t>
            </a:r>
          </a:p>
          <a:p>
            <a:r>
              <a:rPr lang="en-US" dirty="0" err="1"/>
              <a:t>Subsetting</a:t>
            </a:r>
            <a:r>
              <a:rPr lang="en-US" dirty="0"/>
              <a:t> rows and columns</a:t>
            </a:r>
          </a:p>
          <a:p>
            <a:r>
              <a:rPr lang="en-US" dirty="0"/>
              <a:t>Detecting outliers</a:t>
            </a:r>
          </a:p>
          <a:p>
            <a:r>
              <a:rPr lang="en-US" dirty="0"/>
              <a:t>Basic sanity checks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7A91B-7203-B4A1-FF08-3A484F70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62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A8BC-83BC-0EFB-BE2C-770E91CF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Cleaning: Python and R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7DCE3-6F76-CFDA-2B1A-63345A6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Loading a dataset as a </a:t>
            </a:r>
            <a:r>
              <a:rPr lang="en-US" dirty="0" err="1"/>
              <a:t>Dataframe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Python: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457200" lvl="1" indent="0">
              <a:buNone/>
            </a:pPr>
            <a:r>
              <a:rPr lang="en-US" dirty="0"/>
              <a:t>-or-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na_values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=[“”, ”NA”, “N/A”])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R: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457200" lvl="1" indent="0">
              <a:buNone/>
            </a:pPr>
            <a:r>
              <a:rPr lang="en-US" dirty="0"/>
              <a:t>-or-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na.strings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c("", "NA", "N/A"),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stringsAsFactors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A820D-76CC-6CE5-4673-F9830A33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34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E46F-8C46-0604-3681-E496F4CA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D38F-F8E6-E344-300D-A8F96C873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05D4B-A1BA-6697-55E8-F32085366A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Detect missingness / count missing values</a:t>
                </a:r>
              </a:p>
              <a:p>
                <a:r>
                  <a:rPr lang="en-US" dirty="0"/>
                  <a:t>Distinguish </a:t>
                </a:r>
                <a:r>
                  <a:rPr lang="en-US" i="1" dirty="0"/>
                  <a:t>true zeros</a:t>
                </a:r>
                <a:r>
                  <a:rPr lang="en-US" dirty="0"/>
                  <a:t> from </a:t>
                </a:r>
                <a:r>
                  <a:rPr lang="en-US" i="1" dirty="0"/>
                  <a:t>missing zeros</a:t>
                </a:r>
              </a:p>
              <a:p>
                <a:pPr lvl="1"/>
                <a:r>
                  <a:rPr lang="en-US" dirty="0"/>
                  <a:t>Weight = 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This is not a true zero, but a placeholder for missing data</a:t>
                </a:r>
              </a:p>
              <a:p>
                <a:pPr lvl="1"/>
                <a:r>
                  <a:rPr lang="en-US" dirty="0"/>
                  <a:t>Siblings = 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Valid entry</a:t>
                </a:r>
              </a:p>
              <a:p>
                <a:r>
                  <a:rPr lang="en-US" dirty="0"/>
                  <a:t>Dropping vs. Imputing data</a:t>
                </a:r>
              </a:p>
              <a:p>
                <a:pPr lvl="1"/>
                <a:r>
                  <a:rPr lang="en-US" dirty="0"/>
                  <a:t>Dropping rows is simple, but can remove a lot of data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Justifications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05D4B-A1BA-6697-55E8-F32085366A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6C42C-FC4A-1568-0FB5-0F6CA96E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8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1868-8396-23BE-414E-E5CC7DB2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4022-46FA-E0A2-DE5F-5E9E9127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896C7-50AF-B90C-CEE5-ADB0CF1DA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df.isna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().sum()				</a:t>
            </a:r>
            <a:r>
              <a:rPr lang="en-US" sz="2000" dirty="0">
                <a:cs typeface="Courier New" panose="02070309020205020404" pitchFamily="49" charset="0"/>
              </a:rPr>
              <a:t>Counts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r>
              <a:rPr lang="en-US" sz="2000" dirty="0">
                <a:cs typeface="Courier New" panose="02070309020205020404" pitchFamily="49" charset="0"/>
              </a:rPr>
              <a:t> values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df.replace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(0,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np.nan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		</a:t>
            </a:r>
            <a:r>
              <a:rPr lang="en-US" sz="2000" dirty="0">
                <a:cs typeface="Courier New" panose="02070309020205020404" pitchFamily="49" charset="0"/>
              </a:rPr>
              <a:t>Converts zeros to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				</a:t>
            </a:r>
            <a:r>
              <a:rPr lang="en-US" sz="2000" dirty="0">
                <a:cs typeface="Courier New" panose="02070309020205020404" pitchFamily="49" charset="0"/>
              </a:rPr>
              <a:t>Removes rows containing at least one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colSums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			</a:t>
            </a:r>
            <a:r>
              <a:rPr lang="en-US" sz="2000" dirty="0">
                <a:cs typeface="Courier New" panose="02070309020205020404" pitchFamily="49" charset="0"/>
              </a:rPr>
              <a:t>Counts NA values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0] &lt;- NA				</a:t>
            </a:r>
            <a:r>
              <a:rPr lang="en-US" sz="2000" dirty="0">
                <a:cs typeface="Courier New" panose="02070309020205020404" pitchFamily="49" charset="0"/>
              </a:rPr>
              <a:t>Converts zeros to NA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				</a:t>
            </a:r>
            <a:r>
              <a:rPr lang="en-US" sz="2000" dirty="0">
                <a:cs typeface="Courier New" panose="02070309020205020404" pitchFamily="49" charset="0"/>
              </a:rPr>
              <a:t>Removes rows containing at least one NA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9A904-B03B-2667-CDD2-FB1EA7D0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68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5FCBE-9B0B-C4AD-2491-CEBB4A04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A12F-2DC9-16BC-CC2A-A720EF44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FFE84-4CFC-0983-16CD-30F55DE2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Dropping rows if specific columns are missing: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(subset=["Age", 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Weight_lbs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Age,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Weight_lbs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E59B0-B034-BCFA-92E2-15CE25F1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91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9D31-7925-BE3F-27FB-95F0348E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CE3B-D97B-A208-38C1-457FE26C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95597-7CB6-B6D5-D084-43A15E96A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05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Imputation: replacing missing values with </a:t>
            </a:r>
            <a:r>
              <a:rPr lang="en-US" i="1" dirty="0"/>
              <a:t>reasonable </a:t>
            </a:r>
            <a:r>
              <a:rPr lang="en-US" dirty="0"/>
              <a:t>substitutes so we don’t lose entire rows of data.</a:t>
            </a:r>
          </a:p>
          <a:p>
            <a:r>
              <a:rPr lang="en-US" dirty="0"/>
              <a:t>Ensure summaries and models can run</a:t>
            </a:r>
          </a:p>
          <a:p>
            <a:r>
              <a:rPr lang="en-US" dirty="0"/>
              <a:t>Dataset remains as representative as possible</a:t>
            </a:r>
          </a:p>
          <a:p>
            <a:pPr lvl="1"/>
            <a:r>
              <a:rPr lang="en-US" dirty="0"/>
              <a:t>Simple (Univariate) Imputation</a:t>
            </a:r>
          </a:p>
          <a:p>
            <a:pPr lvl="2"/>
            <a:r>
              <a:rPr lang="en-US" dirty="0"/>
              <a:t>Mean, Median, Mode, or replace with a constant</a:t>
            </a:r>
          </a:p>
          <a:p>
            <a:pPr lvl="2"/>
            <a:r>
              <a:rPr lang="en-US" dirty="0"/>
              <a:t>Intuitive but can distort distributions</a:t>
            </a:r>
          </a:p>
          <a:p>
            <a:pPr lvl="1"/>
            <a:r>
              <a:rPr lang="en-US" dirty="0"/>
              <a:t>Conditional (Multivariate) Imputation</a:t>
            </a:r>
          </a:p>
          <a:p>
            <a:pPr lvl="2"/>
            <a:r>
              <a:rPr lang="en-US" dirty="0"/>
              <a:t>Use other variables to make better guesses</a:t>
            </a:r>
          </a:p>
          <a:p>
            <a:pPr lvl="2"/>
            <a:r>
              <a:rPr lang="en-US" dirty="0"/>
              <a:t>Regression, k-nearest neighbors (</a:t>
            </a:r>
            <a:r>
              <a:rPr lang="en-US" dirty="0" err="1"/>
              <a:t>kNN</a:t>
            </a:r>
            <a:r>
              <a:rPr lang="en-US" dirty="0"/>
              <a:t>), predictive mean matching</a:t>
            </a:r>
          </a:p>
          <a:p>
            <a:pPr lvl="2"/>
            <a:r>
              <a:rPr lang="en-US" dirty="0"/>
              <a:t>Preserves relationships between variables, but complex and requires modeling assumptions</a:t>
            </a:r>
          </a:p>
          <a:p>
            <a:pPr lvl="1"/>
            <a:r>
              <a:rPr lang="en-US" dirty="0"/>
              <a:t>Multiple Imputation</a:t>
            </a:r>
          </a:p>
          <a:p>
            <a:pPr lvl="2"/>
            <a:r>
              <a:rPr lang="en-US" dirty="0"/>
              <a:t>Create several plausible datasets, analyze each, and combine results</a:t>
            </a:r>
          </a:p>
          <a:p>
            <a:r>
              <a:rPr lang="en-US" dirty="0"/>
              <a:t>Know when </a:t>
            </a:r>
            <a:r>
              <a:rPr lang="en-US" i="1" dirty="0"/>
              <a:t>not </a:t>
            </a:r>
            <a:r>
              <a:rPr lang="en-US" dirty="0"/>
              <a:t>to impute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D46DB-3725-4465-30C5-E9FE04A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93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E239-65C7-A915-E504-3682DE02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379E-97DA-DBEB-5265-952CA2BD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3F708-68F7-3407-180F-8A412F237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10201" cy="4351338"/>
          </a:xfrm>
        </p:spPr>
        <p:txBody>
          <a:bodyPr/>
          <a:lstStyle/>
          <a:p>
            <a:r>
              <a:rPr lang="en-US" dirty="0"/>
              <a:t>Numeric columns read as strings</a:t>
            </a:r>
          </a:p>
          <a:p>
            <a:r>
              <a:rPr lang="en-US" dirty="0"/>
              <a:t>Categorical variables read as integers</a:t>
            </a:r>
          </a:p>
          <a:p>
            <a:r>
              <a:rPr lang="en-US" dirty="0"/>
              <a:t>Dates read as text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A0E5D-38E4-924A-A1AB-BA839F1F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16</a:t>
            </a:fld>
            <a:endParaRPr lang="en-US"/>
          </a:p>
        </p:txBody>
      </p:sp>
      <p:pic>
        <p:nvPicPr>
          <p:cNvPr id="1026" name="Picture 2" descr="Just Excel Things : r/pcmasterrace">
            <a:extLst>
              <a:ext uri="{FF2B5EF4-FFF2-40B4-BE49-F238E27FC236}">
                <a16:creationId xmlns:a16="http://schemas.microsoft.com/office/drawing/2014/main" id="{AF69F02C-ABEB-1FCE-A78B-1D8A657B6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401" y="391485"/>
            <a:ext cx="4777415" cy="596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383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44FB3-8F49-9B7C-C0F5-0E2C397E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5D6A-5B57-D874-35F2-C2C1270F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and Fixing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D99F0-B259-51E3-9A48-A5D7BDDF9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df.dtypes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["col"]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["col"].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(float)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["category"]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["category"].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("category")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["date"]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pd.to_datetime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["date"])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str(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df$category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factor(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df$category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format = "%Y-%m-%d")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Technique: Import as strings first, clean values, then convert to numeric or factor once the column is trustworthy.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383CC-0982-2556-FAC5-FC91DDD8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55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75026-86B8-9338-B903-FA03788D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B96D-AB7F-12AF-3999-35408814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and standardizing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34B2-BCE2-9FB8-1222-79B261AEB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Nonstandardized</a:t>
            </a:r>
            <a:r>
              <a:rPr lang="en-US" dirty="0"/>
              <a:t> column titling</a:t>
            </a:r>
          </a:p>
          <a:p>
            <a:pPr lvl="1"/>
            <a:r>
              <a:rPr lang="en-US" dirty="0"/>
              <a:t>“college” vs “school” vs “university”</a:t>
            </a:r>
          </a:p>
          <a:p>
            <a:pPr lvl="1"/>
            <a:r>
              <a:rPr lang="en-US" dirty="0"/>
              <a:t>“miles” vs “</a:t>
            </a:r>
            <a:r>
              <a:rPr lang="en-US" dirty="0" err="1"/>
              <a:t>Miles_Driven</a:t>
            </a:r>
            <a:r>
              <a:rPr lang="en-US" dirty="0"/>
              <a:t>”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Python: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(columns{“college”: “school”})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(columns{“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Miles_Driven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”: “miles”})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rename(school = college)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rename(miles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Miles_Driven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614F7-459D-B8DF-AA32-8434F7E6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15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0BCD4-4BE8-4F72-68AC-BF32FD27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B45D-C1B0-A067-9ABD-4953BAA6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r>
              <a:rPr lang="en-US" dirty="0"/>
              <a:t> rows and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5F18E-4AE6-3400-710C-30133F98C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Filter rows, select columns, or create new variables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["strength"] == 1]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[["miles", "population"]]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mpd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"] =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["miles"] /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["population"]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filter(strength == 1)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select(miles, population)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mutate(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miles / population)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B599C-15B3-E403-4DD4-B8328F75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04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5FEA-52E3-888D-EAC3-1C61DEAB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D863-085E-D7AE-1BEE-154CBAB8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FD40F-9664-A8C2-B409-540B43114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Outliers: </a:t>
            </a:r>
            <a:r>
              <a:rPr lang="en-US" dirty="0"/>
              <a:t>Observations that are unusually far </a:t>
            </a:r>
            <a:br>
              <a:rPr lang="en-US" dirty="0"/>
            </a:br>
            <a:r>
              <a:rPr lang="en-US" dirty="0"/>
              <a:t>from the data, do not follow overall pattern</a:t>
            </a:r>
          </a:p>
          <a:p>
            <a:r>
              <a:rPr lang="en-US" dirty="0"/>
              <a:t>Also consider this during your visual EDA</a:t>
            </a:r>
          </a:p>
          <a:p>
            <a:pPr lvl="1"/>
            <a:r>
              <a:rPr lang="en-US" dirty="0"/>
              <a:t>Histograms</a:t>
            </a:r>
          </a:p>
          <a:p>
            <a:pPr lvl="1"/>
            <a:r>
              <a:rPr lang="en-US" dirty="0"/>
              <a:t>Boxplots</a:t>
            </a:r>
          </a:p>
          <a:p>
            <a:pPr lvl="1"/>
            <a:r>
              <a:rPr lang="en-US" dirty="0"/>
              <a:t>Scatterplots</a:t>
            </a:r>
          </a:p>
          <a:p>
            <a:r>
              <a:rPr lang="en-US" dirty="0"/>
              <a:t>Later: More techniques (e.g., leverage)</a:t>
            </a:r>
          </a:p>
          <a:p>
            <a:endParaRPr lang="en-US" dirty="0"/>
          </a:p>
          <a:p>
            <a:r>
              <a:rPr lang="en-US" i="1" dirty="0"/>
              <a:t>Look</a:t>
            </a:r>
            <a:r>
              <a:rPr lang="en-US" dirty="0"/>
              <a:t> for these before you compute</a:t>
            </a:r>
          </a:p>
          <a:p>
            <a:r>
              <a:rPr lang="en-US" dirty="0"/>
              <a:t>You may be justified in cleaning (removing) outlier data</a:t>
            </a:r>
          </a:p>
          <a:p>
            <a:pPr lvl="1"/>
            <a:r>
              <a:rPr lang="en-US" dirty="0"/>
              <a:t>Remember: </a:t>
            </a:r>
            <a:r>
              <a:rPr lang="en-US" i="1" dirty="0"/>
              <a:t>Repeatable </a:t>
            </a:r>
            <a:r>
              <a:rPr lang="en-US" dirty="0"/>
              <a:t>and</a:t>
            </a:r>
            <a:r>
              <a:rPr lang="en-US" i="1" dirty="0"/>
              <a:t> Defensible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D3D10-BB9B-03EF-6A1D-B8FA314B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02E33099-12BD-D5CB-4E63-FC4536AD5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279" y="875355"/>
            <a:ext cx="4589721" cy="4177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CFD60E-2801-A83B-7D3A-4940531EDCD6}"/>
              </a:ext>
            </a:extLst>
          </p:cNvPr>
          <p:cNvSpPr txBox="1"/>
          <p:nvPr/>
        </p:nvSpPr>
        <p:spPr>
          <a:xfrm>
            <a:off x="0" y="6567586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454612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17139-8C16-97B2-2E5E-E7FCE712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E6BE-A806-9DCD-4B71-03CFE876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sanity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BCDAB-804F-A14A-991D-3255EF9DB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Prof. Alderson: “Be wary of taking data at face value, especially when you don’t know how it was generated.”</a:t>
            </a:r>
          </a:p>
          <a:p>
            <a:pPr lvl="1"/>
            <a:r>
              <a:rPr lang="en-US" dirty="0"/>
              <a:t>Are units consistent?</a:t>
            </a:r>
          </a:p>
          <a:p>
            <a:pPr lvl="1"/>
            <a:r>
              <a:rPr lang="en-US" dirty="0"/>
              <a:t>Are there impossible values?</a:t>
            </a:r>
          </a:p>
          <a:p>
            <a:pPr lvl="1"/>
            <a:r>
              <a:rPr lang="en-US" dirty="0"/>
              <a:t>Does the number of rows match our expectations?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85ACF-CBC3-08D7-61E4-BA769F6D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40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F15B-AC1A-CD79-2459-2A5C7261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EB70-4B1B-5232-65E2-CA4E0C6F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 Cleaning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6EA2-6D54-CB51-AE41-9649D346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1825625"/>
            <a:ext cx="12018264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String cleaning</a:t>
            </a:r>
          </a:p>
          <a:p>
            <a:pPr lvl="1"/>
            <a:r>
              <a:rPr lang="en-US" dirty="0"/>
              <a:t>Trimming whitespace</a:t>
            </a:r>
          </a:p>
          <a:p>
            <a:pPr lvl="1"/>
            <a:r>
              <a:rPr lang="en-US" dirty="0"/>
              <a:t>Fixing capitalization</a:t>
            </a:r>
          </a:p>
          <a:p>
            <a:pPr lvl="1"/>
            <a:r>
              <a:rPr lang="en-US" dirty="0"/>
              <a:t>Standardizing Naming Conventions</a:t>
            </a:r>
          </a:p>
          <a:p>
            <a:pPr lvl="2"/>
            <a:r>
              <a:rPr lang="en-US" dirty="0"/>
              <a:t>e.g., “NYC” vs “New York City” or “LA” vs “Los Angeles”</a:t>
            </a:r>
          </a:p>
          <a:p>
            <a:r>
              <a:rPr lang="en-US" dirty="0"/>
              <a:t>Duplicate detection</a:t>
            </a:r>
          </a:p>
          <a:p>
            <a:pPr marL="0" indent="0">
              <a:buNone/>
            </a:pPr>
            <a:r>
              <a:rPr lang="en-US" dirty="0"/>
              <a:t>Python: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  <a:r>
              <a:rPr lang="en-US" dirty="0"/>
              <a:t>			   R: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fr-F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df_unique</a:t>
            </a:r>
            <a:r>
              <a:rPr lang="fr-F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fr-F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			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df_unique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distinct()</a:t>
            </a:r>
          </a:p>
          <a:p>
            <a:pPr marL="0" indent="0">
              <a:buNone/>
            </a:pP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df_cities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(subset=["City", "State"])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df_cities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distinct(City, State)</a:t>
            </a:r>
          </a:p>
          <a:p>
            <a:pPr marL="0" indent="0">
              <a:buNone/>
            </a:pP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df_users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.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keep_all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	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df_users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"], keep="first")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Saving cleaned data</a:t>
            </a:r>
          </a:p>
          <a:p>
            <a:pPr lvl="1"/>
            <a:r>
              <a:rPr lang="en-US" dirty="0"/>
              <a:t>e.g., “Pima2” from Lab 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650DD-8DB9-4C26-AC88-4635D3D5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99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C920-2575-4084-0966-472CB166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ABE6-27BD-2058-9ED2-86E30465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to Python/R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EB394-19AF-A97D-8C51-C72CD84B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F8C1E-A2F4-856C-3BCB-69A58132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Sakai: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montereyrecruiting.csv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Toy dataset</a:t>
            </a:r>
          </a:p>
          <a:p>
            <a:pPr lvl="1"/>
            <a:r>
              <a:rPr lang="en-US" i="1" dirty="0"/>
              <a:t>All characters are fictional, any resemblance to actual persons, living or dead, is purely coincidental.</a:t>
            </a:r>
            <a:endParaRPr lang="en-US" i="1" dirty="0"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87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8AA4A-6670-4EEF-2B4A-A2EA5DBE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673D-198A-89CD-ADF1-DFD99AC19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28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Data-driven studies involve very large datasets</a:t>
            </a:r>
          </a:p>
          <a:p>
            <a:r>
              <a:rPr lang="en-US" dirty="0"/>
              <a:t>Ideally, errors fixed at the data entry point</a:t>
            </a:r>
          </a:p>
          <a:p>
            <a:r>
              <a:rPr lang="en-US" dirty="0"/>
              <a:t>Fix what we can</a:t>
            </a:r>
          </a:p>
          <a:p>
            <a:pPr lvl="1"/>
            <a:r>
              <a:rPr lang="en-US" dirty="0"/>
              <a:t>Standardize variable (column) names across datasets</a:t>
            </a:r>
          </a:p>
          <a:p>
            <a:pPr lvl="1"/>
            <a:r>
              <a:rPr lang="en-US" dirty="0"/>
              <a:t>Parse / remove nonsensical data</a:t>
            </a:r>
          </a:p>
          <a:p>
            <a:r>
              <a:rPr lang="en-US" dirty="0"/>
              <a:t>Numerical issues may be easier to spot</a:t>
            </a:r>
          </a:p>
          <a:p>
            <a:pPr lvl="1"/>
            <a:r>
              <a:rPr lang="en-US" dirty="0"/>
              <a:t>Summary statistics</a:t>
            </a:r>
          </a:p>
          <a:p>
            <a:pPr lvl="1"/>
            <a:r>
              <a:rPr lang="en-US" dirty="0"/>
              <a:t>Visual EDA</a:t>
            </a:r>
          </a:p>
          <a:p>
            <a:r>
              <a:rPr lang="en-US" dirty="0"/>
              <a:t>Our toy example: Errors can be an indicator of credibility of the data source</a:t>
            </a:r>
          </a:p>
          <a:p>
            <a:pPr lvl="1"/>
            <a:r>
              <a:rPr lang="en-US" dirty="0"/>
              <a:t>Maybe we need to find another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C04F0-C820-9760-F3F9-3AB6AEEA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68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D1CC-BB31-9E11-7886-222FB9E2B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Number Summary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57773-B98A-2032-B24A-F14DB5714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Ways to characterize the entire distribution of a dataset variable into one number that answers a specific question about the data’s behavior.</a:t>
            </a:r>
          </a:p>
          <a:p>
            <a:r>
              <a:rPr lang="en-US" dirty="0"/>
              <a:t>Measures of Center</a:t>
            </a:r>
          </a:p>
          <a:p>
            <a:r>
              <a:rPr lang="en-US" dirty="0"/>
              <a:t>Measures of Spread</a:t>
            </a:r>
          </a:p>
          <a:p>
            <a:r>
              <a:rPr lang="en-US" dirty="0"/>
              <a:t>Measures of Shape</a:t>
            </a:r>
          </a:p>
          <a:p>
            <a:r>
              <a:rPr lang="en-US" dirty="0"/>
              <a:t>Measures of Extremes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F41F6-2122-1A16-C6DF-0D1CD471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6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0158E-29E8-0F08-073A-021E6BA7B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873A-9A33-1C4C-A9E7-EB13115B0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Mean: The center of mass, or “balance point.” </a:t>
            </a:r>
          </a:p>
          <a:p>
            <a:pPr lvl="1"/>
            <a:r>
              <a:rPr lang="en-US" dirty="0"/>
              <a:t>Sensitive to outliers.</a:t>
            </a:r>
          </a:p>
          <a:p>
            <a:r>
              <a:rPr lang="en-US" dirty="0"/>
              <a:t>Median: The middle value when data are ordered.</a:t>
            </a:r>
          </a:p>
          <a:p>
            <a:pPr lvl="1"/>
            <a:r>
              <a:rPr lang="en-US" dirty="0"/>
              <a:t>Robust to outliers.</a:t>
            </a:r>
          </a:p>
          <a:p>
            <a:r>
              <a:rPr lang="en-US" dirty="0"/>
              <a:t>Mode: The most common value.</a:t>
            </a:r>
          </a:p>
          <a:p>
            <a:pPr lvl="1"/>
            <a:r>
              <a:rPr lang="en-US" dirty="0"/>
              <a:t>Useful for categorical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D1B02-ED2C-3263-F494-63E8106A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32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34BB-91F1-C5D5-2DD3-50F80088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Spread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F1C8-B7B5-8975-FB7C-22B9A091E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How variable are the data?</a:t>
                </a:r>
                <a:endParaRPr lang="en-US" dirty="0"/>
              </a:p>
              <a:p>
                <a:r>
                  <a:rPr lang="en-US" dirty="0"/>
                  <a:t>Range: Max – Min</a:t>
                </a:r>
              </a:p>
              <a:p>
                <a:r>
                  <a:rPr lang="en-US" dirty="0"/>
                  <a:t>Interquartile Range (IQR):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Variance</a:t>
                </a:r>
              </a:p>
              <a:p>
                <a:pPr lvl="1"/>
                <a:r>
                  <a:rPr lang="en-US" dirty="0"/>
                  <a:t>Average squared deviation from the mean</a:t>
                </a:r>
              </a:p>
              <a:p>
                <a:r>
                  <a:rPr lang="en-US" dirty="0"/>
                  <a:t>Standard Deviation</a:t>
                </a:r>
              </a:p>
              <a:p>
                <a:pPr lvl="1"/>
                <a:r>
                  <a:rPr lang="en-US" dirty="0"/>
                  <a:t>Square root of variance</a:t>
                </a:r>
              </a:p>
              <a:p>
                <a:pPr lvl="1"/>
                <a:r>
                  <a:rPr lang="en-US" dirty="0"/>
                  <a:t>Useful for intuiting units of measure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F1C8-B7B5-8975-FB7C-22B9A091E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2E76-38CB-7CD4-0F56-50DB5494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3384446-77F6-752F-02DB-272AF080B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33" y="1027906"/>
            <a:ext cx="4724400" cy="513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7F1C81-1EF8-B8CA-5533-649134EAFFCF}"/>
              </a:ext>
            </a:extLst>
          </p:cNvPr>
          <p:cNvSpPr txBox="1"/>
          <p:nvPr/>
        </p:nvSpPr>
        <p:spPr>
          <a:xfrm>
            <a:off x="0" y="6538912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2598992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7871-BDC7-85A4-D9F4-86478A569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Shape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B4EFF-52E3-6C16-00E2-D33928DD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3E689D64-B041-479E-ADD2-8D0C94D26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599" y="3519328"/>
            <a:ext cx="7518401" cy="283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6D2AF-0283-4CCD-C598-2E65D89F7B73}"/>
                  </a:ext>
                </a:extLst>
              </p:cNvPr>
              <p:cNvSpPr txBox="1"/>
              <p:nvPr/>
            </p:nvSpPr>
            <p:spPr>
              <a:xfrm>
                <a:off x="838200" y="1557105"/>
                <a:ext cx="5867400" cy="2310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Third </a:t>
                </a:r>
                <a:r>
                  <a:rPr lang="en-US" i="1" dirty="0"/>
                  <a:t>standardized central</a:t>
                </a:r>
                <a:r>
                  <a:rPr lang="en-US" dirty="0"/>
                  <a:t> moment: </a:t>
                </a:r>
                <a:r>
                  <a:rPr lang="en-US" b="1" dirty="0"/>
                  <a:t>Skewness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Informally: The directional tilt or asymmetry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Formally: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Positive skewness – long / heavy right tail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Negative skewness – long / heavy left tail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6D2AF-0283-4CCD-C598-2E65D89F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7105"/>
                <a:ext cx="5867400" cy="2310184"/>
              </a:xfrm>
              <a:prstGeom prst="rect">
                <a:avLst/>
              </a:prstGeom>
              <a:blipFill>
                <a:blip r:embed="rId3"/>
                <a:stretch>
                  <a:fillRect l="-866" t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207094E-CE98-7DFD-2EC6-8F6543A4DA3D}"/>
              </a:ext>
            </a:extLst>
          </p:cNvPr>
          <p:cNvSpPr txBox="1"/>
          <p:nvPr/>
        </p:nvSpPr>
        <p:spPr>
          <a:xfrm>
            <a:off x="0" y="6604084"/>
            <a:ext cx="77046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Image source: Jain, D. “Relationship between mean and median under different </a:t>
            </a:r>
            <a:r>
              <a:rPr lang="en-US" sz="1050" dirty="0" err="1"/>
              <a:t>skewness.png</a:t>
            </a:r>
            <a:r>
              <a:rPr lang="en-US" sz="1050" dirty="0"/>
              <a:t>” CC BY SA-4.0.</a:t>
            </a:r>
          </a:p>
        </p:txBody>
      </p:sp>
    </p:spTree>
    <p:extLst>
      <p:ext uri="{BB962C8B-B14F-4D97-AF65-F5344CB8AC3E}">
        <p14:creationId xmlns:p14="http://schemas.microsoft.com/office/powerpoint/2010/main" val="2383109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DFDD-A7F2-D7A2-FCA0-F86057AC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enter image description here">
            <a:extLst>
              <a:ext uri="{FF2B5EF4-FFF2-40B4-BE49-F238E27FC236}">
                <a16:creationId xmlns:a16="http://schemas.microsoft.com/office/drawing/2014/main" id="{B8B8C289-80AD-0A12-ED38-2525EF9EE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2317618"/>
            <a:ext cx="8308622" cy="417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6D9C1E-FFB4-46C0-E735-D6392F93091B}"/>
                  </a:ext>
                </a:extLst>
              </p:cNvPr>
              <p:cNvSpPr txBox="1"/>
              <p:nvPr/>
            </p:nvSpPr>
            <p:spPr>
              <a:xfrm>
                <a:off x="838200" y="1557105"/>
                <a:ext cx="5867400" cy="3140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Fourth </a:t>
                </a:r>
                <a:r>
                  <a:rPr lang="en-US" i="1" dirty="0"/>
                  <a:t>standardized central</a:t>
                </a:r>
                <a:r>
                  <a:rPr lang="en-US" dirty="0"/>
                  <a:t> moment: </a:t>
                </a:r>
                <a:r>
                  <a:rPr lang="en-US" b="1" dirty="0"/>
                  <a:t>Kurtosis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Informally: “Fatness” or tail weight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Formally: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How much probability lives far from the mean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High kurtosis – more extreme values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Low kurtosis – fewer extremes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Excess Kurtosis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b="1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Normal distribution has kurtosis 3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6D9C1E-FFB4-46C0-E735-D6392F93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7105"/>
                <a:ext cx="5867400" cy="3140027"/>
              </a:xfrm>
              <a:prstGeom prst="rect">
                <a:avLst/>
              </a:prstGeom>
              <a:blipFill>
                <a:blip r:embed="rId3"/>
                <a:stretch>
                  <a:fillRect l="-866" t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13983D6-88AE-3E56-4B69-EB486880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Shape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8C27C-967A-8863-765D-CAB1D96C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63CB6-594C-D77A-F8C9-63FADE1E0FC8}"/>
              </a:ext>
            </a:extLst>
          </p:cNvPr>
          <p:cNvSpPr txBox="1"/>
          <p:nvPr/>
        </p:nvSpPr>
        <p:spPr>
          <a:xfrm>
            <a:off x="0" y="6538912"/>
            <a:ext cx="90762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Image source: </a:t>
            </a:r>
            <a:r>
              <a:rPr lang="en-US" sz="1050" dirty="0">
                <a:hlinkClick r:id="rId4"/>
              </a:rPr>
              <a:t>https://stats.stackexchange.com/questions/84158/how-is-the-kurtosis-of-a-distribution-related-to-the-geometry-of-the-density-fun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7125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2C6E-AC3D-2125-0CD7-D08575B8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Nonparametric / Quantile Based Analogs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B6B8-222D-4F8C-9925-8ACA5E94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measures are more robust to outliers than others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9AD6E-E22A-4E07-D388-B8C154438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6DFCEB-45BB-A039-B7D1-1DCEE1C198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969971"/>
                  </p:ext>
                </p:extLst>
              </p:nvPr>
            </p:nvGraphicFramePr>
            <p:xfrm>
              <a:off x="905932" y="2501900"/>
              <a:ext cx="10515600" cy="246545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35868">
                      <a:extLst>
                        <a:ext uri="{9D8B030D-6E8A-4147-A177-3AD203B41FA5}">
                          <a16:colId xmlns:a16="http://schemas.microsoft.com/office/drawing/2014/main" val="3122422946"/>
                        </a:ext>
                      </a:extLst>
                    </a:gridCol>
                    <a:gridCol w="3793067">
                      <a:extLst>
                        <a:ext uri="{9D8B030D-6E8A-4147-A177-3AD203B41FA5}">
                          <a16:colId xmlns:a16="http://schemas.microsoft.com/office/drawing/2014/main" val="102881401"/>
                        </a:ext>
                      </a:extLst>
                    </a:gridCol>
                    <a:gridCol w="3386665">
                      <a:extLst>
                        <a:ext uri="{9D8B030D-6E8A-4147-A177-3AD203B41FA5}">
                          <a16:colId xmlns:a16="http://schemas.microsoft.com/office/drawing/2014/main" val="5902464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Classical (moment-based)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Nonparametric (Quantile-based)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captures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76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Center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431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 / SD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IQR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Spread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4719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Skewness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Bowley Skewness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𝑆𝑘𝑒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Asymmetry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1698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Moors 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Tail Weight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67833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6DFCEB-45BB-A039-B7D1-1DCEE1C198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969971"/>
                  </p:ext>
                </p:extLst>
              </p:nvPr>
            </p:nvGraphicFramePr>
            <p:xfrm>
              <a:off x="905932" y="2501900"/>
              <a:ext cx="10515600" cy="241077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35868">
                      <a:extLst>
                        <a:ext uri="{9D8B030D-6E8A-4147-A177-3AD203B41FA5}">
                          <a16:colId xmlns:a16="http://schemas.microsoft.com/office/drawing/2014/main" val="3122422946"/>
                        </a:ext>
                      </a:extLst>
                    </a:gridCol>
                    <a:gridCol w="3793067">
                      <a:extLst>
                        <a:ext uri="{9D8B030D-6E8A-4147-A177-3AD203B41FA5}">
                          <a16:colId xmlns:a16="http://schemas.microsoft.com/office/drawing/2014/main" val="102881401"/>
                        </a:ext>
                      </a:extLst>
                    </a:gridCol>
                    <a:gridCol w="3386665">
                      <a:extLst>
                        <a:ext uri="{9D8B030D-6E8A-4147-A177-3AD203B41FA5}">
                          <a16:colId xmlns:a16="http://schemas.microsoft.com/office/drawing/2014/main" val="5902464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Classical (moment-based)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Nonparametric (Quantile-based)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captures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76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Center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431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 / SD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IQR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Spread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4719119"/>
                      </a:ext>
                    </a:extLst>
                  </a:tr>
                  <a:tr h="92741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Skewness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294" t="-124658" r="-89967" b="-50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Asymmetry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1698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Moors 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Tail Weight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67833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0493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9444-5A5C-3021-5699-84AF347D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Extremes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9FD3A-30F7-4D26-2329-06D26B910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Minimum</a:t>
            </a:r>
          </a:p>
          <a:p>
            <a:r>
              <a:rPr lang="en-US" dirty="0"/>
              <a:t>Maximum</a:t>
            </a:r>
          </a:p>
          <a:p>
            <a:r>
              <a:rPr lang="en-US" dirty="0"/>
              <a:t>Outlier Flags</a:t>
            </a:r>
          </a:p>
          <a:p>
            <a:pPr lvl="1"/>
            <a:r>
              <a:rPr lang="en-US" dirty="0"/>
              <a:t>Tukey fences: Named after John Tukey,</a:t>
            </a:r>
            <a:br>
              <a:rPr lang="en-US" dirty="0"/>
            </a:br>
            <a:r>
              <a:rPr lang="en-US" dirty="0"/>
              <a:t>who invented the box plot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EFC65-D99B-492B-AF35-8A8F416E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72EED60F-39E0-D7FF-FF73-E9EC75191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33" y="1027906"/>
            <a:ext cx="4724400" cy="5130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F9E1F2-2F81-3B13-E1DA-361D86F026FF}"/>
              </a:ext>
            </a:extLst>
          </p:cNvPr>
          <p:cNvSpPr txBox="1"/>
          <p:nvPr/>
        </p:nvSpPr>
        <p:spPr>
          <a:xfrm>
            <a:off x="0" y="6538912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3605495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EA75-1067-415B-2FDE-470D0A7B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back to Python/R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DB7DE-AA80-C86D-13C0-16EF46D61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F44C4-7D6A-B9AE-F71E-52886DF56565}"/>
              </a:ext>
            </a:extLst>
          </p:cNvPr>
          <p:cNvSpPr txBox="1"/>
          <p:nvPr/>
        </p:nvSpPr>
        <p:spPr>
          <a:xfrm>
            <a:off x="1219581" y="1936742"/>
            <a:ext cx="6096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cs typeface="Courier New" panose="02070309020205020404" pitchFamily="49" charset="0"/>
              </a:rPr>
              <a:t>Sakai: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pft.csv</a:t>
            </a:r>
          </a:p>
        </p:txBody>
      </p:sp>
    </p:spTree>
    <p:extLst>
      <p:ext uri="{BB962C8B-B14F-4D97-AF65-F5344CB8AC3E}">
        <p14:creationId xmlns:p14="http://schemas.microsoft.com/office/powerpoint/2010/main" val="373348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C95BC1-9232-48BA-BC44-46620B8F7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6E6207-86C4-4F84-AC70-AF40681B0BDD}">
  <ds:schemaRefs>
    <ds:schemaRef ds:uri="http://purl.org/dc/dcmitype/"/>
    <ds:schemaRef ds:uri="0e81aeba-3fbe-492c-aacc-230c0d934791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E6E6435-4A2C-4A0D-BAA1-839AFE03D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1916</Words>
  <Application>Microsoft Office PowerPoint</Application>
  <PresentationFormat>Widescreen</PresentationFormat>
  <Paragraphs>342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References</vt:lpstr>
      <vt:lpstr>Objectives / Structure</vt:lpstr>
      <vt:lpstr>This Week’s Roadmap</vt:lpstr>
      <vt:lpstr>Exploratory Data Analysis</vt:lpstr>
      <vt:lpstr>Variable types</vt:lpstr>
      <vt:lpstr>Variable types</vt:lpstr>
      <vt:lpstr>Why data cleaning?</vt:lpstr>
      <vt:lpstr>Data Cleaning</vt:lpstr>
      <vt:lpstr>Data Cleaning 101</vt:lpstr>
      <vt:lpstr>Data Cleaning: Python and R tools</vt:lpstr>
      <vt:lpstr>Identifying and handling missing values</vt:lpstr>
      <vt:lpstr>Identifying and handling missing values</vt:lpstr>
      <vt:lpstr>Identifying and handling missing values</vt:lpstr>
      <vt:lpstr>Identifying and handling missing values</vt:lpstr>
      <vt:lpstr>Fixing data types</vt:lpstr>
      <vt:lpstr>Detecting and Fixing data types</vt:lpstr>
      <vt:lpstr>Renaming and standardizing columns</vt:lpstr>
      <vt:lpstr>Subsetting rows and columns</vt:lpstr>
      <vt:lpstr>Detecting outliers</vt:lpstr>
      <vt:lpstr>Basic sanity checks</vt:lpstr>
      <vt:lpstr>Other Data Cleaning Tools</vt:lpstr>
      <vt:lpstr>Let’s go to Python/R</vt:lpstr>
      <vt:lpstr>Realities</vt:lpstr>
      <vt:lpstr>Single Number Summary Statistics</vt:lpstr>
      <vt:lpstr>Measures of Center</vt:lpstr>
      <vt:lpstr>Measures of Spread</vt:lpstr>
      <vt:lpstr>Measures of Shape</vt:lpstr>
      <vt:lpstr>Measures of Shape</vt:lpstr>
      <vt:lpstr>Nonparametric / Quantile Based Analogs</vt:lpstr>
      <vt:lpstr>Measures of Extremes</vt:lpstr>
      <vt:lpstr>Let’s go back to Python/R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Singh, Paolo (CDR)</cp:lastModifiedBy>
  <cp:revision>7</cp:revision>
  <dcterms:created xsi:type="dcterms:W3CDTF">2026-04-01T15:46:41Z</dcterms:created>
  <dcterms:modified xsi:type="dcterms:W3CDTF">2026-04-06T17:33:09Z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2026-04-01T16:54:00Z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3fe9a577-88ad-49c9-8ede-48a2274d3674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0x010100B5C1E69E284ED9449A95CFBB495AA443</vt:lpwstr>
  </property>
</Properties>
</file>