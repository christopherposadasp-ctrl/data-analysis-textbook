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331" r:id="rId7"/>
    <p:sldId id="332" r:id="rId8"/>
    <p:sldId id="1329" r:id="rId9"/>
    <p:sldId id="275" r:id="rId10"/>
    <p:sldId id="302" r:id="rId11"/>
    <p:sldId id="1330" r:id="rId12"/>
    <p:sldId id="1332" r:id="rId13"/>
    <p:sldId id="262" r:id="rId14"/>
    <p:sldId id="263" r:id="rId15"/>
    <p:sldId id="264" r:id="rId16"/>
    <p:sldId id="265" r:id="rId17"/>
    <p:sldId id="266" r:id="rId18"/>
    <p:sldId id="133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69855" autoAdjust="0"/>
  </p:normalViewPr>
  <p:slideViewPr>
    <p:cSldViewPr snapToGrid="0">
      <p:cViewPr varScale="1">
        <p:scale>
          <a:sx n="77" d="100"/>
          <a:sy n="77" d="100"/>
        </p:scale>
        <p:origin x="135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3D59C2-381A-411E-932F-E74AADCD0575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1A2BE5-3065-486E-BA5C-8603D95DB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337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1. Data</a:t>
                </a:r>
              </a:p>
              <a:p>
                <a:r>
                  <a:rPr lang="en-US" dirty="0">
                    <a:effectLst/>
                  </a:rPr>
                  <a:t>You can point to each piece: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lang="ar-AE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,</m:t>
                    </m:r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dirty="0">
                    <a:effectLst/>
                  </a:rPr>
                  <a:t>: </a:t>
                </a:r>
                <a:r>
                  <a:rPr lang="en-US" dirty="0">
                    <a:effectLst/>
                  </a:rPr>
                  <a:t>observed inputs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𝑌</m:t>
                    </m:r>
                  </m:oMath>
                </a14:m>
                <a:r>
                  <a:rPr lang="en-US" dirty="0">
                    <a:effectLst/>
                  </a:rPr>
                  <a:t>: observed output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𝜖</m:t>
                    </m:r>
                  </m:oMath>
                </a14:m>
                <a:r>
                  <a:rPr lang="en-US" dirty="0">
                    <a:effectLst/>
                  </a:rPr>
                  <a:t>: unobserved noise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Then ask: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“Which of these do we actually get to see? Which do we </a:t>
                </a:r>
                <a:r>
                  <a:rPr lang="en-US" i="1" dirty="0">
                    <a:effectLst/>
                  </a:rPr>
                  <a:t>never</a:t>
                </a:r>
                <a:r>
                  <a:rPr lang="en-US" dirty="0">
                    <a:effectLst/>
                  </a:rPr>
                  <a:t> see?”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This immediately grounds the course in the reality of data work.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1. Data</a:t>
                </a:r>
              </a:p>
              <a:p>
                <a:r>
                  <a:rPr lang="en-US" dirty="0">
                    <a:effectLst/>
                  </a:rPr>
                  <a:t>You can point to each piece:</a:t>
                </a:r>
                <a:endParaRPr lang="en-US" dirty="0"/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𝑥_1,𝑥_2</a:t>
                </a:r>
                <a:r>
                  <a:rPr lang="ar-AE" dirty="0">
                    <a:effectLst/>
                  </a:rPr>
                  <a:t>: </a:t>
                </a:r>
                <a:r>
                  <a:rPr lang="en-US" dirty="0">
                    <a:effectLst/>
                  </a:rPr>
                  <a:t>observed inputs</a:t>
                </a:r>
                <a:endParaRPr lang="en-US" dirty="0"/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𝑌</a:t>
                </a:r>
                <a:r>
                  <a:rPr lang="en-US" dirty="0">
                    <a:effectLst/>
                  </a:rPr>
                  <a:t>: observed output</a:t>
                </a:r>
                <a:endParaRPr lang="en-US" dirty="0"/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𝜖</a:t>
                </a:r>
                <a:r>
                  <a:rPr lang="en-US" dirty="0">
                    <a:effectLst/>
                  </a:rPr>
                  <a:t>: unobserved noise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Then ask: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“Which of these do we actually get to see? Which do we </a:t>
                </a:r>
                <a:r>
                  <a:rPr lang="en-US" i="1" dirty="0">
                    <a:effectLst/>
                  </a:rPr>
                  <a:t>never</a:t>
                </a:r>
                <a:r>
                  <a:rPr lang="en-US" dirty="0">
                    <a:effectLst/>
                  </a:rPr>
                  <a:t> see?”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This immediately grounds the course in the reality of data work.</a:t>
                </a:r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A2BE5-3065-486E-BA5C-8603D95DB20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477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2. Inference</a:t>
                </a:r>
              </a:p>
              <a:p>
                <a:r>
                  <a:rPr lang="en-US" dirty="0">
                    <a:effectLst/>
                  </a:rPr>
                  <a:t>Inference is about the </a:t>
                </a:r>
                <a:r>
                  <a:rPr lang="en-US" b="1" dirty="0">
                    <a:effectLst/>
                  </a:rPr>
                  <a:t>parameters</a:t>
                </a:r>
                <a:r>
                  <a:rPr lang="en-US" dirty="0">
                    <a:effectLst/>
                  </a:rPr>
                  <a:t>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𝛽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dirty="0">
                    <a:effectLst/>
                  </a:rPr>
                  <a:t>?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𝛽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dirty="0">
                    <a:effectLst/>
                  </a:rPr>
                  <a:t>?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Are they positive? Negative? Zero?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How certain are we?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What assumptions do we need?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You can say: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“Inference is about learning the structure of the world.”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This is the OA3102 → OA3103 bridge.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2. Inference</a:t>
                </a:r>
              </a:p>
              <a:p>
                <a:r>
                  <a:rPr lang="en-US" dirty="0">
                    <a:effectLst/>
                  </a:rPr>
                  <a:t>Inference is about the </a:t>
                </a:r>
                <a:r>
                  <a:rPr lang="en-US" b="1" dirty="0">
                    <a:effectLst/>
                  </a:rPr>
                  <a:t>parameters</a:t>
                </a:r>
                <a:r>
                  <a:rPr lang="en-US" dirty="0">
                    <a:effectLst/>
                  </a:rPr>
                  <a:t>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What is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𝛽_1</a:t>
                </a:r>
                <a:r>
                  <a:rPr lang="ar-AE" dirty="0">
                    <a:effectLst/>
                  </a:rPr>
                  <a:t>?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What is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𝛽_2</a:t>
                </a:r>
                <a:r>
                  <a:rPr lang="ar-AE" dirty="0">
                    <a:effectLst/>
                  </a:rPr>
                  <a:t>?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Are they positive? Negative? Zero?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How certain are we?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What assumptions do we need?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You can say: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“Inference is about learning the structure of the world.”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This is the OA3102 → OA3103 bridge.</a:t>
                </a:r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A2BE5-3065-486E-BA5C-8603D95DB20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833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3. Prediction</a:t>
                </a:r>
              </a:p>
              <a:p>
                <a:r>
                  <a:rPr lang="en-US" dirty="0">
                    <a:effectLst/>
                  </a:rPr>
                  <a:t>Prediction is about the </a:t>
                </a:r>
                <a:r>
                  <a:rPr lang="en-US" b="1" dirty="0">
                    <a:effectLst/>
                  </a:rPr>
                  <a:t>output</a:t>
                </a:r>
                <a:r>
                  <a:rPr lang="en-US" dirty="0">
                    <a:effectLst/>
                  </a:rPr>
                  <a:t>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Given new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lang="ar-AE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,</m:t>
                    </m:r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dirty="0">
                    <a:effectLst/>
                  </a:rPr>
                  <a:t>, </a:t>
                </a:r>
                <a:r>
                  <a:rPr lang="en-US" dirty="0">
                    <a:effectLst/>
                  </a:rPr>
                  <a:t>what do we expect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𝑌</m:t>
                    </m:r>
                  </m:oMath>
                </a14:m>
                <a:r>
                  <a:rPr lang="en-US" dirty="0">
                    <a:effectLst/>
                  </a:rPr>
                  <a:t>to be?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How accurate can we be?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How much uncertainty remains?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What happens when the model is wrong?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You can say: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“Prediction is about learning what will happen next.”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This is the OA3103 → OA4106 bridge.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3. Prediction</a:t>
                </a:r>
              </a:p>
              <a:p>
                <a:r>
                  <a:rPr lang="en-US" dirty="0">
                    <a:effectLst/>
                  </a:rPr>
                  <a:t>Prediction is about the </a:t>
                </a:r>
                <a:r>
                  <a:rPr lang="en-US" b="1" dirty="0">
                    <a:effectLst/>
                  </a:rPr>
                  <a:t>output</a:t>
                </a:r>
                <a:r>
                  <a:rPr lang="en-US" dirty="0">
                    <a:effectLst/>
                  </a:rPr>
                  <a:t>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Given new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𝑥_1,𝑥_2</a:t>
                </a:r>
                <a:r>
                  <a:rPr lang="ar-AE" dirty="0">
                    <a:effectLst/>
                  </a:rPr>
                  <a:t>, </a:t>
                </a:r>
                <a:r>
                  <a:rPr lang="en-US" dirty="0">
                    <a:effectLst/>
                  </a:rPr>
                  <a:t>what do we expect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𝑌</a:t>
                </a:r>
                <a:r>
                  <a:rPr lang="en-US" dirty="0">
                    <a:effectLst/>
                  </a:rPr>
                  <a:t>to be?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How accurate can we be?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How much uncertainty remains?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What happens when the model is wrong?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You can say: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“Prediction is about learning what will happen next.”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This is the OA3103 → OA4106 bridge.</a:t>
                </a:r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A2BE5-3065-486E-BA5C-8603D95DB20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061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C12CA-0D7C-EEF6-64EA-34114BD9DF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BDFB00-DB84-FC9E-A9A2-EEF084786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F7527-D551-9689-D132-D720ED72B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F402D-3098-0E96-5C3F-CF468B431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04D43B-4992-F232-201B-4A285C07F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340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1F83B-D189-3EF4-33BE-E29D48DEC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27E11-EA7E-1641-F731-0488EEB45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F2495-9028-D65B-D1B5-335FD58E7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D9D02-9F72-DDAC-139E-B86F6C277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C9339-29D7-3E7A-53CC-1EBEF2315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956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1505F-B716-FEFD-2008-BEBA90C2D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E39AB5-BD86-2D86-B52E-3B625648D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446D1-6CCD-BA09-4C46-4E615CE11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D6BE1-3FE1-B7C7-BA88-00E876297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B7A80-A7F8-C4EB-B8F4-B0D293901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66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F7A63-3371-B23F-C731-8952D928F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01336-A053-1BD6-B6FA-7326F0C0F8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CB3DAA-C1FC-DBCB-A833-3A2993FBCA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F2702-0226-D78D-C776-1DF1A390C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55A0D-1EAB-9DB6-7108-CEF2A16B4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F6CCA-46D3-621F-3016-014BB229D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12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F47BE-4D8E-DEF6-744B-FA7AE03A1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FC4606-6B70-A571-B197-75D687F42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EF0E0F-8ECE-2FAB-74E2-65A24390E5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4AA9EC-1D4A-E085-C46D-30B98ED439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7E5009-59CB-F38C-0623-27BECE2BD2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86733C-AFBB-85EF-4222-DBD3361B5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149AD6-6630-333F-A96A-C7E2929C9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C4541F-45D6-9B54-F1CB-FA2E7F05F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175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3F6BC-8954-56F9-41A0-306CAAFE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42D1A-3278-D46C-6E75-F69EF40CC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807279-CEA9-EED1-D617-803C54C49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903BF2-8BE4-5012-2C9E-873D3D384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985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D8D84A-FBAE-7E41-7897-8F1C712F5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8F697B-C615-DBB0-3CA4-3E3E75C12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7C8427-D077-C2AE-15C1-F26F60F7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485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4F299-6611-191B-8686-3465A6A03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4EE03-EB43-FB99-1E97-CF34BD89D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C8ADA9-AA2A-EE5C-5B34-19964AF587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279DA1-E53F-CAA5-C1E2-641DDF51B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6D01CC-A341-ECBA-196E-ED15EB6DF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2B4F45-41C2-ADE7-B93C-816FB5B7A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473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1110F-29C3-1291-8E10-1875CE7D6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608B64-6FDA-0F1D-3FEF-802835BF4C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E57A4A-22B8-0BB2-A130-29C4221739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65434E-6357-C812-BC9F-EBF5FE039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7DE148-A8C0-B255-95D0-094A292B4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EF9C46-4462-1A28-4C71-524D3EBD5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718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64AE5-08FF-5556-B5B0-1C8E21021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DA74CE-E508-0B59-FF58-49A4B3684D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ABF47-FC4D-CF64-E033-47C21C99B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E1075-DD6D-FB6A-2339-154454501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64301-4B63-6C54-37CC-B182C3124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4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33D762-E8C1-81D7-68E9-7F684B4578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33C2F3-B9B3-E03B-397A-B050203B22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7B85E-F91F-19F7-AA99-D8CD07328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775FA-2848-FBFF-58AE-988E6B0B9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17C1D-5317-8D0A-018E-BADA23F41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300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087170-D830-A5A2-569E-67BA90D8C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DAE393-E4B2-2568-BD5E-90EF701CC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D1B4F-3347-3A0C-C603-7D8D4A41E6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42205C-08AB-4CDE-80BE-CAB293A004AA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4C756-6C9A-6C35-A32A-8195D986EA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4FE98-31E2-209C-D456-77E24D6D0E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745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12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11" Type="http://schemas.openxmlformats.org/officeDocument/2006/relationships/image" Target="../media/image4.png"/><Relationship Id="rId10" Type="http://schemas.openxmlformats.org/officeDocument/2006/relationships/image" Target="../media/image9.png"/><Relationship Id="rId9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8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12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11" Type="http://schemas.openxmlformats.org/officeDocument/2006/relationships/image" Target="../media/image4.png"/><Relationship Id="rId10" Type="http://schemas.openxmlformats.org/officeDocument/2006/relationships/image" Target="../media/image9.pn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30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jpe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D3093-5636-E755-B337-88CF6480D1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50290"/>
            <a:ext cx="9144000" cy="1207008"/>
          </a:xfrm>
        </p:spPr>
        <p:txBody>
          <a:bodyPr>
            <a:normAutofit/>
          </a:bodyPr>
          <a:lstStyle/>
          <a:p>
            <a:r>
              <a:rPr lang="en-US" dirty="0"/>
              <a:t>OA3103: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EDF0DC-F1F7-3BF2-7975-74E1D39E7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6528" y="4983098"/>
            <a:ext cx="9144000" cy="649224"/>
          </a:xfrm>
        </p:spPr>
        <p:txBody>
          <a:bodyPr/>
          <a:lstStyle/>
          <a:p>
            <a:r>
              <a:rPr lang="en-US" dirty="0"/>
              <a:t>CDR Paolo “</a:t>
            </a:r>
            <a:r>
              <a:rPr lang="en-US" dirty="0" err="1"/>
              <a:t>Schwarma</a:t>
            </a:r>
            <a:r>
              <a:rPr lang="en-US" dirty="0"/>
              <a:t>” Singh, USN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0977E1-8760-696B-0AC4-BF4C6883D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375" y="3557778"/>
            <a:ext cx="3143250" cy="1085850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85A3DFF2-5271-B3AC-C1A3-02FF4404C02C}"/>
              </a:ext>
            </a:extLst>
          </p:cNvPr>
          <p:cNvSpPr txBox="1">
            <a:spLocks/>
          </p:cNvSpPr>
          <p:nvPr/>
        </p:nvSpPr>
        <p:spPr>
          <a:xfrm>
            <a:off x="1533144" y="4983098"/>
            <a:ext cx="9144000" cy="6492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CDR Paolo “</a:t>
            </a:r>
            <a:r>
              <a:rPr lang="en-US" dirty="0" err="1"/>
              <a:t>Schwarma</a:t>
            </a:r>
            <a:r>
              <a:rPr lang="en-US" dirty="0"/>
              <a:t>” Singh, USN, PhD</a:t>
            </a:r>
          </a:p>
        </p:txBody>
      </p:sp>
    </p:spTree>
    <p:extLst>
      <p:ext uri="{BB962C8B-B14F-4D97-AF65-F5344CB8AC3E}">
        <p14:creationId xmlns:p14="http://schemas.microsoft.com/office/powerpoint/2010/main" val="2509117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5BF72-E4B3-9738-0947-A8D968CB5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Welcome to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E258A-984F-B0BA-05EA-007E83A91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Statistical modeling (statistical learning) class</a:t>
            </a:r>
          </a:p>
          <a:p>
            <a:r>
              <a:rPr lang="en-US" dirty="0"/>
              <a:t>Bridges what you learned in OA3101/3102</a:t>
            </a:r>
          </a:p>
          <a:p>
            <a:r>
              <a:rPr lang="en-US" dirty="0"/>
              <a:t>Tools for advanced methods leading to Machine Learning (OA4106/4118)</a:t>
            </a:r>
          </a:p>
        </p:txBody>
      </p:sp>
    </p:spTree>
    <p:extLst>
      <p:ext uri="{BB962C8B-B14F-4D97-AF65-F5344CB8AC3E}">
        <p14:creationId xmlns:p14="http://schemas.microsoft.com/office/powerpoint/2010/main" val="3391539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FA750-75BA-8BAC-5CDC-BACB6A0D8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F007A-471D-4445-329F-C75D5A7E9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data?</a:t>
            </a:r>
          </a:p>
          <a:p>
            <a:r>
              <a:rPr lang="en-US" dirty="0"/>
              <a:t>Examples?</a:t>
            </a:r>
          </a:p>
          <a:p>
            <a:endParaRPr lang="en-US" dirty="0"/>
          </a:p>
          <a:p>
            <a:r>
              <a:rPr lang="en-US" dirty="0"/>
              <a:t>Input vs Output (response) variables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F9F2C0-14F6-1B09-5F1A-CF8C03178023}"/>
                  </a:ext>
                </a:extLst>
              </p:cNvPr>
              <p:cNvSpPr txBox="1"/>
              <p:nvPr/>
            </p:nvSpPr>
            <p:spPr>
              <a:xfrm>
                <a:off x="3503335" y="4389120"/>
                <a:ext cx="457997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F9F2C0-14F6-1B09-5F1A-CF8C03178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335" y="4389120"/>
                <a:ext cx="4579972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40549B3-C0D4-A630-17CB-89D5DA302346}"/>
                  </a:ext>
                </a:extLst>
              </p:cNvPr>
              <p:cNvSpPr txBox="1"/>
              <p:nvPr/>
            </p:nvSpPr>
            <p:spPr>
              <a:xfrm>
                <a:off x="3503335" y="4389120"/>
                <a:ext cx="518533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40549B3-C0D4-A630-17CB-89D5DA302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335" y="4389120"/>
                <a:ext cx="5185330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4742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073CC-FD65-A37C-795E-DA3BAD122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 vs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C95FB-3A4B-F96E-2667-F87AD0531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far we’ve probably done a lot with </a:t>
            </a:r>
            <a:r>
              <a:rPr lang="en-US" i="1" dirty="0"/>
              <a:t>inference</a:t>
            </a:r>
          </a:p>
          <a:p>
            <a:r>
              <a:rPr lang="en-US" dirty="0"/>
              <a:t>Given input variables/parameters, what can we say about certain parameters and their effect on the output?</a:t>
            </a:r>
          </a:p>
          <a:p>
            <a:r>
              <a:rPr lang="en-US" dirty="0"/>
              <a:t>Examples?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3243A3-9C31-51C4-B4D9-632BFD325C56}"/>
                  </a:ext>
                </a:extLst>
              </p:cNvPr>
              <p:cNvSpPr txBox="1"/>
              <p:nvPr/>
            </p:nvSpPr>
            <p:spPr>
              <a:xfrm>
                <a:off x="3503335" y="4389120"/>
                <a:ext cx="518533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3243A3-9C31-51C4-B4D9-632BFD325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335" y="4389120"/>
                <a:ext cx="5185330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5658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ED0F2-EE9E-B7D8-4A51-9AE06B069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DA187-DB15-F177-D568-410DB10C5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input variables, what can we expect the output variable to be?</a:t>
            </a:r>
          </a:p>
          <a:p>
            <a:r>
              <a:rPr lang="en-US" dirty="0"/>
              <a:t>Examples?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6547894-197D-0C63-1858-ED587B33307E}"/>
                  </a:ext>
                </a:extLst>
              </p:cNvPr>
              <p:cNvSpPr txBox="1"/>
              <p:nvPr/>
            </p:nvSpPr>
            <p:spPr>
              <a:xfrm>
                <a:off x="3503335" y="4389120"/>
                <a:ext cx="518533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6547894-197D-0C63-1858-ED587B3330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335" y="4389120"/>
                <a:ext cx="5185330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0042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3DF61C1-3FAF-4E4F-A5D2-82C00051BD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7885" y="1360273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Regression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BFF5BD0-1083-D148-924A-5D5CF3976E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5121" y="1371028"/>
            <a:ext cx="5181600" cy="51132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Classification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C5CF0E9-4AB1-BB40-9845-D740E9F3C69A}"/>
              </a:ext>
            </a:extLst>
          </p:cNvPr>
          <p:cNvSpPr/>
          <p:nvPr/>
        </p:nvSpPr>
        <p:spPr>
          <a:xfrm>
            <a:off x="1458097" y="4283106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0109813-B4F8-724F-870C-6DF587F909FD}"/>
              </a:ext>
            </a:extLst>
          </p:cNvPr>
          <p:cNvSpPr/>
          <p:nvPr/>
        </p:nvSpPr>
        <p:spPr>
          <a:xfrm>
            <a:off x="2129481" y="4583787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33A3995-70BF-4540-9EAF-1A4FB8037442}"/>
              </a:ext>
            </a:extLst>
          </p:cNvPr>
          <p:cNvSpPr/>
          <p:nvPr/>
        </p:nvSpPr>
        <p:spPr>
          <a:xfrm>
            <a:off x="1849394" y="4008963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58AB4BC-E8D5-A443-8A34-9097F2A4275B}"/>
              </a:ext>
            </a:extLst>
          </p:cNvPr>
          <p:cNvSpPr/>
          <p:nvPr/>
        </p:nvSpPr>
        <p:spPr>
          <a:xfrm>
            <a:off x="2919869" y="4335484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70A721C-38B6-484C-BC50-C1BEBB1A6BF6}"/>
              </a:ext>
            </a:extLst>
          </p:cNvPr>
          <p:cNvSpPr/>
          <p:nvPr/>
        </p:nvSpPr>
        <p:spPr>
          <a:xfrm>
            <a:off x="2473692" y="3413123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C17AF8E-E8E0-044A-B646-CCD98CF57FB3}"/>
              </a:ext>
            </a:extLst>
          </p:cNvPr>
          <p:cNvSpPr/>
          <p:nvPr/>
        </p:nvSpPr>
        <p:spPr>
          <a:xfrm>
            <a:off x="3636700" y="3377220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407E13C-ED69-C44B-A6F6-D03CF6143735}"/>
              </a:ext>
            </a:extLst>
          </p:cNvPr>
          <p:cNvSpPr/>
          <p:nvPr/>
        </p:nvSpPr>
        <p:spPr>
          <a:xfrm>
            <a:off x="3120057" y="3680301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7F8AE1E-4A47-6248-910C-9C17DBB537C7}"/>
              </a:ext>
            </a:extLst>
          </p:cNvPr>
          <p:cNvSpPr/>
          <p:nvPr/>
        </p:nvSpPr>
        <p:spPr>
          <a:xfrm>
            <a:off x="7126030" y="3211526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EABFA93-1A6B-7444-B65B-BFFEBD12C403}"/>
              </a:ext>
            </a:extLst>
          </p:cNvPr>
          <p:cNvSpPr/>
          <p:nvPr/>
        </p:nvSpPr>
        <p:spPr>
          <a:xfrm>
            <a:off x="7750494" y="3483564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0CD70F8-6615-9246-9A1C-58347C89184B}"/>
              </a:ext>
            </a:extLst>
          </p:cNvPr>
          <p:cNvSpPr/>
          <p:nvPr/>
        </p:nvSpPr>
        <p:spPr>
          <a:xfrm>
            <a:off x="6723549" y="3540538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AF6BC07-B513-C342-AB6F-52A756B8B692}"/>
              </a:ext>
            </a:extLst>
          </p:cNvPr>
          <p:cNvSpPr/>
          <p:nvPr/>
        </p:nvSpPr>
        <p:spPr>
          <a:xfrm>
            <a:off x="7552331" y="3182607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88DDFFD-29AF-A643-B71E-195B5716340E}"/>
              </a:ext>
            </a:extLst>
          </p:cNvPr>
          <p:cNvSpPr/>
          <p:nvPr/>
        </p:nvSpPr>
        <p:spPr>
          <a:xfrm>
            <a:off x="7182222" y="3645294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2287D9A-1198-7448-8033-F8271888D186}"/>
              </a:ext>
            </a:extLst>
          </p:cNvPr>
          <p:cNvSpPr/>
          <p:nvPr/>
        </p:nvSpPr>
        <p:spPr>
          <a:xfrm>
            <a:off x="6723549" y="4031622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DE917CA-B1A9-5047-B255-56AC7FCE3E1A}"/>
              </a:ext>
            </a:extLst>
          </p:cNvPr>
          <p:cNvSpPr/>
          <p:nvPr/>
        </p:nvSpPr>
        <p:spPr>
          <a:xfrm>
            <a:off x="7175457" y="4031622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EF429DD-9A8C-D746-933E-89EBDACE8B22}"/>
              </a:ext>
            </a:extLst>
          </p:cNvPr>
          <p:cNvSpPr/>
          <p:nvPr/>
        </p:nvSpPr>
        <p:spPr>
          <a:xfrm>
            <a:off x="7656777" y="3972215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F69059F-263A-ED45-8001-4116A5EEDC14}"/>
              </a:ext>
            </a:extLst>
          </p:cNvPr>
          <p:cNvSpPr/>
          <p:nvPr/>
        </p:nvSpPr>
        <p:spPr>
          <a:xfrm>
            <a:off x="8725921" y="3898966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0D80874-4D63-9E4A-AE2F-60C01DE11D6E}"/>
              </a:ext>
            </a:extLst>
          </p:cNvPr>
          <p:cNvSpPr/>
          <p:nvPr/>
        </p:nvSpPr>
        <p:spPr>
          <a:xfrm>
            <a:off x="9509305" y="4188756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9E2D14F-E262-3745-9413-0BB60A1838C1}"/>
              </a:ext>
            </a:extLst>
          </p:cNvPr>
          <p:cNvSpPr/>
          <p:nvPr/>
        </p:nvSpPr>
        <p:spPr>
          <a:xfrm>
            <a:off x="8531787" y="4088353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85BF48A-AFD7-0443-8464-E3160B101BCF}"/>
              </a:ext>
            </a:extLst>
          </p:cNvPr>
          <p:cNvSpPr/>
          <p:nvPr/>
        </p:nvSpPr>
        <p:spPr>
          <a:xfrm>
            <a:off x="9215201" y="3926866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5530F0F-5126-FA46-9386-952144D2AC56}"/>
              </a:ext>
            </a:extLst>
          </p:cNvPr>
          <p:cNvSpPr/>
          <p:nvPr/>
        </p:nvSpPr>
        <p:spPr>
          <a:xfrm>
            <a:off x="8990460" y="4193109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58412DF-842A-4E47-8331-E20EE19E8736}"/>
              </a:ext>
            </a:extLst>
          </p:cNvPr>
          <p:cNvSpPr/>
          <p:nvPr/>
        </p:nvSpPr>
        <p:spPr>
          <a:xfrm>
            <a:off x="8339216" y="4530584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A1288E7-12CA-DE4D-B7F5-247B9FABD78C}"/>
              </a:ext>
            </a:extLst>
          </p:cNvPr>
          <p:cNvSpPr/>
          <p:nvPr/>
        </p:nvSpPr>
        <p:spPr>
          <a:xfrm>
            <a:off x="8798002" y="4567655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8975E5F-2433-3747-BBD3-EB16A5E248DD}"/>
              </a:ext>
            </a:extLst>
          </p:cNvPr>
          <p:cNvSpPr/>
          <p:nvPr/>
        </p:nvSpPr>
        <p:spPr>
          <a:xfrm>
            <a:off x="9145317" y="4628885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A86E760-0F21-D442-BBE9-7F61A97CD239}"/>
              </a:ext>
            </a:extLst>
          </p:cNvPr>
          <p:cNvCxnSpPr/>
          <p:nvPr/>
        </p:nvCxnSpPr>
        <p:spPr>
          <a:xfrm>
            <a:off x="838200" y="2436342"/>
            <a:ext cx="0" cy="271243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306B7F0-DD67-C640-BF0A-00F98496FF46}"/>
              </a:ext>
            </a:extLst>
          </p:cNvPr>
          <p:cNvCxnSpPr>
            <a:cxnSpLocks/>
          </p:cNvCxnSpPr>
          <p:nvPr/>
        </p:nvCxnSpPr>
        <p:spPr>
          <a:xfrm flipH="1">
            <a:off x="835869" y="5148775"/>
            <a:ext cx="318368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499428-8369-2A43-955A-24D03A4737C1}"/>
                  </a:ext>
                </a:extLst>
              </p:cNvPr>
              <p:cNvSpPr txBox="1"/>
              <p:nvPr/>
            </p:nvSpPr>
            <p:spPr>
              <a:xfrm>
                <a:off x="610796" y="2301405"/>
                <a:ext cx="1867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499428-8369-2A43-955A-24D03A4737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796" y="2301405"/>
                <a:ext cx="186718" cy="276999"/>
              </a:xfrm>
              <a:prstGeom prst="rect">
                <a:avLst/>
              </a:prstGeom>
              <a:blipFill>
                <a:blip r:embed="rId2"/>
                <a:stretch>
                  <a:fillRect l="-33333" r="-33333"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1CA235-AE8C-3C4C-9527-44DE61619606}"/>
                  </a:ext>
                </a:extLst>
              </p:cNvPr>
              <p:cNvSpPr txBox="1"/>
              <p:nvPr/>
            </p:nvSpPr>
            <p:spPr>
              <a:xfrm>
                <a:off x="3927427" y="5154519"/>
                <a:ext cx="1833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1CA235-AE8C-3C4C-9527-44DE61619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7427" y="5154519"/>
                <a:ext cx="183319" cy="276999"/>
              </a:xfrm>
              <a:prstGeom prst="rect">
                <a:avLst/>
              </a:prstGeom>
              <a:blipFill>
                <a:blip r:embed="rId3"/>
                <a:stretch>
                  <a:fillRect l="-20000" r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14BD9FE-2BF2-D44D-A17A-6135B7B1C54D}"/>
              </a:ext>
            </a:extLst>
          </p:cNvPr>
          <p:cNvCxnSpPr/>
          <p:nvPr/>
        </p:nvCxnSpPr>
        <p:spPr>
          <a:xfrm>
            <a:off x="6548119" y="2404531"/>
            <a:ext cx="0" cy="271243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978B127-888E-E54B-B799-92A6460708A0}"/>
              </a:ext>
            </a:extLst>
          </p:cNvPr>
          <p:cNvCxnSpPr>
            <a:cxnSpLocks/>
          </p:cNvCxnSpPr>
          <p:nvPr/>
        </p:nvCxnSpPr>
        <p:spPr>
          <a:xfrm flipH="1">
            <a:off x="6545788" y="5116964"/>
            <a:ext cx="3252262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4D05CA7-0305-1F44-9D15-136BDD90443F}"/>
                  </a:ext>
                </a:extLst>
              </p:cNvPr>
              <p:cNvSpPr txBox="1"/>
              <p:nvPr/>
            </p:nvSpPr>
            <p:spPr>
              <a:xfrm>
                <a:off x="6208916" y="2260288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4D05CA7-0305-1F44-9D15-136BDD904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8916" y="2260288"/>
                <a:ext cx="281423" cy="276999"/>
              </a:xfrm>
              <a:prstGeom prst="rect">
                <a:avLst/>
              </a:prstGeom>
              <a:blipFill>
                <a:blip r:embed="rId9"/>
                <a:stretch>
                  <a:fillRect l="-13043" r="-4348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24AC2FC-01BD-2649-A0CF-B760065758BD}"/>
                  </a:ext>
                </a:extLst>
              </p:cNvPr>
              <p:cNvSpPr txBox="1"/>
              <p:nvPr/>
            </p:nvSpPr>
            <p:spPr>
              <a:xfrm>
                <a:off x="9660153" y="5121670"/>
                <a:ext cx="276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24AC2FC-01BD-2649-A0CF-B760065758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153" y="5121670"/>
                <a:ext cx="276101" cy="276999"/>
              </a:xfrm>
              <a:prstGeom prst="rect">
                <a:avLst/>
              </a:prstGeom>
              <a:blipFill>
                <a:blip r:embed="rId10"/>
                <a:stretch>
                  <a:fillRect l="-13043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2B662BA-1632-9246-B0BC-DFAFE51D5C9F}"/>
                  </a:ext>
                </a:extLst>
              </p:cNvPr>
              <p:cNvSpPr txBox="1"/>
              <p:nvPr/>
            </p:nvSpPr>
            <p:spPr>
              <a:xfrm>
                <a:off x="10835915" y="3159755"/>
                <a:ext cx="1867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2B662BA-1632-9246-B0BC-DFAFE51D5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5915" y="3159755"/>
                <a:ext cx="186718" cy="276999"/>
              </a:xfrm>
              <a:prstGeom prst="rect">
                <a:avLst/>
              </a:prstGeom>
              <a:blipFill>
                <a:blip r:embed="rId11"/>
                <a:stretch>
                  <a:fillRect l="-33333" r="-33333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A7A5C1-9092-4D49-AAA6-FF78198EC801}"/>
                  </a:ext>
                </a:extLst>
              </p:cNvPr>
              <p:cNvSpPr txBox="1"/>
              <p:nvPr/>
            </p:nvSpPr>
            <p:spPr>
              <a:xfrm>
                <a:off x="10646343" y="3477161"/>
                <a:ext cx="5658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A7A5C1-9092-4D49-AAA6-FF78198EC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6343" y="3477161"/>
                <a:ext cx="565861" cy="276999"/>
              </a:xfrm>
              <a:prstGeom prst="rect">
                <a:avLst/>
              </a:prstGeom>
              <a:blipFill>
                <a:blip r:embed="rId12"/>
                <a:stretch>
                  <a:fillRect l="-8889" t="-4348" r="-8889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312773A9-FD3B-7E73-6F48-9B738741A460}"/>
              </a:ext>
            </a:extLst>
          </p:cNvPr>
          <p:cNvSpPr/>
          <p:nvPr/>
        </p:nvSpPr>
        <p:spPr>
          <a:xfrm>
            <a:off x="3434484" y="3032481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F18D990-4D8B-E1C5-4D63-5D84B1B7B5A3}"/>
              </a:ext>
            </a:extLst>
          </p:cNvPr>
          <p:cNvSpPr txBox="1">
            <a:spLocks/>
          </p:cNvSpPr>
          <p:nvPr/>
        </p:nvSpPr>
        <p:spPr>
          <a:xfrm>
            <a:off x="610796" y="16180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Regression and Classification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96C5B4-D3DE-2823-ABCA-425B476BDD9F}"/>
              </a:ext>
            </a:extLst>
          </p:cNvPr>
          <p:cNvSpPr txBox="1"/>
          <p:nvPr/>
        </p:nvSpPr>
        <p:spPr>
          <a:xfrm>
            <a:off x="4331620" y="6525468"/>
            <a:ext cx="7772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Source: </a:t>
            </a:r>
            <a:r>
              <a:rPr lang="en-US" sz="1400" i="1" dirty="0"/>
              <a:t>An Intro to Spectral Convolution Neural Networks </a:t>
            </a:r>
            <a:r>
              <a:rPr lang="en-US" sz="1400" dirty="0"/>
              <a:t>by Dr. Patrick McClure</a:t>
            </a:r>
          </a:p>
        </p:txBody>
      </p:sp>
    </p:spTree>
    <p:extLst>
      <p:ext uri="{BB962C8B-B14F-4D97-AF65-F5344CB8AC3E}">
        <p14:creationId xmlns:p14="http://schemas.microsoft.com/office/powerpoint/2010/main" val="2185756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1" grpId="0" build="p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10" grpId="0"/>
      <p:bldP spid="57" grpId="0"/>
      <p:bldP spid="60" grpId="0"/>
      <p:bldP spid="61" grpId="0"/>
      <p:bldP spid="62" grpId="0"/>
      <p:bldP spid="6" grpId="0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FECFD-ABA9-3646-9837-F7AE86EB8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Model: Linear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3DF61C1-3FAF-4E4F-A5D2-82C00051BD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7885" y="1360273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Regression</a:t>
            </a:r>
          </a:p>
          <a:p>
            <a:pPr marL="0" indent="0">
              <a:buNone/>
            </a:pPr>
            <a:r>
              <a:rPr lang="en-US" sz="1800" dirty="0"/>
              <a:t>Linear Regression Model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BFF5BD0-1083-D148-924A-5D5CF3976E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5121" y="1371028"/>
            <a:ext cx="5181600" cy="47983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Classification</a:t>
            </a:r>
          </a:p>
          <a:p>
            <a:pPr marL="0" indent="0">
              <a:buNone/>
            </a:pPr>
            <a:r>
              <a:rPr lang="en-US" sz="1800" dirty="0"/>
              <a:t>Logistic Regression Model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75BC113-5097-6F4E-B3FB-5F43AE0161FA}"/>
              </a:ext>
            </a:extLst>
          </p:cNvPr>
          <p:cNvCxnSpPr>
            <a:cxnSpLocks/>
          </p:cNvCxnSpPr>
          <p:nvPr/>
        </p:nvCxnSpPr>
        <p:spPr>
          <a:xfrm flipV="1">
            <a:off x="1262726" y="3107570"/>
            <a:ext cx="2529911" cy="1769166"/>
          </a:xfrm>
          <a:prstGeom prst="line">
            <a:avLst/>
          </a:prstGeom>
          <a:ln w="22225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AC5CF0E9-4AB1-BB40-9845-D740E9F3C69A}"/>
              </a:ext>
            </a:extLst>
          </p:cNvPr>
          <p:cNvSpPr/>
          <p:nvPr/>
        </p:nvSpPr>
        <p:spPr>
          <a:xfrm>
            <a:off x="1458097" y="4283106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0109813-B4F8-724F-870C-6DF587F909FD}"/>
              </a:ext>
            </a:extLst>
          </p:cNvPr>
          <p:cNvSpPr/>
          <p:nvPr/>
        </p:nvSpPr>
        <p:spPr>
          <a:xfrm>
            <a:off x="2129481" y="4583787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33A3995-70BF-4540-9EAF-1A4FB8037442}"/>
              </a:ext>
            </a:extLst>
          </p:cNvPr>
          <p:cNvSpPr/>
          <p:nvPr/>
        </p:nvSpPr>
        <p:spPr>
          <a:xfrm>
            <a:off x="1849394" y="4008963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58AB4BC-E8D5-A443-8A34-9097F2A4275B}"/>
              </a:ext>
            </a:extLst>
          </p:cNvPr>
          <p:cNvSpPr/>
          <p:nvPr/>
        </p:nvSpPr>
        <p:spPr>
          <a:xfrm>
            <a:off x="2919869" y="4335484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70A721C-38B6-484C-BC50-C1BEBB1A6BF6}"/>
              </a:ext>
            </a:extLst>
          </p:cNvPr>
          <p:cNvSpPr/>
          <p:nvPr/>
        </p:nvSpPr>
        <p:spPr>
          <a:xfrm>
            <a:off x="2473692" y="3413123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C17AF8E-E8E0-044A-B646-CCD98CF57FB3}"/>
              </a:ext>
            </a:extLst>
          </p:cNvPr>
          <p:cNvSpPr/>
          <p:nvPr/>
        </p:nvSpPr>
        <p:spPr>
          <a:xfrm>
            <a:off x="3636700" y="3377220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727FBAA-9D5A-3841-ABA3-27A2E0618766}"/>
              </a:ext>
            </a:extLst>
          </p:cNvPr>
          <p:cNvSpPr/>
          <p:nvPr/>
        </p:nvSpPr>
        <p:spPr>
          <a:xfrm>
            <a:off x="3055196" y="3308367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407E13C-ED69-C44B-A6F6-D03CF6143735}"/>
              </a:ext>
            </a:extLst>
          </p:cNvPr>
          <p:cNvSpPr/>
          <p:nvPr/>
        </p:nvSpPr>
        <p:spPr>
          <a:xfrm>
            <a:off x="3120057" y="3680301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E1C5AB2-93D2-C34B-9A64-E1C8ED21B591}"/>
                  </a:ext>
                </a:extLst>
              </p:cNvPr>
              <p:cNvSpPr txBox="1"/>
              <p:nvPr/>
            </p:nvSpPr>
            <p:spPr>
              <a:xfrm>
                <a:off x="1730072" y="5513131"/>
                <a:ext cx="11942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𝑤𝑥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E1C5AB2-93D2-C34B-9A64-E1C8ED21B5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0072" y="5513131"/>
                <a:ext cx="1194238" cy="276999"/>
              </a:xfrm>
              <a:prstGeom prst="rect">
                <a:avLst/>
              </a:prstGeom>
              <a:blipFill>
                <a:blip r:embed="rId2"/>
                <a:stretch>
                  <a:fillRect l="-4211" t="-8333" r="-4211" b="-20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Oval 28">
            <a:extLst>
              <a:ext uri="{FF2B5EF4-FFF2-40B4-BE49-F238E27FC236}">
                <a16:creationId xmlns:a16="http://schemas.microsoft.com/office/drawing/2014/main" id="{57F8AE1E-4A47-6248-910C-9C17DBB537C7}"/>
              </a:ext>
            </a:extLst>
          </p:cNvPr>
          <p:cNvSpPr/>
          <p:nvPr/>
        </p:nvSpPr>
        <p:spPr>
          <a:xfrm>
            <a:off x="7126030" y="3211526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EABFA93-1A6B-7444-B65B-BFFEBD12C403}"/>
              </a:ext>
            </a:extLst>
          </p:cNvPr>
          <p:cNvSpPr/>
          <p:nvPr/>
        </p:nvSpPr>
        <p:spPr>
          <a:xfrm>
            <a:off x="7750494" y="3483564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0CD70F8-6615-9246-9A1C-58347C89184B}"/>
              </a:ext>
            </a:extLst>
          </p:cNvPr>
          <p:cNvSpPr/>
          <p:nvPr/>
        </p:nvSpPr>
        <p:spPr>
          <a:xfrm>
            <a:off x="6723549" y="3540538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AF6BC07-B513-C342-AB6F-52A756B8B692}"/>
              </a:ext>
            </a:extLst>
          </p:cNvPr>
          <p:cNvSpPr/>
          <p:nvPr/>
        </p:nvSpPr>
        <p:spPr>
          <a:xfrm>
            <a:off x="7552331" y="3182607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88DDFFD-29AF-A643-B71E-195B5716340E}"/>
              </a:ext>
            </a:extLst>
          </p:cNvPr>
          <p:cNvSpPr/>
          <p:nvPr/>
        </p:nvSpPr>
        <p:spPr>
          <a:xfrm>
            <a:off x="7182222" y="3645294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2287D9A-1198-7448-8033-F8271888D186}"/>
              </a:ext>
            </a:extLst>
          </p:cNvPr>
          <p:cNvSpPr/>
          <p:nvPr/>
        </p:nvSpPr>
        <p:spPr>
          <a:xfrm>
            <a:off x="6723549" y="4031622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DE917CA-B1A9-5047-B255-56AC7FCE3E1A}"/>
              </a:ext>
            </a:extLst>
          </p:cNvPr>
          <p:cNvSpPr/>
          <p:nvPr/>
        </p:nvSpPr>
        <p:spPr>
          <a:xfrm>
            <a:off x="7175457" y="4031622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EF429DD-9A8C-D746-933E-89EBDACE8B22}"/>
              </a:ext>
            </a:extLst>
          </p:cNvPr>
          <p:cNvSpPr/>
          <p:nvPr/>
        </p:nvSpPr>
        <p:spPr>
          <a:xfrm>
            <a:off x="7656777" y="3972215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F69059F-263A-ED45-8001-4116A5EEDC14}"/>
              </a:ext>
            </a:extLst>
          </p:cNvPr>
          <p:cNvSpPr/>
          <p:nvPr/>
        </p:nvSpPr>
        <p:spPr>
          <a:xfrm>
            <a:off x="8725921" y="3898966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0D80874-4D63-9E4A-AE2F-60C01DE11D6E}"/>
              </a:ext>
            </a:extLst>
          </p:cNvPr>
          <p:cNvSpPr/>
          <p:nvPr/>
        </p:nvSpPr>
        <p:spPr>
          <a:xfrm>
            <a:off x="9509305" y="4188756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9E2D14F-E262-3745-9413-0BB60A1838C1}"/>
              </a:ext>
            </a:extLst>
          </p:cNvPr>
          <p:cNvSpPr/>
          <p:nvPr/>
        </p:nvSpPr>
        <p:spPr>
          <a:xfrm>
            <a:off x="8531787" y="4088353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85BF48A-AFD7-0443-8464-E3160B101BCF}"/>
              </a:ext>
            </a:extLst>
          </p:cNvPr>
          <p:cNvSpPr/>
          <p:nvPr/>
        </p:nvSpPr>
        <p:spPr>
          <a:xfrm>
            <a:off x="9215201" y="3926866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5530F0F-5126-FA46-9386-952144D2AC56}"/>
              </a:ext>
            </a:extLst>
          </p:cNvPr>
          <p:cNvSpPr/>
          <p:nvPr/>
        </p:nvSpPr>
        <p:spPr>
          <a:xfrm>
            <a:off x="8990460" y="4193109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58412DF-842A-4E47-8331-E20EE19E8736}"/>
              </a:ext>
            </a:extLst>
          </p:cNvPr>
          <p:cNvSpPr/>
          <p:nvPr/>
        </p:nvSpPr>
        <p:spPr>
          <a:xfrm>
            <a:off x="8339216" y="4530584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A1288E7-12CA-DE4D-B7F5-247B9FABD78C}"/>
              </a:ext>
            </a:extLst>
          </p:cNvPr>
          <p:cNvSpPr/>
          <p:nvPr/>
        </p:nvSpPr>
        <p:spPr>
          <a:xfrm>
            <a:off x="8798002" y="4567655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8975E5F-2433-3747-BBD3-EB16A5E248DD}"/>
              </a:ext>
            </a:extLst>
          </p:cNvPr>
          <p:cNvSpPr/>
          <p:nvPr/>
        </p:nvSpPr>
        <p:spPr>
          <a:xfrm>
            <a:off x="9145317" y="4628885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749D675-86A8-8340-8C15-7B7C993C753B}"/>
              </a:ext>
            </a:extLst>
          </p:cNvPr>
          <p:cNvCxnSpPr>
            <a:cxnSpLocks/>
          </p:cNvCxnSpPr>
          <p:nvPr/>
        </p:nvCxnSpPr>
        <p:spPr>
          <a:xfrm flipV="1">
            <a:off x="7718198" y="3316282"/>
            <a:ext cx="860997" cy="1364981"/>
          </a:xfrm>
          <a:prstGeom prst="line">
            <a:avLst/>
          </a:prstGeom>
          <a:ln w="22225"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F00FE36A-0C46-9B4B-AB7C-2692820143F9}"/>
                  </a:ext>
                </a:extLst>
              </p:cNvPr>
              <p:cNvSpPr/>
              <p:nvPr/>
            </p:nvSpPr>
            <p:spPr>
              <a:xfrm>
                <a:off x="5570079" y="5336839"/>
                <a:ext cx="6353021" cy="617348"/>
              </a:xfrm>
              <a:prstGeom prst="rect">
                <a:avLst/>
              </a:prstGeom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𝑠𝑖𝑔𝑚𝑜𝑖𝑑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solidFill>
                                <a:schemeClr val="bg2">
                                  <a:lumMod val="50000"/>
                                  <a:alpha val="7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>
                              <a:alpha val="7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tx1">
                                              <a:lumMod val="50000"/>
                                              <a:lumOff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50000"/>
                                              <a:lumOff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50000"/>
                                              <a:lumOff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tx1">
                                              <a:lumMod val="50000"/>
                                              <a:lumOff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50000"/>
                                              <a:lumOff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50000"/>
                                              <a:lumOff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solidFill>
                                    <a:schemeClr val="bg2">
                                      <a:lumMod val="50000"/>
                                      <a:alpha val="7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F00FE36A-0C46-9B4B-AB7C-2692820143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0079" y="5336839"/>
                <a:ext cx="6353021" cy="617348"/>
              </a:xfrm>
              <a:prstGeom prst="rect">
                <a:avLst/>
              </a:prstGeom>
              <a:blipFill>
                <a:blip r:embed="rId3"/>
                <a:stretch>
                  <a:fillRect b="-20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A86E760-0F21-D442-BBE9-7F61A97CD239}"/>
              </a:ext>
            </a:extLst>
          </p:cNvPr>
          <p:cNvCxnSpPr/>
          <p:nvPr/>
        </p:nvCxnSpPr>
        <p:spPr>
          <a:xfrm>
            <a:off x="838200" y="2436342"/>
            <a:ext cx="0" cy="271243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306B7F0-DD67-C640-BF0A-00F98496FF46}"/>
              </a:ext>
            </a:extLst>
          </p:cNvPr>
          <p:cNvCxnSpPr>
            <a:cxnSpLocks/>
          </p:cNvCxnSpPr>
          <p:nvPr/>
        </p:nvCxnSpPr>
        <p:spPr>
          <a:xfrm flipH="1">
            <a:off x="835869" y="5148775"/>
            <a:ext cx="318368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499428-8369-2A43-955A-24D03A4737C1}"/>
                  </a:ext>
                </a:extLst>
              </p:cNvPr>
              <p:cNvSpPr txBox="1"/>
              <p:nvPr/>
            </p:nvSpPr>
            <p:spPr>
              <a:xfrm>
                <a:off x="610796" y="2301405"/>
                <a:ext cx="1867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499428-8369-2A43-955A-24D03A4737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796" y="2301405"/>
                <a:ext cx="186718" cy="276999"/>
              </a:xfrm>
              <a:prstGeom prst="rect">
                <a:avLst/>
              </a:prstGeom>
              <a:blipFill>
                <a:blip r:embed="rId4"/>
                <a:stretch>
                  <a:fillRect l="-33333" r="-33333"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1CA235-AE8C-3C4C-9527-44DE61619606}"/>
                  </a:ext>
                </a:extLst>
              </p:cNvPr>
              <p:cNvSpPr txBox="1"/>
              <p:nvPr/>
            </p:nvSpPr>
            <p:spPr>
              <a:xfrm>
                <a:off x="3927427" y="5154519"/>
                <a:ext cx="1833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1CA235-AE8C-3C4C-9527-44DE61619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7427" y="5154519"/>
                <a:ext cx="183319" cy="276999"/>
              </a:xfrm>
              <a:prstGeom prst="rect">
                <a:avLst/>
              </a:prstGeom>
              <a:blipFill>
                <a:blip r:embed="rId5"/>
                <a:stretch>
                  <a:fillRect l="-20000" r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14BD9FE-2BF2-D44D-A17A-6135B7B1C54D}"/>
              </a:ext>
            </a:extLst>
          </p:cNvPr>
          <p:cNvCxnSpPr/>
          <p:nvPr/>
        </p:nvCxnSpPr>
        <p:spPr>
          <a:xfrm>
            <a:off x="6548119" y="2404531"/>
            <a:ext cx="0" cy="271243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978B127-888E-E54B-B799-92A6460708A0}"/>
              </a:ext>
            </a:extLst>
          </p:cNvPr>
          <p:cNvCxnSpPr>
            <a:cxnSpLocks/>
          </p:cNvCxnSpPr>
          <p:nvPr/>
        </p:nvCxnSpPr>
        <p:spPr>
          <a:xfrm flipH="1">
            <a:off x="6545788" y="5116964"/>
            <a:ext cx="3252262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4D05CA7-0305-1F44-9D15-136BDD90443F}"/>
                  </a:ext>
                </a:extLst>
              </p:cNvPr>
              <p:cNvSpPr txBox="1"/>
              <p:nvPr/>
            </p:nvSpPr>
            <p:spPr>
              <a:xfrm>
                <a:off x="6208916" y="2260288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4D05CA7-0305-1F44-9D15-136BDD904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8916" y="2260288"/>
                <a:ext cx="281423" cy="276999"/>
              </a:xfrm>
              <a:prstGeom prst="rect">
                <a:avLst/>
              </a:prstGeom>
              <a:blipFill>
                <a:blip r:embed="rId6"/>
                <a:stretch>
                  <a:fillRect l="-13043" r="-4348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24AC2FC-01BD-2649-A0CF-B760065758BD}"/>
                  </a:ext>
                </a:extLst>
              </p:cNvPr>
              <p:cNvSpPr txBox="1"/>
              <p:nvPr/>
            </p:nvSpPr>
            <p:spPr>
              <a:xfrm>
                <a:off x="9660153" y="5121670"/>
                <a:ext cx="276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24AC2FC-01BD-2649-A0CF-B760065758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153" y="5121670"/>
                <a:ext cx="276101" cy="276999"/>
              </a:xfrm>
              <a:prstGeom prst="rect">
                <a:avLst/>
              </a:prstGeom>
              <a:blipFill>
                <a:blip r:embed="rId7"/>
                <a:stretch>
                  <a:fillRect l="-13043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CB9DB11-1EC8-D048-A0E7-6E7A20557E05}"/>
                  </a:ext>
                </a:extLst>
              </p:cNvPr>
              <p:cNvSpPr txBox="1"/>
              <p:nvPr/>
            </p:nvSpPr>
            <p:spPr>
              <a:xfrm>
                <a:off x="10835915" y="3159755"/>
                <a:ext cx="1867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CB9DB11-1EC8-D048-A0E7-6E7A20557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5915" y="3159755"/>
                <a:ext cx="186718" cy="276999"/>
              </a:xfrm>
              <a:prstGeom prst="rect">
                <a:avLst/>
              </a:prstGeom>
              <a:blipFill>
                <a:blip r:embed="rId8"/>
                <a:stretch>
                  <a:fillRect l="-33333" r="-33333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F10D8DE5-060F-D443-B8D4-F62BF8987D68}"/>
                  </a:ext>
                </a:extLst>
              </p:cNvPr>
              <p:cNvSpPr txBox="1"/>
              <p:nvPr/>
            </p:nvSpPr>
            <p:spPr>
              <a:xfrm>
                <a:off x="10646343" y="3477161"/>
                <a:ext cx="5658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F10D8DE5-060F-D443-B8D4-F62BF8987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6343" y="3477161"/>
                <a:ext cx="565861" cy="276999"/>
              </a:xfrm>
              <a:prstGeom prst="rect">
                <a:avLst/>
              </a:prstGeom>
              <a:blipFill>
                <a:blip r:embed="rId9"/>
                <a:stretch>
                  <a:fillRect l="-8889" t="-4348" r="-8889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26E098D-0948-E169-9BD9-9BD632928603}"/>
              </a:ext>
            </a:extLst>
          </p:cNvPr>
          <p:cNvSpPr txBox="1"/>
          <p:nvPr/>
        </p:nvSpPr>
        <p:spPr>
          <a:xfrm>
            <a:off x="4331620" y="6525468"/>
            <a:ext cx="7772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Source: </a:t>
            </a:r>
            <a:r>
              <a:rPr lang="en-US" sz="1400" i="1" dirty="0"/>
              <a:t>An Intro to Spectral Convolution Neural Networks </a:t>
            </a:r>
            <a:r>
              <a:rPr lang="en-US" sz="1400" dirty="0"/>
              <a:t>by Dr. Patrick McClure</a:t>
            </a:r>
          </a:p>
        </p:txBody>
      </p:sp>
    </p:spTree>
    <p:extLst>
      <p:ext uri="{BB962C8B-B14F-4D97-AF65-F5344CB8AC3E}">
        <p14:creationId xmlns:p14="http://schemas.microsoft.com/office/powerpoint/2010/main" val="1014361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25" grpId="0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84" grpId="0"/>
      <p:bldP spid="60" grpId="0"/>
      <p:bldP spid="61" grpId="0"/>
      <p:bldP spid="62" grpId="0"/>
      <p:bldP spid="6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B8E15-8512-6921-59FB-DF1D5C2DE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Model: Linear Classification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EE27C24-5721-EFDD-3878-F6E7CB24A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325" y="1673407"/>
            <a:ext cx="9531350" cy="3530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>
            <a:extLst>
              <a:ext uri="{FF2B5EF4-FFF2-40B4-BE49-F238E27FC236}">
                <a16:creationId xmlns:a16="http://schemas.microsoft.com/office/drawing/2014/main" id="{8689B73E-71F3-BB20-DD8B-DECE9027A5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0" y="5629275"/>
            <a:ext cx="8001000" cy="81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F69728-E0BB-7668-85AA-49312FDF91C4}"/>
              </a:ext>
            </a:extLst>
          </p:cNvPr>
          <p:cNvSpPr txBox="1"/>
          <p:nvPr/>
        </p:nvSpPr>
        <p:spPr>
          <a:xfrm>
            <a:off x="9815548" y="2412266"/>
            <a:ext cx="131997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cat logit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6D84E3-53E8-F367-CC45-DA1587277352}"/>
              </a:ext>
            </a:extLst>
          </p:cNvPr>
          <p:cNvSpPr txBox="1"/>
          <p:nvPr/>
        </p:nvSpPr>
        <p:spPr>
          <a:xfrm>
            <a:off x="9815548" y="3054519"/>
            <a:ext cx="131997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dog logit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C80AE2-C3F8-2BF0-77C9-D79FA0CC6CF4}"/>
              </a:ext>
            </a:extLst>
          </p:cNvPr>
          <p:cNvSpPr txBox="1"/>
          <p:nvPr/>
        </p:nvSpPr>
        <p:spPr>
          <a:xfrm>
            <a:off x="9815548" y="3696772"/>
            <a:ext cx="131997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ship logit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233157-5F95-5F06-5A8A-63C40492D051}"/>
              </a:ext>
            </a:extLst>
          </p:cNvPr>
          <p:cNvSpPr txBox="1"/>
          <p:nvPr/>
        </p:nvSpPr>
        <p:spPr>
          <a:xfrm>
            <a:off x="4331620" y="6525468"/>
            <a:ext cx="7772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Source: </a:t>
            </a:r>
            <a:r>
              <a:rPr lang="en-US" sz="1400" i="1" dirty="0"/>
              <a:t>An Intro to Spectral Convolution Neural Networks </a:t>
            </a:r>
            <a:r>
              <a:rPr lang="en-US" sz="1400" dirty="0"/>
              <a:t>by Dr. Patrick McClure</a:t>
            </a:r>
          </a:p>
        </p:txBody>
      </p:sp>
    </p:spTree>
    <p:extLst>
      <p:ext uri="{BB962C8B-B14F-4D97-AF65-F5344CB8AC3E}">
        <p14:creationId xmlns:p14="http://schemas.microsoft.com/office/powerpoint/2010/main" val="527918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FECFD-ABA9-3646-9837-F7AE86EB8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Data: Non-linear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3DF61C1-3FAF-4E4F-A5D2-82C00051BD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7885" y="1360273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Regression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BFF5BD0-1083-D148-924A-5D5CF3976E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5121" y="1371028"/>
            <a:ext cx="5181600" cy="51132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Classification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C5CF0E9-4AB1-BB40-9845-D740E9F3C69A}"/>
              </a:ext>
            </a:extLst>
          </p:cNvPr>
          <p:cNvSpPr/>
          <p:nvPr/>
        </p:nvSpPr>
        <p:spPr>
          <a:xfrm>
            <a:off x="1315309" y="4517490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0109813-B4F8-724F-870C-6DF587F909FD}"/>
              </a:ext>
            </a:extLst>
          </p:cNvPr>
          <p:cNvSpPr/>
          <p:nvPr/>
        </p:nvSpPr>
        <p:spPr>
          <a:xfrm>
            <a:off x="2234533" y="4261452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33A3995-70BF-4540-9EAF-1A4FB8037442}"/>
              </a:ext>
            </a:extLst>
          </p:cNvPr>
          <p:cNvSpPr/>
          <p:nvPr/>
        </p:nvSpPr>
        <p:spPr>
          <a:xfrm>
            <a:off x="1778769" y="4459524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58AB4BC-E8D5-A443-8A34-9097F2A4275B}"/>
              </a:ext>
            </a:extLst>
          </p:cNvPr>
          <p:cNvSpPr/>
          <p:nvPr/>
        </p:nvSpPr>
        <p:spPr>
          <a:xfrm>
            <a:off x="2858006" y="3165586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70A721C-38B6-484C-BC50-C1BEBB1A6BF6}"/>
              </a:ext>
            </a:extLst>
          </p:cNvPr>
          <p:cNvSpPr/>
          <p:nvPr/>
        </p:nvSpPr>
        <p:spPr>
          <a:xfrm>
            <a:off x="2563109" y="3874488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C17AF8E-E8E0-044A-B646-CCD98CF57FB3}"/>
              </a:ext>
            </a:extLst>
          </p:cNvPr>
          <p:cNvSpPr/>
          <p:nvPr/>
        </p:nvSpPr>
        <p:spPr>
          <a:xfrm>
            <a:off x="2956860" y="2497995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727FBAA-9D5A-3841-ABA3-27A2E0618766}"/>
              </a:ext>
            </a:extLst>
          </p:cNvPr>
          <p:cNvSpPr/>
          <p:nvPr/>
        </p:nvSpPr>
        <p:spPr>
          <a:xfrm>
            <a:off x="2932147" y="2851927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407E13C-ED69-C44B-A6F6-D03CF6143735}"/>
              </a:ext>
            </a:extLst>
          </p:cNvPr>
          <p:cNvSpPr/>
          <p:nvPr/>
        </p:nvSpPr>
        <p:spPr>
          <a:xfrm>
            <a:off x="2668535" y="3545074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7F8AE1E-4A47-6248-910C-9C17DBB537C7}"/>
              </a:ext>
            </a:extLst>
          </p:cNvPr>
          <p:cNvSpPr/>
          <p:nvPr/>
        </p:nvSpPr>
        <p:spPr>
          <a:xfrm>
            <a:off x="8164061" y="3446990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EABFA93-1A6B-7444-B65B-BFFEBD12C403}"/>
              </a:ext>
            </a:extLst>
          </p:cNvPr>
          <p:cNvSpPr/>
          <p:nvPr/>
        </p:nvSpPr>
        <p:spPr>
          <a:xfrm>
            <a:off x="8379094" y="3414492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0CD70F8-6615-9246-9A1C-58347C89184B}"/>
              </a:ext>
            </a:extLst>
          </p:cNvPr>
          <p:cNvSpPr/>
          <p:nvPr/>
        </p:nvSpPr>
        <p:spPr>
          <a:xfrm>
            <a:off x="8289789" y="3183648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AF6BC07-B513-C342-AB6F-52A756B8B692}"/>
              </a:ext>
            </a:extLst>
          </p:cNvPr>
          <p:cNvSpPr/>
          <p:nvPr/>
        </p:nvSpPr>
        <p:spPr>
          <a:xfrm>
            <a:off x="8019290" y="3203239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88DDFFD-29AF-A643-B71E-195B5716340E}"/>
              </a:ext>
            </a:extLst>
          </p:cNvPr>
          <p:cNvSpPr/>
          <p:nvPr/>
        </p:nvSpPr>
        <p:spPr>
          <a:xfrm>
            <a:off x="7847763" y="3436754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2287D9A-1198-7448-8033-F8271888D186}"/>
              </a:ext>
            </a:extLst>
          </p:cNvPr>
          <p:cNvSpPr/>
          <p:nvPr/>
        </p:nvSpPr>
        <p:spPr>
          <a:xfrm>
            <a:off x="8428521" y="3687802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DE917CA-B1A9-5047-B255-56AC7FCE3E1A}"/>
              </a:ext>
            </a:extLst>
          </p:cNvPr>
          <p:cNvSpPr/>
          <p:nvPr/>
        </p:nvSpPr>
        <p:spPr>
          <a:xfrm>
            <a:off x="7920436" y="3687802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EF429DD-9A8C-D746-933E-89EBDACE8B22}"/>
              </a:ext>
            </a:extLst>
          </p:cNvPr>
          <p:cNvSpPr/>
          <p:nvPr/>
        </p:nvSpPr>
        <p:spPr>
          <a:xfrm>
            <a:off x="8093955" y="3740180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F69059F-263A-ED45-8001-4116A5EEDC14}"/>
              </a:ext>
            </a:extLst>
          </p:cNvPr>
          <p:cNvSpPr/>
          <p:nvPr/>
        </p:nvSpPr>
        <p:spPr>
          <a:xfrm>
            <a:off x="7611268" y="3011577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0D80874-4D63-9E4A-AE2F-60C01DE11D6E}"/>
              </a:ext>
            </a:extLst>
          </p:cNvPr>
          <p:cNvSpPr/>
          <p:nvPr/>
        </p:nvSpPr>
        <p:spPr>
          <a:xfrm>
            <a:off x="8860257" y="3706120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9E2D14F-E262-3745-9413-0BB60A1838C1}"/>
              </a:ext>
            </a:extLst>
          </p:cNvPr>
          <p:cNvSpPr/>
          <p:nvPr/>
        </p:nvSpPr>
        <p:spPr>
          <a:xfrm>
            <a:off x="7815273" y="4150306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85BF48A-AFD7-0443-8464-E3160B101BCF}"/>
              </a:ext>
            </a:extLst>
          </p:cNvPr>
          <p:cNvSpPr/>
          <p:nvPr/>
        </p:nvSpPr>
        <p:spPr>
          <a:xfrm>
            <a:off x="8428521" y="2801287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5530F0F-5126-FA46-9386-952144D2AC56}"/>
              </a:ext>
            </a:extLst>
          </p:cNvPr>
          <p:cNvSpPr/>
          <p:nvPr/>
        </p:nvSpPr>
        <p:spPr>
          <a:xfrm>
            <a:off x="8891279" y="3203239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58412DF-842A-4E47-8331-E20EE19E8736}"/>
              </a:ext>
            </a:extLst>
          </p:cNvPr>
          <p:cNvSpPr/>
          <p:nvPr/>
        </p:nvSpPr>
        <p:spPr>
          <a:xfrm>
            <a:off x="7412585" y="3701782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A1288E7-12CA-DE4D-B7F5-247B9FABD78C}"/>
              </a:ext>
            </a:extLst>
          </p:cNvPr>
          <p:cNvSpPr/>
          <p:nvPr/>
        </p:nvSpPr>
        <p:spPr>
          <a:xfrm>
            <a:off x="8448950" y="4107724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8975E5F-2433-3747-BBD3-EB16A5E248DD}"/>
              </a:ext>
            </a:extLst>
          </p:cNvPr>
          <p:cNvSpPr/>
          <p:nvPr/>
        </p:nvSpPr>
        <p:spPr>
          <a:xfrm>
            <a:off x="7525596" y="3331998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A86E760-0F21-D442-BBE9-7F61A97CD239}"/>
              </a:ext>
            </a:extLst>
          </p:cNvPr>
          <p:cNvCxnSpPr/>
          <p:nvPr/>
        </p:nvCxnSpPr>
        <p:spPr>
          <a:xfrm>
            <a:off x="838200" y="2436342"/>
            <a:ext cx="0" cy="271243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306B7F0-DD67-C640-BF0A-00F98496FF46}"/>
              </a:ext>
            </a:extLst>
          </p:cNvPr>
          <p:cNvCxnSpPr>
            <a:cxnSpLocks/>
          </p:cNvCxnSpPr>
          <p:nvPr/>
        </p:nvCxnSpPr>
        <p:spPr>
          <a:xfrm flipH="1">
            <a:off x="835869" y="5148775"/>
            <a:ext cx="318368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499428-8369-2A43-955A-24D03A4737C1}"/>
                  </a:ext>
                </a:extLst>
              </p:cNvPr>
              <p:cNvSpPr txBox="1"/>
              <p:nvPr/>
            </p:nvSpPr>
            <p:spPr>
              <a:xfrm>
                <a:off x="610796" y="2301405"/>
                <a:ext cx="1867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499428-8369-2A43-955A-24D03A4737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796" y="2301405"/>
                <a:ext cx="186718" cy="276999"/>
              </a:xfrm>
              <a:prstGeom prst="rect">
                <a:avLst/>
              </a:prstGeom>
              <a:blipFill>
                <a:blip r:embed="rId2"/>
                <a:stretch>
                  <a:fillRect l="-33333" r="-33333"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1CA235-AE8C-3C4C-9527-44DE61619606}"/>
                  </a:ext>
                </a:extLst>
              </p:cNvPr>
              <p:cNvSpPr txBox="1"/>
              <p:nvPr/>
            </p:nvSpPr>
            <p:spPr>
              <a:xfrm>
                <a:off x="3927427" y="5154519"/>
                <a:ext cx="1833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1CA235-AE8C-3C4C-9527-44DE61619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7427" y="5154519"/>
                <a:ext cx="183319" cy="276999"/>
              </a:xfrm>
              <a:prstGeom prst="rect">
                <a:avLst/>
              </a:prstGeom>
              <a:blipFill>
                <a:blip r:embed="rId3"/>
                <a:stretch>
                  <a:fillRect l="-20000" r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14BD9FE-2BF2-D44D-A17A-6135B7B1C54D}"/>
              </a:ext>
            </a:extLst>
          </p:cNvPr>
          <p:cNvCxnSpPr/>
          <p:nvPr/>
        </p:nvCxnSpPr>
        <p:spPr>
          <a:xfrm>
            <a:off x="6548119" y="2404531"/>
            <a:ext cx="0" cy="271243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978B127-888E-E54B-B799-92A6460708A0}"/>
              </a:ext>
            </a:extLst>
          </p:cNvPr>
          <p:cNvCxnSpPr>
            <a:cxnSpLocks/>
          </p:cNvCxnSpPr>
          <p:nvPr/>
        </p:nvCxnSpPr>
        <p:spPr>
          <a:xfrm flipH="1">
            <a:off x="6545788" y="5116964"/>
            <a:ext cx="3252262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4D05CA7-0305-1F44-9D15-136BDD90443F}"/>
                  </a:ext>
                </a:extLst>
              </p:cNvPr>
              <p:cNvSpPr txBox="1"/>
              <p:nvPr/>
            </p:nvSpPr>
            <p:spPr>
              <a:xfrm>
                <a:off x="6208916" y="2260288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4D05CA7-0305-1F44-9D15-136BDD904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8916" y="2260288"/>
                <a:ext cx="281423" cy="276999"/>
              </a:xfrm>
              <a:prstGeom prst="rect">
                <a:avLst/>
              </a:prstGeom>
              <a:blipFill>
                <a:blip r:embed="rId9"/>
                <a:stretch>
                  <a:fillRect l="-13043" r="-4348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24AC2FC-01BD-2649-A0CF-B760065758BD}"/>
                  </a:ext>
                </a:extLst>
              </p:cNvPr>
              <p:cNvSpPr txBox="1"/>
              <p:nvPr/>
            </p:nvSpPr>
            <p:spPr>
              <a:xfrm>
                <a:off x="9660153" y="5121670"/>
                <a:ext cx="276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24AC2FC-01BD-2649-A0CF-B760065758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153" y="5121670"/>
                <a:ext cx="276101" cy="276999"/>
              </a:xfrm>
              <a:prstGeom prst="rect">
                <a:avLst/>
              </a:prstGeom>
              <a:blipFill>
                <a:blip r:embed="rId10"/>
                <a:stretch>
                  <a:fillRect l="-13043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2B662BA-1632-9246-B0BC-DFAFE51D5C9F}"/>
                  </a:ext>
                </a:extLst>
              </p:cNvPr>
              <p:cNvSpPr txBox="1"/>
              <p:nvPr/>
            </p:nvSpPr>
            <p:spPr>
              <a:xfrm>
                <a:off x="10835915" y="3159755"/>
                <a:ext cx="1867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2B662BA-1632-9246-B0BC-DFAFE51D5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5915" y="3159755"/>
                <a:ext cx="186718" cy="276999"/>
              </a:xfrm>
              <a:prstGeom prst="rect">
                <a:avLst/>
              </a:prstGeom>
              <a:blipFill>
                <a:blip r:embed="rId11"/>
                <a:stretch>
                  <a:fillRect l="-33333" r="-33333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A7A5C1-9092-4D49-AAA6-FF78198EC801}"/>
                  </a:ext>
                </a:extLst>
              </p:cNvPr>
              <p:cNvSpPr txBox="1"/>
              <p:nvPr/>
            </p:nvSpPr>
            <p:spPr>
              <a:xfrm>
                <a:off x="10646343" y="3477161"/>
                <a:ext cx="5658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A7A5C1-9092-4D49-AAA6-FF78198EC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6343" y="3477161"/>
                <a:ext cx="565861" cy="276999"/>
              </a:xfrm>
              <a:prstGeom prst="rect">
                <a:avLst/>
              </a:prstGeom>
              <a:blipFill>
                <a:blip r:embed="rId12"/>
                <a:stretch>
                  <a:fillRect l="-8889" t="-4348" r="-8889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DFDF83A-2CC4-C076-E160-C048460C8C5B}"/>
              </a:ext>
            </a:extLst>
          </p:cNvPr>
          <p:cNvSpPr txBox="1"/>
          <p:nvPr/>
        </p:nvSpPr>
        <p:spPr>
          <a:xfrm>
            <a:off x="4331620" y="6525468"/>
            <a:ext cx="7772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Source: </a:t>
            </a:r>
            <a:r>
              <a:rPr lang="en-US" sz="1400" i="1" dirty="0"/>
              <a:t>An Intro to Spectral Convolution Neural Networks </a:t>
            </a:r>
            <a:r>
              <a:rPr lang="en-US" sz="1400" dirty="0"/>
              <a:t>by Dr. Patrick McClure</a:t>
            </a:r>
          </a:p>
        </p:txBody>
      </p:sp>
    </p:spTree>
    <p:extLst>
      <p:ext uri="{BB962C8B-B14F-4D97-AF65-F5344CB8AC3E}">
        <p14:creationId xmlns:p14="http://schemas.microsoft.com/office/powerpoint/2010/main" val="3872828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1" grpId="0" build="p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10" grpId="0"/>
      <p:bldP spid="57" grpId="0"/>
      <p:bldP spid="60" grpId="0"/>
      <p:bldP spid="61" grpId="0"/>
      <p:bldP spid="62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FECFD-ABA9-3646-9837-F7AE86EB8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Model: Non-linear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3DF61C1-3FAF-4E4F-A5D2-82C00051BD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7885" y="1360273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Regression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BFF5BD0-1083-D148-924A-5D5CF3976E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5121" y="1371028"/>
            <a:ext cx="5181600" cy="51132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Classification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C5CF0E9-4AB1-BB40-9845-D740E9F3C69A}"/>
              </a:ext>
            </a:extLst>
          </p:cNvPr>
          <p:cNvSpPr/>
          <p:nvPr/>
        </p:nvSpPr>
        <p:spPr>
          <a:xfrm>
            <a:off x="1315309" y="4517490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0109813-B4F8-724F-870C-6DF587F909FD}"/>
              </a:ext>
            </a:extLst>
          </p:cNvPr>
          <p:cNvSpPr/>
          <p:nvPr/>
        </p:nvSpPr>
        <p:spPr>
          <a:xfrm>
            <a:off x="2234533" y="4261452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33A3995-70BF-4540-9EAF-1A4FB8037442}"/>
              </a:ext>
            </a:extLst>
          </p:cNvPr>
          <p:cNvSpPr/>
          <p:nvPr/>
        </p:nvSpPr>
        <p:spPr>
          <a:xfrm>
            <a:off x="1778769" y="4459524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58AB4BC-E8D5-A443-8A34-9097F2A4275B}"/>
              </a:ext>
            </a:extLst>
          </p:cNvPr>
          <p:cNvSpPr/>
          <p:nvPr/>
        </p:nvSpPr>
        <p:spPr>
          <a:xfrm>
            <a:off x="2858006" y="3165586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70A721C-38B6-484C-BC50-C1BEBB1A6BF6}"/>
              </a:ext>
            </a:extLst>
          </p:cNvPr>
          <p:cNvSpPr/>
          <p:nvPr/>
        </p:nvSpPr>
        <p:spPr>
          <a:xfrm>
            <a:off x="2563109" y="3874488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C17AF8E-E8E0-044A-B646-CCD98CF57FB3}"/>
              </a:ext>
            </a:extLst>
          </p:cNvPr>
          <p:cNvSpPr/>
          <p:nvPr/>
        </p:nvSpPr>
        <p:spPr>
          <a:xfrm>
            <a:off x="2956860" y="2497995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727FBAA-9D5A-3841-ABA3-27A2E0618766}"/>
              </a:ext>
            </a:extLst>
          </p:cNvPr>
          <p:cNvSpPr/>
          <p:nvPr/>
        </p:nvSpPr>
        <p:spPr>
          <a:xfrm>
            <a:off x="2932147" y="2851927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407E13C-ED69-C44B-A6F6-D03CF6143735}"/>
              </a:ext>
            </a:extLst>
          </p:cNvPr>
          <p:cNvSpPr/>
          <p:nvPr/>
        </p:nvSpPr>
        <p:spPr>
          <a:xfrm>
            <a:off x="2668535" y="3545074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7F8AE1E-4A47-6248-910C-9C17DBB537C7}"/>
              </a:ext>
            </a:extLst>
          </p:cNvPr>
          <p:cNvSpPr/>
          <p:nvPr/>
        </p:nvSpPr>
        <p:spPr>
          <a:xfrm>
            <a:off x="8164061" y="3446990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EABFA93-1A6B-7444-B65B-BFFEBD12C403}"/>
              </a:ext>
            </a:extLst>
          </p:cNvPr>
          <p:cNvSpPr/>
          <p:nvPr/>
        </p:nvSpPr>
        <p:spPr>
          <a:xfrm>
            <a:off x="8379094" y="3414492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0CD70F8-6615-9246-9A1C-58347C89184B}"/>
              </a:ext>
            </a:extLst>
          </p:cNvPr>
          <p:cNvSpPr/>
          <p:nvPr/>
        </p:nvSpPr>
        <p:spPr>
          <a:xfrm>
            <a:off x="8289789" y="3183648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AF6BC07-B513-C342-AB6F-52A756B8B692}"/>
              </a:ext>
            </a:extLst>
          </p:cNvPr>
          <p:cNvSpPr/>
          <p:nvPr/>
        </p:nvSpPr>
        <p:spPr>
          <a:xfrm>
            <a:off x="8019290" y="3203239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88DDFFD-29AF-A643-B71E-195B5716340E}"/>
              </a:ext>
            </a:extLst>
          </p:cNvPr>
          <p:cNvSpPr/>
          <p:nvPr/>
        </p:nvSpPr>
        <p:spPr>
          <a:xfrm>
            <a:off x="7847763" y="3436754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2287D9A-1198-7448-8033-F8271888D186}"/>
              </a:ext>
            </a:extLst>
          </p:cNvPr>
          <p:cNvSpPr/>
          <p:nvPr/>
        </p:nvSpPr>
        <p:spPr>
          <a:xfrm>
            <a:off x="8428521" y="3687802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DE917CA-B1A9-5047-B255-56AC7FCE3E1A}"/>
              </a:ext>
            </a:extLst>
          </p:cNvPr>
          <p:cNvSpPr/>
          <p:nvPr/>
        </p:nvSpPr>
        <p:spPr>
          <a:xfrm>
            <a:off x="7920436" y="3687802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EF429DD-9A8C-D746-933E-89EBDACE8B22}"/>
              </a:ext>
            </a:extLst>
          </p:cNvPr>
          <p:cNvSpPr/>
          <p:nvPr/>
        </p:nvSpPr>
        <p:spPr>
          <a:xfrm>
            <a:off x="8093955" y="3740180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F69059F-263A-ED45-8001-4116A5EEDC14}"/>
              </a:ext>
            </a:extLst>
          </p:cNvPr>
          <p:cNvSpPr/>
          <p:nvPr/>
        </p:nvSpPr>
        <p:spPr>
          <a:xfrm>
            <a:off x="7611268" y="3011577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0D80874-4D63-9E4A-AE2F-60C01DE11D6E}"/>
              </a:ext>
            </a:extLst>
          </p:cNvPr>
          <p:cNvSpPr/>
          <p:nvPr/>
        </p:nvSpPr>
        <p:spPr>
          <a:xfrm>
            <a:off x="8860257" y="3706120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9E2D14F-E262-3745-9413-0BB60A1838C1}"/>
              </a:ext>
            </a:extLst>
          </p:cNvPr>
          <p:cNvSpPr/>
          <p:nvPr/>
        </p:nvSpPr>
        <p:spPr>
          <a:xfrm>
            <a:off x="7815273" y="4150306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85BF48A-AFD7-0443-8464-E3160B101BCF}"/>
              </a:ext>
            </a:extLst>
          </p:cNvPr>
          <p:cNvSpPr/>
          <p:nvPr/>
        </p:nvSpPr>
        <p:spPr>
          <a:xfrm>
            <a:off x="8428521" y="2801287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5530F0F-5126-FA46-9386-952144D2AC56}"/>
              </a:ext>
            </a:extLst>
          </p:cNvPr>
          <p:cNvSpPr/>
          <p:nvPr/>
        </p:nvSpPr>
        <p:spPr>
          <a:xfrm>
            <a:off x="8891279" y="3203239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58412DF-842A-4E47-8331-E20EE19E8736}"/>
              </a:ext>
            </a:extLst>
          </p:cNvPr>
          <p:cNvSpPr/>
          <p:nvPr/>
        </p:nvSpPr>
        <p:spPr>
          <a:xfrm>
            <a:off x="7412585" y="3701782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A1288E7-12CA-DE4D-B7F5-247B9FABD78C}"/>
              </a:ext>
            </a:extLst>
          </p:cNvPr>
          <p:cNvSpPr/>
          <p:nvPr/>
        </p:nvSpPr>
        <p:spPr>
          <a:xfrm>
            <a:off x="8448950" y="4107724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8975E5F-2433-3747-BBD3-EB16A5E248DD}"/>
              </a:ext>
            </a:extLst>
          </p:cNvPr>
          <p:cNvSpPr/>
          <p:nvPr/>
        </p:nvSpPr>
        <p:spPr>
          <a:xfrm>
            <a:off x="7525596" y="3331998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A86E760-0F21-D442-BBE9-7F61A97CD239}"/>
              </a:ext>
            </a:extLst>
          </p:cNvPr>
          <p:cNvCxnSpPr/>
          <p:nvPr/>
        </p:nvCxnSpPr>
        <p:spPr>
          <a:xfrm>
            <a:off x="838200" y="2436342"/>
            <a:ext cx="0" cy="271243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306B7F0-DD67-C640-BF0A-00F98496FF46}"/>
              </a:ext>
            </a:extLst>
          </p:cNvPr>
          <p:cNvCxnSpPr>
            <a:cxnSpLocks/>
          </p:cNvCxnSpPr>
          <p:nvPr/>
        </p:nvCxnSpPr>
        <p:spPr>
          <a:xfrm flipH="1">
            <a:off x="835869" y="5148775"/>
            <a:ext cx="318368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499428-8369-2A43-955A-24D03A4737C1}"/>
                  </a:ext>
                </a:extLst>
              </p:cNvPr>
              <p:cNvSpPr txBox="1"/>
              <p:nvPr/>
            </p:nvSpPr>
            <p:spPr>
              <a:xfrm>
                <a:off x="610796" y="2301405"/>
                <a:ext cx="1867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499428-8369-2A43-955A-24D03A4737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796" y="2301405"/>
                <a:ext cx="186718" cy="276999"/>
              </a:xfrm>
              <a:prstGeom prst="rect">
                <a:avLst/>
              </a:prstGeom>
              <a:blipFill>
                <a:blip r:embed="rId2"/>
                <a:stretch>
                  <a:fillRect l="-33333" r="-33333"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1CA235-AE8C-3C4C-9527-44DE61619606}"/>
                  </a:ext>
                </a:extLst>
              </p:cNvPr>
              <p:cNvSpPr txBox="1"/>
              <p:nvPr/>
            </p:nvSpPr>
            <p:spPr>
              <a:xfrm>
                <a:off x="3927427" y="5154519"/>
                <a:ext cx="1833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1CA235-AE8C-3C4C-9527-44DE61619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7427" y="5154519"/>
                <a:ext cx="183319" cy="276999"/>
              </a:xfrm>
              <a:prstGeom prst="rect">
                <a:avLst/>
              </a:prstGeom>
              <a:blipFill>
                <a:blip r:embed="rId3"/>
                <a:stretch>
                  <a:fillRect l="-20000" r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14BD9FE-2BF2-D44D-A17A-6135B7B1C54D}"/>
              </a:ext>
            </a:extLst>
          </p:cNvPr>
          <p:cNvCxnSpPr/>
          <p:nvPr/>
        </p:nvCxnSpPr>
        <p:spPr>
          <a:xfrm>
            <a:off x="6548119" y="2404531"/>
            <a:ext cx="0" cy="271243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978B127-888E-E54B-B799-92A6460708A0}"/>
              </a:ext>
            </a:extLst>
          </p:cNvPr>
          <p:cNvCxnSpPr>
            <a:cxnSpLocks/>
          </p:cNvCxnSpPr>
          <p:nvPr/>
        </p:nvCxnSpPr>
        <p:spPr>
          <a:xfrm flipH="1">
            <a:off x="6545788" y="5116964"/>
            <a:ext cx="3252262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4D05CA7-0305-1F44-9D15-136BDD90443F}"/>
                  </a:ext>
                </a:extLst>
              </p:cNvPr>
              <p:cNvSpPr txBox="1"/>
              <p:nvPr/>
            </p:nvSpPr>
            <p:spPr>
              <a:xfrm>
                <a:off x="6208916" y="2260288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4D05CA7-0305-1F44-9D15-136BDD904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8916" y="2260288"/>
                <a:ext cx="281423" cy="276999"/>
              </a:xfrm>
              <a:prstGeom prst="rect">
                <a:avLst/>
              </a:prstGeom>
              <a:blipFill>
                <a:blip r:embed="rId4"/>
                <a:stretch>
                  <a:fillRect l="-13043" r="-4348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24AC2FC-01BD-2649-A0CF-B760065758BD}"/>
                  </a:ext>
                </a:extLst>
              </p:cNvPr>
              <p:cNvSpPr txBox="1"/>
              <p:nvPr/>
            </p:nvSpPr>
            <p:spPr>
              <a:xfrm>
                <a:off x="9660153" y="5121670"/>
                <a:ext cx="276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24AC2FC-01BD-2649-A0CF-B760065758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153" y="5121670"/>
                <a:ext cx="276101" cy="276999"/>
              </a:xfrm>
              <a:prstGeom prst="rect">
                <a:avLst/>
              </a:prstGeom>
              <a:blipFill>
                <a:blip r:embed="rId5"/>
                <a:stretch>
                  <a:fillRect l="-13043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2B662BA-1632-9246-B0BC-DFAFE51D5C9F}"/>
                  </a:ext>
                </a:extLst>
              </p:cNvPr>
              <p:cNvSpPr txBox="1"/>
              <p:nvPr/>
            </p:nvSpPr>
            <p:spPr>
              <a:xfrm>
                <a:off x="10835915" y="3159755"/>
                <a:ext cx="1867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2B662BA-1632-9246-B0BC-DFAFE51D5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5915" y="3159755"/>
                <a:ext cx="186718" cy="276999"/>
              </a:xfrm>
              <a:prstGeom prst="rect">
                <a:avLst/>
              </a:prstGeom>
              <a:blipFill>
                <a:blip r:embed="rId6"/>
                <a:stretch>
                  <a:fillRect l="-33333" r="-33333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A7A5C1-9092-4D49-AAA6-FF78198EC801}"/>
                  </a:ext>
                </a:extLst>
              </p:cNvPr>
              <p:cNvSpPr txBox="1"/>
              <p:nvPr/>
            </p:nvSpPr>
            <p:spPr>
              <a:xfrm>
                <a:off x="10646343" y="3477161"/>
                <a:ext cx="5658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A7A5C1-9092-4D49-AAA6-FF78198EC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6343" y="3477161"/>
                <a:ext cx="565861" cy="276999"/>
              </a:xfrm>
              <a:prstGeom prst="rect">
                <a:avLst/>
              </a:prstGeom>
              <a:blipFill>
                <a:blip r:embed="rId7"/>
                <a:stretch>
                  <a:fillRect l="-8889" t="-4348" r="-8889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4E5C62E-445F-2A45-A0C9-80C37144DB37}"/>
                  </a:ext>
                </a:extLst>
              </p:cNvPr>
              <p:cNvSpPr txBox="1"/>
              <p:nvPr/>
            </p:nvSpPr>
            <p:spPr>
              <a:xfrm>
                <a:off x="1730072" y="5513131"/>
                <a:ext cx="18076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4E5C62E-445F-2A45-A0C9-80C37144DB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0072" y="5513131"/>
                <a:ext cx="1807674" cy="276999"/>
              </a:xfrm>
              <a:prstGeom prst="rect">
                <a:avLst/>
              </a:prstGeom>
              <a:blipFill>
                <a:blip r:embed="rId8"/>
                <a:stretch>
                  <a:fillRect l="-2797" t="-8333" r="-2797" b="-29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CE977171-527C-E943-BA72-8C56C848AA95}"/>
                  </a:ext>
                </a:extLst>
              </p:cNvPr>
              <p:cNvSpPr/>
              <p:nvPr/>
            </p:nvSpPr>
            <p:spPr>
              <a:xfrm>
                <a:off x="6551545" y="5331711"/>
                <a:ext cx="4098623" cy="637354"/>
              </a:xfrm>
              <a:prstGeom prst="rect">
                <a:avLst/>
              </a:prstGeom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CE977171-527C-E943-BA72-8C56C848AA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1545" y="5331711"/>
                <a:ext cx="4098623" cy="637354"/>
              </a:xfrm>
              <a:prstGeom prst="rect">
                <a:avLst/>
              </a:prstGeom>
              <a:blipFill>
                <a:blip r:embed="rId9"/>
                <a:stretch>
                  <a:fillRect b="-4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Arc 22">
            <a:extLst>
              <a:ext uri="{FF2B5EF4-FFF2-40B4-BE49-F238E27FC236}">
                <a16:creationId xmlns:a16="http://schemas.microsoft.com/office/drawing/2014/main" id="{B213CA86-30D2-25FB-C7CA-EAD963775017}"/>
              </a:ext>
            </a:extLst>
          </p:cNvPr>
          <p:cNvSpPr/>
          <p:nvPr/>
        </p:nvSpPr>
        <p:spPr>
          <a:xfrm rot="5400000">
            <a:off x="-805283" y="730618"/>
            <a:ext cx="4241183" cy="3466447"/>
          </a:xfrm>
          <a:prstGeom prst="arc">
            <a:avLst>
              <a:gd name="adj1" fmla="val 16155139"/>
              <a:gd name="adj2" fmla="val 0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186F837-A021-6A35-90F5-B1D6F5B7662A}"/>
              </a:ext>
            </a:extLst>
          </p:cNvPr>
          <p:cNvSpPr/>
          <p:nvPr/>
        </p:nvSpPr>
        <p:spPr>
          <a:xfrm>
            <a:off x="7744653" y="3063955"/>
            <a:ext cx="922435" cy="93430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B811E4-E126-FC5A-D806-7F3B5941DA9F}"/>
              </a:ext>
            </a:extLst>
          </p:cNvPr>
          <p:cNvSpPr txBox="1"/>
          <p:nvPr/>
        </p:nvSpPr>
        <p:spPr>
          <a:xfrm>
            <a:off x="4331620" y="6525468"/>
            <a:ext cx="7772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Source: </a:t>
            </a:r>
            <a:r>
              <a:rPr lang="en-US" sz="1400" i="1" dirty="0"/>
              <a:t>An Intro to Spectral Convolution Neural Networks </a:t>
            </a:r>
            <a:r>
              <a:rPr lang="en-US" sz="1400" dirty="0"/>
              <a:t>by Dr. Patrick McClure</a:t>
            </a:r>
          </a:p>
        </p:txBody>
      </p:sp>
    </p:spTree>
    <p:extLst>
      <p:ext uri="{BB962C8B-B14F-4D97-AF65-F5344CB8AC3E}">
        <p14:creationId xmlns:p14="http://schemas.microsoft.com/office/powerpoint/2010/main" val="3869783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96220-883C-B3F2-168A-6B092E3C1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C05B5-DEB3-8806-7C5F-BA403743F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Model: Fully-connected Neural Network Layer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43DC09-0A0E-2BFB-F132-EC3700D8F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325" y="1673407"/>
            <a:ext cx="9531350" cy="3530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655CCAD-F76C-5A62-C5EF-865DA94E55FB}"/>
              </a:ext>
            </a:extLst>
          </p:cNvPr>
          <p:cNvSpPr/>
          <p:nvPr/>
        </p:nvSpPr>
        <p:spPr>
          <a:xfrm>
            <a:off x="9804400" y="2041524"/>
            <a:ext cx="1549400" cy="2286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4F94D5-9948-D355-8216-3B171C3E9E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596" r="11302" b="17343"/>
          <a:stretch/>
        </p:blipFill>
        <p:spPr bwMode="auto">
          <a:xfrm>
            <a:off x="9804400" y="1654175"/>
            <a:ext cx="1630019" cy="2918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628208C-61D2-048B-7500-1A1478F4C7B9}"/>
                  </a:ext>
                </a:extLst>
              </p:cNvPr>
              <p:cNvSpPr txBox="1"/>
              <p:nvPr/>
            </p:nvSpPr>
            <p:spPr>
              <a:xfrm>
                <a:off x="10028583" y="4239468"/>
                <a:ext cx="35780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628208C-61D2-048B-7500-1A1478F4C7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8583" y="4239468"/>
                <a:ext cx="357809" cy="276999"/>
              </a:xfrm>
              <a:prstGeom prst="rect">
                <a:avLst/>
              </a:prstGeom>
              <a:blipFill>
                <a:blip r:embed="rId3"/>
                <a:stretch>
                  <a:fillRect r="-13793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AADD2F-B244-E3D7-1D7D-2ED8027CFBE0}"/>
                  </a:ext>
                </a:extLst>
              </p:cNvPr>
              <p:cNvSpPr txBox="1"/>
              <p:nvPr/>
            </p:nvSpPr>
            <p:spPr>
              <a:xfrm>
                <a:off x="11255514" y="4239468"/>
                <a:ext cx="35780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AADD2F-B244-E3D7-1D7D-2ED8027CFB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5514" y="4239468"/>
                <a:ext cx="357809" cy="276999"/>
              </a:xfrm>
              <a:prstGeom prst="rect">
                <a:avLst/>
              </a:prstGeom>
              <a:blipFill>
                <a:blip r:embed="rId4"/>
                <a:stretch>
                  <a:fillRect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431E874E-D04D-38CB-8544-FBFBD00FE32A}"/>
              </a:ext>
            </a:extLst>
          </p:cNvPr>
          <p:cNvSpPr txBox="1"/>
          <p:nvPr/>
        </p:nvSpPr>
        <p:spPr>
          <a:xfrm>
            <a:off x="8974147" y="4815261"/>
            <a:ext cx="2288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Non-Linearity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43C13CD-3419-FFE8-1A85-2ADA5CAF0834}"/>
              </a:ext>
            </a:extLst>
          </p:cNvPr>
          <p:cNvCxnSpPr>
            <a:cxnSpLocks/>
          </p:cNvCxnSpPr>
          <p:nvPr/>
        </p:nvCxnSpPr>
        <p:spPr>
          <a:xfrm flipV="1">
            <a:off x="10118458" y="4516467"/>
            <a:ext cx="0" cy="27956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8EDBE3A-E9CC-3485-FDC1-C82E66F239AD}"/>
              </a:ext>
            </a:extLst>
          </p:cNvPr>
          <p:cNvSpPr txBox="1"/>
          <p:nvPr/>
        </p:nvSpPr>
        <p:spPr>
          <a:xfrm>
            <a:off x="10448567" y="2365404"/>
            <a:ext cx="755374" cy="400110"/>
          </a:xfrm>
          <a:prstGeom prst="rect">
            <a:avLst/>
          </a:prstGeom>
          <a:solidFill>
            <a:srgbClr val="F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0</a:t>
            </a:r>
          </a:p>
        </p:txBody>
      </p:sp>
      <p:pic>
        <p:nvPicPr>
          <p:cNvPr id="20" name="Picture 3">
            <a:extLst>
              <a:ext uri="{FF2B5EF4-FFF2-40B4-BE49-F238E27FC236}">
                <a16:creationId xmlns:a16="http://schemas.microsoft.com/office/drawing/2014/main" id="{BAF7C63F-E6FC-F716-E976-137D3C5329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896" y="4656248"/>
            <a:ext cx="3711232" cy="2117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267503-5CAB-9CA0-838C-FF50B917CD5C}"/>
              </a:ext>
            </a:extLst>
          </p:cNvPr>
          <p:cNvSpPr txBox="1"/>
          <p:nvPr/>
        </p:nvSpPr>
        <p:spPr>
          <a:xfrm>
            <a:off x="4331620" y="6525468"/>
            <a:ext cx="7772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Source: </a:t>
            </a:r>
            <a:r>
              <a:rPr lang="en-US" sz="1400" i="1" dirty="0"/>
              <a:t>An Intro to Spectral Convolution Neural Networks </a:t>
            </a:r>
            <a:r>
              <a:rPr lang="en-US" sz="1400" dirty="0"/>
              <a:t>by Dr. Patrick McClure</a:t>
            </a:r>
          </a:p>
        </p:txBody>
      </p:sp>
    </p:spTree>
    <p:extLst>
      <p:ext uri="{BB962C8B-B14F-4D97-AF65-F5344CB8AC3E}">
        <p14:creationId xmlns:p14="http://schemas.microsoft.com/office/powerpoint/2010/main" val="4182396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CF673-4AD6-6183-1CD0-D544E9BE1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Reproducibility and Defensibility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2B00E-08D5-3195-5DD3-418F0169D82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Reproducibility (What we </a:t>
            </a:r>
            <a:r>
              <a:rPr lang="en-US" i="1" dirty="0"/>
              <a:t>do</a:t>
            </a:r>
            <a:r>
              <a:rPr lang="en-US" dirty="0"/>
              <a:t>):</a:t>
            </a:r>
          </a:p>
          <a:p>
            <a:r>
              <a:rPr lang="en-US" dirty="0"/>
              <a:t>Same code + Same data = same results</a:t>
            </a:r>
          </a:p>
          <a:p>
            <a:r>
              <a:rPr lang="en-US" dirty="0"/>
              <a:t>Clear workflow</a:t>
            </a:r>
          </a:p>
          <a:p>
            <a:r>
              <a:rPr lang="en-US" dirty="0"/>
              <a:t>Document our assumptions, transformations, and decisions</a:t>
            </a:r>
          </a:p>
          <a:p>
            <a:r>
              <a:rPr lang="en-US" dirty="0"/>
              <a:t>Your future self (and others) should be able to rerun the analysis without guessing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BF311B-C948-81AD-4D92-D10E2BCBFB8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Defensibility (What we </a:t>
            </a:r>
            <a:r>
              <a:rPr lang="en-US" i="1" dirty="0"/>
              <a:t>explain</a:t>
            </a:r>
            <a:r>
              <a:rPr lang="en-US" dirty="0"/>
              <a:t>):</a:t>
            </a:r>
          </a:p>
          <a:p>
            <a:r>
              <a:rPr lang="en-US" dirty="0"/>
              <a:t>To our customer / Commander</a:t>
            </a:r>
          </a:p>
          <a:p>
            <a:r>
              <a:rPr lang="en-US" dirty="0"/>
              <a:t>Why this model?</a:t>
            </a:r>
          </a:p>
          <a:p>
            <a:r>
              <a:rPr lang="en-US" dirty="0"/>
              <a:t>What assumptions does our method rely on?</a:t>
            </a:r>
          </a:p>
          <a:p>
            <a:r>
              <a:rPr lang="en-US" dirty="0"/>
              <a:t>What alternatives did we consider?</a:t>
            </a:r>
          </a:p>
        </p:txBody>
      </p:sp>
    </p:spTree>
    <p:extLst>
      <p:ext uri="{BB962C8B-B14F-4D97-AF65-F5344CB8AC3E}">
        <p14:creationId xmlns:p14="http://schemas.microsoft.com/office/powerpoint/2010/main" val="3279581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2A505-D4D7-5381-6746-0728072D2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Syllabus and Roadmap for the Quarter</a:t>
            </a:r>
          </a:p>
        </p:txBody>
      </p:sp>
    </p:spTree>
    <p:extLst>
      <p:ext uri="{BB962C8B-B14F-4D97-AF65-F5344CB8AC3E}">
        <p14:creationId xmlns:p14="http://schemas.microsoft.com/office/powerpoint/2010/main" val="3763150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46C94-996B-FC5A-6053-5601ED932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Expectations of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6A9E2-B842-F525-449F-10EC4BEF4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 prepared</a:t>
            </a:r>
          </a:p>
          <a:p>
            <a:r>
              <a:rPr lang="en-US" dirty="0"/>
              <a:t>Engage (not just attend)</a:t>
            </a:r>
          </a:p>
          <a:p>
            <a:r>
              <a:rPr lang="en-US" dirty="0"/>
              <a:t>Be honest and humble (i.e. ask questions!)</a:t>
            </a:r>
          </a:p>
          <a:p>
            <a:r>
              <a:rPr lang="en-US" dirty="0"/>
              <a:t>Communicate</a:t>
            </a:r>
          </a:p>
          <a:p>
            <a:pPr lvl="1"/>
            <a:r>
              <a:rPr lang="en-US" sz="2800" dirty="0"/>
              <a:t>Mulligan policy</a:t>
            </a:r>
          </a:p>
          <a:p>
            <a:r>
              <a:rPr lang="en-US" dirty="0"/>
              <a:t>Learn something every day</a:t>
            </a:r>
          </a:p>
          <a:p>
            <a:r>
              <a:rPr lang="en-US" dirty="0"/>
              <a:t>Look out for each other</a:t>
            </a:r>
          </a:p>
        </p:txBody>
      </p:sp>
    </p:spTree>
    <p:extLst>
      <p:ext uri="{BB962C8B-B14F-4D97-AF65-F5344CB8AC3E}">
        <p14:creationId xmlns:p14="http://schemas.microsoft.com/office/powerpoint/2010/main" val="42680527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93AAE-5E42-AF6A-42AE-00710EC6E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F386C-1145-9A5B-0ABE-EDAD613521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is the primary workflow (ISLP textbook)</a:t>
            </a:r>
          </a:p>
          <a:p>
            <a:r>
              <a:rPr lang="en-US" dirty="0"/>
              <a:t>R is essential for OA4106 next quarter</a:t>
            </a:r>
          </a:p>
          <a:p>
            <a:r>
              <a:rPr lang="en-US" dirty="0"/>
              <a:t>We will work with both</a:t>
            </a:r>
          </a:p>
          <a:p>
            <a:pPr lvl="1"/>
            <a:r>
              <a:rPr lang="en-US" dirty="0"/>
              <a:t>VS Code / </a:t>
            </a:r>
            <a:r>
              <a:rPr lang="en-US" dirty="0" err="1"/>
              <a:t>Github</a:t>
            </a:r>
            <a:r>
              <a:rPr lang="en-US" dirty="0"/>
              <a:t> </a:t>
            </a:r>
            <a:r>
              <a:rPr lang="en-US" dirty="0" err="1"/>
              <a:t>Codespace</a:t>
            </a:r>
            <a:endParaRPr lang="en-US" dirty="0"/>
          </a:p>
          <a:p>
            <a:r>
              <a:rPr lang="en-US" dirty="0"/>
              <a:t>Assignments</a:t>
            </a:r>
          </a:p>
          <a:p>
            <a:pPr lvl="1"/>
            <a:r>
              <a:rPr lang="en-US" dirty="0"/>
              <a:t>May be done in either Python or R</a:t>
            </a:r>
          </a:p>
          <a:p>
            <a:pPr lvl="1"/>
            <a:r>
              <a:rPr lang="en-US" dirty="0"/>
              <a:t>Some small tasks will explicitly ask for both</a:t>
            </a:r>
          </a:p>
        </p:txBody>
      </p:sp>
    </p:spTree>
    <p:extLst>
      <p:ext uri="{BB962C8B-B14F-4D97-AF65-F5344CB8AC3E}">
        <p14:creationId xmlns:p14="http://schemas.microsoft.com/office/powerpoint/2010/main" val="14389195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9E7E5-CC85-0EC1-40CA-422B58EA7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Expectations of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6492E-5C83-DE4E-7F29-6BF8131E3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time teaching the course</a:t>
            </a:r>
          </a:p>
          <a:p>
            <a:pPr lvl="1"/>
            <a:r>
              <a:rPr lang="en-US" dirty="0"/>
              <a:t>I’ve taken it with both Bob </a:t>
            </a:r>
            <a:r>
              <a:rPr lang="en-US" dirty="0" err="1"/>
              <a:t>Koyak</a:t>
            </a:r>
            <a:r>
              <a:rPr lang="en-US" dirty="0"/>
              <a:t> and Robert Bassett</a:t>
            </a:r>
          </a:p>
          <a:p>
            <a:r>
              <a:rPr lang="en-US" dirty="0"/>
              <a:t>Course is evolving</a:t>
            </a:r>
          </a:p>
          <a:p>
            <a:pPr lvl="1"/>
            <a:r>
              <a:rPr lang="en-US" dirty="0"/>
              <a:t>Intent: We will learn a lot together</a:t>
            </a:r>
          </a:p>
          <a:p>
            <a:r>
              <a:rPr lang="en-US" dirty="0"/>
              <a:t>Open and upfront</a:t>
            </a:r>
          </a:p>
          <a:p>
            <a:pPr lvl="1"/>
            <a:r>
              <a:rPr lang="en-US" dirty="0"/>
              <a:t>My contract to you: No BS</a:t>
            </a:r>
          </a:p>
          <a:p>
            <a:r>
              <a:rPr lang="en-US" dirty="0"/>
              <a:t>Prof. Alderson’s guidance</a:t>
            </a:r>
          </a:p>
        </p:txBody>
      </p:sp>
    </p:spTree>
    <p:extLst>
      <p:ext uri="{BB962C8B-B14F-4D97-AF65-F5344CB8AC3E}">
        <p14:creationId xmlns:p14="http://schemas.microsoft.com/office/powerpoint/2010/main" val="6753697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CDA1F-56B5-9BC4-72A6-1DBF221CF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you know when a Fighter Pilot walks into a room?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3ADE60-11E8-2D96-1FB4-104F1813F5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F/A-18C/E/F Pilot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/>
                  <a:t>Permanent Military Professor</a:t>
                </a:r>
              </a:p>
              <a:p>
                <a:r>
                  <a:rPr lang="en-US" dirty="0"/>
                  <a:t>Aviation Community</a:t>
                </a:r>
              </a:p>
              <a:p>
                <a:r>
                  <a:rPr lang="en-US" dirty="0"/>
                  <a:t>Command Tour in Navy Recruiting</a:t>
                </a:r>
              </a:p>
              <a:p>
                <a:r>
                  <a:rPr lang="en-US" dirty="0"/>
                  <a:t>More expectations</a:t>
                </a:r>
              </a:p>
              <a:p>
                <a:endParaRPr lang="en-US" dirty="0"/>
              </a:p>
              <a:p>
                <a:r>
                  <a:rPr lang="en-US" dirty="0"/>
                  <a:t>Fine policy:</a:t>
                </a:r>
              </a:p>
              <a:p>
                <a:pPr lvl="1"/>
                <a:r>
                  <a:rPr lang="en-US" dirty="0"/>
                  <a:t>$10.00 per “major” offense</a:t>
                </a:r>
              </a:p>
              <a:p>
                <a:pPr lvl="1"/>
                <a:r>
                  <a:rPr lang="en-US" dirty="0"/>
                  <a:t>$2.00 per “minor” offense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3ADE60-11E8-2D96-1FB4-104F1813F5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8682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CDEBA-512C-ED3E-635E-54888D467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pic>
        <p:nvPicPr>
          <p:cNvPr id="2050" name="Picture 2" descr="A colorful scribbles on a white background&#10;&#10;AI-generated content may be incorrect.">
            <a:extLst>
              <a:ext uri="{FF2B5EF4-FFF2-40B4-BE49-F238E27FC236}">
                <a16:creationId xmlns:a16="http://schemas.microsoft.com/office/drawing/2014/main" id="{670A87C9-992B-F847-81D6-E1E2E5454D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8117" y="525292"/>
            <a:ext cx="5287177" cy="3903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 jet flying in the air&#10;&#10;AI-generated content may be incorrect.">
            <a:extLst>
              <a:ext uri="{FF2B5EF4-FFF2-40B4-BE49-F238E27FC236}">
                <a16:creationId xmlns:a16="http://schemas.microsoft.com/office/drawing/2014/main" id="{4E6B9BEC-0AA4-B67E-98B5-976CA29E0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3015574"/>
            <a:ext cx="6013654" cy="3397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965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796</Words>
  <Application>Microsoft Office PowerPoint</Application>
  <PresentationFormat>Widescreen</PresentationFormat>
  <Paragraphs>156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Cambria Math</vt:lpstr>
      <vt:lpstr>Office Theme</vt:lpstr>
      <vt:lpstr>OA3103: Data Analysis</vt:lpstr>
      <vt:lpstr>Welcome to Data Analysis</vt:lpstr>
      <vt:lpstr>Data?</vt:lpstr>
      <vt:lpstr>Inference vs Prediction</vt:lpstr>
      <vt:lpstr>Prediction</vt:lpstr>
      <vt:lpstr>PowerPoint Presentation</vt:lpstr>
      <vt:lpstr>Model: Linear</vt:lpstr>
      <vt:lpstr>Model: Linear Classification</vt:lpstr>
      <vt:lpstr>Data: Non-linear</vt:lpstr>
      <vt:lpstr>Model: Non-linear</vt:lpstr>
      <vt:lpstr>Model: Fully-connected Neural Network Layer</vt:lpstr>
      <vt:lpstr>Reproducibility and Defensibility</vt:lpstr>
      <vt:lpstr>Syllabus and Roadmap for the Quarter</vt:lpstr>
      <vt:lpstr>Expectations of you</vt:lpstr>
      <vt:lpstr>Programming Software</vt:lpstr>
      <vt:lpstr>Expectations of Me</vt:lpstr>
      <vt:lpstr>How do you know when a Fighter Pilot walks into a room?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Paolo (CDR)</dc:creator>
  <cp:lastModifiedBy>Singh, Paolo (CDR)</cp:lastModifiedBy>
  <cp:revision>5</cp:revision>
  <dcterms:created xsi:type="dcterms:W3CDTF">2026-03-30T14:29:23Z</dcterms:created>
  <dcterms:modified xsi:type="dcterms:W3CDTF">2026-03-30T16:53:37Z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bbd4a6-dc2f-44d9-ad2c-c28d4679873f_Enabled">
    <vt:lpwstr>true</vt:lpwstr>
  </property>
  <property fmtid="{D5CDD505-2E9C-101B-9397-08002B2CF9AE}" pid="3" name="MSIP_Label_acbbd4a6-dc2f-44d9-ad2c-c28d4679873f_SetDate">
    <vt:lpwstr>2026-03-30T14:46:15Z</vt:lpwstr>
  </property>
  <property fmtid="{D5CDD505-2E9C-101B-9397-08002B2CF9AE}" pid="4" name="MSIP_Label_acbbd4a6-dc2f-44d9-ad2c-c28d4679873f_Method">
    <vt:lpwstr>Standard</vt:lpwstr>
  </property>
  <property fmtid="{D5CDD505-2E9C-101B-9397-08002B2CF9AE}" pid="5" name="MSIP_Label_acbbd4a6-dc2f-44d9-ad2c-c28d4679873f_Name">
    <vt:lpwstr>No Label</vt:lpwstr>
  </property>
  <property fmtid="{D5CDD505-2E9C-101B-9397-08002B2CF9AE}" pid="6" name="MSIP_Label_acbbd4a6-dc2f-44d9-ad2c-c28d4679873f_SiteId">
    <vt:lpwstr>6d936231-a517-40ea-9199-f7578963378e</vt:lpwstr>
  </property>
  <property fmtid="{D5CDD505-2E9C-101B-9397-08002B2CF9AE}" pid="7" name="MSIP_Label_acbbd4a6-dc2f-44d9-ad2c-c28d4679873f_ActionId">
    <vt:lpwstr>d48e9fd2-069b-42a8-ac90-3320df63b347</vt:lpwstr>
  </property>
  <property fmtid="{D5CDD505-2E9C-101B-9397-08002B2CF9AE}" pid="8" name="MSIP_Label_acbbd4a6-dc2f-44d9-ad2c-c28d4679873f_ContentBits">
    <vt:lpwstr>0</vt:lpwstr>
  </property>
  <property fmtid="{D5CDD505-2E9C-101B-9397-08002B2CF9AE}" pid="9" name="MSIP_Label_acbbd4a6-dc2f-44d9-ad2c-c28d4679873f_Tag">
    <vt:lpwstr>10, 3, 0, 1</vt:lpwstr>
  </property>
</Properties>
</file>