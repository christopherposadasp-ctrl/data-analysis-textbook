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4" r:id="rId3"/>
    <p:sldId id="271" r:id="rId4"/>
    <p:sldId id="273" r:id="rId5"/>
    <p:sldId id="295" r:id="rId6"/>
    <p:sldId id="272" r:id="rId7"/>
    <p:sldId id="266" r:id="rId8"/>
    <p:sldId id="267" r:id="rId9"/>
    <p:sldId id="270" r:id="rId10"/>
    <p:sldId id="306" r:id="rId11"/>
    <p:sldId id="309" r:id="rId12"/>
    <p:sldId id="304" r:id="rId13"/>
    <p:sldId id="300" r:id="rId14"/>
    <p:sldId id="303" r:id="rId15"/>
    <p:sldId id="297" r:id="rId16"/>
    <p:sldId id="310" r:id="rId17"/>
    <p:sldId id="338" r:id="rId18"/>
    <p:sldId id="346" r:id="rId19"/>
    <p:sldId id="347" r:id="rId20"/>
    <p:sldId id="361" r:id="rId21"/>
    <p:sldId id="452" r:id="rId22"/>
    <p:sldId id="444" r:id="rId23"/>
    <p:sldId id="446" r:id="rId24"/>
    <p:sldId id="447" r:id="rId25"/>
    <p:sldId id="449" r:id="rId26"/>
    <p:sldId id="450" r:id="rId27"/>
    <p:sldId id="451" r:id="rId28"/>
    <p:sldId id="561" r:id="rId29"/>
    <p:sldId id="562" r:id="rId30"/>
    <p:sldId id="558" r:id="rId31"/>
    <p:sldId id="559" r:id="rId32"/>
    <p:sldId id="560" r:id="rId33"/>
    <p:sldId id="53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855" autoAdjust="0"/>
  </p:normalViewPr>
  <p:slideViewPr>
    <p:cSldViewPr snapToGrid="0">
      <p:cViewPr varScale="1">
        <p:scale>
          <a:sx n="67" d="100"/>
          <a:sy n="67" d="100"/>
        </p:scale>
        <p:origin x="10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 modSld sldOrd">
      <pc:chgData name="christopher posadas" userId="c785335156d879ca" providerId="LiveId" clId="{C9D886FB-ED5B-489B-8330-669FD307C29D}" dt="2026-04-22T22:33:15.551" v="8" actId="1076"/>
      <pc:docMkLst>
        <pc:docMk/>
      </pc:docMkLst>
      <pc:sldChg chg="delSp modSp mod">
        <pc:chgData name="christopher posadas" userId="c785335156d879ca" providerId="LiveId" clId="{C9D886FB-ED5B-489B-8330-669FD307C29D}" dt="2026-04-22T22:33:15.551" v="8" actId="1076"/>
        <pc:sldMkLst>
          <pc:docMk/>
          <pc:sldMk cId="2509117399" sldId="256"/>
        </pc:sldMkLst>
        <pc:spChg chg="mod">
          <ac:chgData name="christopher posadas" userId="c785335156d879ca" providerId="LiveId" clId="{C9D886FB-ED5B-489B-8330-669FD307C29D}" dt="2026-04-22T22:33:15.551" v="8" actId="1076"/>
          <ac:spMkLst>
            <pc:docMk/>
            <pc:sldMk cId="2509117399" sldId="256"/>
            <ac:spMk id="9" creationId="{85A3DFF2-5271-B3AC-C1A3-02FF4404C02C}"/>
          </ac:spMkLst>
        </pc:spChg>
        <pc:picChg chg="del">
          <ac:chgData name="christopher posadas" userId="c785335156d879ca" providerId="LiveId" clId="{C9D886FB-ED5B-489B-8330-669FD307C29D}" dt="2026-04-22T22:33:12.158" v="7" actId="478"/>
          <ac:picMkLst>
            <pc:docMk/>
            <pc:sldMk cId="2509117399" sldId="256"/>
            <ac:picMk id="8" creationId="{780977E1-8760-696B-0AC4-BF4C6883D507}"/>
          </ac:picMkLst>
        </pc:picChg>
      </pc:sldChg>
      <pc:sldChg chg="del">
        <pc:chgData name="christopher posadas" userId="c785335156d879ca" providerId="LiveId" clId="{C9D886FB-ED5B-489B-8330-669FD307C29D}" dt="2026-04-22T18:54:52.169" v="0" actId="2696"/>
        <pc:sldMkLst>
          <pc:docMk/>
          <pc:sldMk cId="3763150084" sldId="262"/>
        </pc:sldMkLst>
      </pc:sldChg>
      <pc:sldChg chg="del">
        <pc:chgData name="christopher posadas" userId="c785335156d879ca" providerId="LiveId" clId="{C9D886FB-ED5B-489B-8330-669FD307C29D}" dt="2026-04-22T21:12:02.009" v="4" actId="2696"/>
        <pc:sldMkLst>
          <pc:docMk/>
          <pc:sldMk cId="4268052732" sldId="263"/>
        </pc:sldMkLst>
      </pc:sldChg>
      <pc:sldChg chg="del">
        <pc:chgData name="christopher posadas" userId="c785335156d879ca" providerId="LiveId" clId="{C9D886FB-ED5B-489B-8330-669FD307C29D}" dt="2026-04-22T21:12:02.007" v="3" actId="2696"/>
        <pc:sldMkLst>
          <pc:docMk/>
          <pc:sldMk cId="675369751" sldId="265"/>
        </pc:sldMkLst>
      </pc:sldChg>
      <pc:sldChg chg="del">
        <pc:chgData name="christopher posadas" userId="c785335156d879ca" providerId="LiveId" clId="{C9D886FB-ED5B-489B-8330-669FD307C29D}" dt="2026-04-22T21:12:01.989" v="2" actId="2696"/>
        <pc:sldMkLst>
          <pc:docMk/>
          <pc:sldMk cId="2888682140" sldId="266"/>
        </pc:sldMkLst>
      </pc:sldChg>
      <pc:sldChg chg="ord">
        <pc:chgData name="christopher posadas" userId="c785335156d879ca" providerId="LiveId" clId="{C9D886FB-ED5B-489B-8330-669FD307C29D}" dt="2026-04-22T22:04:52.704" v="5"/>
        <pc:sldMkLst>
          <pc:docMk/>
          <pc:sldMk cId="4142452338" sldId="561"/>
        </pc:sldMkLst>
      </pc:sldChg>
      <pc:sldChg chg="ord">
        <pc:chgData name="christopher posadas" userId="c785335156d879ca" providerId="LiveId" clId="{C9D886FB-ED5B-489B-8330-669FD307C29D}" dt="2026-04-22T22:04:52.713" v="6"/>
        <pc:sldMkLst>
          <pc:docMk/>
          <pc:sldMk cId="2332430866" sldId="562"/>
        </pc:sldMkLst>
      </pc:sldChg>
      <pc:sldChg chg="del">
        <pc:chgData name="christopher posadas" userId="c785335156d879ca" providerId="LiveId" clId="{C9D886FB-ED5B-489B-8330-669FD307C29D}" dt="2026-04-22T21:12:01.929" v="1" actId="2696"/>
        <pc:sldMkLst>
          <pc:docMk/>
          <pc:sldMk cId="224965654" sldId="1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D59C2-381A-411E-932F-E74AADCD057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2BE5-3065-486E-BA5C-8603D95D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12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3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38C4-5D67-AEBA-B5DF-8C6B86AC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FC549-5C61-AD56-4566-1516FC28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8FCC0-EB9A-DE0A-73F9-0426CE2A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BAA2-8E33-6298-D69B-C723BD80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96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12CA-0D7C-EEF6-64EA-34114BD9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DFB00-DB84-FC9E-A9A2-EEF08478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7527-D551-9689-D132-D720ED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402D-3098-0E96-5C3F-CF468B43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D43B-4992-F232-201B-4A285C0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F83B-D189-3EF4-33BE-E29D48DE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7E11-EA7E-1641-F731-0488EEB4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495-9028-D65B-D1B5-335FD58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9D02-9F72-DDAC-139E-B86F6C27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C9339-29D7-3E7A-53CC-1EBEF231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505F-B716-FEFD-2008-BEBA90C2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39AB5-BD86-2D86-B52E-3B625648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6D1-6CCD-BA09-4C46-4E615C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BE1-3FE1-B7C7-BA88-00E87629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7A80-A7F8-C4EB-B8F4-B0D29390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7A63-3371-B23F-C731-8952D92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1336-A053-1BD6-B6FA-7326F0C0F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3DAA-C1FC-DBCB-A833-3A2993FB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2702-0226-D78D-C776-1DF1A390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5A0D-1EAB-9DB6-7108-CEF2A16B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6CCA-46D3-621F-3016-014BB229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47BE-4D8E-DEF6-744B-FA7AE03A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4606-6B70-A571-B197-75D687F4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0E0F-8ECE-2FAB-74E2-65A24390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AA9EC-1D4A-E085-C46D-30B98ED43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009-59CB-F38C-0623-27BECE2B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6733C-AFBB-85EF-4222-DBD3361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9AD6-6630-333F-A96A-C7E2929C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4541F-45D6-9B54-F1CB-FA2E7F0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6BC-8954-56F9-41A0-306CAAF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42D1A-3278-D46C-6E75-F69EF40C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7279-CEA9-EED1-D617-803C54C4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3BF2-8BE4-5012-2C9E-873D3D3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8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D84A-FBAE-7E41-7897-8F1C712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97B-C615-DBB0-3CA4-3E3E75C1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8427-D077-C2AE-15C1-F26F60F7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299-6611-191B-8686-3465A6A0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E03-EB43-FB99-1E97-CF34BD89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ADA9-AA2A-EE5C-5B34-19964AF5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9DA1-E53F-CAA5-C1E2-641DDF51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01CC-A341-ECBA-196E-ED15EB6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4F45-41C2-ADE7-B93C-816FB5B7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110F-29C3-1291-8E10-1875CE7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08B64-6FDA-0F1D-3FEF-802835BF4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7A4A-22B8-0BB2-A130-29C42217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5434E-6357-C812-BC9F-EBF5FE0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DE148-A8C0-B255-95D0-094A292B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9C46-4462-1A28-4C71-524D3EB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1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4AE5-08FF-5556-B5B0-1C8E2102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A74CE-E508-0B59-FF58-49A4B368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BF47-FC4D-CF64-E033-47C21C99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1075-DD6D-FB6A-2339-15445450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4301-4B63-6C54-37CC-B182C312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D762-E8C1-81D7-68E9-7F684B457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C2F3-B9B3-E03B-397A-B050203B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B85E-F91F-19F7-AA99-D8CD073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75FA-2848-FBFF-58AE-988E6B0B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7C1D-5317-8D0A-018E-BADA23F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616B-A4AB-7F06-5575-6FA963B2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8F255-E93D-ECFC-D5D7-925FBECE8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CC538-D6A7-0976-60B7-CDE2E085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B2982-AC71-89DA-673F-EBB719FD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7B2D-AACE-B023-2A10-FA4AE98F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6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7170-D830-A5A2-569E-67BA90D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E393-E4B2-2568-BD5E-90EF701CC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B4F-3347-3A0C-C603-7D8D4A41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C756-6C9A-6C35-A32A-8195D986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FE98-31E2-209C-D456-77E24D6D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3093-5636-E755-B337-88CF6480D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0290"/>
            <a:ext cx="9144000" cy="1207008"/>
          </a:xfrm>
        </p:spPr>
        <p:txBody>
          <a:bodyPr>
            <a:normAutofit/>
          </a:bodyPr>
          <a:lstStyle/>
          <a:p>
            <a:r>
              <a:rPr lang="en-US"/>
              <a:t>Coding and Software Appendix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DF0DC-F1F7-3BF2-7975-74E1D39E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528" y="4983098"/>
            <a:ext cx="9144000" cy="649224"/>
          </a:xfrm>
        </p:spPr>
        <p:txBody>
          <a:bodyPr/>
          <a:lstStyle/>
          <a:p>
            <a:r>
              <a:rPr lang="en-US"/>
              <a:t>Commands, Packages, Notebooks, and Hands-On Workflow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A3DFF2-5271-B3AC-C1A3-02FF4404C02C}"/>
              </a:ext>
            </a:extLst>
          </p:cNvPr>
          <p:cNvSpPr txBox="1">
            <a:spLocks/>
          </p:cNvSpPr>
          <p:nvPr/>
        </p:nvSpPr>
        <p:spPr>
          <a:xfrm>
            <a:off x="1524000" y="4390167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Built from L1, L3, SLR Block, and MLR Block</a:t>
            </a:r>
          </a:p>
        </p:txBody>
      </p:sp>
    </p:spTree>
    <p:extLst>
      <p:ext uri="{BB962C8B-B14F-4D97-AF65-F5344CB8AC3E}">
        <p14:creationId xmlns:p14="http://schemas.microsoft.com/office/powerpoint/2010/main" val="25091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AAE-5E42-AF6A-42AE-00710EC6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386C-1145-9A5B-0ABE-EDAD6135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the primary workflow (ISLP textbook)</a:t>
            </a:r>
          </a:p>
          <a:p>
            <a:r>
              <a:rPr lang="en-US" dirty="0"/>
              <a:t>R is essential for OA4106 next quarter</a:t>
            </a:r>
          </a:p>
          <a:p>
            <a:r>
              <a:rPr lang="en-US" dirty="0"/>
              <a:t>We will work with both</a:t>
            </a:r>
          </a:p>
          <a:p>
            <a:pPr lvl="1"/>
            <a:r>
              <a:rPr lang="en-US" dirty="0"/>
              <a:t>VS Code /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Codespace</a:t>
            </a:r>
            <a:endParaRPr lang="en-US" dirty="0"/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May be done in either Python or R</a:t>
            </a:r>
          </a:p>
          <a:p>
            <a:pPr lvl="1"/>
            <a:r>
              <a:rPr lang="en-US" dirty="0"/>
              <a:t>Some small tasks will explicitly ask for both</a:t>
            </a:r>
          </a:p>
        </p:txBody>
      </p:sp>
    </p:spTree>
    <p:extLst>
      <p:ext uri="{BB962C8B-B14F-4D97-AF65-F5344CB8AC3E}">
        <p14:creationId xmlns:p14="http://schemas.microsoft.com/office/powerpoint/2010/main" val="368867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A8BC-83BC-0EFB-BE2C-770E91CF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Cleaning: Python and 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DCE3-6F76-CFDA-2B1A-63345A6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Loading a dataset as a </a:t>
            </a:r>
            <a:r>
              <a:rPr lang="en-US" dirty="0" err="1"/>
              <a:t>Dataframe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Python: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=[“”, ”NA”, “N/A”])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R: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na.strings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c("", "NA", "N/A"),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820D-76CC-6CE5-4673-F9830A33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5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1868-8396-23BE-414E-E5CC7DB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4022-46FA-E0A2-DE5F-5E9E912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96C7-50AF-B90C-CEE5-ADB0CF1DA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				</a:t>
            </a:r>
            <a:r>
              <a:rPr lang="en-US" sz="2000" dirty="0">
                <a:cs typeface="Courier New" panose="02070309020205020404" pitchFamily="49" charset="0"/>
              </a:rPr>
              <a:t>Counts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r>
              <a:rPr lang="en-US" sz="2000" dirty="0">
                <a:cs typeface="Courier New" panose="02070309020205020404" pitchFamily="49" charset="0"/>
              </a:rPr>
              <a:t> values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df.replace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</a:t>
            </a:r>
            <a:r>
              <a:rPr lang="en-US" sz="2000" dirty="0">
                <a:cs typeface="Courier New" panose="02070309020205020404" pitchFamily="49" charset="0"/>
              </a:rPr>
              <a:t>Converts zeros to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			</a:t>
            </a:r>
            <a:r>
              <a:rPr lang="en-US" sz="2000" dirty="0">
                <a:cs typeface="Courier New" panose="02070309020205020404" pitchFamily="49" charset="0"/>
              </a:rPr>
              <a:t>Counts NA values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0] &lt;- NA				</a:t>
            </a:r>
            <a:r>
              <a:rPr lang="en-US" sz="2000" dirty="0">
                <a:cs typeface="Courier New" panose="02070309020205020404" pitchFamily="49" charset="0"/>
              </a:rPr>
              <a:t>Converts zeros to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A904-B03B-2667-CDD2-FB1EA7D0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FCBE-9B0B-C4AD-2491-CEBB4A0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A12F-2DC9-16BC-CC2A-A720EF44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FE84-4CFC-0983-16CD-30F55DE2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Dropping rows if specific columns are missing: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(subset=["Age",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Age,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59B0-B034-BCFA-92E2-15CE25F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7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4FB3-8F49-9B7C-C0F5-0E2C397E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5D6A-5B57-D874-35F2-C2C1270F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and 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99F0-B259-51E3-9A48-A5D7BDDF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(float)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("category")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format = "%Y-%m-%d")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Technique: Import as strings first, clean values, then convert to numeric or factor once the column is trustworthy.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83CC-0982-2556-FAC5-FC91DDD8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5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026-86B8-9338-B903-FA03788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B96D-AB7F-12AF-3999-35408814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and standardizing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34B2-BCE2-9FB8-1222-79B261AE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Nonstandardized</a:t>
            </a:r>
            <a:r>
              <a:rPr lang="en-US" dirty="0"/>
              <a:t> column titling</a:t>
            </a:r>
          </a:p>
          <a:p>
            <a:pPr lvl="1"/>
            <a:r>
              <a:rPr lang="en-US" dirty="0"/>
              <a:t>“college” vs “school” vs “university”</a:t>
            </a:r>
          </a:p>
          <a:p>
            <a:pPr lvl="1"/>
            <a:r>
              <a:rPr lang="en-US" dirty="0"/>
              <a:t>“miles” vs “</a:t>
            </a:r>
            <a:r>
              <a:rPr lang="en-US" dirty="0" err="1"/>
              <a:t>Miles_Driven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(columns{“college”: “school”})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”: “miles”})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rename(school = college)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rename(miles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14F7-459D-B8DF-AA32-8434F7E6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8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BCD4-4BE8-4F72-68AC-BF32FD27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45D-C1B0-A067-9ABD-4953BAA6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F18E-4AE6-3400-710C-30133F98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Filter rows, select columns, or create new variables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["strength"] == 1]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[["miles", "population"]]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["miles"] /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["population"]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filter(strength == 1)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select(miles, population)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mutate(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miles / population)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B599C-15B3-E403-4DD4-B8328F75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8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F15B-AC1A-CD79-2459-2A5C7261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EB70-4B1B-5232-65E2-CA4E0C6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Cleaning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6EA2-6D54-CB51-AE41-9649D346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825625"/>
            <a:ext cx="1201826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String cleaning</a:t>
            </a:r>
          </a:p>
          <a:p>
            <a:pPr lvl="1"/>
            <a:r>
              <a:rPr lang="en-US" dirty="0"/>
              <a:t>Trimming whitespace</a:t>
            </a:r>
          </a:p>
          <a:p>
            <a:pPr lvl="1"/>
            <a:r>
              <a:rPr lang="en-US" dirty="0"/>
              <a:t>Fixing capitalization</a:t>
            </a:r>
          </a:p>
          <a:p>
            <a:pPr lvl="1"/>
            <a:r>
              <a:rPr lang="en-US" dirty="0"/>
              <a:t>Standardizing Naming Conventions</a:t>
            </a:r>
          </a:p>
          <a:p>
            <a:pPr lvl="2"/>
            <a:r>
              <a:rPr lang="en-US" dirty="0"/>
              <a:t>e.g., “NYC” vs “New York City” or “LA” vs “Los Angeles”</a:t>
            </a:r>
          </a:p>
          <a:p>
            <a:r>
              <a:rPr lang="en-US" dirty="0"/>
              <a:t>Duplicate detection</a:t>
            </a:r>
          </a:p>
          <a:p>
            <a:pPr marL="0" indent="0">
              <a:buNone/>
            </a:pPr>
            <a:r>
              <a:rPr lang="en-US" dirty="0"/>
              <a:t>Python: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r>
              <a:rPr lang="en-US" dirty="0"/>
              <a:t>			   R: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		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(subset=["City", "State"])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distinct(City, State)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.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keep_all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"], keep="first")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Saving cleaned data</a:t>
            </a:r>
          </a:p>
          <a:p>
            <a:pPr lvl="1"/>
            <a:r>
              <a:rPr lang="en-US" dirty="0"/>
              <a:t>e.g., “Pima2” from Lab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50DD-8DB9-4C26-AC88-4635D3D5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45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300" dirty="0"/>
                  <a:t>Categorical / Ordinal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300" dirty="0"/>
                  <a:t> Numerical</a:t>
                </a:r>
              </a:p>
              <a:p>
                <a:pPr marL="0" indent="0">
                  <a:buNone/>
                </a:pPr>
                <a:r>
                  <a:rPr lang="en-US" sz="3300" dirty="0"/>
                  <a:t>R: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boxplot(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pft_data$score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~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pft_data$rank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horizontal=T,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=“Score”,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=“Rank”,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main=“PFT Scores by Rank”)</a:t>
                </a:r>
              </a:p>
              <a:p>
                <a:pPr marL="0" indent="0">
                  <a:buNone/>
                </a:pPr>
                <a:r>
                  <a:rPr lang="en-US" sz="2900" dirty="0"/>
                  <a:t>Python: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seaborn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matplotlib.pyplot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plt.figure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figsize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=(8, 5))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sns.boxplot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data=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x="score",        # horizontal axis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y="rank",         # grouping variable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orient="h"        # horizontal orientation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plt.xlabel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("Score")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plt.ylabel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plt.title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("PFT Scores by 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plt.tight_layout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plt.show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  <a:blipFill>
                <a:blip r:embed="rId2"/>
                <a:stretch>
                  <a:fillRect l="-78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A95-6D0A-334C-55D9-DB9A62EF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  <a:br>
              <a:rPr lang="en-US" dirty="0"/>
            </a:br>
            <a:r>
              <a:rPr lang="en-US" dirty="0"/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7BB1-860B-D4AD-E8D6-1D5ACBD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51AF6-D7E0-FE21-EDBE-C1DB7AD9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7"/>
          <a:stretch>
            <a:fillRect/>
          </a:stretch>
        </p:blipFill>
        <p:spPr>
          <a:xfrm>
            <a:off x="5714999" y="217427"/>
            <a:ext cx="6436785" cy="6423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9E664-520E-5804-4C5D-C8F9586F2252}"/>
              </a:ext>
            </a:extLst>
          </p:cNvPr>
          <p:cNvSpPr txBox="1"/>
          <p:nvPr/>
        </p:nvSpPr>
        <p:spPr>
          <a:xfrm>
            <a:off x="40216" y="2540229"/>
            <a:ext cx="395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body_fat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C9593-6EB7-E962-646E-4E8953A15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5607"/>
            <a:ext cx="5573712" cy="927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27545A-4818-2911-A94C-074F4D1ADD86}"/>
              </a:ext>
            </a:extLst>
          </p:cNvPr>
          <p:cNvSpPr txBox="1"/>
          <p:nvPr/>
        </p:nvSpPr>
        <p:spPr>
          <a:xfrm>
            <a:off x="364942" y="4606888"/>
            <a:ext cx="52087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 numerical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are the diagonal entries histograms?</a:t>
            </a:r>
          </a:p>
        </p:txBody>
      </p:sp>
    </p:spTree>
    <p:extLst>
      <p:ext uri="{BB962C8B-B14F-4D97-AF65-F5344CB8AC3E}">
        <p14:creationId xmlns:p14="http://schemas.microsoft.com/office/powerpoint/2010/main" val="3214503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D09B-3FE0-D864-A4BA-769D9F76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Python/R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13D6-FC66-7C0E-5102-775F7FB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data:</a:t>
            </a:r>
          </a:p>
          <a:p>
            <a:pPr lvl="1"/>
            <a:r>
              <a:rPr lang="en-US" dirty="0"/>
              <a:t>Build a histogram of the </a:t>
            </a:r>
            <a:r>
              <a:rPr lang="en-US" dirty="0" err="1"/>
              <a:t>pft</a:t>
            </a:r>
            <a:r>
              <a:rPr lang="en-US" dirty="0"/>
              <a:t> scores</a:t>
            </a:r>
          </a:p>
          <a:p>
            <a:pPr lvl="1"/>
            <a:r>
              <a:rPr lang="en-US" dirty="0"/>
              <a:t>Overlay the mean, median, and standard deviation lines</a:t>
            </a:r>
          </a:p>
          <a:p>
            <a:pPr lvl="1"/>
            <a:r>
              <a:rPr lang="en-US" dirty="0"/>
              <a:t>Verify the empirical rules and/or Chebyshev’s rule</a:t>
            </a:r>
          </a:p>
          <a:p>
            <a:pPr lvl="1"/>
            <a:r>
              <a:rPr lang="en-US" dirty="0"/>
              <a:t>Create a grouped boxplot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variables.</a:t>
            </a:r>
          </a:p>
          <a:p>
            <a:r>
              <a:rPr lang="en-US" dirty="0"/>
              <a:t>Using the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dataset from the </a:t>
            </a:r>
            <a:r>
              <a:rPr lang="en-US" dirty="0">
                <a:latin typeface="Courier New"/>
                <a:cs typeface="Courier New"/>
              </a:rPr>
              <a:t>faraway</a:t>
            </a:r>
            <a:br>
              <a:rPr lang="en-US" dirty="0"/>
            </a:br>
            <a:r>
              <a:rPr lang="en-US" dirty="0"/>
              <a:t>package:</a:t>
            </a:r>
          </a:p>
          <a:p>
            <a:pPr lvl="1"/>
            <a:r>
              <a:rPr lang="en-US" dirty="0"/>
              <a:t>Run a quick cleaning of the data</a:t>
            </a:r>
          </a:p>
          <a:p>
            <a:pPr lvl="2"/>
            <a:r>
              <a:rPr lang="en-US" dirty="0"/>
              <a:t>Zeros as missing: “triceps”, “insulin”, “</a:t>
            </a:r>
            <a:r>
              <a:rPr lang="en-US" dirty="0" err="1"/>
              <a:t>bmi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Create a correlation heatmap</a:t>
            </a:r>
          </a:p>
          <a:p>
            <a:pPr lvl="1"/>
            <a:r>
              <a:rPr lang="en-US" dirty="0"/>
              <a:t>(Time permitting) Save the clean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 as a</a:t>
            </a:r>
            <a:br>
              <a:rPr lang="en-US" dirty="0"/>
            </a:br>
            <a:r>
              <a:rPr lang="en-US" dirty="0"/>
              <a:t>csv and create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pairplot</a:t>
            </a:r>
            <a:r>
              <a:rPr lang="en-US" dirty="0"/>
              <a:t> and correlation heatmap in Python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latin typeface="Courier New"/>
                <a:cs typeface="Courier New"/>
              </a:rPr>
              <a:t>seaborn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EECD-AABB-70E7-C4C6-DC85A513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3CB-8EFC-9F3E-CD3A-BC5C7D6E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232-86E8-7050-E9B9-0066FF7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Variance and Covariance Defaults in R and Python- It turns out different packages use different calculations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  <a:blipFill>
                <a:blip r:embed="rId3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EB9-5D52-8E6C-04D0-1B5FF486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EC9BD-6485-0DE2-2EC3-AD1A8EEA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16582"/>
              </p:ext>
            </p:extLst>
          </p:nvPr>
        </p:nvGraphicFramePr>
        <p:xfrm>
          <a:off x="492252" y="2520950"/>
          <a:ext cx="11207496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8296">
                  <a:extLst>
                    <a:ext uri="{9D8B030D-6E8A-4147-A177-3AD203B41FA5}">
                      <a16:colId xmlns:a16="http://schemas.microsoft.com/office/drawing/2014/main" val="314012273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97623511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553401059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97891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/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Code 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Covariance Code/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 (base)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statistics; inference-oriented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Python/Pandas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Series.var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 defaults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4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Python/NumPy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linear algebra roots; MLE for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5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Biased (n)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variance, known historical inconsistency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sklearn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ML-oriented; optimization over inference, MLE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83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statsmodels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to mirror R; inference oriented.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25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F54272-0971-78A6-1BFF-4FEADA14149C}"/>
              </a:ext>
            </a:extLst>
          </p:cNvPr>
          <p:cNvSpPr txBox="1"/>
          <p:nvPr/>
        </p:nvSpPr>
        <p:spPr>
          <a:xfrm>
            <a:off x="393192" y="6356350"/>
            <a:ext cx="63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*internally: no specific code to calculate variance/covariance</a:t>
            </a:r>
          </a:p>
        </p:txBody>
      </p:sp>
    </p:spTree>
    <p:extLst>
      <p:ext uri="{BB962C8B-B14F-4D97-AF65-F5344CB8AC3E}">
        <p14:creationId xmlns:p14="http://schemas.microsoft.com/office/powerpoint/2010/main" val="35675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9D-CC0A-AEE4-1015-C0221DC5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D53E-7C43-0BC6-18A6-BA2097C6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to mindfully select the correct package in R and/or  Python?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/>
                  <a:t>Fortunately, no.</a:t>
                </a:r>
              </a:p>
              <a:p>
                <a:pPr lvl="1"/>
                <a:r>
                  <a:rPr lang="en-US" sz="3200" dirty="0"/>
                  <a:t>The functions we use (ex: </a:t>
                </a:r>
                <a:r>
                  <a:rPr lang="en-US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US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US" sz="3200" dirty="0"/>
                  <a:t>in R) automatically select the correct interpretation.</a:t>
                </a:r>
              </a:p>
              <a:p>
                <a:pPr lvl="1"/>
                <a:r>
                  <a:rPr lang="en-US" sz="3200" dirty="0"/>
                  <a:t>We will (hopefully) rarely directly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sz="3200" dirty="0"/>
                  <a:t> for our analyses.</a:t>
                </a:r>
              </a:p>
              <a:p>
                <a:pPr marL="457200" lvl="1" indent="0">
                  <a:buNone/>
                </a:pP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  <a:blipFill>
                <a:blip r:embed="rId3"/>
                <a:stretch>
                  <a:fillRect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C84-9DC1-DB48-D163-9C24FE1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6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E774-B8AF-768F-7164-BBAB01ED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1467-B017-1259-3F61-73C67DD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covariance between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affect the slope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Explore the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Slope vs Cov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Var.ipynb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file in Sakai.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217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FA23-F6E9-82BE-5799-502D5A7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92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 will introduce the basic commands for doing an SLR fit in R, followed by Python.</a:t>
                </a:r>
              </a:p>
              <a:p>
                <a:r>
                  <a:rPr lang="en-US" dirty="0" err="1"/>
                  <a:t>Jupyter</a:t>
                </a:r>
                <a:r>
                  <a:rPr lang="en-US" dirty="0"/>
                  <a:t> Notebook - Simulation to explore effects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slope.</a:t>
                </a:r>
              </a:p>
              <a:p>
                <a:r>
                  <a:rPr lang="en-US" dirty="0"/>
                  <a:t>Examine datasets of your choice in R and Python.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You should now have all the tools you need to complete HW1.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85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EA74-CB4D-D174-6F9C-49FD86C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t-tests?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Python/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, we see linear model summary output with t-test p-values as well.</a:t>
                </a:r>
              </a:p>
              <a:p>
                <a:r>
                  <a:rPr lang="en-US" dirty="0"/>
                  <a:t>For SLR, the t-test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mathematically equivalent</a:t>
                </a:r>
                <a:r>
                  <a:rPr lang="en-US" dirty="0"/>
                  <a:t> to the F-test.</a:t>
                </a:r>
              </a:p>
              <a:p>
                <a:r>
                  <a:rPr lang="en-US" dirty="0"/>
                  <a:t>In MLR, they diverge. We will get into that later this week.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A499-67E6-ABA6-7EE9-4FA7580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29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556C-3761-0AB3-102A-B1ECE3C0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20E5-3ECB-8E53-EEAA-0FBB7D45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in R we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command. The summary of that fit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4AA-4A2B-4633-A380-D1BC22B2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06E75-CB71-EEA3-A90D-54D708DAF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8981"/>
            <a:ext cx="5934903" cy="3991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797B0E-6156-AD0C-53EF-C98343740FD4}"/>
              </a:ext>
            </a:extLst>
          </p:cNvPr>
          <p:cNvCxnSpPr/>
          <p:nvPr/>
        </p:nvCxnSpPr>
        <p:spPr>
          <a:xfrm flipH="1">
            <a:off x="5376333" y="2954867"/>
            <a:ext cx="256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5EAB1D-B970-A496-575E-577A005F7431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regressed onto X (predictor).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EED9D7-D45B-DC2C-DE88-862DB3AC70F4}"/>
              </a:ext>
            </a:extLst>
          </p:cNvPr>
          <p:cNvCxnSpPr>
            <a:cxnSpLocks/>
          </p:cNvCxnSpPr>
          <p:nvPr/>
        </p:nvCxnSpPr>
        <p:spPr>
          <a:xfrm flipH="1">
            <a:off x="4639733" y="3818467"/>
            <a:ext cx="337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1203B-7C42-5B02-BFD9-BA04D9A6A6C1}"/>
              </a:ext>
            </a:extLst>
          </p:cNvPr>
          <p:cNvSpPr txBox="1"/>
          <p:nvPr/>
        </p:nvSpPr>
        <p:spPr>
          <a:xfrm>
            <a:off x="7941733" y="36491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distribution of the residuals.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C1EC5E-5C02-33AA-698C-2BA1F21BB604}"/>
              </a:ext>
            </a:extLst>
          </p:cNvPr>
          <p:cNvCxnSpPr>
            <a:cxnSpLocks/>
          </p:cNvCxnSpPr>
          <p:nvPr/>
        </p:nvCxnSpPr>
        <p:spPr>
          <a:xfrm flipH="1">
            <a:off x="6163733" y="4767819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/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5743B-3CD9-332C-91AE-03ED344A49DA}"/>
              </a:ext>
            </a:extLst>
          </p:cNvPr>
          <p:cNvCxnSpPr>
            <a:cxnSpLocks/>
          </p:cNvCxnSpPr>
          <p:nvPr/>
        </p:nvCxnSpPr>
        <p:spPr>
          <a:xfrm flipH="1">
            <a:off x="6163733" y="5029087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/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Note that its t-statistic has the same p-</a:t>
                </a:r>
                <a:r>
                  <a:rPr lang="en-US" sz="1600" dirty="0" err="1"/>
                  <a:t>val</a:t>
                </a:r>
                <a:r>
                  <a:rPr lang="en-US" sz="1600" dirty="0"/>
                  <a:t> as the F-statistic.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blipFill>
                <a:blip r:embed="rId4"/>
                <a:stretch>
                  <a:fillRect l="-867" t="-1020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20F721-E70B-8BBE-EB36-B99FEDFB7ABA}"/>
              </a:ext>
            </a:extLst>
          </p:cNvPr>
          <p:cNvCxnSpPr>
            <a:cxnSpLocks/>
          </p:cNvCxnSpPr>
          <p:nvPr/>
        </p:nvCxnSpPr>
        <p:spPr>
          <a:xfrm flipH="1">
            <a:off x="6392333" y="6172156"/>
            <a:ext cx="161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/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More on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in MLR.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86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B52AF2-C709-A41B-5FDD-24E943FD0EC4}"/>
              </a:ext>
            </a:extLst>
          </p:cNvPr>
          <p:cNvCxnSpPr>
            <a:cxnSpLocks/>
          </p:cNvCxnSpPr>
          <p:nvPr/>
        </p:nvCxnSpPr>
        <p:spPr>
          <a:xfrm flipH="1">
            <a:off x="6036733" y="6417205"/>
            <a:ext cx="1974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043BCB-BEDE-C90A-676D-E6358CDE5EF3}"/>
              </a:ext>
            </a:extLst>
          </p:cNvPr>
          <p:cNvSpPr txBox="1"/>
          <p:nvPr/>
        </p:nvSpPr>
        <p:spPr>
          <a:xfrm>
            <a:off x="7941733" y="6239461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243354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7" grpId="0"/>
      <p:bldP spid="19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7FA7-10D1-DF00-40DD-4625255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0C99-C803-1271-2E5B-17D3D29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/>
              <a:t> imported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dirty="0"/>
              <a:t>, we build a design matrix (more on that tomorrow) and the output looks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3D3D-772E-B862-862A-682D346B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8CC9-725A-6E1B-13AA-A2EA5869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2" y="2766523"/>
            <a:ext cx="5726118" cy="38316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FFC74C-8290-83D2-F8E2-14AA111F15C4}"/>
              </a:ext>
            </a:extLst>
          </p:cNvPr>
          <p:cNvCxnSpPr>
            <a:cxnSpLocks/>
          </p:cNvCxnSpPr>
          <p:nvPr/>
        </p:nvCxnSpPr>
        <p:spPr>
          <a:xfrm flipH="1">
            <a:off x="3110459" y="2954867"/>
            <a:ext cx="4831274" cy="26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4A92EF-132C-1AD3-B963-575F38A9A316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is the dependent variable.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FE38B-A27D-4A81-43F6-E63A968B070E}"/>
              </a:ext>
            </a:extLst>
          </p:cNvPr>
          <p:cNvCxnSpPr>
            <a:cxnSpLocks/>
          </p:cNvCxnSpPr>
          <p:nvPr/>
        </p:nvCxnSpPr>
        <p:spPr>
          <a:xfrm flipH="1">
            <a:off x="1558977" y="3225500"/>
            <a:ext cx="6382756" cy="219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DEAC8D-5610-2204-1036-A241F1C9A53B}"/>
              </a:ext>
            </a:extLst>
          </p:cNvPr>
          <p:cNvSpPr txBox="1"/>
          <p:nvPr/>
        </p:nvSpPr>
        <p:spPr>
          <a:xfrm>
            <a:off x="7871941" y="3056223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X (predictor) variable.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0E7D1-91C4-CB21-2616-956D460F05FF}"/>
              </a:ext>
            </a:extLst>
          </p:cNvPr>
          <p:cNvCxnSpPr>
            <a:cxnSpLocks/>
          </p:cNvCxnSpPr>
          <p:nvPr/>
        </p:nvCxnSpPr>
        <p:spPr>
          <a:xfrm flipH="1">
            <a:off x="6163733" y="5207385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/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CA375-0C4F-5279-5766-774498BD0751}"/>
              </a:ext>
            </a:extLst>
          </p:cNvPr>
          <p:cNvCxnSpPr>
            <a:cxnSpLocks/>
          </p:cNvCxnSpPr>
          <p:nvPr/>
        </p:nvCxnSpPr>
        <p:spPr>
          <a:xfrm flipH="1">
            <a:off x="6163733" y="5467341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/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blipFill>
                <a:blip r:embed="rId4"/>
                <a:stretch>
                  <a:fillRect l="-867" t="-1754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27B05D-85CF-E04B-0A50-87292AEA2CD3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225500"/>
            <a:ext cx="1983143" cy="69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/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722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5D17D3-A3F9-A9AB-A266-13D32CBD96E2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654733"/>
            <a:ext cx="1983143" cy="55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301CD1-39EB-2E2F-8821-A22010667905}"/>
              </a:ext>
            </a:extLst>
          </p:cNvPr>
          <p:cNvSpPr txBox="1"/>
          <p:nvPr/>
        </p:nvSpPr>
        <p:spPr>
          <a:xfrm>
            <a:off x="7871941" y="4032659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256511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5" grpId="0"/>
      <p:bldP spid="17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Open up your notebooks and datasets from Thursday.</a:t>
                </a:r>
              </a:p>
              <a:p>
                <a:r>
                  <a:rPr lang="en-US" dirty="0"/>
                  <a:t>Using visual EDA (scatterplot matrices and/or correlation heatmaps), compare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values and F-test p-values between different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83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 / 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FALSE</a:t>
            </a:r>
          </a:p>
          <a:p>
            <a:r>
              <a:rPr lang="en-US" dirty="0">
                <a:cs typeface="Courier New" panose="02070309020205020404" pitchFamily="49" charset="0"/>
              </a:rPr>
              <a:t>We used this in the train/test split code yesterday for selecting a single column of data.</a:t>
            </a:r>
          </a:p>
          <a:p>
            <a:r>
              <a:rPr lang="en-US" dirty="0">
                <a:cs typeface="Courier New" panose="02070309020205020404" pitchFamily="49" charset="0"/>
              </a:rPr>
              <a:t>If we take a subset of data that consists of only one column, R likes to convert it to a vector.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This causes issues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model.matrix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 because they expect data frames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]				</a:t>
            </a:r>
            <a:r>
              <a:rPr lang="en-US" sz="2000" dirty="0">
                <a:cs typeface="Courier New" panose="02070309020205020404" pitchFamily="49" charset="0"/>
              </a:rPr>
              <a:t>returns a vector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x_train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[1:3, , drop =FALSE]		</a:t>
            </a:r>
            <a:r>
              <a:rPr lang="en-US" sz="2000" dirty="0">
                <a:cs typeface="Courier New" panose="02070309020205020404" pitchFamily="49" charset="0"/>
              </a:rPr>
              <a:t>preserves a data frame</a:t>
            </a:r>
          </a:p>
          <a:p>
            <a:r>
              <a:rPr lang="en-US" dirty="0">
                <a:cs typeface="Courier New" panose="02070309020205020404" pitchFamily="49" charset="0"/>
              </a:rPr>
              <a:t>In other words, R 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= TRUE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58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AD45-05BA-1943-AB6B-66695BF2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22A4-6273-A5B7-37DB-13A7FC41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 </a:t>
            </a:r>
            <a:r>
              <a:rPr lang="en-US" dirty="0"/>
              <a:t>is a cleaned dataset: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# Do any of the columns in advertising have missing values?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(is.na(advertising))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  0    TV   0    Radio    0    Newspaper    0    Sales    0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EAF6-6BB3-11A9-184F-3C2C58DF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77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9DDB-9F2C-5221-9759-8BACAFFC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ggpairs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46C8F-B11A-6941-1BD7-8474AD7B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1DF40-AFD8-1A9B-E4C5-A8554660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7B9AD4-3655-02AF-07B3-2479A492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GGally</a:t>
            </a:r>
            <a:r>
              <a:rPr lang="en-US" dirty="0"/>
              <a:t> package in R</a:t>
            </a:r>
          </a:p>
        </p:txBody>
      </p:sp>
    </p:spTree>
    <p:extLst>
      <p:ext uri="{BB962C8B-B14F-4D97-AF65-F5344CB8AC3E}">
        <p14:creationId xmlns:p14="http://schemas.microsoft.com/office/powerpoint/2010/main" val="372912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B23E1B-C5FC-D503-E540-90763E45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62EC0F-750B-94A0-22A3-FF8CC762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063C-4F40-64E0-2899-0B65A74A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corrplot</a:t>
            </a:r>
            <a:r>
              <a:rPr lang="en-US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33ED-BD90-3676-278F-8EFDD40A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14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6E8C-AB86-309E-5792-0964CC40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1040-5675-AA68-F7CA-1E270393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R, we build an MLR model with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C077-9A78-9EA7-5B9D-11F373B3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46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265E-015E-7567-CBB1-5E8C4D77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2168-CA6E-81A3-4ECB-72D618A8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5034-BE6C-E305-D56F-BD9C18A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76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we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cs typeface="Courier New" panose="02070309020205020404" pitchFamily="49" charset="0"/>
              </a:rPr>
              <a:t> package: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statsmodels.formula.api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fit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smf.ols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("Y ~ X1 + …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", data=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).fit()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 When using the formula interface, we don’t need to build a design matrix manually.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6559-C09E-3ACC-D667-7B4D7FE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67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0D00-67C2-DDE0-77A4-E74B9B29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CB16-BE0F-E288-83AF-E3879013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EB22-D113-1F24-50B8-B2E7C410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In Python, we want to decide if we are doing </a:t>
            </a:r>
            <a:r>
              <a:rPr lang="en-US" i="1" dirty="0">
                <a:cs typeface="Courier New" panose="02070309020205020404" pitchFamily="49" charset="0"/>
              </a:rPr>
              <a:t>inference</a:t>
            </a:r>
            <a:r>
              <a:rPr lang="en-US" dirty="0">
                <a:cs typeface="Courier New" panose="02070309020205020404" pitchFamily="49" charset="0"/>
              </a:rPr>
              <a:t> or </a:t>
            </a:r>
            <a:r>
              <a:rPr lang="en-US" i="1" dirty="0">
                <a:cs typeface="Courier New" panose="02070309020205020404" pitchFamily="49" charset="0"/>
              </a:rPr>
              <a:t>prediction.</a:t>
            </a:r>
          </a:p>
          <a:p>
            <a:pPr marL="0" indent="0">
              <a:buNone/>
            </a:pPr>
            <a:endParaRPr lang="en-US" i="1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For </a:t>
            </a:r>
            <a:r>
              <a:rPr lang="en-US" b="1" dirty="0">
                <a:cs typeface="Courier New" panose="02070309020205020404" pitchFamily="49" charset="0"/>
              </a:rPr>
              <a:t>prediction</a:t>
            </a:r>
            <a:r>
              <a:rPr lang="en-US" dirty="0">
                <a:cs typeface="Courier New" panose="02070309020205020404" pitchFamily="49" charset="0"/>
              </a:rPr>
              <a:t> we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model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[["X1", "X2", "X3"]],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["Y"])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*No summary output like in 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1F6-16D3-1A40-3A3F-CDB2440A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0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5AD9-8A1C-B14C-DA17-C64B1BB1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Bivariate Model - Software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C044-3053-B4D3-EBC3-A83F2968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plot can be produced with the plot3d and faraway packages, using the script Manilius.R which is posted on Sakai.</a:t>
            </a:r>
          </a:p>
        </p:txBody>
      </p:sp>
    </p:spTree>
    <p:extLst>
      <p:ext uri="{BB962C8B-B14F-4D97-AF65-F5344CB8AC3E}">
        <p14:creationId xmlns:p14="http://schemas.microsoft.com/office/powerpoint/2010/main" val="4142452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2C5B-F13F-93E0-9E64-302FB946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Residual Analysis - Implementation 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FA75-C853-7A63-6CA2-3919D12AE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R or Python: Identify predictors with bad residuals and build new columns. Regress onto those instead.</a:t>
            </a:r>
          </a:p>
        </p:txBody>
      </p:sp>
    </p:spTree>
    <p:extLst>
      <p:ext uri="{BB962C8B-B14F-4D97-AF65-F5344CB8AC3E}">
        <p14:creationId xmlns:p14="http://schemas.microsoft.com/office/powerpoint/2010/main" val="2332430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279F-842E-7DF8-CDB9-CFE1AC45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445C-7A35-6758-252E-A10BBF3B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6A31C-2EFA-3976-D184-73E243E5F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62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data(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head(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statsmodels.api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sm.datasets.stackloss.load_pandas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().data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stackloss.head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7DED-50D6-57B7-C9AF-25DCC9ED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74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0930-9D59-678C-AC26-01582B3F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that Linear Model Fits are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DFD86-2CA5-4A0C-0A2A-5DE6C4C0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X2, data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resid(fit)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sm.add_constant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[[“X1”,”X2”]])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fit=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sm.OLS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(Y, X).fit()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resid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fit.resid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D312A-8B71-CD0A-2FB1-89B52914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15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A031-E8C1-C840-9C26-5869FB7F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Diagnostic Tools – Hands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D24D-FB50-6F5A-87B3-018B21B26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Do/try the following:</a:t>
            </a:r>
          </a:p>
          <a:p>
            <a:pPr lvl="1"/>
            <a:r>
              <a:rPr lang="en-US" dirty="0"/>
              <a:t>Basic EDA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is a clean dataset)</a:t>
            </a:r>
          </a:p>
          <a:p>
            <a:pPr lvl="1"/>
            <a:r>
              <a:rPr lang="en-US" dirty="0"/>
              <a:t>SLR and MLR</a:t>
            </a:r>
          </a:p>
          <a:p>
            <a:pPr lvl="1"/>
            <a:r>
              <a:rPr lang="en-US" dirty="0"/>
              <a:t>Plot residuals against:</a:t>
            </a:r>
          </a:p>
          <a:p>
            <a:pPr lvl="2"/>
            <a:r>
              <a:rPr lang="en-US" dirty="0"/>
              <a:t>Raw Y</a:t>
            </a:r>
          </a:p>
          <a:p>
            <a:pPr lvl="2"/>
            <a:r>
              <a:rPr lang="en-US" dirty="0"/>
              <a:t>Fitted Y</a:t>
            </a:r>
          </a:p>
          <a:p>
            <a:pPr lvl="2"/>
            <a:r>
              <a:rPr lang="en-US" dirty="0"/>
              <a:t>Predictor(s)</a:t>
            </a:r>
          </a:p>
          <a:p>
            <a:pPr lvl="1"/>
            <a:r>
              <a:rPr lang="en-US" dirty="0"/>
              <a:t>Add a new column by transforming a predictor that looks like it might benefit from it. </a:t>
            </a:r>
          </a:p>
          <a:p>
            <a:pPr lvl="2"/>
            <a:r>
              <a:rPr lang="en-US" dirty="0"/>
              <a:t>Ex: 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stackloss$log_airflow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stackloss$Air.Flow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Repeat the above. How did you do?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BB96F-7A24-6BEE-6CBE-E457892D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10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1CDC-501E-1AB2-CAF5-2F59C158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B518-F8C6-42E8-E1E1-38B79407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Diagnostic Tools – Hands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F143-5082-1A8F-1DD6-D47BB63E0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the following in 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fit &lt;-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stack.loss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Air.Flow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Water.Temp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Acid.Conc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., 				data=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plot(fit)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What do we get from this?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	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A8CF6-1391-F3B2-E04C-CCB7947F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5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2243</Words>
  <Application>Microsoft Office PowerPoint</Application>
  <PresentationFormat>Widescreen</PresentationFormat>
  <Paragraphs>323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Courier New</vt:lpstr>
      <vt:lpstr>Office Theme</vt:lpstr>
      <vt:lpstr>Coding and Software Appendix</vt:lpstr>
      <vt:lpstr>Programming Software</vt:lpstr>
      <vt:lpstr>Data Cleaning: Python and R tools</vt:lpstr>
      <vt:lpstr>Identifying and handling missing values</vt:lpstr>
      <vt:lpstr>Identifying and handling missing values</vt:lpstr>
      <vt:lpstr>Detecting and Fixing data types</vt:lpstr>
      <vt:lpstr>Renaming and standardizing columns</vt:lpstr>
      <vt:lpstr>Subsetting rows and columns</vt:lpstr>
      <vt:lpstr>Other Data Cleaning Tools</vt:lpstr>
      <vt:lpstr>Grouped box plot</vt:lpstr>
      <vt:lpstr>Scatterplot Matrix</vt:lpstr>
      <vt:lpstr>Back to Python/R</vt:lpstr>
      <vt:lpstr>Biased vs Unbiased Estimators</vt:lpstr>
      <vt:lpstr>Do we need to mindfully select the correct package in R and/or  Python?</vt:lpstr>
      <vt:lpstr>Follow-up From Yesterday #3</vt:lpstr>
      <vt:lpstr>Back to  R and Python</vt:lpstr>
      <vt:lpstr>What about the t-tests?</vt:lpstr>
      <vt:lpstr>R Output</vt:lpstr>
      <vt:lpstr>Python Output</vt:lpstr>
      <vt:lpstr>Back to  R and Python</vt:lpstr>
      <vt:lpstr>Clarification / Clean Up</vt:lpstr>
      <vt:lpstr>Start with EDA</vt:lpstr>
      <vt:lpstr>ggpairs</vt:lpstr>
      <vt:lpstr>Correlation  Heatmap</vt:lpstr>
      <vt:lpstr>New Commands</vt:lpstr>
      <vt:lpstr>New Commands</vt:lpstr>
      <vt:lpstr>New Commands</vt:lpstr>
      <vt:lpstr>Bivariate Model - Software Note</vt:lpstr>
      <vt:lpstr>Residual Analysis - Implementation Note</vt:lpstr>
      <vt:lpstr>The stackloss Dataset</vt:lpstr>
      <vt:lpstr>Recall that Linear Model Fits are Objects</vt:lpstr>
      <vt:lpstr>Residual Diagnostic Tools – Hands On</vt:lpstr>
      <vt:lpstr>Residual Diagnostic Tools – Hands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6</cp:revision>
  <dcterms:created xsi:type="dcterms:W3CDTF">2026-03-30T14:29:23Z</dcterms:created>
  <dcterms:modified xsi:type="dcterms:W3CDTF">2026-04-22T22:33:16Z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2026-03-30T14:46:15Z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d48e9fd2-069b-42a8-ac90-3320df63b347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