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8"/>
  </p:notesMasterIdLst>
  <p:sldIdLst>
    <p:sldId id="256" r:id="rId5"/>
    <p:sldId id="258" r:id="rId6"/>
    <p:sldId id="274" r:id="rId7"/>
    <p:sldId id="261" r:id="rId8"/>
    <p:sldId id="275" r:id="rId9"/>
    <p:sldId id="262" r:id="rId10"/>
    <p:sldId id="264" r:id="rId11"/>
    <p:sldId id="297" r:id="rId12"/>
    <p:sldId id="265" r:id="rId13"/>
    <p:sldId id="268" r:id="rId14"/>
    <p:sldId id="269" r:id="rId15"/>
    <p:sldId id="293" r:id="rId16"/>
    <p:sldId id="278" r:id="rId17"/>
    <p:sldId id="277" r:id="rId18"/>
    <p:sldId id="279" r:id="rId19"/>
    <p:sldId id="280" r:id="rId20"/>
    <p:sldId id="294" r:id="rId21"/>
    <p:sldId id="283" r:id="rId22"/>
    <p:sldId id="281" r:id="rId23"/>
    <p:sldId id="282" r:id="rId24"/>
    <p:sldId id="302" r:id="rId25"/>
    <p:sldId id="285" r:id="rId26"/>
    <p:sldId id="303" r:id="rId27"/>
    <p:sldId id="290" r:id="rId28"/>
    <p:sldId id="289" r:id="rId29"/>
    <p:sldId id="288" r:id="rId30"/>
    <p:sldId id="286" r:id="rId31"/>
    <p:sldId id="305" r:id="rId32"/>
    <p:sldId id="306" r:id="rId33"/>
    <p:sldId id="307" r:id="rId34"/>
    <p:sldId id="287" r:id="rId35"/>
    <p:sldId id="308" r:id="rId36"/>
    <p:sldId id="310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FC4"/>
    <a:srgbClr val="F8766D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ACA897-CCBB-4CED-8998-3583EA046E44}" v="1" dt="2026-04-22T22:16:42.0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52" autoAdjust="0"/>
    <p:restoredTop sz="86552"/>
  </p:normalViewPr>
  <p:slideViewPr>
    <p:cSldViewPr snapToGrid="0">
      <p:cViewPr varScale="1">
        <p:scale>
          <a:sx n="83" d="100"/>
          <a:sy n="83" d="100"/>
        </p:scale>
        <p:origin x="52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sadas" userId="c785335156d879ca" providerId="LiveId" clId="{C9D886FB-ED5B-489B-8330-669FD307C29D}"/>
    <pc:docChg chg="custSel addSld modSld">
      <pc:chgData name="christopher posadas" userId="c785335156d879ca" providerId="LiveId" clId="{C9D886FB-ED5B-489B-8330-669FD307C29D}" dt="2026-04-22T22:35:05.415" v="2" actId="20577"/>
      <pc:docMkLst>
        <pc:docMk/>
      </pc:docMkLst>
      <pc:sldChg chg="modSp add mod">
        <pc:chgData name="christopher posadas" userId="c785335156d879ca" providerId="LiveId" clId="{C9D886FB-ED5B-489B-8330-669FD307C29D}" dt="2026-04-22T22:35:05.415" v="2" actId="20577"/>
        <pc:sldMkLst>
          <pc:docMk/>
          <pc:sldMk cId="2520088859" sldId="306"/>
        </pc:sldMkLst>
        <pc:spChg chg="mod">
          <ac:chgData name="christopher posadas" userId="c785335156d879ca" providerId="LiveId" clId="{C9D886FB-ED5B-489B-8330-669FD307C29D}" dt="2026-04-22T22:35:05.415" v="2" actId="20577"/>
          <ac:spMkLst>
            <pc:docMk/>
            <pc:sldMk cId="2520088859" sldId="306"/>
            <ac:spMk id="3" creationId="{56BA7DC2-7FDA-1914-E677-41C61AB65D8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3F521-F4D1-444D-88E6-BCBDC8A1A24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357C2-5E1D-41E6-9645-1767E40D4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8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Additional Reasons we need to clean data</a:t>
            </a:r>
          </a:p>
          <a:p>
            <a:endParaRPr lang="en-US" dirty="0"/>
          </a:p>
          <a:p>
            <a:r>
              <a:rPr lang="en-US" dirty="0"/>
              <a:t>Missing or Incomplete Data</a:t>
            </a:r>
          </a:p>
          <a:p>
            <a:r>
              <a:rPr lang="en-US" dirty="0"/>
              <a:t>Inconsistency with survey responses</a:t>
            </a:r>
          </a:p>
          <a:p>
            <a:r>
              <a:rPr lang="en-US" dirty="0"/>
              <a:t>Inconsistent Units or Scales – height in inches vs cm</a:t>
            </a:r>
          </a:p>
          <a:p>
            <a:r>
              <a:rPr lang="en-US" dirty="0"/>
              <a:t>Duplicates</a:t>
            </a:r>
          </a:p>
          <a:p>
            <a:r>
              <a:rPr lang="en-US" dirty="0"/>
              <a:t>Impossible values</a:t>
            </a:r>
          </a:p>
          <a:p>
            <a:r>
              <a:rPr lang="en-US" dirty="0"/>
              <a:t>Incorrect data types – numbers stored as strings, categories as integers, dates as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57C2-5E1D-41E6-9645-1767E40D4E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28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not to impute? Ex: “Did not answer” is itself a category</a:t>
            </a:r>
          </a:p>
          <a:p>
            <a:r>
              <a:rPr lang="en-US" dirty="0"/>
              <a:t>When the variable isn’t needed</a:t>
            </a:r>
          </a:p>
          <a:p>
            <a:r>
              <a:rPr lang="en-US" dirty="0"/>
              <a:t>When missingness is too extensive</a:t>
            </a:r>
          </a:p>
          <a:p>
            <a:r>
              <a:rPr lang="en-US" dirty="0"/>
              <a:t>When imputation would introduce bias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57C2-5E1D-41E6-9645-1767E40D4E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719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Bell curves show up for several reasons. </a:t>
            </a:r>
          </a:p>
          <a:p>
            <a:r>
              <a:rPr lang="en-US" dirty="0"/>
              <a:t>Sometimes it’s the Central Limit Theorem — many small additive effects. </a:t>
            </a:r>
          </a:p>
          <a:p>
            <a:r>
              <a:rPr lang="en-US" dirty="0"/>
              <a:t>- In physics, maximum entropy: if all we know is mean and variance, the most natural shape is the normal. </a:t>
            </a:r>
          </a:p>
          <a:p>
            <a:r>
              <a:rPr lang="en-US" dirty="0"/>
              <a:t>- Biology, symmetry and aggregation. The normal distribution is the ‘default’ shape of randomness.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57C2-5E1D-41E6-9645-1767E40D4E2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51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BD56-10DE-4BAA-806D-A0DF0DFCE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44396-C6B3-6892-281A-5056AD46D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6FBF2-0715-99D0-BBA9-8CB3CAC9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09DE-8109-44F0-8C7E-CFE793DEB423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DBC3C-12FC-F93F-AEBD-F3F9429A2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B88E7-0E3B-4DDD-5293-59AF8174C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2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89A96-0B2D-2E8D-B271-433F4B8C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C0E32-41B2-77F3-3958-10AAE2D3A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7F822-9077-6BC3-6C1D-A810D6DBC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39A2-A1B9-4DAF-987E-C5F6F8B2AB0C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96D09-64CB-01E8-26BE-9317E53B4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1FB24-73E9-13BC-961D-B02BA2AE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DAFBA-D09F-BE45-43EC-4FD8D948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C881F-6DFC-BB0E-1E2E-5DC0494DD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341FF-F5B2-0562-12FD-85D82A45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CC4E-CB0E-4A2B-A15C-872305F0EF2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77F93-4809-799B-89F3-0B4CF36A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62F09-D82D-4526-CBA2-A1E04560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F8F3-E518-5837-9655-4E272CD93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269A6-7BA9-A4E5-9C7B-220FDA280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9B099-9D06-AB2B-A29A-AEDC6906B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ED349-6D13-0872-3C2D-AA06B42A6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2740-153B-4D3F-9334-6E05DF714D5B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181DE-8E6F-8BE0-2221-4BE5A055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BAF78-4068-9688-E4EA-19B2976F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21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CEF9D-B461-9AF4-6C0B-D52C70346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8544C-F870-B59C-4B41-FDAFA1E3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DC4B0-C07D-A3D1-B5BE-120B14A8C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1863F-B07D-A53B-A2A6-B3293D29C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7E071A-5317-3BFA-7F6D-FCB99A79E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260B6E-A2D7-BEDD-D8B5-CF778E7B9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C5C91-DC2B-4871-905F-857B60E8F0C9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F0685C-0169-1716-6107-CF54D4355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70FBDA-F965-68BE-E6F4-631A459B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4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F4281-B184-223B-7363-269C801CA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CDB531-09B3-7C2A-03B3-EEE3BFE14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7DF2-BDFD-43DD-822D-D0F89EEAEB15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F8818E-F575-F6E1-5B95-C02B70EE9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CBB6C-3D82-F94D-E6B0-D88B099CF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54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92F964-5F02-2879-6CF3-1798F46F7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F6CA-3C87-43B0-ACE2-B61A5700DE7A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4ACAD-E229-6838-669D-96712B764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8D8A3-696C-7AB7-2393-71C0403A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0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4338-4EAA-15A3-B188-249FE69E7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8DAE3-FC4B-BB29-E8C0-3B08FBB3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61BD9-A8D0-FE38-D95A-FF13F429F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0CB25-01F0-7041-CC70-4B57DC0E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9462-8B33-45EE-833D-3ABCC66C620D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E74F0-750B-00B9-FDC6-5D1D2875C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6A6C6-4695-329F-5E3F-956BFB8F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29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11D7-1D26-5758-8157-A3891B477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EE0FB2-F6BA-DD07-E5C6-25FED9811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A70B8-CE9A-F0E5-FBCC-FC04E3F3A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431C-5B34-6DAB-589C-5F2C5857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51E4-017A-464E-A06A-69811D32577D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DB368-93F9-4E1F-162D-F21FBFB14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4D7D5-2477-1219-068F-ED6912436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84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9434-9730-DBA5-FF17-C2F2ADEB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49ED3-C88A-D763-B5BB-DE45D382B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991FF-F762-5A82-467B-44E7E013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E9AE-2E6F-4739-BC0F-A181D584D3BB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13CB0-7A7C-2C02-FDF0-7E158B9BA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BEDD9-2468-0132-4B3A-C9569B132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19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0C14C-AB9D-3E02-BF64-D9AAAF816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839D2-707D-A934-4739-F6552D5B7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8FC6A-9D61-2F49-D23F-0E0E6E57E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03DF-E48A-405E-A597-21579A82FC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D5B13-B4DD-0246-5964-67597460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864B-C293-97F7-592D-CAA2F65E0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91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BF365-D77F-B672-FB54-522C669FD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F5A52-2105-60AA-CE03-F844F8620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63C10-F4C3-9191-ADF8-E8CEABC65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2E17C-753A-41BF-85DF-F31E939C9D88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6E080-9AD1-73E4-33B7-D9F36C170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6F518-56D5-42D1-1DB1-457D80F4D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4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ts.stackexchange.com/questions/84158/how-is-the-kurtosis-of-a-distribution-related-to-the-geometry-of-the-density-fun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calcworkshop.com/joint-probability-distribution/chebyshev-inequality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9979-9923-BC09-E841-3BE1A142E3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OA3103: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AF64F-654F-318D-0993-7805F463D3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Exploratory Data Analysis (EDA) and Data Cleaning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DF67D-2F46-5DB7-2CDD-D9D90524D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91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DDCC3-9DA6-6905-5313-176290E35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23777-1EEC-CE1E-CAF3-6D82C55C5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this as “listening to the data.”</a:t>
            </a:r>
          </a:p>
          <a:p>
            <a:r>
              <a:rPr lang="en-US" dirty="0"/>
              <a:t>Gain a big-picture understanding of what the data is telling us.</a:t>
            </a:r>
          </a:p>
          <a:p>
            <a:r>
              <a:rPr lang="en-US" dirty="0"/>
              <a:t>Do this before asking targeted questions of the data.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8675C-09DF-1829-529C-82730EB50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81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2230B-4133-8788-AF0D-BFBF0E000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4AE81-EAAE-3C98-608B-6AB4E1667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934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i="1" dirty="0"/>
              <a:t>variable</a:t>
            </a:r>
            <a:r>
              <a:rPr lang="en-US" dirty="0"/>
              <a:t> is any attribute which may change its value between observations in a data set.</a:t>
            </a:r>
          </a:p>
          <a:p>
            <a:r>
              <a:rPr lang="en-US" dirty="0"/>
              <a:t>Numeric variables: takes numbers as values</a:t>
            </a:r>
          </a:p>
          <a:p>
            <a:pPr lvl="1"/>
            <a:r>
              <a:rPr lang="en-US" dirty="0"/>
              <a:t>Continuous: </a:t>
            </a:r>
            <a:r>
              <a:rPr lang="en-US" i="1" dirty="0"/>
              <a:t>Can</a:t>
            </a:r>
            <a:r>
              <a:rPr lang="en-US" dirty="0"/>
              <a:t> take any value between its minimum and maximum.</a:t>
            </a:r>
          </a:p>
          <a:p>
            <a:pPr lvl="2"/>
            <a:r>
              <a:rPr lang="en-US" dirty="0"/>
              <a:t>ex: age, temperature</a:t>
            </a:r>
          </a:p>
          <a:p>
            <a:pPr lvl="1"/>
            <a:r>
              <a:rPr lang="en-US" dirty="0"/>
              <a:t>Discrete: </a:t>
            </a:r>
            <a:r>
              <a:rPr lang="en-US" i="1" dirty="0"/>
              <a:t>Cannot </a:t>
            </a:r>
            <a:r>
              <a:rPr lang="en-US" dirty="0"/>
              <a:t>take any value between its min and max; usually integers.</a:t>
            </a:r>
          </a:p>
          <a:p>
            <a:pPr lvl="2"/>
            <a:r>
              <a:rPr lang="en-US" dirty="0"/>
              <a:t>ex: number of ice cream flavors, number of Army and Air National Guard officers</a:t>
            </a:r>
          </a:p>
          <a:p>
            <a:r>
              <a:rPr lang="en-US" dirty="0"/>
              <a:t>Ordinal variables: Takes </a:t>
            </a:r>
            <a:r>
              <a:rPr lang="en-US" i="1" dirty="0"/>
              <a:t>ordered</a:t>
            </a:r>
            <a:r>
              <a:rPr lang="en-US" dirty="0"/>
              <a:t> </a:t>
            </a:r>
            <a:r>
              <a:rPr lang="en-US" i="1" dirty="0"/>
              <a:t>categories</a:t>
            </a:r>
            <a:r>
              <a:rPr lang="en-US" dirty="0"/>
              <a:t> as its values</a:t>
            </a:r>
          </a:p>
          <a:p>
            <a:pPr lvl="1"/>
            <a:r>
              <a:rPr lang="en-US" dirty="0"/>
              <a:t>ex: Enlisted ranks</a:t>
            </a:r>
          </a:p>
          <a:p>
            <a:r>
              <a:rPr lang="en-US" dirty="0"/>
              <a:t>Categorical variables: Takes </a:t>
            </a:r>
            <a:r>
              <a:rPr lang="en-US" i="1" dirty="0"/>
              <a:t>unordered categories </a:t>
            </a:r>
            <a:r>
              <a:rPr lang="en-US" dirty="0"/>
              <a:t>as its values</a:t>
            </a:r>
          </a:p>
          <a:p>
            <a:pPr lvl="1"/>
            <a:r>
              <a:rPr lang="en-US" dirty="0"/>
              <a:t>ex: Service branch, property view (“ocean”, “mountain”, etc.)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64938-8961-E4B3-749D-3149CA60E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445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32300-694C-CBE3-0AC8-73339334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data cleaning?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4095B-4E8E-270E-8A8A-A705AE8B6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can be messy/dirty. Why?</a:t>
            </a:r>
          </a:p>
          <a:p>
            <a:pPr lvl="1"/>
            <a:r>
              <a:rPr lang="en-US" dirty="0"/>
              <a:t>Data entry errors</a:t>
            </a:r>
          </a:p>
          <a:p>
            <a:pPr lvl="1"/>
            <a:r>
              <a:rPr lang="en-US" dirty="0"/>
              <a:t>Non-standardization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1B051-3D27-6D37-23AC-14E96B51F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61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F6D2D-CAE1-DA1F-70A5-26CD5FE6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450B5-7162-99EC-F391-5EC9C7AF2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068"/>
            <a:ext cx="10515600" cy="504613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Categorical variables may be recorded in an incorrect variable type in the dataset. </a:t>
            </a:r>
          </a:p>
          <a:p>
            <a:r>
              <a:rPr lang="en-US" dirty="0"/>
              <a:t>Example: Survey Responses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is the “difference” between services?</a:t>
            </a:r>
          </a:p>
          <a:p>
            <a:r>
              <a:rPr lang="en-US" dirty="0"/>
              <a:t>Later: We will examine ways to encode categorical data numerically (binary, one-hot encoding, etc.)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9ABEF-F865-7FAC-391F-330FA4A01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AD710C-2FC0-B9D1-809F-100C23306919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616192"/>
          <a:ext cx="8128000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1112175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204694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Service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207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285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Marine Corps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136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25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Air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8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Space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737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Coast Guard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961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078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3F856-BAA2-A81F-75D9-6072E9971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101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B9702-31CC-EE89-B33D-2231B0E51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Identifying and handling missing values</a:t>
            </a:r>
          </a:p>
          <a:p>
            <a:r>
              <a:rPr lang="en-US" dirty="0"/>
              <a:t>Fixing data types</a:t>
            </a:r>
          </a:p>
          <a:p>
            <a:r>
              <a:rPr lang="en-US" dirty="0"/>
              <a:t>Renaming and standardizing columns</a:t>
            </a:r>
          </a:p>
          <a:p>
            <a:r>
              <a:rPr lang="en-US" dirty="0" err="1"/>
              <a:t>Subsetting</a:t>
            </a:r>
            <a:r>
              <a:rPr lang="en-US" dirty="0"/>
              <a:t> rows and columns</a:t>
            </a:r>
          </a:p>
          <a:p>
            <a:r>
              <a:rPr lang="en-US" dirty="0"/>
              <a:t>Detecting outliers</a:t>
            </a:r>
          </a:p>
          <a:p>
            <a:r>
              <a:rPr lang="en-US" dirty="0"/>
              <a:t>Basic sanity checks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7A91B-7203-B4A1-FF08-3A484F706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62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EE46F-8C46-0604-3681-E496F4CAE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6D38F-F8E6-E344-300D-A8F96C873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and handling missing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05D4B-A1BA-6697-55E8-F32085366A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Detect missingness / count missing values</a:t>
                </a:r>
              </a:p>
              <a:p>
                <a:r>
                  <a:rPr lang="en-US" dirty="0"/>
                  <a:t>Distinguish </a:t>
                </a:r>
                <a:r>
                  <a:rPr lang="en-US" i="1" dirty="0"/>
                  <a:t>true zeros</a:t>
                </a:r>
                <a:r>
                  <a:rPr lang="en-US" dirty="0"/>
                  <a:t> from </a:t>
                </a:r>
                <a:r>
                  <a:rPr lang="en-US" i="1" dirty="0"/>
                  <a:t>missing zeros</a:t>
                </a:r>
              </a:p>
              <a:p>
                <a:pPr lvl="1"/>
                <a:r>
                  <a:rPr lang="en-US" dirty="0"/>
                  <a:t>Weight = 0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This is not a true zero, but a placeholder for missing data</a:t>
                </a:r>
              </a:p>
              <a:p>
                <a:pPr lvl="1"/>
                <a:r>
                  <a:rPr lang="en-US" dirty="0"/>
                  <a:t>Siblings = 0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Valid entry</a:t>
                </a:r>
              </a:p>
              <a:p>
                <a:r>
                  <a:rPr lang="en-US" dirty="0"/>
                  <a:t>Dropping vs. Imputing data</a:t>
                </a:r>
              </a:p>
              <a:p>
                <a:pPr lvl="1"/>
                <a:r>
                  <a:rPr lang="en-US" dirty="0"/>
                  <a:t>Dropping rows is simple, but can remove a lot of data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Justifications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05D4B-A1BA-6697-55E8-F32085366A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6C42C-FC4A-1568-0FB5-0F6CA96E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86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39D31-7925-BE3F-27FB-95F0348EC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0CE3B-D97B-A208-38C1-457FE26C9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and handling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95597-7CB6-B6D5-D084-43A15E96A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005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Imputation: replacing missing values with </a:t>
            </a:r>
            <a:r>
              <a:rPr lang="en-US" i="1" dirty="0"/>
              <a:t>reasonable </a:t>
            </a:r>
            <a:r>
              <a:rPr lang="en-US" dirty="0"/>
              <a:t>substitutes so we don’t lose entire rows of data.</a:t>
            </a:r>
          </a:p>
          <a:p>
            <a:r>
              <a:rPr lang="en-US" dirty="0"/>
              <a:t>Ensure summaries and models can run</a:t>
            </a:r>
          </a:p>
          <a:p>
            <a:r>
              <a:rPr lang="en-US" dirty="0"/>
              <a:t>Dataset remains as representative as possible</a:t>
            </a:r>
          </a:p>
          <a:p>
            <a:pPr lvl="1"/>
            <a:r>
              <a:rPr lang="en-US" dirty="0"/>
              <a:t>Simple (Univariate) Imputation</a:t>
            </a:r>
          </a:p>
          <a:p>
            <a:pPr lvl="2"/>
            <a:r>
              <a:rPr lang="en-US" dirty="0"/>
              <a:t>Mean, Median, Mode, or replace with a constant</a:t>
            </a:r>
          </a:p>
          <a:p>
            <a:pPr lvl="2"/>
            <a:r>
              <a:rPr lang="en-US" dirty="0"/>
              <a:t>Intuitive but can distort distributions</a:t>
            </a:r>
          </a:p>
          <a:p>
            <a:pPr lvl="1"/>
            <a:r>
              <a:rPr lang="en-US" dirty="0"/>
              <a:t>Conditional (Multivariate) Imputation</a:t>
            </a:r>
          </a:p>
          <a:p>
            <a:pPr lvl="2"/>
            <a:r>
              <a:rPr lang="en-US" dirty="0"/>
              <a:t>Use other variables to make better guesses</a:t>
            </a:r>
          </a:p>
          <a:p>
            <a:pPr lvl="2"/>
            <a:r>
              <a:rPr lang="en-US" dirty="0"/>
              <a:t>Regression, k-nearest neighbors (</a:t>
            </a:r>
            <a:r>
              <a:rPr lang="en-US" dirty="0" err="1"/>
              <a:t>kNN</a:t>
            </a:r>
            <a:r>
              <a:rPr lang="en-US" dirty="0"/>
              <a:t>), predictive mean matching</a:t>
            </a:r>
          </a:p>
          <a:p>
            <a:pPr lvl="2"/>
            <a:r>
              <a:rPr lang="en-US" dirty="0"/>
              <a:t>Preserves relationships between variables, but complex and requires modeling assumptions</a:t>
            </a:r>
          </a:p>
          <a:p>
            <a:pPr lvl="1"/>
            <a:r>
              <a:rPr lang="en-US" dirty="0"/>
              <a:t>Multiple Imputation</a:t>
            </a:r>
          </a:p>
          <a:p>
            <a:pPr lvl="2"/>
            <a:r>
              <a:rPr lang="en-US" dirty="0"/>
              <a:t>Create several plausible datasets, analyze each, and combine results</a:t>
            </a:r>
          </a:p>
          <a:p>
            <a:r>
              <a:rPr lang="en-US" dirty="0"/>
              <a:t>Know when </a:t>
            </a:r>
            <a:r>
              <a:rPr lang="en-US" i="1" dirty="0"/>
              <a:t>not </a:t>
            </a:r>
            <a:r>
              <a:rPr lang="en-US" dirty="0"/>
              <a:t>to impute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D46DB-3725-4465-30C5-E9FE04AE2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93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3E239-65C7-A915-E504-3682DE023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1379E-97DA-DBEB-5265-952CA2BDE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Fixing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3F708-68F7-3407-180F-8A412F237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10201" cy="4351338"/>
          </a:xfrm>
        </p:spPr>
        <p:txBody>
          <a:bodyPr/>
          <a:lstStyle/>
          <a:p>
            <a:r>
              <a:rPr lang="en-US" dirty="0"/>
              <a:t>Numeric columns read as strings</a:t>
            </a:r>
          </a:p>
          <a:p>
            <a:r>
              <a:rPr lang="en-US" dirty="0"/>
              <a:t>Categorical variables read as integers</a:t>
            </a:r>
          </a:p>
          <a:p>
            <a:r>
              <a:rPr lang="en-US" dirty="0"/>
              <a:t>Dates read as text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A0E5D-38E4-924A-A1AB-BA839F1FF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83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55FEA-52E3-888D-EAC3-1C61DEAB7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DD863-085E-D7AE-1BEE-154CBAB86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FD40F-9664-A8C2-B409-540B43114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Outliers: </a:t>
            </a:r>
            <a:r>
              <a:rPr lang="en-US" dirty="0"/>
              <a:t>Observations that are unusually far </a:t>
            </a:r>
            <a:br>
              <a:rPr lang="en-US" dirty="0"/>
            </a:br>
            <a:r>
              <a:rPr lang="en-US" dirty="0"/>
              <a:t>from the data, do not follow overall pattern</a:t>
            </a:r>
          </a:p>
          <a:p>
            <a:r>
              <a:rPr lang="en-US" dirty="0"/>
              <a:t>Also consider this during your visual EDA</a:t>
            </a:r>
          </a:p>
          <a:p>
            <a:pPr lvl="1"/>
            <a:r>
              <a:rPr lang="en-US" dirty="0"/>
              <a:t>Histograms</a:t>
            </a:r>
          </a:p>
          <a:p>
            <a:pPr lvl="1"/>
            <a:r>
              <a:rPr lang="en-US" dirty="0"/>
              <a:t>Boxplots</a:t>
            </a:r>
          </a:p>
          <a:p>
            <a:pPr lvl="1"/>
            <a:r>
              <a:rPr lang="en-US" dirty="0"/>
              <a:t>Scatterplots</a:t>
            </a:r>
          </a:p>
          <a:p>
            <a:r>
              <a:rPr lang="en-US" dirty="0"/>
              <a:t>Later: More techniques (e.g., leverage)</a:t>
            </a:r>
          </a:p>
          <a:p>
            <a:endParaRPr lang="en-US" dirty="0"/>
          </a:p>
          <a:p>
            <a:r>
              <a:rPr lang="en-US" i="1" dirty="0"/>
              <a:t>Look</a:t>
            </a:r>
            <a:r>
              <a:rPr lang="en-US" dirty="0"/>
              <a:t> for these before you compute</a:t>
            </a:r>
          </a:p>
          <a:p>
            <a:r>
              <a:rPr lang="en-US" dirty="0"/>
              <a:t>You may be justified in cleaning (removing) outlier data</a:t>
            </a:r>
          </a:p>
          <a:p>
            <a:pPr lvl="1"/>
            <a:r>
              <a:rPr lang="en-US" dirty="0"/>
              <a:t>Remember: </a:t>
            </a:r>
            <a:r>
              <a:rPr lang="en-US" i="1" dirty="0"/>
              <a:t>Repeatable </a:t>
            </a:r>
            <a:r>
              <a:rPr lang="en-US" dirty="0"/>
              <a:t>and</a:t>
            </a:r>
            <a:r>
              <a:rPr lang="en-US" i="1" dirty="0"/>
              <a:t> Defensible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D3D10-BB9B-03EF-6A1D-B8FA314B4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02E33099-12BD-D5CB-4E63-FC4536AD5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279" y="875355"/>
            <a:ext cx="4589721" cy="41770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CFD60E-2801-A83B-7D3A-4940531EDCD6}"/>
              </a:ext>
            </a:extLst>
          </p:cNvPr>
          <p:cNvSpPr txBox="1"/>
          <p:nvPr/>
        </p:nvSpPr>
        <p:spPr>
          <a:xfrm>
            <a:off x="0" y="6567586"/>
            <a:ext cx="5805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3.5.2</a:t>
            </a:r>
          </a:p>
        </p:txBody>
      </p:sp>
    </p:spTree>
    <p:extLst>
      <p:ext uri="{BB962C8B-B14F-4D97-AF65-F5344CB8AC3E}">
        <p14:creationId xmlns:p14="http://schemas.microsoft.com/office/powerpoint/2010/main" val="454612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17139-8C16-97B2-2E5E-E7FCE712E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5E6BE-A806-9DCD-4B71-03CFE8765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sanity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BCDAB-804F-A14A-991D-3255EF9DB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Prof. Alderson: “Be wary of taking data at face value, especially when you don’t know how it was generated.”</a:t>
            </a:r>
          </a:p>
          <a:p>
            <a:pPr lvl="1"/>
            <a:r>
              <a:rPr lang="en-US" dirty="0"/>
              <a:t>Are units consistent?</a:t>
            </a:r>
          </a:p>
          <a:p>
            <a:pPr lvl="1"/>
            <a:r>
              <a:rPr lang="en-US" dirty="0"/>
              <a:t>Are there impossible values?</a:t>
            </a:r>
          </a:p>
          <a:p>
            <a:pPr lvl="1"/>
            <a:r>
              <a:rPr lang="en-US" dirty="0"/>
              <a:t>Does the number of rows match our expectations?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85ACF-CBC3-08D7-61E4-BA769F6DB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240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8AA4A-6670-4EEF-2B4A-A2EA5DBE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673D-198A-89CD-ADF1-DFD99AC19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288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Data-driven studies involve very large datasets</a:t>
            </a:r>
          </a:p>
          <a:p>
            <a:r>
              <a:rPr lang="en-US" dirty="0"/>
              <a:t>Ideally, errors fixed at the data entry point</a:t>
            </a:r>
          </a:p>
          <a:p>
            <a:r>
              <a:rPr lang="en-US" dirty="0"/>
              <a:t>Fix what we can</a:t>
            </a:r>
          </a:p>
          <a:p>
            <a:pPr lvl="1"/>
            <a:r>
              <a:rPr lang="en-US" dirty="0"/>
              <a:t>Standardize variable (column) names across datasets</a:t>
            </a:r>
          </a:p>
          <a:p>
            <a:pPr lvl="1"/>
            <a:r>
              <a:rPr lang="en-US" dirty="0"/>
              <a:t>Parse / remove nonsensical data</a:t>
            </a:r>
          </a:p>
          <a:p>
            <a:r>
              <a:rPr lang="en-US" dirty="0"/>
              <a:t>Numerical issues may be easier to spot</a:t>
            </a:r>
          </a:p>
          <a:p>
            <a:pPr lvl="1"/>
            <a:r>
              <a:rPr lang="en-US" dirty="0"/>
              <a:t>Summary statistics</a:t>
            </a:r>
          </a:p>
          <a:p>
            <a:pPr lvl="1"/>
            <a:r>
              <a:rPr lang="en-US" dirty="0"/>
              <a:t>Visual EDA</a:t>
            </a:r>
          </a:p>
          <a:p>
            <a:r>
              <a:rPr lang="en-US" dirty="0"/>
              <a:t>Our toy example: Errors can be an indicator of credibility of the data source</a:t>
            </a:r>
          </a:p>
          <a:p>
            <a:pPr lvl="1"/>
            <a:r>
              <a:rPr lang="en-US" dirty="0"/>
              <a:t>Maybe we need to find another dataset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C04F0-C820-9760-F3F9-3AB6AEEA3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868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CD1CC-BB31-9E11-7886-222FB9E2B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Number Summary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57773-B98A-2032-B24A-F14DB5714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Ways to characterize the entire distribution of a dataset variable into one number that answers a specific question about the data’s behavior.</a:t>
            </a:r>
          </a:p>
          <a:p>
            <a:r>
              <a:rPr lang="en-US" dirty="0"/>
              <a:t>Measures of Center</a:t>
            </a:r>
          </a:p>
          <a:p>
            <a:r>
              <a:rPr lang="en-US" dirty="0"/>
              <a:t>Measures of Spread</a:t>
            </a:r>
          </a:p>
          <a:p>
            <a:r>
              <a:rPr lang="en-US" dirty="0"/>
              <a:t>Measures of Shape</a:t>
            </a:r>
          </a:p>
          <a:p>
            <a:r>
              <a:rPr lang="en-US" dirty="0"/>
              <a:t>Measures of Extremes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F41F6-2122-1A16-C6DF-0D1CD4716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46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0158E-29E8-0F08-073A-021E6BA7B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Center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8873A-9A33-1C4C-A9E7-EB13115B0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Mean: The center of mass, or “balance point.” </a:t>
            </a:r>
          </a:p>
          <a:p>
            <a:pPr lvl="1"/>
            <a:r>
              <a:rPr lang="en-US" dirty="0"/>
              <a:t>Sensitive to outliers.</a:t>
            </a:r>
          </a:p>
          <a:p>
            <a:r>
              <a:rPr lang="en-US" dirty="0"/>
              <a:t>Median: The middle value when data are ordered.</a:t>
            </a:r>
          </a:p>
          <a:p>
            <a:pPr lvl="1"/>
            <a:r>
              <a:rPr lang="en-US" dirty="0"/>
              <a:t>Robust to outliers.</a:t>
            </a:r>
          </a:p>
          <a:p>
            <a:r>
              <a:rPr lang="en-US" dirty="0"/>
              <a:t>Mode: The most common value.</a:t>
            </a:r>
          </a:p>
          <a:p>
            <a:pPr lvl="1"/>
            <a:r>
              <a:rPr lang="en-US" dirty="0"/>
              <a:t>Useful for categorical data.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D1B02-ED2C-3263-F494-63E8106A0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32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34BB-91F1-C5D5-2DD3-50F80088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Spread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6EF1C8-B7B5-8975-FB7C-22B9A091EA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i="1" dirty="0"/>
                  <a:t>How variable are the data?</a:t>
                </a:r>
                <a:endParaRPr lang="en-US" dirty="0"/>
              </a:p>
              <a:p>
                <a:r>
                  <a:rPr lang="en-US" dirty="0"/>
                  <a:t>Range: Max – Min</a:t>
                </a:r>
              </a:p>
              <a:p>
                <a:r>
                  <a:rPr lang="en-US" dirty="0"/>
                  <a:t>Interquartile Range (IQR):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3−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Variance</a:t>
                </a:r>
              </a:p>
              <a:p>
                <a:pPr lvl="1"/>
                <a:r>
                  <a:rPr lang="en-US" dirty="0"/>
                  <a:t>Average squared deviation from the mean</a:t>
                </a:r>
              </a:p>
              <a:p>
                <a:r>
                  <a:rPr lang="en-US" dirty="0"/>
                  <a:t>Standard Deviation</a:t>
                </a:r>
              </a:p>
              <a:p>
                <a:pPr lvl="1"/>
                <a:r>
                  <a:rPr lang="en-US" dirty="0"/>
                  <a:t>Square root of variance</a:t>
                </a:r>
              </a:p>
              <a:p>
                <a:pPr lvl="1"/>
                <a:r>
                  <a:rPr lang="en-US" dirty="0"/>
                  <a:t>Useful for intuiting units of measure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6EF1C8-B7B5-8975-FB7C-22B9A091EA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C2E76-38CB-7CD4-0F56-50DB5494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D3384446-77F6-752F-02DB-272AF080B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533" y="1027906"/>
            <a:ext cx="4724400" cy="5130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7F1C81-1EF8-B8CA-5533-649134EAFFCF}"/>
              </a:ext>
            </a:extLst>
          </p:cNvPr>
          <p:cNvSpPr txBox="1"/>
          <p:nvPr/>
        </p:nvSpPr>
        <p:spPr>
          <a:xfrm>
            <a:off x="0" y="6538912"/>
            <a:ext cx="5805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3.5.2</a:t>
            </a:r>
          </a:p>
        </p:txBody>
      </p:sp>
    </p:spTree>
    <p:extLst>
      <p:ext uri="{BB962C8B-B14F-4D97-AF65-F5344CB8AC3E}">
        <p14:creationId xmlns:p14="http://schemas.microsoft.com/office/powerpoint/2010/main" val="2598992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D7871-BDC7-85A4-D9F4-86478A569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Shape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B4EFF-52E3-6C16-00E2-D33928DD1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2" descr="undefined">
            <a:extLst>
              <a:ext uri="{FF2B5EF4-FFF2-40B4-BE49-F238E27FC236}">
                <a16:creationId xmlns:a16="http://schemas.microsoft.com/office/drawing/2014/main" id="{3E689D64-B041-479E-ADD2-8D0C94D26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599" y="3519328"/>
            <a:ext cx="7518401" cy="2837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56D2AF-0283-4CCD-C598-2E65D89F7B73}"/>
                  </a:ext>
                </a:extLst>
              </p:cNvPr>
              <p:cNvSpPr txBox="1"/>
              <p:nvPr/>
            </p:nvSpPr>
            <p:spPr>
              <a:xfrm>
                <a:off x="838200" y="1557105"/>
                <a:ext cx="5867400" cy="2310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Third </a:t>
                </a:r>
                <a:r>
                  <a:rPr lang="en-US" i="1" dirty="0"/>
                  <a:t>standardized central</a:t>
                </a:r>
                <a:r>
                  <a:rPr lang="en-US" dirty="0"/>
                  <a:t> moment: </a:t>
                </a:r>
                <a:r>
                  <a:rPr lang="en-US" b="1" dirty="0"/>
                  <a:t>Skewness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Informally: The directional tilt or asymmetry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Formally: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Positive skewness – long / heavy right tail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Negative skewness – long / heavy left tail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56D2AF-0283-4CCD-C598-2E65D89F7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57105"/>
                <a:ext cx="5867400" cy="2310184"/>
              </a:xfrm>
              <a:prstGeom prst="rect">
                <a:avLst/>
              </a:prstGeom>
              <a:blipFill>
                <a:blip r:embed="rId3"/>
                <a:stretch>
                  <a:fillRect l="-866" t="-1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207094E-CE98-7DFD-2EC6-8F6543A4DA3D}"/>
              </a:ext>
            </a:extLst>
          </p:cNvPr>
          <p:cNvSpPr txBox="1"/>
          <p:nvPr/>
        </p:nvSpPr>
        <p:spPr>
          <a:xfrm>
            <a:off x="0" y="6604084"/>
            <a:ext cx="77046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Image source: Jain, D. “Relationship between mean and median under different </a:t>
            </a:r>
            <a:r>
              <a:rPr lang="en-US" sz="1050" dirty="0" err="1"/>
              <a:t>skewness.png</a:t>
            </a:r>
            <a:r>
              <a:rPr lang="en-US" sz="1050" dirty="0"/>
              <a:t>” CC BY SA-4.0.</a:t>
            </a:r>
          </a:p>
        </p:txBody>
      </p:sp>
    </p:spTree>
    <p:extLst>
      <p:ext uri="{BB962C8B-B14F-4D97-AF65-F5344CB8AC3E}">
        <p14:creationId xmlns:p14="http://schemas.microsoft.com/office/powerpoint/2010/main" val="2383109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EDFDD-A7F2-D7A2-FCA0-F86057AC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enter image description here">
            <a:extLst>
              <a:ext uri="{FF2B5EF4-FFF2-40B4-BE49-F238E27FC236}">
                <a16:creationId xmlns:a16="http://schemas.microsoft.com/office/drawing/2014/main" id="{B8B8C289-80AD-0A12-ED38-2525EF9EE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900" y="2317618"/>
            <a:ext cx="8308622" cy="4175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6D9C1E-FFB4-46C0-E735-D6392F93091B}"/>
                  </a:ext>
                </a:extLst>
              </p:cNvPr>
              <p:cNvSpPr txBox="1"/>
              <p:nvPr/>
            </p:nvSpPr>
            <p:spPr>
              <a:xfrm>
                <a:off x="838200" y="1557105"/>
                <a:ext cx="5867400" cy="3140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Fourth </a:t>
                </a:r>
                <a:r>
                  <a:rPr lang="en-US" i="1" dirty="0"/>
                  <a:t>standardized central</a:t>
                </a:r>
                <a:r>
                  <a:rPr lang="en-US" dirty="0"/>
                  <a:t> moment: </a:t>
                </a:r>
                <a:r>
                  <a:rPr lang="en-US" b="1" dirty="0"/>
                  <a:t>Kurtosis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Informally: “Fatness” or tail weight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Formally: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How much probability lives far from the mean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High kurtosis – more extreme values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Low kurtosis – fewer extremes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Excess Kurtosis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endParaRPr lang="en-US" b="1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Normal distribution has kurtosis 3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6D9C1E-FFB4-46C0-E735-D6392F930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57105"/>
                <a:ext cx="5867400" cy="3140027"/>
              </a:xfrm>
              <a:prstGeom prst="rect">
                <a:avLst/>
              </a:prstGeom>
              <a:blipFill>
                <a:blip r:embed="rId3"/>
                <a:stretch>
                  <a:fillRect l="-866" t="-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13983D6-88AE-3E56-4B69-EB4868800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Shape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8C27C-967A-8863-765D-CAB1D96C5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63CB6-594C-D77A-F8C9-63FADE1E0FC8}"/>
              </a:ext>
            </a:extLst>
          </p:cNvPr>
          <p:cNvSpPr txBox="1"/>
          <p:nvPr/>
        </p:nvSpPr>
        <p:spPr>
          <a:xfrm>
            <a:off x="0" y="6538912"/>
            <a:ext cx="907626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Image source: </a:t>
            </a:r>
            <a:r>
              <a:rPr lang="en-US" sz="1050" dirty="0">
                <a:hlinkClick r:id="rId4"/>
              </a:rPr>
              <a:t>https://stats.stackexchange.com/questions/84158/how-is-the-kurtosis-of-a-distribution-related-to-the-geometry-of-the-density-fun</a:t>
            </a:r>
            <a:r>
              <a:rPr lang="en-US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7125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12C6E-AC3D-2125-0CD7-D08575B82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Nonparametric / Quantile Based Analogs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AB6B8-222D-4F8C-9925-8ACA5E94E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measures are more robust to outliers than others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9AD6E-E22A-4E07-D388-B8C154438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16DFCEB-45BB-A039-B7D1-1DCEE1C198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4969971"/>
                  </p:ext>
                </p:extLst>
              </p:nvPr>
            </p:nvGraphicFramePr>
            <p:xfrm>
              <a:off x="905932" y="2501900"/>
              <a:ext cx="10515600" cy="2465451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335868">
                      <a:extLst>
                        <a:ext uri="{9D8B030D-6E8A-4147-A177-3AD203B41FA5}">
                          <a16:colId xmlns:a16="http://schemas.microsoft.com/office/drawing/2014/main" val="3122422946"/>
                        </a:ext>
                      </a:extLst>
                    </a:gridCol>
                    <a:gridCol w="3793067">
                      <a:extLst>
                        <a:ext uri="{9D8B030D-6E8A-4147-A177-3AD203B41FA5}">
                          <a16:colId xmlns:a16="http://schemas.microsoft.com/office/drawing/2014/main" val="102881401"/>
                        </a:ext>
                      </a:extLst>
                    </a:gridCol>
                    <a:gridCol w="3386665">
                      <a:extLst>
                        <a:ext uri="{9D8B030D-6E8A-4147-A177-3AD203B41FA5}">
                          <a16:colId xmlns:a16="http://schemas.microsoft.com/office/drawing/2014/main" val="5902464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Classical (moment-based)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Nonparametric (Quantile-based)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What it captures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076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Center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64312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Variance / SD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IQR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Spread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47191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Skewness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Bowley Skewness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𝑆𝑘𝑒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Asymmetry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51698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Kurtosis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Moors Kurtosis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Tail Weight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67833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16DFCEB-45BB-A039-B7D1-1DCEE1C198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4969971"/>
                  </p:ext>
                </p:extLst>
              </p:nvPr>
            </p:nvGraphicFramePr>
            <p:xfrm>
              <a:off x="905932" y="2501900"/>
              <a:ext cx="10515600" cy="2410778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335868">
                      <a:extLst>
                        <a:ext uri="{9D8B030D-6E8A-4147-A177-3AD203B41FA5}">
                          <a16:colId xmlns:a16="http://schemas.microsoft.com/office/drawing/2014/main" val="3122422946"/>
                        </a:ext>
                      </a:extLst>
                    </a:gridCol>
                    <a:gridCol w="3793067">
                      <a:extLst>
                        <a:ext uri="{9D8B030D-6E8A-4147-A177-3AD203B41FA5}">
                          <a16:colId xmlns:a16="http://schemas.microsoft.com/office/drawing/2014/main" val="102881401"/>
                        </a:ext>
                      </a:extLst>
                    </a:gridCol>
                    <a:gridCol w="3386665">
                      <a:extLst>
                        <a:ext uri="{9D8B030D-6E8A-4147-A177-3AD203B41FA5}">
                          <a16:colId xmlns:a16="http://schemas.microsoft.com/office/drawing/2014/main" val="5902464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Classical (moment-based)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Nonparametric (Quantile-based)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What it captures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076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Center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64312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Variance / SD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IQR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Spread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4719119"/>
                      </a:ext>
                    </a:extLst>
                  </a:tr>
                  <a:tr h="92741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Skewness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294" t="-124658" r="-89967" b="-50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Asymmetry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51698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Kurtosis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Moors Kurtosis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Tail Weight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67833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80493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9444-5A5C-3021-5699-84AF347D6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Extremes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9FD3A-30F7-4D26-2329-06D26B910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Minimum</a:t>
            </a:r>
          </a:p>
          <a:p>
            <a:r>
              <a:rPr lang="en-US" dirty="0"/>
              <a:t>Maximum</a:t>
            </a:r>
          </a:p>
          <a:p>
            <a:r>
              <a:rPr lang="en-US" dirty="0"/>
              <a:t>Outlier Flags</a:t>
            </a:r>
          </a:p>
          <a:p>
            <a:pPr lvl="1"/>
            <a:r>
              <a:rPr lang="en-US" dirty="0"/>
              <a:t>Tukey fences: Named after John Tukey,</a:t>
            </a:r>
            <a:br>
              <a:rPr lang="en-US" dirty="0"/>
            </a:br>
            <a:r>
              <a:rPr lang="en-US" dirty="0"/>
              <a:t>who invented the box plot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EFC65-D99B-492B-AF35-8A8F416EE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72EED60F-39E0-D7FF-FF73-E9EC75191C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533" y="1027906"/>
            <a:ext cx="4724400" cy="5130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F9E1F2-2F81-3B13-E1DA-361D86F026FF}"/>
              </a:ext>
            </a:extLst>
          </p:cNvPr>
          <p:cNvSpPr txBox="1"/>
          <p:nvPr/>
        </p:nvSpPr>
        <p:spPr>
          <a:xfrm>
            <a:off x="0" y="6538912"/>
            <a:ext cx="5805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3.5.2</a:t>
            </a:r>
          </a:p>
        </p:txBody>
      </p:sp>
    </p:spTree>
    <p:extLst>
      <p:ext uri="{BB962C8B-B14F-4D97-AF65-F5344CB8AC3E}">
        <p14:creationId xmlns:p14="http://schemas.microsoft.com/office/powerpoint/2010/main" val="3605495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F3CAC-0217-7888-8ECE-84F829DB7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DA65C-CDCC-F9BD-F801-722067460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 we have focused on numbers to summarize the observations of a variable.</a:t>
            </a:r>
          </a:p>
          <a:p>
            <a:r>
              <a:rPr lang="en-US" dirty="0"/>
              <a:t>Visual EDA uses plots as a powerful tool to show the behavior of these observations.</a:t>
            </a:r>
          </a:p>
          <a:p>
            <a:r>
              <a:rPr lang="en-US" dirty="0"/>
              <a:t>We will tie the single-number summary statistics to this behavior.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90D3F-C0BB-98F5-CA9C-D76EADA24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42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2DB57-DC34-813C-9858-EB8CBB3E9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1B310-3D3B-F510-6046-10741DB2C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EDA -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07B23-A635-7226-1E90-9A06FE31F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Categorize visual EDA into three types, based on how many variables we examine:</a:t>
            </a:r>
          </a:p>
          <a:p>
            <a:pPr lvl="1"/>
            <a:r>
              <a:rPr lang="en-US" dirty="0"/>
              <a:t>Univariate Data – behavior of a single variable (distributions)</a:t>
            </a:r>
          </a:p>
          <a:p>
            <a:pPr lvl="2"/>
            <a:r>
              <a:rPr lang="en-US" dirty="0"/>
              <a:t>ex: ages, heights, service, communities</a:t>
            </a:r>
          </a:p>
          <a:p>
            <a:pPr lvl="1"/>
            <a:r>
              <a:rPr lang="en-US" dirty="0"/>
              <a:t>Bivariate Data – behavior of the </a:t>
            </a:r>
            <a:r>
              <a:rPr lang="en-US" i="1" dirty="0"/>
              <a:t>relationships</a:t>
            </a:r>
            <a:r>
              <a:rPr lang="en-US" dirty="0"/>
              <a:t> between two variables</a:t>
            </a:r>
          </a:p>
          <a:p>
            <a:pPr lvl="2"/>
            <a:r>
              <a:rPr lang="en-US" dirty="0"/>
              <a:t>ex: height vs weight</a:t>
            </a:r>
          </a:p>
          <a:p>
            <a:pPr lvl="1"/>
            <a:r>
              <a:rPr lang="en-US" dirty="0"/>
              <a:t>Multivariate Data – </a:t>
            </a:r>
          </a:p>
          <a:p>
            <a:pPr lvl="2"/>
            <a:r>
              <a:rPr lang="en-US" dirty="0"/>
              <a:t>Suggest interactions between two variables that affect a third</a:t>
            </a:r>
          </a:p>
          <a:p>
            <a:pPr lvl="3"/>
            <a:r>
              <a:rPr lang="en-US" dirty="0"/>
              <a:t>ex: effect of seniority and education on income</a:t>
            </a:r>
          </a:p>
          <a:p>
            <a:pPr lvl="2"/>
            <a:r>
              <a:rPr lang="en-US" dirty="0"/>
              <a:t>Patterns across many bivariate relationships at once</a:t>
            </a:r>
          </a:p>
          <a:p>
            <a:pPr lvl="3"/>
            <a:r>
              <a:rPr lang="en-US" dirty="0"/>
              <a:t>ex: Pairwise behaviors of height, weight, wingspan, and age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13678-C43B-5737-119A-F6B5CDC19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92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F131C-B551-9A91-C317-5D649A5DA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Univariate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94FA7-6127-1C6B-FF16-0E4A1DBDE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Recommended plots per type of variable</a:t>
            </a:r>
          </a:p>
          <a:p>
            <a:r>
              <a:rPr lang="en-US" dirty="0"/>
              <a:t>Categorical data: Bar Plots</a:t>
            </a:r>
          </a:p>
          <a:p>
            <a:r>
              <a:rPr lang="en-US" dirty="0"/>
              <a:t>Numerical data: Histograms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94B3E-555C-EB58-8D4E-123714000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481265-E6CE-D4D3-9C8F-4DB982D50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049" y="1723771"/>
            <a:ext cx="4654299" cy="41718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CA70C9-E7BD-7482-A21F-ABFB9B7773AB}"/>
              </a:ext>
            </a:extLst>
          </p:cNvPr>
          <p:cNvSpPr txBox="1"/>
          <p:nvPr/>
        </p:nvSpPr>
        <p:spPr>
          <a:xfrm>
            <a:off x="0" y="6538912"/>
            <a:ext cx="10145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from the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military</a:t>
            </a:r>
            <a:r>
              <a:rPr lang="en-US" sz="1400" dirty="0"/>
              <a:t> dataset in the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OIdata</a:t>
            </a:r>
            <a:r>
              <a:rPr lang="en-US" sz="1400" dirty="0"/>
              <a:t> package (updated to the “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openintro</a:t>
            </a:r>
            <a:r>
              <a:rPr lang="en-US" sz="1400" dirty="0"/>
              <a:t>” package). </a:t>
            </a:r>
          </a:p>
        </p:txBody>
      </p:sp>
    </p:spTree>
    <p:extLst>
      <p:ext uri="{BB962C8B-B14F-4D97-AF65-F5344CB8AC3E}">
        <p14:creationId xmlns:p14="http://schemas.microsoft.com/office/powerpoint/2010/main" val="309275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6E4C9C1-1203-C035-7956-D81508AD2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977" y="0"/>
            <a:ext cx="453936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5A398B-B23A-3391-FDA6-AD94C6E00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AED23-B087-5646-0F86-07196D274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Visually check:</a:t>
            </a:r>
          </a:p>
          <a:p>
            <a:pPr lvl="1"/>
            <a:r>
              <a:rPr lang="en-US" dirty="0"/>
              <a:t>Symmetry vs Skewness</a:t>
            </a:r>
          </a:p>
          <a:p>
            <a:pPr lvl="1"/>
            <a:r>
              <a:rPr lang="en-US" dirty="0"/>
              <a:t>Multimodality</a:t>
            </a:r>
          </a:p>
          <a:p>
            <a:pPr lvl="2"/>
            <a:r>
              <a:rPr lang="en-US" dirty="0"/>
              <a:t>Unimodal: single peak</a:t>
            </a:r>
          </a:p>
          <a:p>
            <a:pPr lvl="2"/>
            <a:r>
              <a:rPr lang="en-US" dirty="0"/>
              <a:t>Bimodal: two peaks</a:t>
            </a:r>
          </a:p>
          <a:p>
            <a:pPr lvl="2"/>
            <a:r>
              <a:rPr lang="en-US" dirty="0"/>
              <a:t>Multimodal: two or more peaks</a:t>
            </a:r>
          </a:p>
          <a:p>
            <a:pPr lvl="1"/>
            <a:r>
              <a:rPr lang="en-US" dirty="0"/>
              <a:t>Shape</a:t>
            </a:r>
          </a:p>
          <a:p>
            <a:pPr lvl="2"/>
            <a:r>
              <a:rPr lang="en-US" dirty="0"/>
              <a:t>Bell-shaped: Tells us what?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1CD24-574C-868D-E5D8-2FD8D1EC6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2C443E-57C7-F78B-271B-43F573EF9C4A}"/>
              </a:ext>
            </a:extLst>
          </p:cNvPr>
          <p:cNvSpPr txBox="1"/>
          <p:nvPr/>
        </p:nvSpPr>
        <p:spPr>
          <a:xfrm>
            <a:off x="0" y="6538912"/>
            <a:ext cx="10145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Figures 3.2 and 3.3.</a:t>
            </a:r>
          </a:p>
        </p:txBody>
      </p:sp>
    </p:spTree>
    <p:extLst>
      <p:ext uri="{BB962C8B-B14F-4D97-AF65-F5344CB8AC3E}">
        <p14:creationId xmlns:p14="http://schemas.microsoft.com/office/powerpoint/2010/main" val="26462665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34395-47EF-296A-F2C1-BED365A50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014E8-59E0-3A70-4237-7968D38B7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Standard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DA7AC-1F90-BDC0-55E2-CD5744EE2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Empirical Rule:</a:t>
            </a:r>
          </a:p>
          <a:p>
            <a:pPr lvl="1"/>
            <a:r>
              <a:rPr lang="en-US" dirty="0"/>
              <a:t>If the histogram of a set of observations is bell-shaped, or approximately Gaussian (why would this happen?):</a:t>
            </a:r>
          </a:p>
          <a:p>
            <a:pPr lvl="2"/>
            <a:r>
              <a:rPr lang="en-US" sz="2400" dirty="0"/>
              <a:t>About 68% of observations lie within 1 standard deviation of the mean.</a:t>
            </a:r>
          </a:p>
          <a:p>
            <a:pPr lvl="2"/>
            <a:r>
              <a:rPr lang="en-US" sz="2400" dirty="0"/>
              <a:t>About 95% of observations lie within 2 standard deviations of the mean.</a:t>
            </a:r>
          </a:p>
          <a:p>
            <a:pPr lvl="2"/>
            <a:r>
              <a:rPr lang="en-US" sz="2400" dirty="0"/>
              <a:t>About 99.7% of the observations lie within 3 standard deviations of the mean.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D91C5-D1CA-DC88-7289-F9DFDE46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4116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0BFA4-C11C-9E6B-C61D-FA0AC1243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5C0DC-9EA2-DF1D-5E6E-3532B7099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Standard Deviation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E5EE10-CA15-5763-370D-1A7EB7DC6C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about when the data do not appear to be approximately normal?</a:t>
                </a:r>
              </a:p>
              <a:p>
                <a:r>
                  <a:rPr lang="en-US" dirty="0"/>
                  <a:t>We can generalize via </a:t>
                </a:r>
                <a:r>
                  <a:rPr lang="en-US" b="1" dirty="0"/>
                  <a:t>Chebyshev’s Inequality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For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with finite non-zero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and finite mean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, for any real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i="1" dirty="0"/>
                  <a:t>In (slightly more) English:</a:t>
                </a:r>
                <a:r>
                  <a:rPr lang="en-US" dirty="0"/>
                  <a:t> For any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, at least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of the observations lie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standard deviations of the mean.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E5EE10-CA15-5763-370D-1A7EB7DC6C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D1481-6D73-884B-5F66-C2EE53621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366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9B367-60BF-F803-293F-FD067232F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Standard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95216-A956-804E-BC04-95B2AE62F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/>
          <a:lstStyle/>
          <a:p>
            <a:r>
              <a:rPr lang="en-US" dirty="0"/>
              <a:t>Empirical Rule gives us an </a:t>
            </a:r>
            <a:r>
              <a:rPr lang="en-US" i="1" dirty="0"/>
              <a:t>approximate </a:t>
            </a:r>
            <a:r>
              <a:rPr lang="en-US" dirty="0"/>
              <a:t>percentage of the data contained within a window of the mean.</a:t>
            </a:r>
          </a:p>
          <a:p>
            <a:r>
              <a:rPr lang="en-US" dirty="0"/>
              <a:t>Chebyshev gives a </a:t>
            </a:r>
            <a:r>
              <a:rPr lang="en-US" i="1" dirty="0"/>
              <a:t>lower bound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1220B-29F6-E6C7-15C6-4CDC9DDD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26</a:t>
            </a:fld>
            <a:endParaRPr lang="en-US"/>
          </a:p>
        </p:txBody>
      </p:sp>
      <p:pic>
        <p:nvPicPr>
          <p:cNvPr id="3074" name="Picture 2" descr="empirical rule vs chebyshev theorem">
            <a:extLst>
              <a:ext uri="{FF2B5EF4-FFF2-40B4-BE49-F238E27FC236}">
                <a16:creationId xmlns:a16="http://schemas.microsoft.com/office/drawing/2014/main" id="{8954049A-EEF1-B419-F95E-78AACFC02C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0" t="15022" r="4400" b="18844"/>
          <a:stretch>
            <a:fillRect/>
          </a:stretch>
        </p:blipFill>
        <p:spPr bwMode="auto">
          <a:xfrm>
            <a:off x="1718733" y="2929467"/>
            <a:ext cx="8619067" cy="360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FE34E0-AF20-6AFC-8604-6B1D79DF7F56}"/>
              </a:ext>
            </a:extLst>
          </p:cNvPr>
          <p:cNvSpPr txBox="1"/>
          <p:nvPr/>
        </p:nvSpPr>
        <p:spPr>
          <a:xfrm>
            <a:off x="0" y="6590670"/>
            <a:ext cx="10998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Image source: </a:t>
            </a:r>
            <a:r>
              <a:rPr lang="en-US" sz="1100" dirty="0" err="1"/>
              <a:t>CalcWorkshop</a:t>
            </a:r>
            <a:r>
              <a:rPr lang="en-US" sz="1100" dirty="0"/>
              <a:t>. </a:t>
            </a:r>
            <a:r>
              <a:rPr lang="en-US" sz="1100" i="1" dirty="0"/>
              <a:t>Chebyshev’s Inequality</a:t>
            </a:r>
            <a:r>
              <a:rPr lang="en-US" sz="1100" dirty="0"/>
              <a:t>. Retrieved from </a:t>
            </a:r>
            <a:r>
              <a:rPr lang="en-US" sz="1100" dirty="0">
                <a:hlinkClick r:id="rId3"/>
              </a:rPr>
              <a:t>https://calcworkshop.com/joint-probability-distribution/chebyshev-inequality/</a:t>
            </a:r>
            <a:r>
              <a:rPr lang="en-US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57238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49C52-62B7-EDDB-7F14-2AE7B0957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Bivariate Data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1269A22-5777-59E1-2114-AAB686621D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3526577"/>
              </p:ext>
            </p:extLst>
          </p:nvPr>
        </p:nvGraphicFramePr>
        <p:xfrm>
          <a:off x="1439418" y="3132513"/>
          <a:ext cx="9313164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4388">
                  <a:extLst>
                    <a:ext uri="{9D8B030D-6E8A-4147-A177-3AD203B41FA5}">
                      <a16:colId xmlns:a16="http://schemas.microsoft.com/office/drawing/2014/main" val="133389282"/>
                    </a:ext>
                  </a:extLst>
                </a:gridCol>
                <a:gridCol w="3104388">
                  <a:extLst>
                    <a:ext uri="{9D8B030D-6E8A-4147-A177-3AD203B41FA5}">
                      <a16:colId xmlns:a16="http://schemas.microsoft.com/office/drawing/2014/main" val="2215027930"/>
                    </a:ext>
                  </a:extLst>
                </a:gridCol>
                <a:gridCol w="3104388">
                  <a:extLst>
                    <a:ext uri="{9D8B030D-6E8A-4147-A177-3AD203B41FA5}">
                      <a16:colId xmlns:a16="http://schemas.microsoft.com/office/drawing/2014/main" val="4089765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Data Types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Categorical / Ordinal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Numerical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0797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Categorical / Ordinal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Grouped Bar Plot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Grouped Box plot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407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Numerical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Grouped Box Plot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Scatter Plot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060186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299A6-AE86-2056-7CC2-688A44ACE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1937B5A-3076-AFD9-AE23-D21363F0B3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456267"/>
                <a:ext cx="10515600" cy="17578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Examine the relationship between a pair of variables.</a:t>
                </a:r>
              </a:p>
              <a:p>
                <a:r>
                  <a:rPr lang="en-US" dirty="0"/>
                  <a:t>Recommended EDA plots by variable type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variable type: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1937B5A-3076-AFD9-AE23-D21363F0B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56267"/>
                <a:ext cx="10515600" cy="1757849"/>
              </a:xfrm>
              <a:prstGeom prst="rect">
                <a:avLst/>
              </a:prstGeom>
              <a:blipFill>
                <a:blip r:embed="rId2"/>
                <a:stretch>
                  <a:fillRect l="-1043" t="-5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7091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913EC-C6B4-0E96-530D-E12EA6D3F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Bar Plots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8FD10-DE80-9CBF-EE03-86CEB88426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Categorical / Ordinal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Categorical / Ordinal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8FD10-DE80-9CBF-EE03-86CEB88426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2879A-C612-44AC-E60E-C9750B08B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A3A203-6070-E7D8-D058-B2FC8493B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295" y="2514600"/>
            <a:ext cx="4248456" cy="35355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9F233F-F708-75E2-149C-57916A8A8260}"/>
              </a:ext>
            </a:extLst>
          </p:cNvPr>
          <p:cNvSpPr txBox="1"/>
          <p:nvPr/>
        </p:nvSpPr>
        <p:spPr>
          <a:xfrm>
            <a:off x="0" y="6538912"/>
            <a:ext cx="10145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from the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military</a:t>
            </a:r>
            <a:r>
              <a:rPr lang="en-US" sz="1400" dirty="0"/>
              <a:t> dataset in the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OIdata</a:t>
            </a:r>
            <a:r>
              <a:rPr lang="en-US" sz="1400" dirty="0"/>
              <a:t> package (updated to the “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openintro</a:t>
            </a:r>
            <a:r>
              <a:rPr lang="en-US" sz="1400" dirty="0"/>
              <a:t>” package).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A81469-9D96-6828-F12F-30E0FE755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2517" y="2645838"/>
            <a:ext cx="3952751" cy="353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610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B57A7-A88F-C519-AA06-299A54A9C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box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A7DC2-7FDA-1914-E677-41C61AB65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6975348" cy="5029835"/>
          </a:xfrm>
        </p:spPr>
        <p:txBody>
          <a:bodyPr>
            <a:normAutofit fontScale="55000" lnSpcReduction="20000"/>
          </a:bodyPr>
          <a:lstStyle/>
          <a:p>
            <a:r>
              <a:rPr lang="en-US" sz="3300"/>
              <a:t>Categorical / Ordinal x Numerical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173FD-5DE2-5D97-4235-914AA984F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EB1D9E-5B89-2DAB-EB6A-15CF149A1BB6}"/>
              </a:ext>
            </a:extLst>
          </p:cNvPr>
          <p:cNvSpPr txBox="1"/>
          <p:nvPr/>
        </p:nvSpPr>
        <p:spPr>
          <a:xfrm>
            <a:off x="0" y="6538912"/>
            <a:ext cx="10145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source: R (top) and Python/Seaborn (bottom) plots from the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pft.csv </a:t>
            </a:r>
            <a:r>
              <a:rPr lang="en-US" sz="1200" dirty="0"/>
              <a:t>dataset.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F1F583-F093-8F26-5B87-7A16284CC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217" y="232532"/>
            <a:ext cx="4099280" cy="36298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EA36BB-AEDC-36C3-A439-2E4D2FC44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217" y="3862387"/>
            <a:ext cx="4315214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888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53E410-FAC5-0B40-D1A6-39C6CF7A4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30" y="253746"/>
            <a:ext cx="5935442" cy="63505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EE7F35-3E41-DEDB-5CEE-6B78FD4E2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A1107-14B9-4870-1E8E-737637FD81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Numerical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Numerical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A1107-14B9-4870-1E8E-737637FD81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686A9-2316-81CA-F28D-82C262BD5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34B4E4-3D6B-7C8F-6A77-B0CD5F4ECB60}"/>
              </a:ext>
            </a:extLst>
          </p:cNvPr>
          <p:cNvSpPr txBox="1"/>
          <p:nvPr/>
        </p:nvSpPr>
        <p:spPr>
          <a:xfrm>
            <a:off x="0" y="6538912"/>
            <a:ext cx="10145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Figure 3.8.</a:t>
            </a:r>
          </a:p>
        </p:txBody>
      </p:sp>
    </p:spTree>
    <p:extLst>
      <p:ext uri="{BB962C8B-B14F-4D97-AF65-F5344CB8AC3E}">
        <p14:creationId xmlns:p14="http://schemas.microsoft.com/office/powerpoint/2010/main" val="34741276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EE122-310A-4F01-6639-8972BED9C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0A7D3-8AFF-47EC-591E-668E60200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3d scatterplots</a:t>
            </a:r>
          </a:p>
          <a:p>
            <a:r>
              <a:rPr lang="en-US" dirty="0"/>
              <a:t>Scatterplot matrices</a:t>
            </a:r>
          </a:p>
          <a:p>
            <a:r>
              <a:rPr lang="en-US" dirty="0"/>
              <a:t>Correlation Heatmaps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50BAC-7133-B4DA-25E1-E64D7D62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 descr="A diagram of a triangle with red dots and lines&#10;&#10;AI-generated content may be incorrect.">
            <a:extLst>
              <a:ext uri="{FF2B5EF4-FFF2-40B4-BE49-F238E27FC236}">
                <a16:creationId xmlns:a16="http://schemas.microsoft.com/office/drawing/2014/main" id="{FFBB2F80-5302-06CB-6502-0C1F5942F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734" y="522564"/>
            <a:ext cx="5508564" cy="56822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A5A54E-3AE2-BB26-4E23-068E4B0A4C54}"/>
              </a:ext>
            </a:extLst>
          </p:cNvPr>
          <p:cNvSpPr txBox="1"/>
          <p:nvPr/>
        </p:nvSpPr>
        <p:spPr>
          <a:xfrm>
            <a:off x="159488" y="6413698"/>
            <a:ext cx="5805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ISLP</a:t>
            </a:r>
            <a:r>
              <a:rPr lang="en-US" sz="1400" dirty="0"/>
              <a:t> Figure 3.4</a:t>
            </a:r>
          </a:p>
        </p:txBody>
      </p:sp>
    </p:spTree>
    <p:extLst>
      <p:ext uri="{BB962C8B-B14F-4D97-AF65-F5344CB8AC3E}">
        <p14:creationId xmlns:p14="http://schemas.microsoft.com/office/powerpoint/2010/main" val="2602283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B803E6B-578A-7C07-02B8-4F9FEB581AE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Scatterplot matrices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Correlation heatmaps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B803E6B-578A-7C07-02B8-4F9FEB581A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8B742-B9E5-4A9B-6C7E-7A71FBFC3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truly “multivariate”</a:t>
            </a:r>
          </a:p>
          <a:p>
            <a:r>
              <a:rPr lang="en-US" dirty="0"/>
              <a:t>Behavior of many variables together, often summarized through collections of pairwise relationships.</a:t>
            </a:r>
          </a:p>
          <a:p>
            <a:r>
              <a:rPr lang="en-US" dirty="0"/>
              <a:t>As the number of variables grows, pairwise plots become visually dense. </a:t>
            </a:r>
          </a:p>
          <a:p>
            <a:r>
              <a:rPr lang="en-US" dirty="0"/>
              <a:t>Heatmaps can summarize the same information more efficiently.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58807-A7C9-969C-FDA3-F4CFF7A3C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7136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E55EE-C65B-18BC-DF8B-DF298A5D0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</a:t>
            </a:r>
            <a:br>
              <a:rPr lang="en-US" dirty="0"/>
            </a:br>
            <a:r>
              <a:rPr lang="en-US" dirty="0"/>
              <a:t>Heatmap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E4B02B-9E55-DE73-42ED-F5F128E491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4068" y="1825625"/>
                <a:ext cx="4402836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Recall from last week: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Correlation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endParaRPr lang="en-US" sz="2200" dirty="0"/>
              </a:p>
              <a:p>
                <a:pPr marL="0" indent="0">
                  <a:buNone/>
                </a:pPr>
                <a:r>
                  <a:rPr lang="en-US" sz="2200" dirty="0"/>
                  <a:t>Why are the diagonal entries +1?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E4B02B-9E55-DE73-42ED-F5F128E491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4068" y="1825625"/>
                <a:ext cx="4402836" cy="4351338"/>
              </a:xfrm>
              <a:blipFill>
                <a:blip r:embed="rId2"/>
                <a:stretch>
                  <a:fillRect l="-2766" t="-2241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D67BB-94A2-2D8E-BB82-17F935855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8B7A38-A85C-04A0-1A1E-78DE6C6E4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325638"/>
            <a:ext cx="7085076" cy="616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771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5C95BC1-9232-48BA-BC44-46620B8F72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6E6207-86C4-4F84-AC70-AF40681B0BDD}">
  <ds:schemaRefs>
    <ds:schemaRef ds:uri="http://purl.org/dc/dcmitype/"/>
    <ds:schemaRef ds:uri="0e81aeba-3fbe-492c-aacc-230c0d934791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E6E6435-4A2C-4A0D-BAA1-839AFE03DD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81aeba-3fbe-492c-aacc-230c0d934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1438</TotalTime>
  <Words>1757</Words>
  <Application>Microsoft Office PowerPoint</Application>
  <PresentationFormat>Widescreen</PresentationFormat>
  <Paragraphs>317</Paragraphs>
  <Slides>33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Cambria Math</vt:lpstr>
      <vt:lpstr>Courier New</vt:lpstr>
      <vt:lpstr>Office Theme</vt:lpstr>
      <vt:lpstr>OA3103: Data Analysis</vt:lpstr>
      <vt:lpstr>Exploratory Data Analysis</vt:lpstr>
      <vt:lpstr>Variable types</vt:lpstr>
      <vt:lpstr>Why data cleaning?</vt:lpstr>
      <vt:lpstr>Data Cleaning</vt:lpstr>
      <vt:lpstr>Data Cleaning 101</vt:lpstr>
      <vt:lpstr>Identifying and handling missing values</vt:lpstr>
      <vt:lpstr>Identifying and handling missing values</vt:lpstr>
      <vt:lpstr>Fixing data types</vt:lpstr>
      <vt:lpstr>Detecting outliers</vt:lpstr>
      <vt:lpstr>Basic sanity checks</vt:lpstr>
      <vt:lpstr>Realities</vt:lpstr>
      <vt:lpstr>Single Number Summary Statistics</vt:lpstr>
      <vt:lpstr>Measures of Center</vt:lpstr>
      <vt:lpstr>Measures of Spread</vt:lpstr>
      <vt:lpstr>Measures of Shape</vt:lpstr>
      <vt:lpstr>Measures of Shape</vt:lpstr>
      <vt:lpstr>Nonparametric / Quantile Based Analogs</vt:lpstr>
      <vt:lpstr>Measures of Extremes</vt:lpstr>
      <vt:lpstr>Visual EDA</vt:lpstr>
      <vt:lpstr>Visual EDA - Categories</vt:lpstr>
      <vt:lpstr>Univariate Data</vt:lpstr>
      <vt:lpstr>Histograms</vt:lpstr>
      <vt:lpstr>Applications of Standard Deviation</vt:lpstr>
      <vt:lpstr>Applications of Standard Deviation</vt:lpstr>
      <vt:lpstr>Applications of Standard Deviation</vt:lpstr>
      <vt:lpstr>Bivariate Data</vt:lpstr>
      <vt:lpstr>Grouped Bar Plots</vt:lpstr>
      <vt:lpstr>Grouped box plot</vt:lpstr>
      <vt:lpstr>Scatterplots</vt:lpstr>
      <vt:lpstr>Multivariate Data</vt:lpstr>
      <vt:lpstr>Scatterplot matrices → Correlation heatmaps</vt:lpstr>
      <vt:lpstr>Correlation  Heatmap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christopher posadas</cp:lastModifiedBy>
  <cp:revision>9</cp:revision>
  <dcterms:created xsi:type="dcterms:W3CDTF">2026-04-01T15:46:41Z</dcterms:created>
  <dcterms:modified xsi:type="dcterms:W3CDTF">2026-04-22T22:35:05Z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2026-04-01T16:54:00Z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3fe9a577-88ad-49c9-8ede-48a2274d3674</vt:lpwstr>
  </property>
  <property fmtid="{D5CDD505-2E9C-101B-9397-08002B2CF9AE}" pid="8" name="MSIP_Label_acbbd4a6-dc2f-44d9-ad2c-c28d4679873f_ContentBits">
    <vt:lpwstr>0</vt:lpwstr>
  </property>
  <property fmtid="{D5CDD505-2E9C-101B-9397-08002B2CF9AE}" pid="9" name="MSIP_Label_acbbd4a6-dc2f-44d9-ad2c-c28d4679873f_Tag">
    <vt:lpwstr>10, 3, 0, 1</vt:lpwstr>
  </property>
  <property fmtid="{D5CDD505-2E9C-101B-9397-08002B2CF9AE}" pid="10" name="ContentTypeId">
    <vt:lpwstr>0x010100B5C1E69E284ED9449A95CFBB495AA443</vt:lpwstr>
  </property>
</Properties>
</file>