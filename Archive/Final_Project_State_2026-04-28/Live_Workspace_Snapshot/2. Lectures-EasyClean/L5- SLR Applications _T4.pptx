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6" r:id="rId5"/>
    <p:sldId id="308" r:id="rId6"/>
    <p:sldId id="298" r:id="rId7"/>
    <p:sldId id="296" r:id="rId8"/>
    <p:sldId id="299" r:id="rId9"/>
    <p:sldId id="300" r:id="rId10"/>
    <p:sldId id="303" r:id="rId11"/>
    <p:sldId id="297" r:id="rId12"/>
    <p:sldId id="283" r:id="rId13"/>
    <p:sldId id="293" r:id="rId14"/>
    <p:sldId id="284" r:id="rId15"/>
    <p:sldId id="289" r:id="rId16"/>
    <p:sldId id="30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11" autoAdjust="0"/>
    <p:restoredTop sz="82586" autoAdjust="0"/>
  </p:normalViewPr>
  <p:slideViewPr>
    <p:cSldViewPr snapToGrid="0">
      <p:cViewPr varScale="1">
        <p:scale>
          <a:sx n="133" d="100"/>
          <a:sy n="133" d="100"/>
        </p:scale>
        <p:origin x="10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delSld">
      <pc:chgData name="christopher posadas" userId="c785335156d879ca" providerId="LiveId" clId="{C9D886FB-ED5B-489B-8330-669FD307C29D}" dt="2026-04-22T18:55:34.577" v="3" actId="2696"/>
      <pc:docMkLst>
        <pc:docMk/>
      </pc:docMkLst>
      <pc:sldChg chg="del">
        <pc:chgData name="christopher posadas" userId="c785335156d879ca" providerId="LiveId" clId="{C9D886FB-ED5B-489B-8330-669FD307C29D}" dt="2026-04-22T18:34:37.095" v="2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05.653" v="1" actId="2696"/>
        <pc:sldMkLst>
          <pc:docMk/>
          <pc:sldMk cId="2338562287" sldId="302"/>
        </pc:sldMkLst>
      </pc:sldChg>
      <pc:sldChg chg="del">
        <pc:chgData name="christopher posadas" userId="c785335156d879ca" providerId="LiveId" clId="{C9D886FB-ED5B-489B-8330-669FD307C29D}" dt="2026-04-22T18:55:34.577" v="3" actId="2696"/>
        <pc:sldMkLst>
          <pc:docMk/>
          <pc:sldMk cId="1563277104" sldId="305"/>
        </pc:sldMkLst>
      </pc:sldChg>
      <pc:sldChg chg="del">
        <pc:chgData name="christopher posadas" userId="c785335156d879ca" providerId="LiveId" clId="{C9D886FB-ED5B-489B-8330-669FD307C29D}" dt="2026-04-22T18:27:05.650" v="0" actId="2696"/>
        <pc:sldMkLst>
          <pc:docMk/>
          <pc:sldMk cId="712689108" sldId="3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line: “bias” shouldn’t have a stigma attached to it. The unbiased estimator is indeed unbiased by its mathematical definition… but it is not always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45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744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338C4-5D67-AEBA-B5DF-8C6B86AC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FC549-5C61-AD56-4566-1516FC283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8FCC0-EB9A-DE0A-73F9-0426CE2AF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3BAA2-8E33-6298-D69B-C723BD80B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55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F8D2-3011-D4EB-ABF4-1B8EA61F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D77AC-ED9F-9EFA-0079-B4CD79EA8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61F92F6-8D14-FA3E-5B55-FA13DB8892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changes, on average, for a one‑unit change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measures how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ffectLst/>
                  </a:rPr>
                  <a:t>measures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, scaled by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changes, on average, for a one‑unit change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̂_1=𝑠_𝑥𝑦/(𝑠_𝑥^2 )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𝑠_𝑥𝑦</a:t>
                </a:r>
                <a:r>
                  <a:rPr lang="en-US" dirty="0">
                    <a:effectLst/>
                  </a:rPr>
                  <a:t>measures how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𝑠_𝑥^2</a:t>
                </a:r>
                <a:r>
                  <a:rPr lang="en-US" dirty="0">
                    <a:effectLst/>
                  </a:rPr>
                  <a:t>measures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, scaled by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BAA26-FB62-E805-9359-421E9FB87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53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B9BA-E63F-B891-D41B-8044ED91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70841-5999-15BE-B59F-0A0F1B214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2A018-3F97-ACEA-2D4B-0A5DFB787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CBEB9-BD06-B9FD-9E52-DCFF72C2A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40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Simple Linear Regression: Applications in Python and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53AB0-F2B3-AC15-6B8B-556326CD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43D64-B175-AE50-5CDA-FD9300CC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From Yesterday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74DE8B-970C-64AA-66C6-E812E76568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On Variance and Covariance notation: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</a:t>
                </a:r>
                <a:r>
                  <a:rPr lang="en-US" dirty="0"/>
                  <a:t> sample variance for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 </a:t>
                </a:r>
                <a:r>
                  <a:rPr lang="en-US" dirty="0"/>
                  <a:t>sample covariance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Where did the square go?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The statistical derivation reason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Variance is the </a:t>
                </a:r>
                <a:r>
                  <a:rPr lang="en-US" b="1" dirty="0"/>
                  <a:t>second-centralized moment: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reports spread of a single distribution.</a:t>
                </a:r>
              </a:p>
              <a:p>
                <a:pPr lvl="1"/>
                <a:r>
                  <a:rPr lang="en-US" dirty="0"/>
                  <a:t>Ex: Skewness is the </a:t>
                </a:r>
                <a:r>
                  <a:rPr lang="en-US" i="1" dirty="0"/>
                  <a:t>third-standardized moment: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Second moment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square superscript</a:t>
                </a:r>
              </a:p>
              <a:p>
                <a:r>
                  <a:rPr lang="en-US" dirty="0"/>
                  <a:t>Covariance, on the other hand, is a cross-moment that measures co-movement between variables.</a:t>
                </a:r>
              </a:p>
              <a:p>
                <a:pPr lvl="1"/>
                <a:r>
                  <a:rPr lang="en-US" dirty="0"/>
                  <a:t>Not a second moment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no square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74DE8B-970C-64AA-66C6-E812E76568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928" t="-2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C0067-B512-0B7B-9473-02AB64CF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53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BD64A-4FFE-B815-F5CA-F07A099D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4141-F25A-368E-AC82-B503803E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Etymology of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BF001-5C8D-9A23-28F4-6EF38C3CE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On Variance and Covariance notation: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</a:t>
                </a:r>
                <a:r>
                  <a:rPr lang="en-US" dirty="0"/>
                  <a:t> sample variance for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 </a:t>
                </a:r>
                <a:r>
                  <a:rPr lang="en-US" dirty="0"/>
                  <a:t>sample covariance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Where did the square go?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The units reason</a:t>
                </a:r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takes the units-squared of our random variable: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 meters,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 dollars,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evil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Covariance, on the other hand, has units of:</a:t>
                </a:r>
              </a:p>
              <a:p>
                <a:pPr lvl="1"/>
                <a:r>
                  <a:rPr lang="en-US" dirty="0"/>
                  <a:t>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seconds</a:t>
                </a:r>
              </a:p>
              <a:p>
                <a:pPr lvl="1"/>
                <a:r>
                  <a:rPr lang="en-US" dirty="0"/>
                  <a:t>dollars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years</a:t>
                </a:r>
              </a:p>
              <a:p>
                <a:pPr lvl="1"/>
                <a:r>
                  <a:rPr lang="en-US" dirty="0"/>
                  <a:t>inches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lbs.</a:t>
                </a:r>
                <a:br>
                  <a:rPr lang="en-US" dirty="0"/>
                </a:b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BF001-5C8D-9A23-28F4-6EF38C3CE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928" t="-2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E3087-3C0B-318E-46D1-DEAF2EDD6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8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3A102-55DE-FF0D-D527-EFB460A77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96CB-C8A3-7BA5-E238-655EA6B90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From Yesterday #2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68B08-F962-EBE0-6CBA-E4338A35E7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Do we ever select the </a:t>
                </a:r>
                <a:r>
                  <a:rPr lang="en-US" i="1" dirty="0"/>
                  <a:t>biased</a:t>
                </a:r>
                <a:r>
                  <a:rPr lang="en-US" dirty="0"/>
                  <a:t> 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instead of the </a:t>
                </a:r>
                <a:r>
                  <a:rPr lang="en-US" i="1" dirty="0"/>
                  <a:t>unbiased </a:t>
                </a:r>
                <a:r>
                  <a:rPr lang="en-US" dirty="0"/>
                  <a:t>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on purpose?</a:t>
                </a:r>
              </a:p>
              <a:p>
                <a:pPr marL="0" indent="0">
                  <a:buNone/>
                </a:pPr>
                <a:r>
                  <a:rPr lang="en-US" dirty="0"/>
                  <a:t>Answer: </a:t>
                </a:r>
                <a:r>
                  <a:rPr lang="en-US" b="1" dirty="0"/>
                  <a:t>Yes.</a:t>
                </a:r>
              </a:p>
              <a:p>
                <a:pPr lvl="1"/>
                <a:r>
                  <a:rPr lang="en-US" dirty="0"/>
                  <a:t>Remember the bias-variance tradeoff?</a:t>
                </a:r>
              </a:p>
              <a:p>
                <a:pPr lvl="1"/>
                <a:r>
                  <a:rPr lang="en-US" dirty="0"/>
                  <a:t>In OA3102 you showed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which is biased. That’s why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0" dirty="0"/>
                  <a:t> Thus</a:t>
                </a:r>
                <a:br>
                  <a:rPr lang="en-US" b="0" dirty="0"/>
                </a:br>
                <a:endParaRPr lang="en-US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 which is unbiased.</a:t>
                </a:r>
              </a:p>
              <a:p>
                <a:pPr lvl="1"/>
                <a:r>
                  <a:rPr lang="en-US" b="0" dirty="0"/>
                  <a:t>But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which means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so the unbiased estimator has higher variance.</a:t>
                </a:r>
                <a:endParaRPr lang="en-US" b="0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68B08-F962-EBE0-6CBA-E4338A35E7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754" t="-2239" b="-1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99A79-2DFB-4ECC-7D7B-E968CCB0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80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8CA41-19E3-AA39-DA4D-04131ACF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E618-3639-88B9-F71A-59D503472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Biased vs Unbiased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4B67D-2B52-CEF8-0596-5FCE36186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Do we ever select the </a:t>
                </a:r>
                <a:r>
                  <a:rPr lang="en-US" i="1" dirty="0"/>
                  <a:t>biased</a:t>
                </a:r>
                <a:r>
                  <a:rPr lang="en-US" dirty="0"/>
                  <a:t> 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instead of the </a:t>
                </a:r>
                <a:r>
                  <a:rPr lang="en-US" i="1" dirty="0"/>
                  <a:t>unbiased </a:t>
                </a:r>
                <a:r>
                  <a:rPr lang="en-US" dirty="0"/>
                  <a:t>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on purpose?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we might select the </a:t>
                </a:r>
                <a:r>
                  <a:rPr lang="en-US" i="1" dirty="0"/>
                  <a:t>biased </a:t>
                </a:r>
                <a:r>
                  <a:rPr lang="en-US" dirty="0"/>
                  <a:t>estimators:</a:t>
                </a:r>
              </a:p>
              <a:p>
                <a:pPr lvl="1"/>
                <a:r>
                  <a:rPr lang="en-US" b="0" dirty="0"/>
                  <a:t>Strictly going for minimum MSE</a:t>
                </a:r>
              </a:p>
              <a:p>
                <a:pPr lvl="1"/>
                <a:r>
                  <a:rPr lang="en-US" b="0" dirty="0"/>
                  <a:t>Doing maximum likelihood estimation (MLE)</a:t>
                </a:r>
              </a:p>
              <a:p>
                <a:pPr lvl="1"/>
                <a:r>
                  <a:rPr lang="en-US" dirty="0"/>
                  <a:t>We care about prediction, but not inference</a:t>
                </a:r>
              </a:p>
              <a:p>
                <a:pPr lvl="1"/>
                <a:r>
                  <a:rPr lang="en-US" dirty="0"/>
                  <a:t>Examples: ML, signal processing, econometrics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When we might select the </a:t>
                </a:r>
                <a:r>
                  <a:rPr lang="en-US" b="0" i="1" dirty="0"/>
                  <a:t>unbiased </a:t>
                </a:r>
                <a:r>
                  <a:rPr lang="en-US" b="0" dirty="0"/>
                  <a:t>estimators:</a:t>
                </a:r>
              </a:p>
              <a:p>
                <a:pPr lvl="1"/>
                <a:r>
                  <a:rPr lang="en-US" dirty="0"/>
                  <a:t>Performing classical inference</a:t>
                </a:r>
              </a:p>
              <a:p>
                <a:pPr lvl="1"/>
                <a:r>
                  <a:rPr lang="en-US" b="0" dirty="0"/>
                  <a:t>Constructing confidence intervals (CIs)</a:t>
                </a:r>
              </a:p>
              <a:p>
                <a:pPr lvl="1"/>
                <a:r>
                  <a:rPr lang="en-US" dirty="0"/>
                  <a:t>Hypothesis testing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Later, we will work with Ridge and Lasso regression, which are </a:t>
                </a:r>
                <a:r>
                  <a:rPr lang="en-US" b="1" dirty="0"/>
                  <a:t>intentionally biased </a:t>
                </a:r>
                <a:r>
                  <a:rPr lang="en-US" dirty="0"/>
                  <a:t>to</a:t>
                </a:r>
                <a:br>
                  <a:rPr lang="en-US" dirty="0"/>
                </a:br>
                <a:r>
                  <a:rPr lang="en-US" dirty="0"/>
                  <a:t> reduce MSE!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4B67D-2B52-CEF8-0596-5FCE36186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754" t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D296-1EDF-4A6A-BA78-E7CDFE0B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00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93CB-8EFC-9F3E-CD3A-BC5C7D6E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1232-86E8-7050-E9B9-0066FF72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Biased vs Unbiased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435C2-7989-A46D-DB11-668A1D89F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70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r>
                  <a:rPr lang="en-US" dirty="0"/>
                  <a:t>Variance and Covariance Defaults in R and Python- It turns out different packages use different calculations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435C2-7989-A46D-DB11-668A1D89F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7025"/>
                <a:ext cx="10515600" cy="4895850"/>
              </a:xfrm>
              <a:blipFill>
                <a:blip r:embed="rId3"/>
                <a:stretch>
                  <a:fillRect t="-1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D5EB9-5D52-8E6C-04D0-1B5FF486E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9EC9BD-6485-0DE2-2EC3-AD1A8EEA1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716582"/>
              </p:ext>
            </p:extLst>
          </p:nvPr>
        </p:nvGraphicFramePr>
        <p:xfrm>
          <a:off x="492252" y="2520950"/>
          <a:ext cx="11207496" cy="3606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68296">
                  <a:extLst>
                    <a:ext uri="{9D8B030D-6E8A-4147-A177-3AD203B41FA5}">
                      <a16:colId xmlns:a16="http://schemas.microsoft.com/office/drawing/2014/main" val="3140122731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197623511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553401059"/>
                    </a:ext>
                  </a:extLst>
                </a:gridCol>
                <a:gridCol w="4834128">
                  <a:extLst>
                    <a:ext uri="{9D8B030D-6E8A-4147-A177-3AD203B41FA5}">
                      <a16:colId xmlns:a16="http://schemas.microsoft.com/office/drawing/2014/main" val="2978918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Ecosystem /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Variance Code / Default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Covariance Code/ Default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1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 (base)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Classical statistics; inference-oriented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38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35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Python/Pandas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Series.var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DataFrame.cov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Classical statistics defaults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642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375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Python/NumPy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np.var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np.cov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Numerical linear algebra roots; MLE for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753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Biased (n)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variance, known historical inconsistency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173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</a:t>
                      </a:r>
                      <a:r>
                        <a:rPr lang="en-US" dirty="0" err="1"/>
                        <a:t>sklearn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Biased (n)*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Biased (n)*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ML-oriented; optimization over inference, MLE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83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</a:t>
                      </a:r>
                      <a:r>
                        <a:rPr lang="en-US" dirty="0" err="1"/>
                        <a:t>statsmodels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(n-1)*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(n-1)*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to mirror R; inference oriented.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3251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3F54272-0971-78A6-1BFF-4FEADA14149C}"/>
              </a:ext>
            </a:extLst>
          </p:cNvPr>
          <p:cNvSpPr txBox="1"/>
          <p:nvPr/>
        </p:nvSpPr>
        <p:spPr>
          <a:xfrm>
            <a:off x="393192" y="6356350"/>
            <a:ext cx="6355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*internally: no specific code to calculate variance/covariance</a:t>
            </a:r>
          </a:p>
        </p:txBody>
      </p:sp>
    </p:spTree>
    <p:extLst>
      <p:ext uri="{BB962C8B-B14F-4D97-AF65-F5344CB8AC3E}">
        <p14:creationId xmlns:p14="http://schemas.microsoft.com/office/powerpoint/2010/main" val="1281651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939D-CC0A-AEE4-1015-C0221DC5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AD53E-7C43-0BC6-18A6-BA2097C6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to mindfully select the correct package in R and/or  Python?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774E1-7734-45AE-1899-278EC14334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93391"/>
                <a:ext cx="10515600" cy="4499483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sz="3200" dirty="0"/>
                  <a:t>Fortunately, no.</a:t>
                </a:r>
              </a:p>
              <a:p>
                <a:pPr lvl="1"/>
                <a:r>
                  <a:rPr lang="en-US" sz="3200" dirty="0"/>
                  <a:t>The functions we use (ex: </a:t>
                </a:r>
                <a:r>
                  <a:rPr lang="en-US" sz="3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lm</a:t>
                </a:r>
                <a:r>
                  <a:rPr lang="en-US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 </a:t>
                </a:r>
                <a:r>
                  <a:rPr lang="en-US" sz="3200" dirty="0"/>
                  <a:t>in R) automatically select the correct interpretation.</a:t>
                </a:r>
              </a:p>
              <a:p>
                <a:pPr lvl="1"/>
                <a:r>
                  <a:rPr lang="en-US" sz="3200" dirty="0"/>
                  <a:t>We will (hopefully) rarely directly calculate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𝑉𝑎𝑟</m:t>
                    </m:r>
                  </m:oMath>
                </a14:m>
                <a:r>
                  <a:rPr lang="en-US" sz="3200" dirty="0"/>
                  <a:t> 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𝐶𝑜𝑣</m:t>
                    </m:r>
                  </m:oMath>
                </a14:m>
                <a:r>
                  <a:rPr lang="en-US" sz="3200" dirty="0"/>
                  <a:t> for our analyses.</a:t>
                </a:r>
              </a:p>
              <a:p>
                <a:pPr marL="457200" lvl="1" indent="0">
                  <a:buNone/>
                </a:pPr>
                <a:endParaRPr lang="en-US" sz="3200" dirty="0"/>
              </a:p>
              <a:p>
                <a:pPr marL="457200" lvl="1" indent="0">
                  <a:buNone/>
                </a:pPr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774E1-7734-45AE-1899-278EC14334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93391"/>
                <a:ext cx="10515600" cy="4499483"/>
              </a:xfrm>
              <a:blipFill>
                <a:blip r:embed="rId3"/>
                <a:stretch>
                  <a:fillRect t="-2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FCC84-9DC1-DB48-D163-9C24FE1F9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9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3E774-B8AF-768F-7164-BBAB01ED6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1467-B017-1259-3F61-73C67DDE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From Yesterday #3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C37C7-1ECD-C5C2-394F-4BDEA9516C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covariance between observed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affect the slope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Explore the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Slope vs Cov and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Var.ipynb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dirty="0"/>
                  <a:t>file in Sakai.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C37C7-1ECD-C5C2-394F-4BDEA9516C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1217" t="-2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BFA23-F6E9-82BE-5799-502D5A77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59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BED3-ABE5-506E-02A3-45268E96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112773-35CA-E08F-1268-66B397A4F6C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dirty="0"/>
                  <a:t>The Least Squares Estimators for a Single Input Variable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112773-35CA-E08F-1268-66B397A4F6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Our derivations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called the </a:t>
                </a:r>
                <a:r>
                  <a:rPr lang="en-US" b="1" i="1" dirty="0"/>
                  <a:t>Least Squares Estimators</a:t>
                </a:r>
                <a:r>
                  <a:rPr lang="en-US" dirty="0"/>
                  <a:t> because they minimize the empirical mean squared error.</a:t>
                </a:r>
              </a:p>
              <a:p>
                <a:endParaRPr lang="en-US" dirty="0"/>
              </a:p>
              <a:p>
                <a:r>
                  <a:rPr lang="en-US" dirty="0"/>
                  <a:t>We literally built these parameters by deliberately minimizing the mean squared error via calculus.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EEEA3-E865-38C9-78DA-3811E61E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07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0D1F-F5FC-A9E9-738D-74F69C8F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05BE84-74FC-3623-2924-FABFF8AAA76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for SLR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05BE84-74FC-3623-2924-FABFF8AAA7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We showed the </a:t>
                </a:r>
                <a:r>
                  <a:rPr lang="en-US" sz="2400" b="1" i="1" dirty="0"/>
                  <a:t>y-intercept parameter </a:t>
                </a:r>
                <a:r>
                  <a:rPr lang="en-US" sz="2400" dirty="0"/>
                  <a:t>is: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-intercept is a linear relationship   </a:t>
                </a:r>
                <a:br>
                  <a:rPr lang="en-US" sz="2400" dirty="0"/>
                </a:br>
                <a:r>
                  <a:rPr lang="en-US" sz="2400" dirty="0"/>
                  <a:t>   between the </a:t>
                </a:r>
                <a:r>
                  <a:rPr lang="en-US" sz="2400" b="1" dirty="0"/>
                  <a:t>sample means </a:t>
                </a:r>
                <a:r>
                  <a:rPr lang="en-US" sz="2400" dirty="0"/>
                  <a:t>of the observations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0" dirty="0"/>
                  <a:t>”</a:t>
                </a:r>
              </a:p>
              <a:p>
                <a:r>
                  <a:rPr lang="en-US" sz="2400" dirty="0"/>
                  <a:t>Also the </a:t>
                </a:r>
                <a:r>
                  <a:rPr lang="en-US" sz="2400" b="1" i="1" dirty="0"/>
                  <a:t>slope parameter </a:t>
                </a:r>
                <a:r>
                  <a:rPr lang="en-US" sz="2400" dirty="0"/>
                  <a:t>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slope is a proportion of the </a:t>
                </a:r>
                <a:r>
                  <a:rPr lang="en-US" sz="2400" b="1" dirty="0"/>
                  <a:t>sample </a:t>
                </a:r>
                <a:br>
                  <a:rPr lang="en-US" sz="2400" b="1" dirty="0"/>
                </a:br>
                <a:r>
                  <a:rPr lang="en-US" sz="2400" b="1" dirty="0"/>
                  <a:t>   covariance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/>
                  <a:t> and sample 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44" t="-2035" b="-9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D576-1630-E11D-67A2-76D76050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19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218D3B-DA14-407F-5D46-092C3C84DC1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for SLR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218D3B-DA14-407F-5D46-092C3C84D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An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unit.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678C1-8188-238F-CF02-E2D3A583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28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A735-B716-AF31-336B-7685FC7D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4633-6804-73A4-71A5-ABE86D56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We might make any of the following assumptions, in increasing order of preference.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the conditional mean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and hence is the best (minimum MSE) predictor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uncorrelated across observations, we satisfy the assumptions of the </a:t>
                </a:r>
                <a:r>
                  <a:rPr lang="en-US" sz="2400" u="sng" dirty="0"/>
                  <a:t>Simple Linear Regression Model</a:t>
                </a:r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independent across observations, we satisfy the assumptions of the </a:t>
                </a:r>
                <a:r>
                  <a:rPr lang="en-US" sz="2400" u="sng" dirty="0"/>
                  <a:t>Gaussian Noise Simple Linear Regression Model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28" r="-754" b="-2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E71B9-6F5F-6479-B7DD-903861C2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2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F7A7-F862-467F-7580-CF83F21D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 R and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 will introduce the basic commands for doing an SLR fit in R, followed by Python.</a:t>
                </a:r>
              </a:p>
              <a:p>
                <a:r>
                  <a:rPr lang="en-US" dirty="0" err="1"/>
                  <a:t>Jupyter</a:t>
                </a:r>
                <a:r>
                  <a:rPr lang="en-US" dirty="0"/>
                  <a:t> Notebook - Simulation to explore effects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on slope.</a:t>
                </a:r>
              </a:p>
              <a:p>
                <a:r>
                  <a:rPr lang="en-US" dirty="0"/>
                  <a:t>Examine datasets of your choice in R and Python.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You should now have all the tools you need to complete HW1.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FE147-13E5-468D-8C32-88E170D0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31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8BC304-DC2C-4F92-97A0-4E7A9C735621}">
  <ds:schemaRefs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0e81aeba-3fbe-492c-aacc-230c0d934791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E443BDF-FDF7-4AF7-AE5B-91E2340493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466</TotalTime>
  <Words>1168</Words>
  <Application>Microsoft Office PowerPoint</Application>
  <PresentationFormat>Widescreen</PresentationFormat>
  <Paragraphs>164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Follow-up From Yesterday #1</vt:lpstr>
      <vt:lpstr>Etymology of notation</vt:lpstr>
      <vt:lpstr>Follow-up From Yesterday #2</vt:lpstr>
      <vt:lpstr>Biased vs Unbiased Estimators</vt:lpstr>
      <vt:lpstr>Biased vs Unbiased Estimators</vt:lpstr>
      <vt:lpstr>Do we need to mindfully select the correct package in R and/or  Python?</vt:lpstr>
      <vt:lpstr>Follow-up From Yesterday #3</vt:lpstr>
      <vt:lpstr>The Least Squares Estimators for a Single Input Variable X</vt:lpstr>
      <vt:lpstr>Interpretation of β ̂_0 and β ̂_1 for SLR</vt:lpstr>
      <vt:lpstr>Interpretation of β ̂_0 and β ̂_1 for SLR</vt:lpstr>
      <vt:lpstr>Some Common Assumptions</vt:lpstr>
      <vt:lpstr>Back to  R and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7</cp:revision>
  <dcterms:created xsi:type="dcterms:W3CDTF">2026-04-07T19:55:26Z</dcterms:created>
  <dcterms:modified xsi:type="dcterms:W3CDTF">2026-04-22T18:55:35Z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2026-04-07T19:56:46Z</vt:lpwstr>
  </property>
  <property fmtid="{D5CDD505-2E9C-101B-9397-08002B2CF9AE}" pid="5" name="MSIP_Label_acbbd4a6-dc2f-44d9-ad2c-c28d4679873f_Method">
    <vt:lpwstr>Standard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10, 3, 0, 1</vt:lpwstr>
  </property>
</Properties>
</file>