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2"/>
  </p:notesMasterIdLst>
  <p:sldIdLst>
    <p:sldId id="256" r:id="rId5"/>
    <p:sldId id="259" r:id="rId6"/>
    <p:sldId id="260" r:id="rId7"/>
    <p:sldId id="261" r:id="rId8"/>
    <p:sldId id="264" r:id="rId9"/>
    <p:sldId id="262" r:id="rId10"/>
    <p:sldId id="289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0" r:id="rId23"/>
    <p:sldId id="277" r:id="rId24"/>
    <p:sldId id="279" r:id="rId25"/>
    <p:sldId id="280" r:id="rId26"/>
    <p:sldId id="281" r:id="rId27"/>
    <p:sldId id="283" r:id="rId28"/>
    <p:sldId id="293" r:id="rId29"/>
    <p:sldId id="284" r:id="rId30"/>
    <p:sldId id="29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11" autoAdjust="0"/>
    <p:restoredTop sz="82586" autoAdjust="0"/>
  </p:normalViewPr>
  <p:slideViewPr>
    <p:cSldViewPr snapToGrid="0">
      <p:cViewPr varScale="1">
        <p:scale>
          <a:sx n="133" d="100"/>
          <a:sy n="133" d="100"/>
        </p:scale>
        <p:origin x="10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9:56:35.537" v="7" actId="2696"/>
      <pc:docMkLst>
        <pc:docMk/>
      </pc:docMkLst>
      <pc:sldChg chg="del">
        <pc:chgData name="christopher posadas" userId="c785335156d879ca" providerId="LiveId" clId="{C9D886FB-ED5B-489B-8330-669FD307C29D}" dt="2026-04-22T18:34:26.297" v="2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9:56:35.369" v="5" actId="2696"/>
        <pc:sldMkLst>
          <pc:docMk/>
          <pc:sldMk cId="2935875793" sldId="278"/>
        </pc:sldMkLst>
      </pc:sldChg>
      <pc:sldChg chg="del">
        <pc:chgData name="christopher posadas" userId="c785335156d879ca" providerId="LiveId" clId="{C9D886FB-ED5B-489B-8330-669FD307C29D}" dt="2026-04-22T19:56:35.120" v="3" actId="2696"/>
        <pc:sldMkLst>
          <pc:docMk/>
          <pc:sldMk cId="1024711986" sldId="285"/>
        </pc:sldMkLst>
      </pc:sldChg>
      <pc:sldChg chg="del">
        <pc:chgData name="christopher posadas" userId="c785335156d879ca" providerId="LiveId" clId="{C9D886FB-ED5B-489B-8330-669FD307C29D}" dt="2026-04-22T18:27:01.225" v="0" actId="2696"/>
        <pc:sldMkLst>
          <pc:docMk/>
          <pc:sldMk cId="707837057" sldId="286"/>
        </pc:sldMkLst>
      </pc:sldChg>
      <pc:sldChg chg="del">
        <pc:chgData name="christopher posadas" userId="c785335156d879ca" providerId="LiveId" clId="{C9D886FB-ED5B-489B-8330-669FD307C29D}" dt="2026-04-22T18:27:01.229" v="1" actId="2696"/>
        <pc:sldMkLst>
          <pc:docMk/>
          <pc:sldMk cId="2081730332" sldId="287"/>
        </pc:sldMkLst>
      </pc:sldChg>
      <pc:sldChg chg="del">
        <pc:chgData name="christopher posadas" userId="c785335156d879ca" providerId="LiveId" clId="{C9D886FB-ED5B-489B-8330-669FD307C29D}" dt="2026-04-22T19:56:35.454" v="6" actId="2696"/>
        <pc:sldMkLst>
          <pc:docMk/>
          <pc:sldMk cId="677769939" sldId="288"/>
        </pc:sldMkLst>
      </pc:sldChg>
      <pc:sldChg chg="del">
        <pc:chgData name="christopher posadas" userId="c785335156d879ca" providerId="LiveId" clId="{C9D886FB-ED5B-489B-8330-669FD307C29D}" dt="2026-04-22T19:56:35.537" v="7" actId="2696"/>
        <pc:sldMkLst>
          <pc:docMk/>
          <pc:sldMk cId="1264432873" sldId="291"/>
        </pc:sldMkLst>
      </pc:sldChg>
      <pc:sldChg chg="del">
        <pc:chgData name="christopher posadas" userId="c785335156d879ca" providerId="LiveId" clId="{C9D886FB-ED5B-489B-8330-669FD307C29D}" dt="2026-04-22T19:56:35.254" v="4" actId="2696"/>
        <pc:sldMkLst>
          <pc:docMk/>
          <pc:sldMk cId="2511608294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Think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as the information we </a:t>
                </a:r>
                <a:r>
                  <a:rPr lang="en-US" i="1" dirty="0">
                    <a:effectLst/>
                  </a:rPr>
                  <a:t>can</a:t>
                </a:r>
                <a:r>
                  <a:rPr lang="en-US" dirty="0">
                    <a:effectLst/>
                  </a:rPr>
                  <a:t> know. Once we condition 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, it’s no longer random — it’s fixed.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only randomness left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comes from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𝜖</m:t>
                    </m:r>
                  </m:oMath>
                </a14:m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conditional expectation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>
                    <a:effectLst/>
                  </a:rPr>
                  <a:t>is just the average value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over the noise. And because the noise has mean zero, that average is exactly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Think of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as the information we </a:t>
                </a:r>
                <a:r>
                  <a:rPr lang="en-US" i="1" dirty="0">
                    <a:effectLst/>
                  </a:rPr>
                  <a:t>can</a:t>
                </a:r>
                <a:r>
                  <a:rPr lang="en-US" dirty="0">
                    <a:effectLst/>
                  </a:rPr>
                  <a:t> know. Once we condition on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, it’s no longer random — it’s fixed.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only randomness left in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comes from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𝜖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conditional expectation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𝐸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[𝑌∣𝑋]</a:t>
                </a:r>
                <a:r>
                  <a:rPr lang="en-US" dirty="0">
                    <a:effectLst/>
                  </a:rPr>
                  <a:t>is just the average value of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over the noise. And because the noise has mean zero, that average is exactly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𝑓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(𝑋)</a:t>
                </a:r>
                <a:endParaRPr lang="ar-AE" dirty="0"/>
              </a:p>
              <a:p>
                <a:endParaRPr lang="en-US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32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B9BA-E63F-B891-D41B-8044ED91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70841-5999-15BE-B59F-0A0F1B214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592A018-3F97-ACEA-2D4B-0A5DFB787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Corr = 0 -&gt; independence only if Normal RVs.</a:t>
                </a:r>
              </a:p>
              <a:p>
                <a:endParaRPr lang="en-US" dirty="0"/>
              </a:p>
              <a:p>
                <a:r>
                  <a:rPr lang="en-US" dirty="0">
                    <a:effectLst/>
                  </a:rPr>
                  <a:t>Normality gives us </a:t>
                </a:r>
                <a:r>
                  <a:rPr lang="en-US" b="1" dirty="0">
                    <a:effectLst/>
                  </a:rPr>
                  <a:t>exact finite-sample distributions</a:t>
                </a:r>
                <a:r>
                  <a:rPr lang="en-US" dirty="0">
                    <a:effectLst/>
                  </a:rPr>
                  <a:t> for: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F‑statistics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prediction intervals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Everything becomes </a:t>
                </a:r>
                <a:r>
                  <a:rPr lang="en-US" b="1" dirty="0">
                    <a:effectLst/>
                  </a:rPr>
                  <a:t>exact</a:t>
                </a:r>
                <a:r>
                  <a:rPr lang="en-US" dirty="0">
                    <a:effectLst/>
                  </a:rPr>
                  <a:t>, not asymptotic.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derive exact sampling distributions, use exact t- and F-tests</a:t>
                </a:r>
              </a:p>
              <a:p>
                <a:r>
                  <a:rPr lang="en-US" dirty="0"/>
                  <a:t>Construct exact prediction intervals</a:t>
                </a:r>
              </a:p>
              <a:p>
                <a:r>
                  <a:rPr lang="en-US" dirty="0"/>
                  <a:t>Use likelihood-based methods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592A018-3F97-ACEA-2D4B-0A5DFB787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Corr = 0 -&gt; independence only if Normal RVs.</a:t>
                </a:r>
              </a:p>
              <a:p>
                <a:endParaRPr lang="en-US" dirty="0"/>
              </a:p>
              <a:p>
                <a:r>
                  <a:rPr lang="en-US" dirty="0">
                    <a:effectLst/>
                  </a:rPr>
                  <a:t>Normality gives us </a:t>
                </a:r>
                <a:r>
                  <a:rPr lang="en-US" b="1" dirty="0">
                    <a:effectLst/>
                  </a:rPr>
                  <a:t>exact finite-sample distributions</a:t>
                </a:r>
                <a:r>
                  <a:rPr lang="en-US" dirty="0">
                    <a:effectLst/>
                  </a:rPr>
                  <a:t> for: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̂_0,𝛽 ̂_1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F‑statistics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prediction intervals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Everything becomes </a:t>
                </a:r>
                <a:r>
                  <a:rPr lang="en-US" b="1" dirty="0">
                    <a:effectLst/>
                  </a:rPr>
                  <a:t>exact</a:t>
                </a:r>
                <a:r>
                  <a:rPr lang="en-US" dirty="0">
                    <a:effectLst/>
                  </a:rPr>
                  <a:t>, not asymptotic.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derive exact sampling distributions, use exact t- and F-tests</a:t>
                </a:r>
              </a:p>
              <a:p>
                <a:r>
                  <a:rPr lang="en-US" dirty="0"/>
                  <a:t>Construct exact prediction intervals</a:t>
                </a:r>
              </a:p>
              <a:p>
                <a:r>
                  <a:rPr lang="en-US" dirty="0"/>
                  <a:t>Use likelihood-based methods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CBEB9-BD06-B9FD-9E52-DCFF72C2A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40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F8D2-3011-D4EB-ABF4-1B8EA61F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D77AC-ED9F-9EFA-0079-B4CD79EA8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61F92F6-8D14-FA3E-5B55-FA13DB8892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BAA26-FB62-E805-9359-421E9FB8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53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2D7F4-C6C1-D391-5DBE-6EF2AAFB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9ACCE-F6EC-FC84-B51D-1161C21DE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5D677-1746-16FE-C25F-AA0EEED97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B73FB-5647-70EB-C1E5-C1F2E0A4B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00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Simple Linear Regression: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6705-E2CD-7489-5403-4D9A970B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DD39-C79B-20D9-94FC-A62372071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What is the equation for the “best” line that fits through data comprised of a single input variable for an output/response variable?</a:t>
            </a:r>
          </a:p>
        </p:txBody>
      </p:sp>
      <p:pic>
        <p:nvPicPr>
          <p:cNvPr id="2050" name="Picture 2" descr="Start with why -- how great leaders inspire action | Simon Sinek |  TEDxPugetSound">
            <a:extLst>
              <a:ext uri="{FF2B5EF4-FFF2-40B4-BE49-F238E27FC236}">
                <a16:creationId xmlns:a16="http://schemas.microsoft.com/office/drawing/2014/main" id="{9D23561C-7B07-DE6F-8944-808009FCA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999" y="53750"/>
            <a:ext cx="3634932" cy="200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7553CF-03A1-BE3B-1917-7FDE9CFC4D3F}"/>
              </a:ext>
            </a:extLst>
          </p:cNvPr>
          <p:cNvSpPr txBox="1"/>
          <p:nvPr/>
        </p:nvSpPr>
        <p:spPr>
          <a:xfrm>
            <a:off x="0" y="6596390"/>
            <a:ext cx="10225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 sources: Simon Sinek </a:t>
            </a:r>
            <a:r>
              <a:rPr lang="en-US" sz="1100" i="1" dirty="0"/>
              <a:t>How Great Leaders Inspire Action</a:t>
            </a:r>
            <a:r>
              <a:rPr lang="en-US" sz="1100" dirty="0"/>
              <a:t>, TED (2009), and </a:t>
            </a:r>
            <a:r>
              <a:rPr lang="en-US" sz="1100" i="1" dirty="0"/>
              <a:t>ISLP</a:t>
            </a:r>
            <a:r>
              <a:rPr lang="en-US" sz="1100" dirty="0"/>
              <a:t> Figure 3.1.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6AA93-9575-3FE0-AFF7-493F3608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29F408-86A6-B2F0-DBFF-6E0CB42500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5" b="8507"/>
          <a:stretch>
            <a:fillRect/>
          </a:stretch>
        </p:blipFill>
        <p:spPr>
          <a:xfrm>
            <a:off x="3314700" y="3238186"/>
            <a:ext cx="5262740" cy="338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13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9D2C-32D1-DE63-469A-D8F395D7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and Context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450B-37C9-2ED9-A777-02AC65376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Last week: </a:t>
                </a:r>
              </a:p>
              <a:p>
                <a:r>
                  <a:rPr lang="en-US" dirty="0"/>
                  <a:t>We assumed a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and 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Since we don’t know the </a:t>
                </a:r>
                <a:r>
                  <a:rPr lang="en-US" b="1" dirty="0"/>
                  <a:t>true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we </a:t>
                </a:r>
                <a:r>
                  <a:rPr lang="en-US" i="1" dirty="0"/>
                  <a:t>estimate</a:t>
                </a:r>
                <a:r>
                  <a:rPr lang="en-US" dirty="0"/>
                  <a:t> it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 </a:t>
                </a:r>
                <a:r>
                  <a:rPr lang="en-US" i="1" dirty="0"/>
                  <a:t>good</a:t>
                </a:r>
                <a:r>
                  <a:rPr lang="en-US" dirty="0"/>
                  <a:t>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one that has low MSE.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𝐵𝑖𝑎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450B-37C9-2ED9-A777-02AC65376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5EBC6-9922-89F7-8101-AA78423D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3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D1508-08E2-6D80-092D-C854B440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91BA-C3A6-7572-4AEB-BC98E8BACF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 dirty="0"/>
                  <a:t>Simple linear regression</a:t>
                </a:r>
                <a:r>
                  <a:rPr lang="en-US" dirty="0"/>
                  <a:t> predicts a quantitative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using a single predictor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r>
                  <a:rPr lang="en-US" dirty="0"/>
                  <a:t>We assume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function is linear: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which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This is a parametric model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, using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the data analysis lingo, we “regress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91BA-C3A6-7572-4AEB-BC98E8BACF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4BEE-54E2-CD0C-31FE-45868E5B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356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FCAA-8FF2-7C89-ABE7-B43214AA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Data Analysis Lingo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7448D-6111-97E7-7E6F-17ACF61DF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 observed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minus predicted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/>
                  <a:t> is called a </a:t>
                </a:r>
                <a:r>
                  <a:rPr lang="en-US" i="1" dirty="0"/>
                  <a:t>residual.</a:t>
                </a:r>
              </a:p>
              <a:p>
                <a:r>
                  <a:rPr lang="en-US" dirty="0"/>
                  <a:t>We denote residuals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 (Some texts denote them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en-US" dirty="0"/>
                  <a:t>).</a:t>
                </a:r>
              </a:p>
              <a:p>
                <a:r>
                  <a:rPr lang="en-US" dirty="0"/>
                  <a:t>For the simple linear model, our observed residuals are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MSE of our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can now be written as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i="1" dirty="0"/>
                  <a:t>Residual Sum of Squares</a:t>
                </a:r>
                <a:r>
                  <a:rPr lang="en-US" dirty="0"/>
                  <a:t> is: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Residuals will come up a lot in this course.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7448D-6111-97E7-7E6F-17ACF61DF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724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74C47-3AA4-6D13-AFAA-B3C2311D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7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89B8-0274-CED6-EE09-E8005B6A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BD90F-0A14-D4B2-9CD1-B6FA197DB5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Challenge:</a:t>
                </a:r>
              </a:p>
              <a:p>
                <a:pPr marL="0" indent="0" algn="ctr">
                  <a:buNone/>
                </a:pPr>
                <a:r>
                  <a:rPr lang="en-US" dirty="0"/>
                  <a:t>Identify 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/>
                  <a:t>We will denote our estimates of these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do each of these coefficients estimate, in a linear sense?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BD90F-0A14-D4B2-9CD1-B6FA197DB5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6652A-AA4E-A0FA-C75D-57A5C938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6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A735-B716-AF31-336B-7685FC7D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4633-6804-73A4-71A5-ABE86D56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uncorrelated across observations, we satisfy the assumptions of the </a:t>
                </a:r>
                <a:r>
                  <a:rPr lang="en-US" sz="2400" u="sng" dirty="0"/>
                  <a:t>Simple Linear Regression Model</a:t>
                </a:r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independent across observations, we satisfy the assumptions of the </a:t>
                </a:r>
                <a:r>
                  <a:rPr lang="en-US" sz="2400" u="sng" dirty="0"/>
                  <a:t>Gaussian Noise Simple Linear Regression Model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65" r="-724" b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71B9-6F5F-6479-B7DD-903861C2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2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BCE6FB-9F47-6185-2BF3-AF8A5648518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BCE6FB-9F47-6185-2BF3-AF8A56485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8A3CE7-5A08-AAA0-C765-B537FCC95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would like to minimize the MSE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practice, however, we have the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cannot compute the expectation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directly.</a:t>
                </a:r>
              </a:p>
              <a:p>
                <a:r>
                  <a:rPr lang="en-US" dirty="0"/>
                  <a:t>Instead, given the observations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we minimize the </a:t>
                </a:r>
                <a:r>
                  <a:rPr lang="en-US" i="1" dirty="0"/>
                  <a:t>empirical </a:t>
                </a:r>
                <a:r>
                  <a:rPr lang="en-US" dirty="0"/>
                  <a:t>mean-squared error: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How do we do this?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8A3CE7-5A08-AAA0-C765-B537FCC95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1217" t="-783" r="-986" b="-3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24B9B-2734-DAE3-3439-33FEFF2B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67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3074-D9F0-7BB3-156B-CF8090BF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some calculus.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ACA1C-3EAC-2928-CCE7-C41DAAC8A7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Find critical points.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Take partial derivatives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Set both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2</a:t>
                </a:r>
                <a:r>
                  <a:rPr lang="en-US" baseline="30000" dirty="0"/>
                  <a:t>nd</a:t>
                </a:r>
                <a:r>
                  <a:rPr lang="en-US" dirty="0"/>
                  <a:t> derivative information to verify that our critical point is minimum.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ACA1C-3EAC-2928-CCE7-C41DAAC8A7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251AA-6281-C43E-E2D3-39A06C1E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20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5D6555-A7EA-2A61-238C-7B0CE6FFA1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5D6555-A7EA-2A61-238C-7B0CE6FFA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4069B-5870-5C4B-512E-916C02A69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First,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4069B-5870-5C4B-512E-916C02A69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B0ECE-7D00-C0A3-CFCB-9BB813A6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750FA-1C15-4078-92C4-8EFFFB1D9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3F4D64-2BF0-11D5-87FD-E88FF4862C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3F4D64-2BF0-11D5-87FD-E88FF4862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A5715-67F0-BE35-B2D7-7207D85766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First,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A5715-67F0-BE35-B2D7-7207D85766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 b="-3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98251-F2ED-3DB6-F5EC-94404A59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57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55EC-7101-75E0-71E0-FBF6954F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015BED-BF0C-F9BC-4D0B-6C8B7B3C30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015BED-BF0C-F9BC-4D0B-6C8B7B3C30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490D0-65AE-1D4C-4AAC-737405AF18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490D0-65AE-1D4C-4AAC-737405AF18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 b="-3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B76CD-DF20-A0AC-B4BE-72A8E56E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1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18B2A-6032-068B-36A3-52BFBDD4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990281-FA4E-175F-3078-60CCC1C9D2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990281-FA4E-175F-3078-60CCC1C9D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89E6E-AB68-98E9-E9AC-69BA7800A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Then, we want 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by setting them equal to 0.</a:t>
                </a:r>
              </a:p>
              <a:p>
                <a:r>
                  <a:rPr lang="en-US" dirty="0"/>
                  <a:t>Two variables and two unknowns: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89E6E-AB68-98E9-E9AC-69BA7800A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4C3BF-FD87-C9A9-E4C4-F08E9932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190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994EA-3561-6E20-49F7-AE58F93CE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55CC2F-EC4A-CB89-875A-E1E609CB91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55CC2F-EC4A-CB89-875A-E1E609CB91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32B3-56CF-EBEE-C160-0D605CFD8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Dividing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from each of these equations gives us: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These are called the </a:t>
                </a:r>
                <a:r>
                  <a:rPr lang="en-US" b="1" i="1" dirty="0"/>
                  <a:t>Normal Equations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They are important because they determine and give us properties of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32B3-56CF-EBEE-C160-0D605CFD8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086" t="-13158" r="-1448" b="-1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166F8-DEC2-579D-822D-4877E332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941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70E42-46B7-5ACF-1A99-54F34BDA4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A1F77B-A047-1914-CDB3-8675F28123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A1F77B-A047-1914-CDB3-8675F28123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81D16-01DC-5BE0-AD14-0C2062842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We will denote sample means using the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𝑏𝑎𝑟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notation. Then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After distributing the sums across each term.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81D16-01DC-5BE0-AD14-0C2062842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965" t="-126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D76B1-3785-09EF-B4E9-A5F631A1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ACF92-498A-4A9E-60B9-78D4BF80CB73}"/>
                  </a:ext>
                </a:extLst>
              </p:cNvPr>
              <p:cNvSpPr txBox="1"/>
              <p:nvPr/>
            </p:nvSpPr>
            <p:spPr>
              <a:xfrm>
                <a:off x="9640297" y="4844884"/>
                <a:ext cx="2518191" cy="115935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𝐵𝑎𝑟</m:t>
                        </m:r>
                      </m:e>
                    </m:acc>
                  </m:oMath>
                </a14:m>
                <a:r>
                  <a:rPr lang="en-US" i="1" dirty="0"/>
                  <a:t> notation</a:t>
                </a:r>
                <a:r>
                  <a:rPr lang="en-US" dirty="0"/>
                  <a:t>- Recall: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ACF92-498A-4A9E-60B9-78D4BF80C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97" y="4844884"/>
                <a:ext cx="2518191" cy="1159356"/>
              </a:xfrm>
              <a:prstGeom prst="rect">
                <a:avLst/>
              </a:prstGeom>
              <a:blipFill>
                <a:blip r:embed="rId4"/>
                <a:stretch>
                  <a:fillRect t="-208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535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9F5CE-F9A1-181E-24FB-43B85EF9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61813B-8DCC-4DCF-824B-3CCE89779A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61813B-8DCC-4DCF-824B-3CCE89779A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7E7C-0406-F874-706B-C4774C5E8F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we multiply the top equation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and add it to the bottom equation: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 (Note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not</a:t>
                </a:r>
                <a:r>
                  <a:rPr lang="en-US" dirty="0"/>
                  <a:t> the same thing!) We then have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7E7C-0406-F874-706B-C4774C5E8F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3D91A-7BDD-DB84-F3A2-A77768DB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474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02FA-FBF3-8129-6FB6-8F40D2DC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0B523A-D175-D857-A8AE-975C1016BBF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0B523A-D175-D857-A8AE-975C1016BB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4B6DA-AD5C-EC20-2EAA-A60AEF0EF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Similarly, from the original equation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4B6DA-AD5C-EC20-2EAA-A60AEF0EF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20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FC977-4357-7227-4296-F8D08E1F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056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FC9A2-BF3B-7F9D-E3DF-AC7632D8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487A-1182-E119-DD6C-C7516BE0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 Voilà.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6647B-D78B-FA73-E36A-55712C323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 little </a:t>
                </a:r>
                <a:r>
                  <a:rPr lang="en-US" dirty="0" err="1"/>
                  <a:t>mathing</a:t>
                </a:r>
                <a:r>
                  <a:rPr lang="en-US" dirty="0"/>
                  <a:t> shows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(which is what again?) is the relationship between the means of observed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values.</a:t>
                </a:r>
              </a:p>
              <a:p>
                <a:r>
                  <a:rPr lang="en-US" dirty="0"/>
                  <a:t>But how do we interpret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6647B-D78B-FA73-E36A-55712C323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2"/>
                <a:stretch>
                  <a:fillRect l="-108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593F8-9008-E232-FBB4-FC221EC5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215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11A1-C1F5-02DF-A900-95524661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8A46-41AF-5542-1D3D-C90070A60D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use the fact that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8A46-41AF-5542-1D3D-C90070A60D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616EF-A467-FAEB-39CF-1C75A481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86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03F8A-366D-1E79-7CB7-1C8F4363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3AF8-3B75-165C-3C07-D3AED1D9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8E595-C9DA-7E2A-9BDF-B5BEE93FEF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Similarly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8E595-C9DA-7E2A-9BDF-B5BEE93FE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19A12-75EA-85EC-0B93-8751A8EF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75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F9EE-2534-A8AA-9A0F-669531DC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AB9B5-C342-20B0-715F-8493406B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368502-94BA-7D3A-C88F-8CF145238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These are all equivalent: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(Using one of the “you can’t stop me” rules.)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368502-94BA-7D3A-C88F-8CF145238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  <a:blipFill>
                <a:blip r:embed="rId2"/>
                <a:stretch>
                  <a:fillRect l="-724" t="-2394" b="-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5056C-644E-0A5A-1134-722E1A12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95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54B5-FAEC-120F-A6E8-9EC89D95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from OA3102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03B9C-4CFA-7462-E6C1-EC48AEC0E6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unbiased</a:t>
                </a:r>
                <a:r>
                  <a:rPr lang="en-US" dirty="0"/>
                  <a:t> sample covariance and variance are: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03B9C-4CFA-7462-E6C1-EC48AEC0E6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 b="-4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7BAD4-0203-18E2-7F4C-13B304B7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0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834B-8954-F63D-843A-FB46D3475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B6C5-A517-E3B4-13C0-EED470D4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from OA3102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49F40-5D23-758A-9152-2EB52FC2E9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biased</a:t>
                </a:r>
                <a:r>
                  <a:rPr lang="en-US" dirty="0"/>
                  <a:t> sample covariance and variance are: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49F40-5D23-758A-9152-2EB52FC2E9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 b="-4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717B0-95FA-648D-EEF0-4EA7C590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54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BED3-ABE5-506E-02A3-45268E96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2773-35CA-E08F-1268-66B397A4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Least Squares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Our derivation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called the </a:t>
                </a:r>
                <a:r>
                  <a:rPr lang="en-US" b="1" i="1" dirty="0"/>
                  <a:t>Least Squares Estimators</a:t>
                </a:r>
                <a:r>
                  <a:rPr lang="en-US" dirty="0"/>
                  <a:t> because they minimize the empirical mean squared error.</a:t>
                </a:r>
              </a:p>
              <a:p>
                <a:endParaRPr lang="en-US" dirty="0"/>
              </a:p>
              <a:p>
                <a:r>
                  <a:rPr lang="en-US" dirty="0"/>
                  <a:t>Note: We showed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:r>
                  <a:rPr lang="en-US" i="1" dirty="0"/>
                  <a:t>critical points</a:t>
                </a:r>
                <a:r>
                  <a:rPr lang="en-US" dirty="0"/>
                  <a:t>. We can further take the second derivatives to show they are indeed minimizers. For sanity and time we won’t do that here.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EEA3-E865-38C9-78DA-3811E61E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07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0D1F-F5FC-A9E9-738D-74F69C8F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BE84-74FC-3623-2924-FABFF8AAA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have shown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-intercept is a linear relationship   </a:t>
                </a:r>
                <a:br>
                  <a:rPr lang="en-US" sz="2400" dirty="0"/>
                </a:br>
                <a:r>
                  <a:rPr lang="en-US" sz="2400" dirty="0"/>
                  <a:t>   between the </a:t>
                </a:r>
                <a:r>
                  <a:rPr lang="en-US" sz="2400" b="1" dirty="0"/>
                  <a:t>sample means </a:t>
                </a:r>
                <a:r>
                  <a:rPr lang="en-US" sz="2400" dirty="0"/>
                  <a:t>of the observations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dirty="0"/>
                  <a:t>”</a:t>
                </a:r>
              </a:p>
              <a:p>
                <a:r>
                  <a:rPr lang="en-US" sz="2400" dirty="0"/>
                  <a:t>Also: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slope is a proportion of the </a:t>
                </a:r>
                <a:r>
                  <a:rPr lang="en-US" sz="2400" b="1" dirty="0"/>
                  <a:t>sample </a:t>
                </a:r>
                <a:br>
                  <a:rPr lang="en-US" sz="2400" b="1" dirty="0"/>
                </a:br>
                <a:r>
                  <a:rPr lang="en-US" sz="2400" b="1" dirty="0"/>
                  <a:t>   covariance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 and sample 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D576-1630-E11D-67A2-76D76050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19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8D3B-DA14-407F-5D46-092C3C84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dirty="0"/>
                  <a:t>unit.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678C1-8188-238F-CF02-E2D3A583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28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3DF0-07E4-02E2-9BD4-34618236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0204-FDB6-521B-A1E4-B4C961192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45575-9062-8780-06D2-0F4279104F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unit.</a:t>
                </a:r>
              </a:p>
              <a:p>
                <a:pPr marL="0" indent="0">
                  <a:buNone/>
                </a:pPr>
                <a:r>
                  <a:rPr lang="en-US" dirty="0"/>
                  <a:t>Suppose we have a regression problem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 height of mercury in a thermometer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the ambient temperature. We have clean data and performed EDA, and now use SLR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u="sng" dirty="0"/>
                  <a:t>Question</a:t>
                </a:r>
                <a:r>
                  <a:rPr lang="en-US" dirty="0"/>
                  <a:t>: </a:t>
                </a:r>
                <a:r>
                  <a:rPr lang="en-US" i="1" dirty="0"/>
                  <a:t>How much do we expect the temperature to rise if we artificially increase the height of the mercury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unit?</a:t>
                </a:r>
              </a:p>
              <a:p>
                <a:pPr marL="0" indent="0">
                  <a:buNone/>
                </a:pPr>
                <a:r>
                  <a:rPr lang="en-US" b="1" u="sng" dirty="0"/>
                  <a:t>Answer</a:t>
                </a:r>
                <a:r>
                  <a:rPr lang="en-US" dirty="0"/>
                  <a:t>: ZERO! Remember our EDA and understanding of what the data tells us in the first place. We cannot let correlation imply causation here!</a:t>
                </a:r>
                <a:endParaRPr lang="en-US" b="1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45575-9062-8780-06D2-0F4279104F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  <a:blipFill>
                <a:blip r:embed="rId3"/>
                <a:stretch>
                  <a:fillRect l="-1179" t="-2801" r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CBE19-0AFF-31E7-4DC3-6768929C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510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8BC304-DC2C-4F92-97A0-4E7A9C735621}">
  <ds:schemaRefs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0e81aeba-3fbe-492c-aacc-230c0d934791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330</TotalTime>
  <Words>1592</Words>
  <Application>Microsoft Office PowerPoint</Application>
  <PresentationFormat>Widescreen</PresentationFormat>
  <Paragraphs>225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office theme</vt:lpstr>
      <vt:lpstr>OA3103: Data Analysis</vt:lpstr>
      <vt:lpstr>The Big Picture</vt:lpstr>
      <vt:lpstr>Review and Context</vt:lpstr>
      <vt:lpstr>Simple Linear Regression</vt:lpstr>
      <vt:lpstr>More Data Analysis Lingo</vt:lpstr>
      <vt:lpstr>Simple linear regression</vt:lpstr>
      <vt:lpstr>Some Common Assumptions</vt:lpstr>
      <vt:lpstr>β ̂_0 and β ̂_1</vt:lpstr>
      <vt:lpstr>Time for some calculus.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et Voilà.</vt:lpstr>
      <vt:lpstr>Some More Algebra</vt:lpstr>
      <vt:lpstr>Some More Algebra</vt:lpstr>
      <vt:lpstr>Equivalences</vt:lpstr>
      <vt:lpstr>Recall from OA3102</vt:lpstr>
      <vt:lpstr>Recall from OA3102</vt:lpstr>
      <vt:lpstr>The  Least Squares Estimators</vt:lpstr>
      <vt:lpstr>The  Takeaways</vt:lpstr>
      <vt:lpstr>Interpretation</vt:lpstr>
      <vt:lpstr>An 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8</cp:revision>
  <dcterms:created xsi:type="dcterms:W3CDTF">2026-04-07T19:55:26Z</dcterms:created>
  <dcterms:modified xsi:type="dcterms:W3CDTF">2026-04-22T19:56:38Z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2026-04-07T19:56:46Z</vt:lpwstr>
  </property>
  <property fmtid="{D5CDD505-2E9C-101B-9397-08002B2CF9AE}" pid="5" name="MSIP_Label_acbbd4a6-dc2f-44d9-ad2c-c28d4679873f_Method">
    <vt:lpwstr>Standard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10, 3, 0, 1</vt:lpwstr>
  </property>
</Properties>
</file>