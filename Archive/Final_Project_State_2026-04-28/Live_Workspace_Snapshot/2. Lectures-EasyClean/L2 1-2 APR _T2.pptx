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256" r:id="rId5"/>
    <p:sldId id="263" r:id="rId6"/>
    <p:sldId id="264" r:id="rId7"/>
    <p:sldId id="260" r:id="rId8"/>
    <p:sldId id="261" r:id="rId9"/>
    <p:sldId id="266" r:id="rId10"/>
    <p:sldId id="267" r:id="rId11"/>
    <p:sldId id="262" r:id="rId12"/>
    <p:sldId id="268" r:id="rId13"/>
    <p:sldId id="269" r:id="rId14"/>
    <p:sldId id="270" r:id="rId15"/>
    <p:sldId id="271" r:id="rId16"/>
    <p:sldId id="272" r:id="rId17"/>
    <p:sldId id="265" r:id="rId18"/>
    <p:sldId id="273" r:id="rId19"/>
    <p:sldId id="275" r:id="rId20"/>
    <p:sldId id="276" r:id="rId21"/>
    <p:sldId id="278" r:id="rId22"/>
    <p:sldId id="277" r:id="rId23"/>
    <p:sldId id="274" r:id="rId24"/>
    <p:sldId id="279" r:id="rId25"/>
    <p:sldId id="280" r:id="rId26"/>
    <p:sldId id="281" r:id="rId27"/>
    <p:sldId id="282" r:id="rId28"/>
    <p:sldId id="287" r:id="rId29"/>
    <p:sldId id="288" r:id="rId30"/>
    <p:sldId id="285" r:id="rId31"/>
    <p:sldId id="289" r:id="rId32"/>
    <p:sldId id="290" r:id="rId33"/>
    <p:sldId id="291" r:id="rId34"/>
    <p:sldId id="259" r:id="rId35"/>
    <p:sldId id="258" r:id="rId36"/>
    <p:sldId id="292" r:id="rId37"/>
    <p:sldId id="293" r:id="rId38"/>
    <p:sldId id="294" r:id="rId39"/>
    <p:sldId id="295" r:id="rId40"/>
    <p:sldId id="297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4" autoAdjust="0"/>
    <p:restoredTop sz="94655"/>
  </p:normalViewPr>
  <p:slideViewPr>
    <p:cSldViewPr snapToGrid="0">
      <p:cViewPr varScale="1">
        <p:scale>
          <a:sx n="105" d="100"/>
          <a:sy n="105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4:06.091" v="0" actId="2696"/>
      <pc:docMkLst>
        <pc:docMk/>
      </pc:docMkLst>
      <pc:sldChg chg="del">
        <pc:chgData name="christopher posadas" userId="c785335156d879ca" providerId="LiveId" clId="{C9D886FB-ED5B-489B-8330-669FD307C29D}" dt="2026-04-22T18:34:06.091" v="0" actId="2696"/>
        <pc:sldMkLst>
          <pc:docMk/>
          <pc:sldMk cId="3188642854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hedonometer.org/timeseries/en_all/?from=2021-11-23&amp;to=2023-05-22&amp;viz=wordshift" TargetMode="External"/><Relationship Id="rId2" Type="http://schemas.openxmlformats.org/officeDocument/2006/relationships/hyperlink" Target="https://heyjackas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Statistical concepts review and Bias-Variance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CE60-7E95-FC25-0FDC-A8B3B1F7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A6CD-3840-F3E9-1B3D-F01E27DE2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9096"/>
                <a:ext cx="10515600" cy="49430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class example for my daughter: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𝐵𝑜𝑦𝑠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𝑒𝑣𝑖𝑙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baseline="-25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r>
                  <a:rPr lang="en-US" b="0" dirty="0"/>
                  <a:t>  1. Boys require time and money.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2. Time is money. 		</a:t>
                </a:r>
                <a:r>
                  <a:rPr lang="en-US" dirty="0"/>
                  <a:t>                </a:t>
                </a:r>
                <a:r>
                  <a:rPr lang="en-US" b="0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						   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3. Money is the root of all evil.</a:t>
                </a:r>
                <a:r>
                  <a:rPr lang="en-US" dirty="0"/>
                  <a:t>	     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𝑒𝑣𝑖𝑙</m:t>
                            </m:r>
                          </m:e>
                        </m:ra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	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𝑒𝑣𝑖𝑙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	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A6CD-3840-F3E9-1B3D-F01E27DE2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096"/>
                <a:ext cx="10515600" cy="4943061"/>
              </a:xfrm>
              <a:blipFill>
                <a:blip r:embed="rId2"/>
                <a:stretch>
                  <a:fillRect l="-1043" t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62544-1F82-58FF-3535-057251B2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2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A346-5108-968A-EA85-697F7AD8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1490-D744-BD54-5868-1EF23DE3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will quantify the phrase:</a:t>
            </a:r>
          </a:p>
          <a:p>
            <a:pPr marL="0" indent="0" algn="ctr">
              <a:buNone/>
            </a:pPr>
            <a:r>
              <a:rPr lang="en-US" dirty="0"/>
              <a:t>“All models are wrong.”</a:t>
            </a:r>
          </a:p>
          <a:p>
            <a:r>
              <a:rPr lang="en-US" dirty="0"/>
              <a:t>First, we will review the statistical concepts from yesterday.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193C8-3AD5-1587-04F9-0BC2597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583-B56F-70FB-F362-07444223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Expectation: (Intuitively) The weighted average of all possible outcomes.</a:t>
                </a:r>
              </a:p>
              <a:p>
                <a:pPr lvl="1"/>
                <a:r>
                  <a:rPr lang="en-US" dirty="0"/>
                  <a:t>For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Linearity of expectation: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regardless of independence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AF56-3C6F-80A1-ABBA-4356B3E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5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5076-D95E-5F06-C136-6CBF5486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EDFD-4FD8-856F-E3E6-8BEA1BA7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Variance: (Intuitively) The weighted average of the squared deviations from the mean.</a:t>
                </a:r>
              </a:p>
              <a:p>
                <a:r>
                  <a:rPr lang="en-US" dirty="0"/>
                  <a:t>Calculating variance: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Rules: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(they are independent),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But not necessarily true in the other direction!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F3E4-5002-061B-1905-5D7A2F17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2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3F3F-44F8-9D11-EE59-D71514C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90FE-A4D2-F4BD-4431-2E97132C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Covariance: The weighted average of the product of deviations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For respective true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Correlation: Scaled covariance into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611A-1CB5-4062-9C74-ADFB3E12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36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EE41-C30E-8713-FA3E-823CB3DD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A20F-9C89-E53E-AB44-B6ED1990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Finally, we examine </a:t>
                </a:r>
                <a:r>
                  <a:rPr lang="en-US" b="1" i="1" dirty="0"/>
                  <a:t>bias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Bias: The difference between the expected value of an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and the true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it aims to estimate.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Bias is about </a:t>
                </a:r>
                <a:r>
                  <a:rPr lang="en-US" b="1" dirty="0"/>
                  <a:t>systematic error </a:t>
                </a:r>
                <a:r>
                  <a:rPr lang="en-US" dirty="0"/>
                  <a:t>(induced by our measurements or our model choice), not random error.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57A1-C10B-022D-1D99-2EA70B02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066C-E546-9121-93AF-369A5B8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the relationship between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(as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Assume the following: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random variable with mean zero,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independent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BA89-2911-35C3-225C-5C77954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30D4-5DF4-61CF-0E59-5354C3E7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don’t actually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Therefore, we have to estimate it.</a:t>
                </a:r>
              </a:p>
              <a:p>
                <a:pPr lvl="1"/>
                <a:r>
                  <a:rPr lang="en-US" dirty="0"/>
                  <a:t>Denote estimated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and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. Then we have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The formula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a general </a:t>
                </a:r>
                <a:r>
                  <a:rPr lang="en-US" i="1" dirty="0"/>
                  <a:t>statistical model</a:t>
                </a:r>
              </a:p>
              <a:p>
                <a:pPr lvl="1"/>
                <a:r>
                  <a:rPr lang="en-US" dirty="0"/>
                  <a:t>Reminder:</a:t>
                </a:r>
              </a:p>
              <a:p>
                <a:pPr lvl="2"/>
                <a:r>
                  <a:rPr lang="en-US" dirty="0"/>
                  <a:t>Prediction: Use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in our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</a:t>
                </a:r>
                <a:r>
                  <a:rPr lang="en-US" b="1" dirty="0"/>
                  <a:t>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Inference: Understand the relationship between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Which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are (most) relevant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r>
                  <a:rPr lang="en-US" dirty="0"/>
                  <a:t>How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affect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our model?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615D-4CD9-0614-E146-E0EE7E0A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D667-98F4-EEC1-D968-6B18A16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Prediction: What is the best we can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introduce </a:t>
                </a:r>
                <a:r>
                  <a:rPr lang="en-US" b="1" dirty="0"/>
                  <a:t>Mean Square Error (MSE)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gives 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/>
                  <a:t>(some sorcery here … this is what we derived in class)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= </a:t>
                </a:r>
                <a:r>
                  <a:rPr lang="en-US" dirty="0">
                    <a:solidFill>
                      <a:srgbClr val="FF0000"/>
                    </a:solidFill>
                  </a:rPr>
                  <a:t>bias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 </a:t>
                </a:r>
                <a:r>
                  <a:rPr lang="en-US" baseline="30000" dirty="0"/>
                  <a:t>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B050"/>
                    </a:solidFill>
                  </a:rPr>
                  <a:t>Model variance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70C0"/>
                    </a:solidFill>
                  </a:rPr>
                  <a:t>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981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FEC50-E8E8-1B38-687B-081343F4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1E25-7F22-687A-7F78-058495B2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9F2A-9F60-A02E-9FFD-FACCD3CD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called a bias-variance decomposition.</a:t>
            </a:r>
          </a:p>
          <a:p>
            <a:pPr marL="0" indent="0" algn="ctr">
              <a:buNone/>
            </a:pPr>
            <a:r>
              <a:rPr lang="en-US" dirty="0"/>
              <a:t>MSE = </a:t>
            </a:r>
            <a:r>
              <a:rPr lang="en-US" dirty="0">
                <a:solidFill>
                  <a:srgbClr val="FF0000"/>
                </a:solidFill>
              </a:rPr>
              <a:t>bias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baseline="30000" dirty="0"/>
              <a:t> </a:t>
            </a:r>
            <a:r>
              <a:rPr lang="en-US" dirty="0"/>
              <a:t>+ </a:t>
            </a:r>
            <a:r>
              <a:rPr lang="en-US" dirty="0">
                <a:solidFill>
                  <a:srgbClr val="00B050"/>
                </a:solidFill>
              </a:rPr>
              <a:t>Model variance </a:t>
            </a:r>
            <a:r>
              <a:rPr lang="en-US" dirty="0"/>
              <a:t>+ </a:t>
            </a:r>
            <a:r>
              <a:rPr lang="en-US" dirty="0">
                <a:solidFill>
                  <a:srgbClr val="0070C0"/>
                </a:solidFill>
              </a:rPr>
              <a:t>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cannot control the randomness in the </a:t>
            </a:r>
            <a:r>
              <a:rPr lang="en-US" b="1" dirty="0"/>
              <a:t>irreducible error. </a:t>
            </a:r>
            <a:r>
              <a:rPr lang="en-US" dirty="0"/>
              <a:t>We can, however, control the reducible error by selecting a model and training the parameters with </a:t>
            </a:r>
            <a:r>
              <a:rPr lang="en-US" i="1" dirty="0"/>
              <a:t>training data</a:t>
            </a:r>
            <a:r>
              <a:rPr lang="en-US" dirty="0"/>
              <a:t>. Thus the best we can do is to approach the irreducible error as close as possible from above.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92BC-E2E7-06A7-A412-A38393A3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562AB0C-AC45-D77F-558F-E0AFB85B12DD}"/>
              </a:ext>
            </a:extLst>
          </p:cNvPr>
          <p:cNvSpPr/>
          <p:nvPr/>
        </p:nvSpPr>
        <p:spPr>
          <a:xfrm rot="16200000">
            <a:off x="5751443" y="1325217"/>
            <a:ext cx="512418" cy="34013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BC94F1E-3A90-3E86-4075-5C1CEBA68292}"/>
              </a:ext>
            </a:extLst>
          </p:cNvPr>
          <p:cNvSpPr/>
          <p:nvPr/>
        </p:nvSpPr>
        <p:spPr>
          <a:xfrm rot="16200000">
            <a:off x="8264662" y="2579480"/>
            <a:ext cx="512418" cy="8928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C2E22-2C16-9F8D-BC4F-B10FD59C70D8}"/>
              </a:ext>
            </a:extLst>
          </p:cNvPr>
          <p:cNvSpPr txBox="1"/>
          <p:nvPr/>
        </p:nvSpPr>
        <p:spPr>
          <a:xfrm>
            <a:off x="4947478" y="3241261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Reducible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DC6F0-6CC1-C0C2-A7D9-78661A041C13}"/>
              </a:ext>
            </a:extLst>
          </p:cNvPr>
          <p:cNvSpPr txBox="1"/>
          <p:nvPr/>
        </p:nvSpPr>
        <p:spPr>
          <a:xfrm>
            <a:off x="7454071" y="3229320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Irreducible error</a:t>
            </a:r>
          </a:p>
        </p:txBody>
      </p:sp>
    </p:spTree>
    <p:extLst>
      <p:ext uri="{BB962C8B-B14F-4D97-AF65-F5344CB8AC3E}">
        <p14:creationId xmlns:p14="http://schemas.microsoft.com/office/powerpoint/2010/main" val="1417869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E72F-AD96-A671-7903-F3EAD3DD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 are doing </a:t>
            </a:r>
            <a:r>
              <a:rPr lang="en-US" i="1" dirty="0"/>
              <a:t>prediction</a:t>
            </a:r>
            <a:r>
              <a:rPr lang="en-US" dirty="0"/>
              <a:t> with 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we are interested in its ability to accurately predict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train the model using </a:t>
                </a:r>
                <a:r>
                  <a:rPr lang="en-US" i="1" dirty="0"/>
                  <a:t>training data </a:t>
                </a:r>
                <a:r>
                  <a:rPr lang="en-US" dirty="0"/>
                  <a:t>so we can hopefully maximize the accuracy of the predictions using previously unseen </a:t>
                </a:r>
                <a:r>
                  <a:rPr lang="en-US" i="1" dirty="0"/>
                  <a:t>test data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Ex: We train a model using data from existing diabetes patients to predict the risk of diabetes.</a:t>
                </a:r>
              </a:p>
              <a:p>
                <a:pPr lvl="1"/>
                <a:r>
                  <a:rPr lang="en-US" dirty="0"/>
                  <a:t>We don’t “care” about the risk of diabetes in the training data, because we already know which of those patients have diabetes.</a:t>
                </a:r>
              </a:p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D69D-DDD9-B5EB-90E1-6C81F34F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6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8B02-50B3-F26A-BA8F-9CA013A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A3721-B6AF-34D8-6552-E0A587B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40A56-5410-EB31-8527-C4ED70AB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26519-9334-CBDE-F193-45B8C663620C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246976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379E-A94C-5E28-2C9D-8F5C2260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ISLP does not formally define this but we can use the following:</a:t>
                </a:r>
              </a:p>
              <a:p>
                <a:r>
                  <a:rPr lang="en-US" b="1" i="1" dirty="0"/>
                  <a:t>Flexibility</a:t>
                </a:r>
                <a:r>
                  <a:rPr lang="en-US" i="1" dirty="0"/>
                  <a:t> </a:t>
                </a:r>
                <a:r>
                  <a:rPr lang="en-US" dirty="0"/>
                  <a:t>is the capacity of a model to approximate a wide range of functions (shapes).</a:t>
                </a:r>
              </a:p>
              <a:p>
                <a:pPr lvl="1"/>
                <a:r>
                  <a:rPr lang="en-US" dirty="0"/>
                  <a:t>A model is more </a:t>
                </a:r>
                <a:r>
                  <a:rPr lang="en-US" b="1" i="1" dirty="0"/>
                  <a:t>flexible </a:t>
                </a:r>
                <a:r>
                  <a:rPr lang="en-US" dirty="0"/>
                  <a:t>if it can represent a larger set of possible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Since a flexible model can take more shapes, it can capture more training data… at the cost of </a:t>
                </a:r>
                <a:r>
                  <a:rPr lang="en-US" b="1" i="1" dirty="0"/>
                  <a:t>overfitting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Mathematically: </a:t>
                </a:r>
                <a:r>
                  <a:rPr lang="en-US" b="1" dirty="0"/>
                  <a:t>flexibility</a:t>
                </a:r>
                <a:r>
                  <a:rPr lang="en-US" dirty="0"/>
                  <a:t> corresponds to 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a general rule, as we use more flexible methods, variance will increase and bias will decrease.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6D29C-9F73-1184-A1A7-796E737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1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F7A4-CC18-F32E-06BF-1E78A497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D577-06A3-35E1-71A1-258267E6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dirty="0"/>
                  <a:t>The left plot depicts</a:t>
                </a:r>
                <a:br>
                  <a:rPr lang="en-US" sz="2000" dirty="0"/>
                </a:br>
                <a:r>
                  <a:rPr lang="en-US" sz="2000" dirty="0"/>
                  <a:t>various fits via a</a:t>
                </a:r>
                <a:br>
                  <a:rPr lang="en-US" sz="2000" dirty="0"/>
                </a:br>
                <a:r>
                  <a:rPr lang="en-US" sz="2000" dirty="0"/>
                  <a:t>smoothing spline</a:t>
                </a:r>
                <a:br>
                  <a:rPr lang="en-US" sz="2000" dirty="0"/>
                </a:br>
                <a:r>
                  <a:rPr lang="en-US" sz="2000" dirty="0"/>
                  <a:t>process.</a:t>
                </a:r>
              </a:p>
              <a:p>
                <a:r>
                  <a:rPr lang="en-US" sz="2000" dirty="0"/>
                  <a:t>Right plot: Flexibility (x-axis) </a:t>
                </a:r>
                <a:br>
                  <a:rPr lang="en-US" sz="2000" dirty="0"/>
                </a:br>
                <a:r>
                  <a:rPr lang="en-US" sz="2000" dirty="0"/>
                  <a:t>is quantified by the degrees of </a:t>
                </a:r>
                <a:br>
                  <a:rPr lang="en-US" sz="2000" dirty="0"/>
                </a:br>
                <a:r>
                  <a:rPr lang="en-US" sz="2000" dirty="0"/>
                  <a:t>freedom of the respective </a:t>
                </a:r>
                <a:br>
                  <a:rPr lang="en-US" sz="2000" dirty="0"/>
                </a:br>
                <a:r>
                  <a:rPr lang="en-US" sz="2000" dirty="0"/>
                  <a:t>smoothing spline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BDAF-3E60-2DC1-99A3-02744889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08FB-E02B-3E54-1CBB-762A8F494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88016-0B8D-7F77-3577-29CA4E7800E3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752006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352-A443-DE6E-D94F-F46807D2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F0DC-1A26-0184-89B1-4D448A1A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2B20F-D94D-696A-8903-2716F150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3A749-0A84-55AB-A673-E57DB437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0" y="0"/>
            <a:ext cx="8927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93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5C1F-B0F6-0B98-53E4-91349335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254A-2E15-8C41-4DEC-AC7E5B05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AE7F-1E5F-0551-7430-F93B02A6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2DD42-946D-1923-D487-DDBC281B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62" y="0"/>
            <a:ext cx="890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35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2707-F8F4-F6A0-CE36-8B487D3A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FA02-3A85-26C4-9F2B-1FE4CB2B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427B-D4AA-1731-2CB4-B448F239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B6DB2-68D5-05F8-7CF9-6B8CF4AF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88" y="0"/>
            <a:ext cx="8884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6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426-59BF-205B-7DA3-64520611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6166-1085-82F1-87B0-032055416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256BF-AF4F-F944-6B3F-F820BBF1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9899A-6DA4-1B01-C59D-0D5AA356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95" y="0"/>
            <a:ext cx="8811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002-AFB4-70C7-621F-EA426E91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E08-B2B7-0E34-915B-0D851028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b="1" dirty="0"/>
                  <a:t>Overfitting </a:t>
                </a:r>
                <a:r>
                  <a:rPr lang="en-US" sz="2000" dirty="0"/>
                  <a:t>occurs when our</a:t>
                </a:r>
                <a:br>
                  <a:rPr lang="en-US" sz="2000" dirty="0"/>
                </a:br>
                <a:r>
                  <a:rPr lang="en-US" sz="2000" dirty="0"/>
                  <a:t>model too closely follows the</a:t>
                </a:r>
                <a:br>
                  <a:rPr lang="en-US" sz="2000" dirty="0"/>
                </a:br>
                <a:r>
                  <a:rPr lang="en-US" sz="2000" dirty="0"/>
                  <a:t>error or noise.</a:t>
                </a:r>
              </a:p>
              <a:p>
                <a:r>
                  <a:rPr lang="en-US" sz="2000" dirty="0"/>
                  <a:t>This is undesirable!</a:t>
                </a:r>
              </a:p>
              <a:p>
                <a:r>
                  <a:rPr lang="en-US" sz="2000" dirty="0"/>
                  <a:t>The fit will not yield accurate</a:t>
                </a:r>
                <a:br>
                  <a:rPr lang="en-US" sz="2000" dirty="0"/>
                </a:br>
                <a:r>
                  <a:rPr lang="en-US" sz="2000" dirty="0"/>
                  <a:t>predictions on new</a:t>
                </a:r>
                <a:br>
                  <a:rPr lang="en-US" sz="2000" dirty="0"/>
                </a:br>
                <a:r>
                  <a:rPr lang="en-US" sz="2000" dirty="0"/>
                  <a:t>observations (test data)</a:t>
                </a:r>
                <a:br>
                  <a:rPr lang="en-US" sz="2000" dirty="0"/>
                </a:br>
                <a:r>
                  <a:rPr lang="en-US" sz="2000" dirty="0"/>
                  <a:t>that the model hasn’t yet</a:t>
                </a:r>
                <a:br>
                  <a:rPr lang="en-US" sz="2000" dirty="0"/>
                </a:br>
                <a:r>
                  <a:rPr lang="en-US" sz="2000" dirty="0"/>
                  <a:t>seen.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CB93-F1CB-2378-48A8-B5B850C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AC13-CF46-E5E1-A13C-A348560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748FC-E34F-6662-DEA1-42AF33BB9D06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273730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587F-4971-AAFA-0F19-32D947BA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More flexibility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en-US" b="1" dirty="0"/>
                  <a:t> doesn’t mean it’s a better predictor.</a:t>
                </a:r>
              </a:p>
              <a:p>
                <a:r>
                  <a:rPr lang="en-US" dirty="0"/>
                  <a:t>Flexible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may fit to specific artifacts (noise) of our observations</a:t>
                </a:r>
              </a:p>
              <a:p>
                <a:r>
                  <a:rPr lang="en-US" dirty="0"/>
                  <a:t>We aren’t actually interested in the MSE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on the training data used to create the model (by itself)</a:t>
                </a:r>
              </a:p>
              <a:p>
                <a:r>
                  <a:rPr lang="en-US" dirty="0"/>
                  <a:t>Instead, we want to know how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generalizes to </a:t>
                </a:r>
                <a:r>
                  <a:rPr lang="en-US" i="1" dirty="0"/>
                  <a:t>new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Enter: </a:t>
                </a:r>
                <a:r>
                  <a:rPr lang="en-US" b="1" dirty="0"/>
                  <a:t>Train/test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F0C0-82C5-1E8E-8F9C-BDCAF55B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1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FF00-5DEE-5C88-9306-B813697F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a portion of the data, the </a:t>
                </a:r>
                <a:r>
                  <a:rPr lang="en-US" i="1" dirty="0"/>
                  <a:t>training data, </a:t>
                </a:r>
                <a:r>
                  <a:rPr lang="en-US" dirty="0"/>
                  <a:t>to build the model.</a:t>
                </a:r>
              </a:p>
              <a:p>
                <a:r>
                  <a:rPr lang="en-US" dirty="0"/>
                  <a:t>Use the remaining data, which the model has not “seen”, to test its performance.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 simulation: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58C7-A763-CA2E-16F9-A4B64E5A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ABD0-1B78-2E6B-08D6-3567B1DE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Truth and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587E-C7AA-DCC5-BB75-27367EAE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pic>
        <p:nvPicPr>
          <p:cNvPr id="450" name="Graphic 449">
            <a:extLst>
              <a:ext uri="{FF2B5EF4-FFF2-40B4-BE49-F238E27FC236}">
                <a16:creationId xmlns:a16="http://schemas.microsoft.com/office/drawing/2014/main" id="{F536E339-8AB1-73AA-5BE6-C7D4C1B2D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2478" y="1514007"/>
            <a:ext cx="7667043" cy="48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98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1BC-5ED6-EAB9-B8DE-8D3A81B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Train/Test Split and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F60E4-2620-8E52-94A6-64969E28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B6D242-5B81-0FDE-C8B9-97B56AC7E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7833" y="1529789"/>
            <a:ext cx="8436334" cy="53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90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2549402"/>
            <a:ext cx="5010744" cy="1515052"/>
          </a:xfrm>
          <a:custGeom>
            <a:avLst/>
            <a:gdLst/>
            <a:ahLst/>
            <a:cxnLst/>
            <a:rect l="l" t="t" r="r" b="b"/>
            <a:pathLst>
              <a:path w="2528570" h="764539">
                <a:moveTo>
                  <a:pt x="0" y="764105"/>
                </a:moveTo>
                <a:lnTo>
                  <a:pt x="42219" y="751385"/>
                </a:lnTo>
                <a:lnTo>
                  <a:pt x="84349" y="738665"/>
                </a:lnTo>
                <a:lnTo>
                  <a:pt x="126478" y="725945"/>
                </a:lnTo>
                <a:lnTo>
                  <a:pt x="168608" y="713225"/>
                </a:lnTo>
                <a:lnTo>
                  <a:pt x="210737" y="700415"/>
                </a:lnTo>
                <a:lnTo>
                  <a:pt x="252867" y="687695"/>
                </a:lnTo>
                <a:lnTo>
                  <a:pt x="294997" y="674975"/>
                </a:lnTo>
                <a:lnTo>
                  <a:pt x="337126" y="662254"/>
                </a:lnTo>
                <a:lnTo>
                  <a:pt x="379256" y="649534"/>
                </a:lnTo>
                <a:lnTo>
                  <a:pt x="421385" y="636724"/>
                </a:lnTo>
                <a:lnTo>
                  <a:pt x="463515" y="624004"/>
                </a:lnTo>
                <a:lnTo>
                  <a:pt x="505644" y="611284"/>
                </a:lnTo>
                <a:lnTo>
                  <a:pt x="547774" y="598564"/>
                </a:lnTo>
                <a:lnTo>
                  <a:pt x="589904" y="585844"/>
                </a:lnTo>
                <a:lnTo>
                  <a:pt x="632033" y="573124"/>
                </a:lnTo>
                <a:lnTo>
                  <a:pt x="674163" y="560314"/>
                </a:lnTo>
                <a:lnTo>
                  <a:pt x="716382" y="547594"/>
                </a:lnTo>
                <a:lnTo>
                  <a:pt x="758512" y="534873"/>
                </a:lnTo>
                <a:lnTo>
                  <a:pt x="800641" y="522153"/>
                </a:lnTo>
                <a:lnTo>
                  <a:pt x="842771" y="509433"/>
                </a:lnTo>
                <a:lnTo>
                  <a:pt x="884901" y="496713"/>
                </a:lnTo>
                <a:lnTo>
                  <a:pt x="927030" y="483903"/>
                </a:lnTo>
                <a:lnTo>
                  <a:pt x="969160" y="471183"/>
                </a:lnTo>
                <a:lnTo>
                  <a:pt x="1011289" y="458463"/>
                </a:lnTo>
                <a:lnTo>
                  <a:pt x="1053419" y="445743"/>
                </a:lnTo>
                <a:lnTo>
                  <a:pt x="1095548" y="433023"/>
                </a:lnTo>
                <a:lnTo>
                  <a:pt x="1137678" y="420213"/>
                </a:lnTo>
                <a:lnTo>
                  <a:pt x="1179808" y="407492"/>
                </a:lnTo>
                <a:lnTo>
                  <a:pt x="1221937" y="394772"/>
                </a:lnTo>
                <a:lnTo>
                  <a:pt x="1264067" y="382052"/>
                </a:lnTo>
                <a:lnTo>
                  <a:pt x="1306196" y="369332"/>
                </a:lnTo>
                <a:lnTo>
                  <a:pt x="1348326" y="356612"/>
                </a:lnTo>
                <a:lnTo>
                  <a:pt x="1390546" y="343802"/>
                </a:lnTo>
                <a:lnTo>
                  <a:pt x="1432675" y="331082"/>
                </a:lnTo>
                <a:lnTo>
                  <a:pt x="1474805" y="318362"/>
                </a:lnTo>
                <a:lnTo>
                  <a:pt x="1516934" y="305642"/>
                </a:lnTo>
                <a:lnTo>
                  <a:pt x="1559064" y="292922"/>
                </a:lnTo>
                <a:lnTo>
                  <a:pt x="1601193" y="280202"/>
                </a:lnTo>
                <a:lnTo>
                  <a:pt x="1643323" y="267391"/>
                </a:lnTo>
                <a:lnTo>
                  <a:pt x="1685452" y="254671"/>
                </a:lnTo>
                <a:lnTo>
                  <a:pt x="1727582" y="241951"/>
                </a:lnTo>
                <a:lnTo>
                  <a:pt x="1769712" y="229231"/>
                </a:lnTo>
                <a:lnTo>
                  <a:pt x="1811841" y="216511"/>
                </a:lnTo>
                <a:lnTo>
                  <a:pt x="1853971" y="203701"/>
                </a:lnTo>
                <a:lnTo>
                  <a:pt x="1896100" y="190981"/>
                </a:lnTo>
                <a:lnTo>
                  <a:pt x="1938230" y="178261"/>
                </a:lnTo>
                <a:lnTo>
                  <a:pt x="1980359" y="165541"/>
                </a:lnTo>
                <a:lnTo>
                  <a:pt x="2022489" y="152821"/>
                </a:lnTo>
                <a:lnTo>
                  <a:pt x="2064709" y="140101"/>
                </a:lnTo>
                <a:lnTo>
                  <a:pt x="2106838" y="127290"/>
                </a:lnTo>
                <a:lnTo>
                  <a:pt x="2148968" y="114570"/>
                </a:lnTo>
                <a:lnTo>
                  <a:pt x="2191097" y="101850"/>
                </a:lnTo>
                <a:lnTo>
                  <a:pt x="2233227" y="89130"/>
                </a:lnTo>
                <a:lnTo>
                  <a:pt x="2275356" y="76410"/>
                </a:lnTo>
                <a:lnTo>
                  <a:pt x="2317486" y="63690"/>
                </a:lnTo>
                <a:lnTo>
                  <a:pt x="2359616" y="50880"/>
                </a:lnTo>
                <a:lnTo>
                  <a:pt x="2401745" y="38160"/>
                </a:lnTo>
                <a:lnTo>
                  <a:pt x="2443875" y="25440"/>
                </a:lnTo>
                <a:lnTo>
                  <a:pt x="2486004" y="12720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22983431-02FB-9D04-B8B5-58E73AFC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linear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1952308"/>
            <a:ext cx="5010744" cy="2731875"/>
          </a:xfrm>
          <a:custGeom>
            <a:avLst/>
            <a:gdLst/>
            <a:ahLst/>
            <a:cxnLst/>
            <a:rect l="l" t="t" r="r" b="b"/>
            <a:pathLst>
              <a:path w="2528570" h="1378585">
                <a:moveTo>
                  <a:pt x="0" y="1378277"/>
                </a:moveTo>
                <a:lnTo>
                  <a:pt x="42219" y="1310707"/>
                </a:lnTo>
                <a:lnTo>
                  <a:pt x="84349" y="1247648"/>
                </a:lnTo>
                <a:lnTo>
                  <a:pt x="126478" y="1189009"/>
                </a:lnTo>
                <a:lnTo>
                  <a:pt x="168608" y="1134520"/>
                </a:lnTo>
                <a:lnTo>
                  <a:pt x="210737" y="1084182"/>
                </a:lnTo>
                <a:lnTo>
                  <a:pt x="252867" y="1037632"/>
                </a:lnTo>
                <a:lnTo>
                  <a:pt x="294997" y="994870"/>
                </a:lnTo>
                <a:lnTo>
                  <a:pt x="337126" y="955718"/>
                </a:lnTo>
                <a:lnTo>
                  <a:pt x="379256" y="919903"/>
                </a:lnTo>
                <a:lnTo>
                  <a:pt x="421385" y="887427"/>
                </a:lnTo>
                <a:lnTo>
                  <a:pt x="463515" y="858107"/>
                </a:lnTo>
                <a:lnTo>
                  <a:pt x="505644" y="831675"/>
                </a:lnTo>
                <a:lnTo>
                  <a:pt x="547774" y="808129"/>
                </a:lnTo>
                <a:lnTo>
                  <a:pt x="589904" y="787200"/>
                </a:lnTo>
                <a:lnTo>
                  <a:pt x="632033" y="768706"/>
                </a:lnTo>
                <a:lnTo>
                  <a:pt x="674163" y="752648"/>
                </a:lnTo>
                <a:lnTo>
                  <a:pt x="716382" y="738755"/>
                </a:lnTo>
                <a:lnTo>
                  <a:pt x="758512" y="726847"/>
                </a:lnTo>
                <a:lnTo>
                  <a:pt x="800641" y="716833"/>
                </a:lnTo>
                <a:lnTo>
                  <a:pt x="842771" y="708624"/>
                </a:lnTo>
                <a:lnTo>
                  <a:pt x="884901" y="701858"/>
                </a:lnTo>
                <a:lnTo>
                  <a:pt x="927030" y="696535"/>
                </a:lnTo>
                <a:lnTo>
                  <a:pt x="969160" y="692476"/>
                </a:lnTo>
                <a:lnTo>
                  <a:pt x="1011289" y="689499"/>
                </a:lnTo>
                <a:lnTo>
                  <a:pt x="1053419" y="687514"/>
                </a:lnTo>
                <a:lnTo>
                  <a:pt x="1095548" y="686251"/>
                </a:lnTo>
                <a:lnTo>
                  <a:pt x="1137678" y="685620"/>
                </a:lnTo>
                <a:lnTo>
                  <a:pt x="1179808" y="685529"/>
                </a:lnTo>
                <a:lnTo>
                  <a:pt x="1221937" y="685710"/>
                </a:lnTo>
                <a:lnTo>
                  <a:pt x="1264067" y="686071"/>
                </a:lnTo>
                <a:lnTo>
                  <a:pt x="1306196" y="686341"/>
                </a:lnTo>
                <a:lnTo>
                  <a:pt x="1348326" y="686612"/>
                </a:lnTo>
                <a:lnTo>
                  <a:pt x="1390546" y="686522"/>
                </a:lnTo>
                <a:lnTo>
                  <a:pt x="1432675" y="685890"/>
                </a:lnTo>
                <a:lnTo>
                  <a:pt x="1474805" y="684718"/>
                </a:lnTo>
                <a:lnTo>
                  <a:pt x="1516934" y="682823"/>
                </a:lnTo>
                <a:lnTo>
                  <a:pt x="1559064" y="679936"/>
                </a:lnTo>
                <a:lnTo>
                  <a:pt x="1601193" y="675967"/>
                </a:lnTo>
                <a:lnTo>
                  <a:pt x="1643323" y="670735"/>
                </a:lnTo>
                <a:lnTo>
                  <a:pt x="1685452" y="664149"/>
                </a:lnTo>
                <a:lnTo>
                  <a:pt x="1727582" y="656030"/>
                </a:lnTo>
                <a:lnTo>
                  <a:pt x="1769712" y="646197"/>
                </a:lnTo>
                <a:lnTo>
                  <a:pt x="1811841" y="634469"/>
                </a:lnTo>
                <a:lnTo>
                  <a:pt x="1853971" y="620756"/>
                </a:lnTo>
                <a:lnTo>
                  <a:pt x="1896100" y="604879"/>
                </a:lnTo>
                <a:lnTo>
                  <a:pt x="1938230" y="586656"/>
                </a:lnTo>
                <a:lnTo>
                  <a:pt x="1980359" y="565997"/>
                </a:lnTo>
                <a:lnTo>
                  <a:pt x="2022489" y="542632"/>
                </a:lnTo>
                <a:lnTo>
                  <a:pt x="2064709" y="516470"/>
                </a:lnTo>
                <a:lnTo>
                  <a:pt x="2106838" y="487421"/>
                </a:lnTo>
                <a:lnTo>
                  <a:pt x="2148968" y="455215"/>
                </a:lnTo>
                <a:lnTo>
                  <a:pt x="2191097" y="419761"/>
                </a:lnTo>
                <a:lnTo>
                  <a:pt x="2233227" y="380880"/>
                </a:lnTo>
                <a:lnTo>
                  <a:pt x="2275356" y="338389"/>
                </a:lnTo>
                <a:lnTo>
                  <a:pt x="2317486" y="292290"/>
                </a:lnTo>
                <a:lnTo>
                  <a:pt x="2359616" y="242222"/>
                </a:lnTo>
                <a:lnTo>
                  <a:pt x="2401745" y="188094"/>
                </a:lnTo>
                <a:lnTo>
                  <a:pt x="2443875" y="129816"/>
                </a:lnTo>
                <a:lnTo>
                  <a:pt x="2486004" y="67118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978A1635-ED9C-194B-C237-A76DBE5E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168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427060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346953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266846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2933956" y="186739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467123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387016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2933956" y="306909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2933956" y="226801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2933956" y="146694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object 21"/>
          <p:cNvSpPr txBox="1"/>
          <p:nvPr/>
        </p:nvSpPr>
        <p:spPr>
          <a:xfrm>
            <a:off x="4476394" y="35650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6149" y="2123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5254" y="37763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80461" y="354269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03168" y="3044818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5077" y="288303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87814" y="222336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63075" y="391132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0304" y="310399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4394" y="366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0116" y="2653845"/>
            <a:ext cx="3372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92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38852" y="36288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5266" y="25117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8237" y="418805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5971" y="251100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40328" y="1984026"/>
            <a:ext cx="123318" cy="268404"/>
          </a:xfrm>
          <a:prstGeom prst="rect">
            <a:avLst/>
          </a:prstGeom>
        </p:spPr>
        <p:txBody>
          <a:bodyPr vert="horz" wrap="square" lIns="0" tIns="41526" rIns="0" bIns="0" rtlCol="0">
            <a:spAutoFit/>
          </a:bodyPr>
          <a:lstStyle/>
          <a:p>
            <a:pPr>
              <a:spcBef>
                <a:spcPts val="32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58675" y="26811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6752" y="3380727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430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36060" y="35670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40620" y="2195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00170" y="2410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9392" y="1573175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66307" y="329581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88595" y="24536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11768" y="46609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7893" y="3106672"/>
            <a:ext cx="5561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2883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15101" y="13377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4215" y="36624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95604" y="2845130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56261" y="3378406"/>
            <a:ext cx="19252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69211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66763" y="233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86943" y="2713377"/>
            <a:ext cx="52724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25489" y="2438962"/>
            <a:ext cx="304520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81207">
              <a:lnSpc>
                <a:spcPts val="77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93355" y="231900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73031" y="3703587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07537" y="1910692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71993" y="34298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07134" y="2949890"/>
            <a:ext cx="31710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6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06740" y="25991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52396" y="2433778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58876" y="333156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17623" y="27548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04371" y="31220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39995" y="2282895"/>
            <a:ext cx="358629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94584" y="297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65063" y="256392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54486" y="2967588"/>
            <a:ext cx="8946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6764" y="3288338"/>
            <a:ext cx="531023" cy="357752"/>
          </a:xfrm>
          <a:prstGeom prst="rect">
            <a:avLst/>
          </a:prstGeom>
        </p:spPr>
        <p:txBody>
          <a:bodyPr vert="horz" wrap="square" lIns="0" tIns="45301" rIns="0" bIns="0" rtlCol="0">
            <a:spAutoFit/>
          </a:bodyPr>
          <a:lstStyle/>
          <a:p>
            <a:pPr marR="254193" algn="r">
              <a:spcBef>
                <a:spcPts val="357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9" baseline="-23809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142197" algn="r">
              <a:lnSpc>
                <a:spcPts val="743"/>
              </a:lnSpc>
              <a:spcBef>
                <a:spcPts val="188"/>
              </a:spcBef>
            </a:pP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60402" algn="r">
              <a:lnSpc>
                <a:spcPts val="74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93555" y="305965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53779" y="305929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296272" y="3498895"/>
            <a:ext cx="3070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81079" y="2036190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1040" spc="-549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4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15468" y="3356951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21481" y="2447722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47345" y="328830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690740" y="29981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76866" y="3546271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36855" y="2372996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49490" y="36365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01210" y="3525533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68408" y="2636505"/>
            <a:ext cx="18384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2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89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24744" y="2131833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05981" y="2272203"/>
            <a:ext cx="216436" cy="391050"/>
          </a:xfrm>
          <a:prstGeom prst="rect">
            <a:avLst/>
          </a:prstGeom>
        </p:spPr>
        <p:txBody>
          <a:bodyPr vert="horz" wrap="square" lIns="0" tIns="8808" rIns="0" bIns="0" rtlCol="0">
            <a:spAutoFit/>
          </a:bodyPr>
          <a:lstStyle/>
          <a:p>
            <a:pPr>
              <a:spcBef>
                <a:spcPts val="69"/>
              </a:spcBef>
            </a:pPr>
            <a:endParaRPr sz="595">
              <a:latin typeface="Times New Roman"/>
              <a:cs typeface="Times New Roman"/>
            </a:endParaRPr>
          </a:p>
          <a:p>
            <a:pPr marL="93120">
              <a:spcBef>
                <a:spcPts val="10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75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89234" y="3257734"/>
            <a:ext cx="65182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86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50754" y="2613800"/>
            <a:ext cx="54989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00015" y="19625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93725" y="3053220"/>
            <a:ext cx="12935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19958" algn="l"/>
              </a:tabLst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52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7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4227" y="180414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84900" y="2720206"/>
            <a:ext cx="494529" cy="286310"/>
          </a:xfrm>
          <a:prstGeom prst="rect">
            <a:avLst/>
          </a:prstGeom>
        </p:spPr>
        <p:txBody>
          <a:bodyPr vert="horz" wrap="square" lIns="0" tIns="46559" rIns="0" bIns="0" rtlCol="0">
            <a:spAutoFit/>
          </a:bodyPr>
          <a:lstStyle/>
          <a:p>
            <a:pPr marL="320887">
              <a:spcBef>
                <a:spcPts val="367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0335">
              <a:spcBef>
                <a:spcPts val="18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25445" y="35947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09769" y="3137958"/>
            <a:ext cx="9085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505869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-14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1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963456" y="34810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70070" y="238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05457" y="3602046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387186" y="248866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68048" y="2499566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10285" y="2082671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369792" y="2946493"/>
            <a:ext cx="5738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787" baseline="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6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86407" y="2625600"/>
            <a:ext cx="37121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47901">
              <a:lnSpc>
                <a:spcPts val="72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52541" y="3756503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68039" y="2809020"/>
            <a:ext cx="179944" cy="50443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6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2651">
              <a:lnSpc>
                <a:spcPts val="76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6627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31459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972974" y="282242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915222" y="2696391"/>
            <a:ext cx="118536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47619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54272" y="25544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735329" y="3224126"/>
            <a:ext cx="100038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58638"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3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9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30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75503">
              <a:lnSpc>
                <a:spcPts val="723"/>
              </a:lnSpc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62863" y="4105108"/>
            <a:ext cx="46810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71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800943" y="3023542"/>
            <a:ext cx="82296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535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9682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744048" y="3202671"/>
            <a:ext cx="28400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97225" algn="l"/>
              </a:tabLst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87" baseline="23809" dirty="0">
                <a:solidFill>
                  <a:srgbClr val="00D2D7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19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1040" spc="149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58687" y="3008347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054136" y="390864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90598" y="2770224"/>
            <a:ext cx="5712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-357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285420" y="411851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525503" y="3649956"/>
            <a:ext cx="83176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32965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18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06599" y="2606471"/>
            <a:ext cx="6694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964877" y="2845665"/>
            <a:ext cx="3082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14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840684" y="269013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522597" y="3372683"/>
            <a:ext cx="67321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11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1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12830" y="4158024"/>
            <a:ext cx="48194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68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418684" y="3418985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r>
              <a:rPr sz="694" spc="-17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980383" y="2320258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111243" y="259645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804573" y="295346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747985" y="1623981"/>
            <a:ext cx="463070" cy="366713"/>
          </a:xfrm>
          <a:prstGeom prst="rect">
            <a:avLst/>
          </a:prstGeom>
        </p:spPr>
        <p:txBody>
          <a:bodyPr vert="horz" wrap="square" lIns="0" tIns="88084" rIns="0" bIns="0" rtlCol="0">
            <a:spAutoFit/>
          </a:bodyPr>
          <a:lstStyle/>
          <a:p>
            <a:pPr algn="ctr">
              <a:spcBef>
                <a:spcPts val="694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98154" algn="ctr">
              <a:spcBef>
                <a:spcPts val="50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322195" y="2873911"/>
            <a:ext cx="95131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0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560151" y="347261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741824" y="388450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310927" y="4294428"/>
            <a:ext cx="504598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86828">
              <a:spcBef>
                <a:spcPts val="6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184415" y="1628374"/>
            <a:ext cx="5010744" cy="3651728"/>
          </a:xfrm>
          <a:custGeom>
            <a:avLst/>
            <a:gdLst/>
            <a:ahLst/>
            <a:cxnLst/>
            <a:rect l="l" t="t" r="r" b="b"/>
            <a:pathLst>
              <a:path w="2528570" h="1842770">
                <a:moveTo>
                  <a:pt x="0" y="1842423"/>
                </a:moveTo>
                <a:lnTo>
                  <a:pt x="42219" y="1358971"/>
                </a:lnTo>
                <a:lnTo>
                  <a:pt x="84349" y="1173402"/>
                </a:lnTo>
                <a:lnTo>
                  <a:pt x="126478" y="1112779"/>
                </a:lnTo>
                <a:lnTo>
                  <a:pt x="168608" y="1089504"/>
                </a:lnTo>
                <a:lnTo>
                  <a:pt x="210737" y="1065688"/>
                </a:lnTo>
                <a:lnTo>
                  <a:pt x="252867" y="1031046"/>
                </a:lnTo>
                <a:lnTo>
                  <a:pt x="294997" y="987834"/>
                </a:lnTo>
                <a:lnTo>
                  <a:pt x="337126" y="942457"/>
                </a:lnTo>
                <a:lnTo>
                  <a:pt x="379256" y="900959"/>
                </a:lnTo>
                <a:lnTo>
                  <a:pt x="421385" y="867129"/>
                </a:lnTo>
                <a:lnTo>
                  <a:pt x="463515" y="841959"/>
                </a:lnTo>
                <a:lnTo>
                  <a:pt x="505644" y="824638"/>
                </a:lnTo>
                <a:lnTo>
                  <a:pt x="547774" y="812820"/>
                </a:lnTo>
                <a:lnTo>
                  <a:pt x="589904" y="803889"/>
                </a:lnTo>
                <a:lnTo>
                  <a:pt x="632033" y="795590"/>
                </a:lnTo>
                <a:lnTo>
                  <a:pt x="674163" y="786298"/>
                </a:lnTo>
                <a:lnTo>
                  <a:pt x="716382" y="775382"/>
                </a:lnTo>
                <a:lnTo>
                  <a:pt x="758512" y="762932"/>
                </a:lnTo>
                <a:lnTo>
                  <a:pt x="800641" y="749942"/>
                </a:lnTo>
                <a:lnTo>
                  <a:pt x="842771" y="737763"/>
                </a:lnTo>
                <a:lnTo>
                  <a:pt x="884901" y="727659"/>
                </a:lnTo>
                <a:lnTo>
                  <a:pt x="927030" y="720893"/>
                </a:lnTo>
                <a:lnTo>
                  <a:pt x="969160" y="718187"/>
                </a:lnTo>
                <a:lnTo>
                  <a:pt x="1011289" y="719630"/>
                </a:lnTo>
                <a:lnTo>
                  <a:pt x="1053419" y="724772"/>
                </a:lnTo>
                <a:lnTo>
                  <a:pt x="1095548" y="732711"/>
                </a:lnTo>
                <a:lnTo>
                  <a:pt x="1137678" y="741823"/>
                </a:lnTo>
                <a:lnTo>
                  <a:pt x="1179808" y="750573"/>
                </a:lnTo>
                <a:lnTo>
                  <a:pt x="1221937" y="757339"/>
                </a:lnTo>
                <a:lnTo>
                  <a:pt x="1264067" y="760677"/>
                </a:lnTo>
                <a:lnTo>
                  <a:pt x="1306196" y="759595"/>
                </a:lnTo>
                <a:lnTo>
                  <a:pt x="1348326" y="753640"/>
                </a:lnTo>
                <a:lnTo>
                  <a:pt x="1390546" y="743176"/>
                </a:lnTo>
                <a:lnTo>
                  <a:pt x="1432675" y="728922"/>
                </a:lnTo>
                <a:lnTo>
                  <a:pt x="1474805" y="712233"/>
                </a:lnTo>
                <a:lnTo>
                  <a:pt x="1516934" y="694731"/>
                </a:lnTo>
                <a:lnTo>
                  <a:pt x="1559064" y="678222"/>
                </a:lnTo>
                <a:lnTo>
                  <a:pt x="1601193" y="664239"/>
                </a:lnTo>
                <a:lnTo>
                  <a:pt x="1643323" y="654045"/>
                </a:lnTo>
                <a:lnTo>
                  <a:pt x="1685452" y="648091"/>
                </a:lnTo>
                <a:lnTo>
                  <a:pt x="1727582" y="646467"/>
                </a:lnTo>
                <a:lnTo>
                  <a:pt x="1769712" y="648091"/>
                </a:lnTo>
                <a:lnTo>
                  <a:pt x="1811841" y="651429"/>
                </a:lnTo>
                <a:lnTo>
                  <a:pt x="1853971" y="654316"/>
                </a:lnTo>
                <a:lnTo>
                  <a:pt x="1896100" y="654316"/>
                </a:lnTo>
                <a:lnTo>
                  <a:pt x="1938230" y="649354"/>
                </a:lnTo>
                <a:lnTo>
                  <a:pt x="1980359" y="637536"/>
                </a:lnTo>
                <a:lnTo>
                  <a:pt x="2022489" y="618140"/>
                </a:lnTo>
                <a:lnTo>
                  <a:pt x="2064709" y="591527"/>
                </a:lnTo>
                <a:lnTo>
                  <a:pt x="2106838" y="559051"/>
                </a:lnTo>
                <a:lnTo>
                  <a:pt x="2148968" y="523416"/>
                </a:lnTo>
                <a:lnTo>
                  <a:pt x="2191097" y="487512"/>
                </a:lnTo>
                <a:lnTo>
                  <a:pt x="2233227" y="454223"/>
                </a:lnTo>
                <a:lnTo>
                  <a:pt x="2275356" y="424813"/>
                </a:lnTo>
                <a:lnTo>
                  <a:pt x="2317486" y="397930"/>
                </a:lnTo>
                <a:lnTo>
                  <a:pt x="2359616" y="368340"/>
                </a:lnTo>
                <a:lnTo>
                  <a:pt x="2401745" y="326571"/>
                </a:lnTo>
                <a:lnTo>
                  <a:pt x="2443875" y="259543"/>
                </a:lnTo>
                <a:lnTo>
                  <a:pt x="2486004" y="153272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 txBox="1"/>
          <p:nvPr/>
        </p:nvSpPr>
        <p:spPr>
          <a:xfrm>
            <a:off x="2547852" y="4542918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547852" y="3741845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731271" y="2940773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641707" y="213970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641707" y="1338626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2884975" y="467123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5" name="object 135"/>
          <p:cNvSpPr/>
          <p:nvPr/>
        </p:nvSpPr>
        <p:spPr>
          <a:xfrm>
            <a:off x="2884975" y="387016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2884975" y="3069090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2884975" y="226801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/>
          <p:nvPr/>
        </p:nvSpPr>
        <p:spPr>
          <a:xfrm>
            <a:off x="2884975" y="146694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9" name="object 139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0" name="object 140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1" name="object 141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2" name="object 142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8" name="object 148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9" name="object 149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0" name="object 150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54" name="Title 1">
            <a:extLst>
              <a:ext uri="{FF2B5EF4-FFF2-40B4-BE49-F238E27FC236}">
                <a16:creationId xmlns:a16="http://schemas.microsoft.com/office/drawing/2014/main" id="{70DCCFD3-E943-B934-3ADE-D34BCC8A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80506" y="1233292"/>
          <a:ext cx="5676410" cy="4287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8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7550" marB="0"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9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74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377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8808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 dirty="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37238" y="4161780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7851" y="284924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7851" y="1536703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 dirty="0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CF5A111-521B-CCD1-EBFE-02DBA26813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109F38-0C33-D7F7-C516-91C9EC760C44}"/>
              </a:ext>
            </a:extLst>
          </p:cNvPr>
          <p:cNvSpPr/>
          <p:nvPr/>
        </p:nvSpPr>
        <p:spPr>
          <a:xfrm>
            <a:off x="3266142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156703-4811-1C16-AC1F-9E413BF37E50}"/>
              </a:ext>
            </a:extLst>
          </p:cNvPr>
          <p:cNvSpPr/>
          <p:nvPr/>
        </p:nvSpPr>
        <p:spPr>
          <a:xfrm>
            <a:off x="4315119" y="4131318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98F9ED-DA83-D300-C0A6-E8FF8242F830}"/>
              </a:ext>
            </a:extLst>
          </p:cNvPr>
          <p:cNvSpPr/>
          <p:nvPr/>
        </p:nvSpPr>
        <p:spPr>
          <a:xfrm>
            <a:off x="6644634" y="4179820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10A0E6-A062-B433-3AA5-DAC399252731}"/>
              </a:ext>
            </a:extLst>
          </p:cNvPr>
          <p:cNvSpPr/>
          <p:nvPr/>
        </p:nvSpPr>
        <p:spPr>
          <a:xfrm>
            <a:off x="8279633" y="3935817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724FD6-44DB-C432-C61C-F0EC6D79143C}"/>
              </a:ext>
            </a:extLst>
          </p:cNvPr>
          <p:cNvSpPr/>
          <p:nvPr/>
        </p:nvSpPr>
        <p:spPr>
          <a:xfrm>
            <a:off x="3279393" y="2682021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E07F67-5969-EDB2-0DA8-A293F6EBA208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34C0B2-33EB-6A28-4A17-0928FE6D29B8}"/>
              </a:ext>
            </a:extLst>
          </p:cNvPr>
          <p:cNvSpPr/>
          <p:nvPr/>
        </p:nvSpPr>
        <p:spPr>
          <a:xfrm>
            <a:off x="4323685" y="4991552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6F03FB-0C35-269F-95D5-178E6962945A}"/>
              </a:ext>
            </a:extLst>
          </p:cNvPr>
          <p:cNvSpPr/>
          <p:nvPr/>
        </p:nvSpPr>
        <p:spPr>
          <a:xfrm>
            <a:off x="6644634" y="510263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183700-693D-9245-A28C-E11C14AEC925}"/>
              </a:ext>
            </a:extLst>
          </p:cNvPr>
          <p:cNvSpPr/>
          <p:nvPr/>
        </p:nvSpPr>
        <p:spPr>
          <a:xfrm>
            <a:off x="8279633" y="5261694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92CCE3-AD41-7FB8-06C5-B0226407A95F}"/>
              </a:ext>
            </a:extLst>
          </p:cNvPr>
          <p:cNvSpPr/>
          <p:nvPr/>
        </p:nvSpPr>
        <p:spPr>
          <a:xfrm>
            <a:off x="8963513" y="363247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29488" y="4673917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29488" y="3462922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29488" y="22521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341771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5742808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8067904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929488" y="527941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929488" y="4068421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29488" y="28576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29488" y="1646608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458026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690535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3146873" y="1337732"/>
            <a:ext cx="5212080" cy="393537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62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30"/>
              </a:spcBef>
            </a:pPr>
            <a:endParaRPr sz="991" dirty="0">
              <a:latin typeface="Wingdings"/>
              <a:cs typeface="Wingdings"/>
            </a:endParaRPr>
          </a:p>
          <a:p>
            <a:pPr marL="5114054"/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929942">
              <a:lnSpc>
                <a:spcPts val="674"/>
              </a:lnSpc>
              <a:spcBef>
                <a:spcPts val="503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 marL="929942">
              <a:spcBef>
                <a:spcPts val="53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5114054">
              <a:spcBef>
                <a:spcPts val="17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527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4137087" y="5128214"/>
            <a:ext cx="88713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The</a:t>
            </a:r>
            <a:r>
              <a:rPr sz="1486" spc="-119" dirty="0">
                <a:latin typeface="Helvetica"/>
                <a:cs typeface="Helvetica"/>
              </a:rPr>
              <a:t> </a:t>
            </a:r>
            <a:r>
              <a:rPr sz="1486" spc="-10" dirty="0">
                <a:latin typeface="Helvetica"/>
                <a:cs typeface="Helvetica"/>
              </a:rPr>
              <a:t>Truth!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7238" y="5151098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80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7238" y="3940103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7851" y="2729287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7851" y="151829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80506" y="527941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4" name="object 24"/>
          <p:cNvSpPr/>
          <p:nvPr/>
        </p:nvSpPr>
        <p:spPr>
          <a:xfrm>
            <a:off x="2880506" y="406842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5" name="object 25"/>
          <p:cNvSpPr/>
          <p:nvPr/>
        </p:nvSpPr>
        <p:spPr>
          <a:xfrm>
            <a:off x="2880506" y="285760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6" name="object 26"/>
          <p:cNvSpPr/>
          <p:nvPr/>
        </p:nvSpPr>
        <p:spPr>
          <a:xfrm>
            <a:off x="2880506" y="164660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7" name="object 27"/>
          <p:cNvSpPr/>
          <p:nvPr/>
        </p:nvSpPr>
        <p:spPr>
          <a:xfrm>
            <a:off x="4580261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8" name="object 28"/>
          <p:cNvSpPr/>
          <p:nvPr/>
        </p:nvSpPr>
        <p:spPr>
          <a:xfrm>
            <a:off x="690535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9" name="object 29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5" name="object 3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6" name="object 36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7" name="object 37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F433E38-B20E-F199-98CA-D7C300679A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BA11F0-C9FD-B3A4-7C3D-06A5329ECB5B}"/>
              </a:ext>
            </a:extLst>
          </p:cNvPr>
          <p:cNvSpPr/>
          <p:nvPr/>
        </p:nvSpPr>
        <p:spPr>
          <a:xfrm>
            <a:off x="3146873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F90AF9-D0F6-26E2-0270-C1A84AD91270}"/>
              </a:ext>
            </a:extLst>
          </p:cNvPr>
          <p:cNvSpPr/>
          <p:nvPr/>
        </p:nvSpPr>
        <p:spPr>
          <a:xfrm>
            <a:off x="4063329" y="404158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2FA167-DDEC-DB44-F7B2-B9D1CAB20815}"/>
              </a:ext>
            </a:extLst>
          </p:cNvPr>
          <p:cNvSpPr/>
          <p:nvPr/>
        </p:nvSpPr>
        <p:spPr>
          <a:xfrm>
            <a:off x="6388426" y="4125534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4454DE-E8FB-4080-8200-3A73081DD798}"/>
              </a:ext>
            </a:extLst>
          </p:cNvPr>
          <p:cNvSpPr/>
          <p:nvPr/>
        </p:nvSpPr>
        <p:spPr>
          <a:xfrm>
            <a:off x="8248712" y="389164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FA6B23E-A043-64B0-0325-BDAF54B15BC1}"/>
              </a:ext>
            </a:extLst>
          </p:cNvPr>
          <p:cNvSpPr/>
          <p:nvPr/>
        </p:nvSpPr>
        <p:spPr>
          <a:xfrm>
            <a:off x="3146873" y="2664353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8803D5-33B2-3ACF-54E3-85827843986B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7E5233-136F-F159-C4F6-E8EE1405EB7B}"/>
              </a:ext>
            </a:extLst>
          </p:cNvPr>
          <p:cNvSpPr/>
          <p:nvPr/>
        </p:nvSpPr>
        <p:spPr>
          <a:xfrm>
            <a:off x="4071895" y="490181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E3933E1-68C5-5BC9-B5E8-78BCB2D537E2}"/>
              </a:ext>
            </a:extLst>
          </p:cNvPr>
          <p:cNvSpPr/>
          <p:nvPr/>
        </p:nvSpPr>
        <p:spPr>
          <a:xfrm>
            <a:off x="6388426" y="500624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17F8D00-10B4-381B-07A1-98FBEB118261}"/>
              </a:ext>
            </a:extLst>
          </p:cNvPr>
          <p:cNvSpPr/>
          <p:nvPr/>
        </p:nvSpPr>
        <p:spPr>
          <a:xfrm>
            <a:off x="8248712" y="5168928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350336-ABAD-3ACD-4B1D-5627BE1A39C9}"/>
              </a:ext>
            </a:extLst>
          </p:cNvPr>
          <p:cNvSpPr/>
          <p:nvPr/>
        </p:nvSpPr>
        <p:spPr>
          <a:xfrm>
            <a:off x="8963513" y="364862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B8FF25-7A92-A664-9121-82807E6C8E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F82952-89BF-8D3B-EDDD-E81B1B30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0076" y="1116623"/>
            <a:ext cx="5111848" cy="189327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E913B7-23C3-D90C-D73A-76073D83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7645"/>
            <a:ext cx="10515600" cy="3345230"/>
          </a:xfrm>
        </p:spPr>
        <p:txBody>
          <a:bodyPr>
            <a:normAutofit fontScale="92500" lnSpcReduction="10000"/>
          </a:bodyPr>
          <a:lstStyle/>
          <a:p>
            <a:pPr marL="594995" marR="130810" indent="-457200">
              <a:lnSpc>
                <a:spcPct val="102600"/>
              </a:lnSpc>
              <a:spcBef>
                <a:spcPts val="55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0" dirty="0">
                <a:latin typeface="Arial"/>
                <a:cs typeface="Arial"/>
              </a:rPr>
              <a:t>training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55" dirty="0">
                <a:latin typeface="Arial"/>
                <a:cs typeface="Arial"/>
              </a:rPr>
              <a:t>performance </a:t>
            </a:r>
            <a:r>
              <a:rPr lang="en-US" spc="-60" dirty="0">
                <a:latin typeface="Arial"/>
                <a:cs typeface="Arial"/>
              </a:rPr>
              <a:t>on </a:t>
            </a:r>
            <a:r>
              <a:rPr lang="en-US" spc="-10" dirty="0">
                <a:latin typeface="Arial"/>
                <a:cs typeface="Arial"/>
              </a:rPr>
              <a:t>its  </a:t>
            </a:r>
            <a:r>
              <a:rPr lang="en-US" spc="-20" dirty="0">
                <a:latin typeface="Arial"/>
                <a:cs typeface="Arial"/>
              </a:rPr>
              <a:t>training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148590" indent="-457200">
              <a:lnSpc>
                <a:spcPct val="102600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15" dirty="0">
                <a:latin typeface="Arial"/>
                <a:cs typeface="Arial"/>
              </a:rPr>
              <a:t>ability </a:t>
            </a:r>
            <a:r>
              <a:rPr lang="en-US" spc="10" dirty="0">
                <a:latin typeface="Arial"/>
                <a:cs typeface="Arial"/>
              </a:rPr>
              <a:t>to </a:t>
            </a:r>
            <a:r>
              <a:rPr lang="en-US" spc="-65" dirty="0">
                <a:latin typeface="Arial"/>
                <a:cs typeface="Arial"/>
              </a:rPr>
              <a:t>generalize </a:t>
            </a:r>
            <a:r>
              <a:rPr lang="en-US" spc="10" dirty="0">
                <a:latin typeface="Arial"/>
                <a:cs typeface="Arial"/>
              </a:rPr>
              <a:t>to  </a:t>
            </a:r>
            <a:r>
              <a:rPr lang="en-US" spc="-90" dirty="0">
                <a:latin typeface="Arial"/>
                <a:cs typeface="Arial"/>
              </a:rPr>
              <a:t>unseen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30480" indent="-457200">
              <a:lnSpc>
                <a:spcPct val="102699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b="1" spc="-30" dirty="0">
                <a:latin typeface="Arial"/>
                <a:cs typeface="Arial"/>
              </a:rPr>
              <a:t>Overtraining</a:t>
            </a:r>
            <a:r>
              <a:rPr lang="en-US" spc="-30" dirty="0">
                <a:latin typeface="Arial"/>
                <a:cs typeface="Arial"/>
              </a:rPr>
              <a:t>: </a:t>
            </a:r>
            <a:r>
              <a:rPr lang="en-US" spc="-60" dirty="0">
                <a:latin typeface="Arial"/>
                <a:cs typeface="Arial"/>
              </a:rPr>
              <a:t>When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70" dirty="0">
                <a:latin typeface="Arial"/>
                <a:cs typeface="Arial"/>
              </a:rPr>
              <a:t>overabundance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15" dirty="0">
                <a:latin typeface="Arial"/>
                <a:cs typeface="Arial"/>
              </a:rPr>
              <a:t>flexibility  </a:t>
            </a:r>
            <a:r>
              <a:rPr lang="en-US" spc="-80" dirty="0">
                <a:latin typeface="Arial"/>
                <a:cs typeface="Arial"/>
              </a:rPr>
              <a:t>increases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over </a:t>
            </a:r>
            <a:r>
              <a:rPr lang="en-US" spc="-50" dirty="0">
                <a:latin typeface="Arial"/>
                <a:cs typeface="Arial"/>
              </a:rPr>
              <a:t>simpler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models.</a:t>
            </a:r>
            <a:endParaRPr lang="en-US" dirty="0">
              <a:latin typeface="Arial"/>
              <a:cs typeface="Arial"/>
            </a:endParaRPr>
          </a:p>
          <a:p>
            <a:pPr marL="0" marR="443230" indent="0">
              <a:lnSpc>
                <a:spcPct val="102600"/>
              </a:lnSpc>
              <a:spcBef>
                <a:spcPts val="295"/>
              </a:spcBef>
              <a:buNone/>
            </a:pPr>
            <a:r>
              <a:rPr lang="en-US" b="1" spc="-5" dirty="0">
                <a:latin typeface="Arial"/>
                <a:cs typeface="Arial"/>
              </a:rPr>
              <a:t>Note: </a:t>
            </a: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45" dirty="0">
                <a:latin typeface="Arial"/>
                <a:cs typeface="Arial"/>
              </a:rPr>
              <a:t>square-root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60" dirty="0">
                <a:latin typeface="Arial"/>
                <a:cs typeface="Arial"/>
              </a:rPr>
              <a:t>MSE is </a:t>
            </a:r>
            <a:r>
              <a:rPr lang="en-US" spc="-65" dirty="0">
                <a:latin typeface="Arial"/>
                <a:cs typeface="Arial"/>
              </a:rPr>
              <a:t>sometimes </a:t>
            </a:r>
            <a:r>
              <a:rPr lang="en-US" spc="-90" dirty="0">
                <a:latin typeface="Arial"/>
                <a:cs typeface="Arial"/>
              </a:rPr>
              <a:t>used </a:t>
            </a:r>
            <a:r>
              <a:rPr lang="en-US" spc="-114" dirty="0">
                <a:latin typeface="Arial"/>
                <a:cs typeface="Arial"/>
              </a:rPr>
              <a:t>as </a:t>
            </a:r>
            <a:r>
              <a:rPr lang="en-US" spc="-90" dirty="0">
                <a:latin typeface="Arial"/>
                <a:cs typeface="Arial"/>
              </a:rPr>
              <a:t>a  </a:t>
            </a:r>
            <a:r>
              <a:rPr lang="en-US" spc="-85" dirty="0">
                <a:latin typeface="Arial"/>
                <a:cs typeface="Arial"/>
              </a:rPr>
              <a:t>measure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50" dirty="0">
                <a:latin typeface="Arial"/>
                <a:cs typeface="Arial"/>
              </a:rPr>
              <a:t>performance. </a:t>
            </a:r>
            <a:r>
              <a:rPr lang="en-US" spc="-25" dirty="0">
                <a:latin typeface="Arial"/>
                <a:cs typeface="Arial"/>
              </a:rPr>
              <a:t>This </a:t>
            </a:r>
            <a:r>
              <a:rPr lang="en-US" spc="-70" dirty="0">
                <a:latin typeface="Arial"/>
                <a:cs typeface="Arial"/>
              </a:rPr>
              <a:t>can </a:t>
            </a:r>
            <a:r>
              <a:rPr lang="en-US" spc="-75" dirty="0">
                <a:latin typeface="Arial"/>
                <a:cs typeface="Arial"/>
              </a:rPr>
              <a:t>be </a:t>
            </a:r>
            <a:r>
              <a:rPr lang="en-US" spc="-55" dirty="0">
                <a:latin typeface="Arial"/>
                <a:cs typeface="Arial"/>
              </a:rPr>
              <a:t>denoted</a:t>
            </a:r>
            <a:r>
              <a:rPr lang="en-US" spc="-13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RMSE.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It’s a balance between flexibility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12E7-4929-A363-3A31-C6E729CAD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9E50A0-750C-7BB9-118E-93E037144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78" y="1690688"/>
            <a:ext cx="6990713" cy="516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7C64A-9B07-9AC7-A518-3178BA9A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0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EA2F-DEAF-5CFC-9B7E-70D8372D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models we will encounter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843D-D78B-2EE4-8598-8E14DCF8B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6F536-D954-5E15-A55F-9A6F7A91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631"/>
          <a:stretch>
            <a:fillRect/>
          </a:stretch>
        </p:blipFill>
        <p:spPr>
          <a:xfrm>
            <a:off x="945173" y="1348579"/>
            <a:ext cx="10301654" cy="51903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3F9-F31F-B825-4B4C-C6DC3F21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9B07-2215-63BE-1BCA-7F841DB783D7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2.7 of ISLP.</a:t>
            </a:r>
          </a:p>
        </p:txBody>
      </p:sp>
    </p:spTree>
    <p:extLst>
      <p:ext uri="{BB962C8B-B14F-4D97-AF65-F5344CB8AC3E}">
        <p14:creationId xmlns:p14="http://schemas.microsoft.com/office/powerpoint/2010/main" val="4010015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r>
                  <a:rPr lang="en-US" dirty="0"/>
                  <a:t>There are two types of estimators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Parametric: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has a certain form, which can be described using a finite number of </a:t>
                </a:r>
                <a:r>
                  <a:rPr lang="en-US" b="1" i="1" dirty="0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Example: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</a:t>
                </a:r>
                <a:r>
                  <a:rPr lang="en-US" i="1" dirty="0"/>
                  <a:t>linear function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then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 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called a </a:t>
                </a:r>
                <a:r>
                  <a:rPr lang="en-US" i="1" dirty="0"/>
                  <a:t>linear model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Example: Can take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be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+…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also a parametric model, though it is a bit pathological.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62D29-FA8C-82C1-7A65-F3A666E3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59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E5F4-94BD-F686-C99E-967570CF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Non-parametric:</a:t>
                </a:r>
                <a:r>
                  <a:rPr lang="en-US" dirty="0"/>
                  <a:t> If we do not impose a parametric structure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Non-parametric methods can be deceptively simple or very complex. </a:t>
                </a:r>
              </a:p>
              <a:p>
                <a:pPr lvl="1"/>
                <a:r>
                  <a:rPr lang="en-US" dirty="0"/>
                  <a:t>We will use them, but not delve into their details.</a:t>
                </a:r>
              </a:p>
              <a:p>
                <a:pPr lvl="1"/>
                <a:r>
                  <a:rPr lang="en-US" dirty="0"/>
                  <a:t>They do not assume the form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but suffer from needing a very large number of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2133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48E4DFBB-965E-D4E4-01E5-1E4AC31AB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1" y="3494658"/>
            <a:ext cx="4305300" cy="3363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EDEF7-5537-7A59-8468-F46042FD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7B24-9798-33AE-9FED-D71B3CC269AD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2.5 of ISLP.</a:t>
            </a:r>
          </a:p>
        </p:txBody>
      </p:sp>
    </p:spTree>
    <p:extLst>
      <p:ext uri="{BB962C8B-B14F-4D97-AF65-F5344CB8AC3E}">
        <p14:creationId xmlns:p14="http://schemas.microsoft.com/office/powerpoint/2010/main" val="12755271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9835-C6C4-6AB2-DA70-AFD04BF7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BCCE-6906-5124-F6BC-256B169A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prediction, linear models are </a:t>
            </a:r>
            <a:r>
              <a:rPr lang="en-US" b="1" dirty="0"/>
              <a:t>largely obsolete.</a:t>
            </a:r>
          </a:p>
          <a:p>
            <a:r>
              <a:rPr lang="en-US" dirty="0"/>
              <a:t>They are still useful as a point of comparison for modern methods, but they are seldom the best option.</a:t>
            </a:r>
          </a:p>
          <a:p>
            <a:r>
              <a:rPr lang="en-US" dirty="0"/>
              <a:t>The </a:t>
            </a:r>
            <a:r>
              <a:rPr lang="en-US" b="1" dirty="0"/>
              <a:t>modeling skills </a:t>
            </a:r>
            <a:r>
              <a:rPr lang="en-US" dirty="0"/>
              <a:t>you develop working with linear models will extend to other methods.</a:t>
            </a:r>
          </a:p>
          <a:p>
            <a:endParaRPr lang="en-US" dirty="0"/>
          </a:p>
          <a:p>
            <a:r>
              <a:rPr lang="en-US" dirty="0"/>
              <a:t>For inference, linear models are still very relevant.</a:t>
            </a:r>
          </a:p>
          <a:p>
            <a:r>
              <a:rPr lang="en-US" dirty="0"/>
              <a:t>Their well-developed theory, which many modern methods lack, provide a foundation for difficult inference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C236-1AE4-BDDF-5790-EBDE9E5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955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009A-F277-1212-F29D-CFA6D012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Involves examining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for information about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Examples:</a:t>
                </a:r>
              </a:p>
              <a:p>
                <a:r>
                  <a:rPr lang="en-US" dirty="0"/>
                  <a:t>Does the daily temperature affect the number of non-accidental deaths in Chicago</a:t>
                </a:r>
                <a:r>
                  <a:rPr lang="en-US" baseline="30000" dirty="0"/>
                  <a:t>1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How do tweeted words play a role in overall population happiness</a:t>
                </a:r>
                <a:r>
                  <a:rPr lang="en-US" baseline="30000" dirty="0"/>
                  <a:t>2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Does inducing stress during training help SWOs better react to ship-handling emergencies?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610E0-B820-FAB1-8C43-07636AA0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138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7104-ABA2-F774-B792-6B6BDF20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059C7-64E7-08BA-34D9-76E038B2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Exploratory Data Analysis</a:t>
                </a:r>
              </a:p>
              <a:p>
                <a:pPr lvl="1"/>
                <a:r>
                  <a:rPr lang="en-US" dirty="0"/>
                  <a:t>Taking a step back and developing a qualitative look over the whole dataset</a:t>
                </a:r>
              </a:p>
              <a:p>
                <a:pPr lvl="1"/>
                <a:r>
                  <a:rPr lang="en-US" dirty="0"/>
                  <a:t>Cleaning!</a:t>
                </a:r>
              </a:p>
              <a:p>
                <a:r>
                  <a:rPr lang="en-US" dirty="0"/>
                  <a:t>Linear Models</a:t>
                </a:r>
              </a:p>
              <a:p>
                <a:pPr lvl="1"/>
                <a:r>
                  <a:rPr lang="en-US" dirty="0"/>
                  <a:t>Closing the loop: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Assume: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Irreducible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3"/>
                <a:r>
                  <a:rPr lang="en-US" dirty="0"/>
                  <a:t>Mean Zero,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r>
                  <a:rPr lang="en-US" dirty="0"/>
                  <a:t>Nonzero variance,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The error terms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and independent across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059C7-64E7-08BA-34D9-76E038B2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A29E9-D6D5-1833-6380-5B6825B3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86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8245-0C63-D3E3-E721-2C392BB7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2A71D-7061-F38A-EF69-E0D4F6B3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 </a:t>
            </a:r>
            <a:r>
              <a:rPr lang="en-US" sz="1800" dirty="0">
                <a:hlinkClick r:id="rId2"/>
              </a:rPr>
              <a:t>https://heyjackass.com/</a:t>
            </a:r>
            <a:r>
              <a:rPr lang="en-US" sz="1800" dirty="0"/>
              <a:t> </a:t>
            </a:r>
          </a:p>
          <a:p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sz="1800" dirty="0">
                <a:hlinkClick r:id="rId3"/>
              </a:rPr>
              <a:t>https://hedonometer.org/timeseries/en_all/?from=2021-11-23&amp;to=2023-05-22&amp;viz=wordshift</a:t>
            </a:r>
            <a:r>
              <a:rPr lang="en-US" sz="1800" dirty="0"/>
              <a:t> </a:t>
            </a:r>
            <a:endParaRPr lang="en-US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C8D31-F8B9-B6FE-DAF8-37B4B899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 descr="A graph with colorful dots and lines&#10;&#10;AI-generated content may be incorrect.">
            <a:extLst>
              <a:ext uri="{FF2B5EF4-FFF2-40B4-BE49-F238E27FC236}">
                <a16:creationId xmlns:a16="http://schemas.microsoft.com/office/drawing/2014/main" id="{49F5D177-CDE0-FB75-8499-72F2631AE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9" y="2481566"/>
            <a:ext cx="7429500" cy="41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7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2618</Words>
  <Application>Microsoft Office PowerPoint</Application>
  <PresentationFormat>Widescreen</PresentationFormat>
  <Paragraphs>719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Helvetica</vt:lpstr>
      <vt:lpstr>Times New Roman</vt:lpstr>
      <vt:lpstr>Wingdings</vt:lpstr>
      <vt:lpstr>Office Theme</vt:lpstr>
      <vt:lpstr>OA3103: Data Analysis</vt:lpstr>
      <vt:lpstr>Using Math to Prove or Explain Real Phenomena</vt:lpstr>
      <vt:lpstr>Using Math to Prove or Explain Real Phenomena</vt:lpstr>
      <vt:lpstr>Review of Statistical Concepts</vt:lpstr>
      <vt:lpstr>Review of Statistical Concepts</vt:lpstr>
      <vt:lpstr>Review of Statistical Concepts</vt:lpstr>
      <vt:lpstr>Review of Statistical Concepts</vt:lpstr>
      <vt:lpstr>Statistical Modeling</vt:lpstr>
      <vt:lpstr>Statistical Modeling</vt:lpstr>
      <vt:lpstr>Prediction: What is the best we can do?</vt:lpstr>
      <vt:lpstr>Bias-Variance Decomposition</vt:lpstr>
      <vt:lpstr>But we are doing prediction with our model</vt:lpstr>
      <vt:lpstr>Training vs Test RMSE</vt:lpstr>
      <vt:lpstr>Flexibility</vt:lpstr>
      <vt:lpstr>Training vs Test RMSE</vt:lpstr>
      <vt:lpstr>PowerPoint Presentation</vt:lpstr>
      <vt:lpstr>PowerPoint Presentation</vt:lpstr>
      <vt:lpstr>PowerPoint Presentation</vt:lpstr>
      <vt:lpstr>PowerPoint Presentation</vt:lpstr>
      <vt:lpstr>Overfitting</vt:lpstr>
      <vt:lpstr>Takeaways</vt:lpstr>
      <vt:lpstr>Train/test split</vt:lpstr>
      <vt:lpstr>The Truth and Sample</vt:lpstr>
      <vt:lpstr>The Train/Test Split and Truth</vt:lpstr>
      <vt:lpstr>A linear estimate </vt:lpstr>
      <vt:lpstr>Another estimate </vt:lpstr>
      <vt:lpstr>Another estimate </vt:lpstr>
      <vt:lpstr>PowerPoint Presentation</vt:lpstr>
      <vt:lpstr>PowerPoint Presentation</vt:lpstr>
      <vt:lpstr>PowerPoint Presentation</vt:lpstr>
      <vt:lpstr>It’s a balance between flexibility and MSE_Test</vt:lpstr>
      <vt:lpstr>Some of the models we will encounter</vt:lpstr>
      <vt:lpstr>Estimating f</vt:lpstr>
      <vt:lpstr>Estimating f</vt:lpstr>
      <vt:lpstr>The Hard Truth</vt:lpstr>
      <vt:lpstr>Inference</vt:lpstr>
      <vt:lpstr>Coming up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3</cp:revision>
  <dcterms:created xsi:type="dcterms:W3CDTF">2026-04-01T15:46:41Z</dcterms:created>
  <dcterms:modified xsi:type="dcterms:W3CDTF">2026-04-22T18:34:08Z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