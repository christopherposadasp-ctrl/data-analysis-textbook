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98" r:id="rId5"/>
    <p:sldId id="312" r:id="rId6"/>
    <p:sldId id="282" r:id="rId7"/>
    <p:sldId id="301" r:id="rId8"/>
    <p:sldId id="302" r:id="rId9"/>
    <p:sldId id="285" r:id="rId10"/>
    <p:sldId id="303" r:id="rId11"/>
    <p:sldId id="290" r:id="rId12"/>
    <p:sldId id="289" r:id="rId13"/>
    <p:sldId id="288" r:id="rId14"/>
    <p:sldId id="313" r:id="rId15"/>
    <p:sldId id="286" r:id="rId16"/>
    <p:sldId id="305" r:id="rId17"/>
    <p:sldId id="306" r:id="rId18"/>
    <p:sldId id="307" r:id="rId19"/>
    <p:sldId id="314" r:id="rId20"/>
    <p:sldId id="287" r:id="rId21"/>
    <p:sldId id="308" r:id="rId22"/>
    <p:sldId id="309" r:id="rId23"/>
    <p:sldId id="310" r:id="rId24"/>
    <p:sldId id="315" r:id="rId25"/>
    <p:sldId id="30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FC4"/>
    <a:srgbClr val="F8766D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52" autoAdjust="0"/>
    <p:restoredTop sz="90065" autoAdjust="0"/>
  </p:normalViewPr>
  <p:slideViewPr>
    <p:cSldViewPr snapToGrid="0">
      <p:cViewPr varScale="1">
        <p:scale>
          <a:sx n="74" d="100"/>
          <a:sy n="74" d="100"/>
        </p:scale>
        <p:origin x="11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3F521-F4D1-444D-88E6-BCBDC8A1A24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357C2-5E1D-41E6-9645-1767E40D4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8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Bell curves show up for several reasons. </a:t>
            </a:r>
          </a:p>
          <a:p>
            <a:r>
              <a:rPr lang="en-US" dirty="0"/>
              <a:t>Sometimes it’s the Central Limit Theorem — many small additive effects. </a:t>
            </a:r>
          </a:p>
          <a:p>
            <a:r>
              <a:rPr lang="en-US" dirty="0"/>
              <a:t>- In physics, maximum entropy: if all we know is mean and variance, the most natural shape is the normal. </a:t>
            </a:r>
          </a:p>
          <a:p>
            <a:r>
              <a:rPr lang="en-US" dirty="0"/>
              <a:t>- Biology, symmetry and aggregation. The normal distribution is the ‘default’ shape of randomness.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57C2-5E1D-41E6-9645-1767E40D4E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4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57C2-5E1D-41E6-9645-1767E40D4E2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96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BD56-10DE-4BAA-806D-A0DF0DFCE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44396-C6B3-6892-281A-5056AD46D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6FBF2-0715-99D0-BBA9-8CB3CAC9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09DE-8109-44F0-8C7E-CFE793DEB423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DBC3C-12FC-F93F-AEBD-F3F9429A2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B88E7-0E3B-4DDD-5293-59AF8174C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2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89A96-0B2D-2E8D-B271-433F4B8C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C0E32-41B2-77F3-3958-10AAE2D3A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7F822-9077-6BC3-6C1D-A810D6DBC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39A2-A1B9-4DAF-987E-C5F6F8B2AB0C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96D09-64CB-01E8-26BE-9317E53B4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1FB24-73E9-13BC-961D-B02BA2AE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DAFBA-D09F-BE45-43EC-4FD8D948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C881F-6DFC-BB0E-1E2E-5DC0494DD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341FF-F5B2-0562-12FD-85D82A45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CC4E-CB0E-4A2B-A15C-872305F0EF20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77F93-4809-799B-89F3-0B4CF36A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62F09-D82D-4526-CBA2-A1E04560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F8F3-E518-5837-9655-4E272CD93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269A6-7BA9-A4E5-9C7B-220FDA280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9B099-9D06-AB2B-A29A-AEDC6906B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ED349-6D13-0872-3C2D-AA06B42A6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2740-153B-4D3F-9334-6E05DF714D5B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181DE-8E6F-8BE0-2221-4BE5A055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BAF78-4068-9688-E4EA-19B2976F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21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CEF9D-B461-9AF4-6C0B-D52C70346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8544C-F870-B59C-4B41-FDAFA1E3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DC4B0-C07D-A3D1-B5BE-120B14A8C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1863F-B07D-A53B-A2A6-B3293D29C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7E071A-5317-3BFA-7F6D-FCB99A79E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260B6E-A2D7-BEDD-D8B5-CF778E7B9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C5C91-DC2B-4871-905F-857B60E8F0C9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F0685C-0169-1716-6107-CF54D4355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70FBDA-F965-68BE-E6F4-631A459B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4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F4281-B184-223B-7363-269C801CA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CDB531-09B3-7C2A-03B3-EEE3BFE14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7DF2-BDFD-43DD-822D-D0F89EEAEB1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F8818E-F575-F6E1-5B95-C02B70EE9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CBB6C-3D82-F94D-E6B0-D88B099CF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54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92F964-5F02-2879-6CF3-1798F46F7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F6CA-3C87-43B0-ACE2-B61A5700DE7A}" type="datetime1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4ACAD-E229-6838-669D-96712B764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8D8A3-696C-7AB7-2393-71C0403A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0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4338-4EAA-15A3-B188-249FE69E7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8DAE3-FC4B-BB29-E8C0-3B08FBB3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61BD9-A8D0-FE38-D95A-FF13F429F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0CB25-01F0-7041-CC70-4B57DC0E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9462-8B33-45EE-833D-3ABCC66C620D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E74F0-750B-00B9-FDC6-5D1D2875C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6A6C6-4695-329F-5E3F-956BFB8F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29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11D7-1D26-5758-8157-A3891B477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EE0FB2-F6BA-DD07-E5C6-25FED9811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A70B8-CE9A-F0E5-FBCC-FC04E3F3A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431C-5B34-6DAB-589C-5F2C5857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51E4-017A-464E-A06A-69811D32577D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DB368-93F9-4E1F-162D-F21FBFB14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4D7D5-2477-1219-068F-ED6912436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84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9434-9730-DBA5-FF17-C2F2ADEB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49ED3-C88A-D763-B5BB-DE45D382B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991FF-F762-5A82-467B-44E7E013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E9AE-2E6F-4739-BC0F-A181D584D3BB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13CB0-7A7C-2C02-FDF0-7E158B9BA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BEDD9-2468-0132-4B3A-C9569B132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19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0C14C-AB9D-3E02-BF64-D9AAAF816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839D2-707D-A934-4739-F6552D5B7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8FC6A-9D61-2F49-D23F-0E0E6E57E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03DF-E48A-405E-A597-21579A82FCCE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D5B13-B4DD-0246-5964-67597460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864B-C293-97F7-592D-CAA2F65E0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91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BF365-D77F-B672-FB54-522C669FD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F5A52-2105-60AA-CE03-F844F8620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63C10-F4C3-9191-ADF8-E8CEABC65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2E17C-753A-41BF-85DF-F31E939C9D88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6E080-9AD1-73E4-33B7-D9F36C170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6F518-56D5-42D1-1DB1-457D80F4D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4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alcworkshop.com/joint-probability-distribution/chebyshev-inequality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F566F-000A-C7C4-C6FB-A13A50286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030CC-AF75-ED7D-0A2A-2E36D3AA6B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OA3103: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E99805-6992-A1E7-4E28-DA7D7EE0A0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Exploratory Data Analysis (EDA) and Data Cleaning (Part II)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940A9-5C81-A64C-8721-0BDC8D4FB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72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02148-69E7-DC14-4531-AC8389019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08702-A487-698E-EA1E-0FBC5CAA0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Week’s Roadmap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F832C8-5B4F-3D41-BEB0-E726231FB3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Monday-Tuesday: </a:t>
                </a:r>
              </a:p>
              <a:p>
                <a:pPr lvl="1"/>
                <a:r>
                  <a:rPr lang="en-US" dirty="0"/>
                  <a:t>Cleaning and Exploratory Data Analysis (EDA)</a:t>
                </a:r>
              </a:p>
              <a:p>
                <a:pPr lvl="1"/>
                <a:r>
                  <a:rPr lang="en-US" dirty="0"/>
                  <a:t>Lecture slides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dirty="0"/>
                  <a:t> Python/R coding demo</a:t>
                </a:r>
              </a:p>
              <a:p>
                <a:r>
                  <a:rPr lang="en-US" strike="sngStrike" dirty="0"/>
                  <a:t>Wednesday –</a:t>
                </a:r>
                <a:r>
                  <a:rPr lang="en-US" b="1" strike="sngStrike" dirty="0"/>
                  <a:t>or</a:t>
                </a:r>
                <a:r>
                  <a:rPr lang="en-US" strike="sngStrike" dirty="0"/>
                  <a:t> – Thursday: </a:t>
                </a:r>
              </a:p>
              <a:p>
                <a:pPr lvl="1"/>
                <a:r>
                  <a:rPr lang="en-US" strike="sngStrike" dirty="0"/>
                  <a:t>Lab session </a:t>
                </a:r>
              </a:p>
              <a:p>
                <a:r>
                  <a:rPr lang="en-US" dirty="0"/>
                  <a:t>Wednesday-Thursday:</a:t>
                </a:r>
              </a:p>
              <a:p>
                <a:pPr lvl="1"/>
                <a:r>
                  <a:rPr lang="en-US" dirty="0"/>
                  <a:t>Simple Linear Regression</a:t>
                </a:r>
              </a:p>
              <a:p>
                <a:pPr lvl="2"/>
                <a:r>
                  <a:rPr lang="en-US" sz="2400" dirty="0"/>
                  <a:t>Theory</a:t>
                </a:r>
              </a:p>
              <a:p>
                <a:pPr lvl="2"/>
                <a:r>
                  <a:rPr lang="en-US" sz="2400" dirty="0"/>
                  <a:t>Application</a:t>
                </a:r>
              </a:p>
              <a:p>
                <a:r>
                  <a:rPr lang="en-US" sz="3200" dirty="0"/>
                  <a:t>Friday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3200" dirty="0"/>
                  <a:t> Monday</a:t>
                </a:r>
              </a:p>
              <a:p>
                <a:pPr lvl="1"/>
                <a:r>
                  <a:rPr lang="en-US" dirty="0"/>
                  <a:t>HW1 Due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F832C8-5B4F-3D41-BEB0-E726231FB3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DD2E1-4E4F-90D8-0162-A143F244F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BAAE1A-B700-8F7E-D519-A6388FBE5380}"/>
              </a:ext>
            </a:extLst>
          </p:cNvPr>
          <p:cNvSpPr txBox="1"/>
          <p:nvPr/>
        </p:nvSpPr>
        <p:spPr>
          <a:xfrm>
            <a:off x="7670202" y="2415092"/>
            <a:ext cx="4410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Reminder: Quiz today</a:t>
            </a:r>
          </a:p>
        </p:txBody>
      </p:sp>
    </p:spTree>
    <p:extLst>
      <p:ext uri="{BB962C8B-B14F-4D97-AF65-F5344CB8AC3E}">
        <p14:creationId xmlns:p14="http://schemas.microsoft.com/office/powerpoint/2010/main" val="226158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F3CAC-0217-7888-8ECE-84F829DB7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DA65C-CDCC-F9BD-F801-722067460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 we have focused on numbers to summarize the observations of a variable.</a:t>
            </a:r>
          </a:p>
          <a:p>
            <a:r>
              <a:rPr lang="en-US" dirty="0"/>
              <a:t>Visual EDA uses plots as a powerful tool to show the behavior of these observations.</a:t>
            </a:r>
          </a:p>
          <a:p>
            <a:r>
              <a:rPr lang="en-US" dirty="0"/>
              <a:t>We will tie the single-number summary statistics to this behavior.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90D3F-C0BB-98F5-CA9C-D76EADA24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713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146F3-0C1D-6056-0E8D-5967A4B01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2D18-68F9-957D-166B-5F2BC75D3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EDA -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B987E-AA39-DFC6-DAB9-B16AEE7C8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Categorize visual EDA into three types, based on how many variables we examine:</a:t>
            </a:r>
          </a:p>
          <a:p>
            <a:pPr lvl="1"/>
            <a:r>
              <a:rPr lang="en-US" dirty="0"/>
              <a:t>Univariate Data – behavior of a single variable (distributions)</a:t>
            </a:r>
          </a:p>
          <a:p>
            <a:pPr lvl="2"/>
            <a:r>
              <a:rPr lang="en-US" dirty="0"/>
              <a:t>ex:  </a:t>
            </a:r>
          </a:p>
          <a:p>
            <a:pPr lvl="1"/>
            <a:r>
              <a:rPr lang="en-US" dirty="0"/>
              <a:t>Bivariate Data – behavior of the </a:t>
            </a:r>
            <a:r>
              <a:rPr lang="en-US" i="1" dirty="0"/>
              <a:t>relationships</a:t>
            </a:r>
            <a:r>
              <a:rPr lang="en-US" dirty="0"/>
              <a:t> between two variables</a:t>
            </a:r>
          </a:p>
          <a:p>
            <a:pPr lvl="2"/>
            <a:r>
              <a:rPr lang="en-US" dirty="0"/>
              <a:t>ex:  </a:t>
            </a:r>
          </a:p>
          <a:p>
            <a:pPr lvl="1"/>
            <a:r>
              <a:rPr lang="en-US" dirty="0"/>
              <a:t>Multivariate Data – </a:t>
            </a:r>
          </a:p>
          <a:p>
            <a:pPr lvl="2"/>
            <a:r>
              <a:rPr lang="en-US" dirty="0"/>
              <a:t>Suggest interactions between two variables that affect a third</a:t>
            </a:r>
          </a:p>
          <a:p>
            <a:pPr lvl="3"/>
            <a:r>
              <a:rPr lang="en-US" dirty="0"/>
              <a:t>ex:  </a:t>
            </a:r>
          </a:p>
          <a:p>
            <a:pPr lvl="2"/>
            <a:r>
              <a:rPr lang="en-US" dirty="0"/>
              <a:t>Patterns across many bivariate relationships at once</a:t>
            </a:r>
          </a:p>
          <a:p>
            <a:pPr lvl="3"/>
            <a:r>
              <a:rPr lang="en-US" dirty="0"/>
              <a:t>ex:  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125A3-BB3F-5F57-F96C-5EBD1B8F8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00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2DB57-DC34-813C-9858-EB8CBB3E9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1B310-3D3B-F510-6046-10741DB2C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EDA -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07B23-A635-7226-1E90-9A06FE31F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Categorize visual EDA into three types, based on how many variables we examine:</a:t>
            </a:r>
          </a:p>
          <a:p>
            <a:pPr lvl="1"/>
            <a:r>
              <a:rPr lang="en-US" dirty="0"/>
              <a:t>Univariate Data – behavior of a single variable (distributions)</a:t>
            </a:r>
          </a:p>
          <a:p>
            <a:pPr lvl="2"/>
            <a:r>
              <a:rPr lang="en-US" dirty="0"/>
              <a:t>ex: ages, heights, service, communities</a:t>
            </a:r>
          </a:p>
          <a:p>
            <a:pPr lvl="1"/>
            <a:r>
              <a:rPr lang="en-US" dirty="0"/>
              <a:t>Bivariate Data – behavior of the </a:t>
            </a:r>
            <a:r>
              <a:rPr lang="en-US" i="1" dirty="0"/>
              <a:t>relationships</a:t>
            </a:r>
            <a:r>
              <a:rPr lang="en-US" dirty="0"/>
              <a:t> between two variables</a:t>
            </a:r>
          </a:p>
          <a:p>
            <a:pPr lvl="2"/>
            <a:r>
              <a:rPr lang="en-US" dirty="0"/>
              <a:t>ex: height vs weight</a:t>
            </a:r>
          </a:p>
          <a:p>
            <a:pPr lvl="1"/>
            <a:r>
              <a:rPr lang="en-US" dirty="0"/>
              <a:t>Multivariate Data – </a:t>
            </a:r>
          </a:p>
          <a:p>
            <a:pPr lvl="2"/>
            <a:r>
              <a:rPr lang="en-US" dirty="0"/>
              <a:t>Suggest interactions between two variables that affect a third</a:t>
            </a:r>
          </a:p>
          <a:p>
            <a:pPr lvl="3"/>
            <a:r>
              <a:rPr lang="en-US" dirty="0"/>
              <a:t>ex: effect of seniority and education on income</a:t>
            </a:r>
          </a:p>
          <a:p>
            <a:pPr lvl="2"/>
            <a:r>
              <a:rPr lang="en-US" dirty="0"/>
              <a:t>Patterns across many bivariate relationships at once</a:t>
            </a:r>
          </a:p>
          <a:p>
            <a:pPr lvl="3"/>
            <a:r>
              <a:rPr lang="en-US" dirty="0"/>
              <a:t>ex: Pairwise behaviors of height, weight, wingspan, and age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13678-C43B-5737-119A-F6B5CDC19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09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F131C-B551-9A91-C317-5D649A5DA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Univariate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94FA7-6127-1C6B-FF16-0E4A1DBDE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Recommended plots per type of variable</a:t>
            </a:r>
          </a:p>
          <a:p>
            <a:r>
              <a:rPr lang="en-US" dirty="0"/>
              <a:t>Categorical data: Bar Plots</a:t>
            </a:r>
          </a:p>
          <a:p>
            <a:r>
              <a:rPr lang="en-US" dirty="0"/>
              <a:t>Numerical data: Histograms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94B3E-555C-EB58-8D4E-123714000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481265-E6CE-D4D3-9C8F-4DB982D50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049" y="1723771"/>
            <a:ext cx="4654299" cy="41718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CA70C9-E7BD-7482-A21F-ABFB9B7773AB}"/>
              </a:ext>
            </a:extLst>
          </p:cNvPr>
          <p:cNvSpPr txBox="1"/>
          <p:nvPr/>
        </p:nvSpPr>
        <p:spPr>
          <a:xfrm>
            <a:off x="0" y="6538912"/>
            <a:ext cx="10145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from the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military</a:t>
            </a:r>
            <a:r>
              <a:rPr lang="en-US" sz="1400" dirty="0"/>
              <a:t> dataset in the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OIdata</a:t>
            </a:r>
            <a:r>
              <a:rPr lang="en-US" sz="1400" dirty="0"/>
              <a:t> package (updated to the “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openintro</a:t>
            </a:r>
            <a:r>
              <a:rPr lang="en-US" sz="1400" dirty="0"/>
              <a:t>” package). </a:t>
            </a:r>
          </a:p>
        </p:txBody>
      </p:sp>
    </p:spTree>
    <p:extLst>
      <p:ext uri="{BB962C8B-B14F-4D97-AF65-F5344CB8AC3E}">
        <p14:creationId xmlns:p14="http://schemas.microsoft.com/office/powerpoint/2010/main" val="903967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6E4C9C1-1203-C035-7956-D81508AD2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977" y="0"/>
            <a:ext cx="453936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5A398B-B23A-3391-FDA6-AD94C6E00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AED23-B087-5646-0F86-07196D274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Visually check:</a:t>
            </a:r>
          </a:p>
          <a:p>
            <a:pPr lvl="1"/>
            <a:r>
              <a:rPr lang="en-US" dirty="0"/>
              <a:t>Symmetry vs Skewness</a:t>
            </a:r>
          </a:p>
          <a:p>
            <a:pPr lvl="1"/>
            <a:r>
              <a:rPr lang="en-US" dirty="0"/>
              <a:t>Multimodality</a:t>
            </a:r>
          </a:p>
          <a:p>
            <a:pPr lvl="2"/>
            <a:r>
              <a:rPr lang="en-US" dirty="0"/>
              <a:t>Unimodal: single peak</a:t>
            </a:r>
          </a:p>
          <a:p>
            <a:pPr lvl="2"/>
            <a:r>
              <a:rPr lang="en-US" dirty="0"/>
              <a:t>Bimodal: two peaks</a:t>
            </a:r>
          </a:p>
          <a:p>
            <a:pPr lvl="2"/>
            <a:r>
              <a:rPr lang="en-US" dirty="0"/>
              <a:t>Multimodal: two or more peaks</a:t>
            </a:r>
          </a:p>
          <a:p>
            <a:pPr lvl="1"/>
            <a:r>
              <a:rPr lang="en-US" dirty="0"/>
              <a:t>Shape</a:t>
            </a:r>
          </a:p>
          <a:p>
            <a:pPr lvl="2"/>
            <a:r>
              <a:rPr lang="en-US" dirty="0"/>
              <a:t>Bell-shaped: Tells us what?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1CD24-574C-868D-E5D8-2FD8D1EC6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2C443E-57C7-F78B-271B-43F573EF9C4A}"/>
              </a:ext>
            </a:extLst>
          </p:cNvPr>
          <p:cNvSpPr txBox="1"/>
          <p:nvPr/>
        </p:nvSpPr>
        <p:spPr>
          <a:xfrm>
            <a:off x="0" y="6538912"/>
            <a:ext cx="10145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Figures 3.2 and 3.3.</a:t>
            </a:r>
          </a:p>
        </p:txBody>
      </p:sp>
    </p:spTree>
    <p:extLst>
      <p:ext uri="{BB962C8B-B14F-4D97-AF65-F5344CB8AC3E}">
        <p14:creationId xmlns:p14="http://schemas.microsoft.com/office/powerpoint/2010/main" val="983137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34395-47EF-296A-F2C1-BED365A50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014E8-59E0-3A70-4237-7968D38B7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Standard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DA7AC-1F90-BDC0-55E2-CD5744EE2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Empirical Rule:</a:t>
            </a:r>
          </a:p>
          <a:p>
            <a:pPr lvl="1"/>
            <a:r>
              <a:rPr lang="en-US" dirty="0"/>
              <a:t>If the histogram of a set of observations is bell-shaped, or approximately Gaussian (why would this happen?):</a:t>
            </a:r>
          </a:p>
          <a:p>
            <a:pPr lvl="2"/>
            <a:r>
              <a:rPr lang="en-US" sz="2400" dirty="0"/>
              <a:t>About 68% of observations lie within 1 standard deviation of the mean.</a:t>
            </a:r>
          </a:p>
          <a:p>
            <a:pPr lvl="2"/>
            <a:r>
              <a:rPr lang="en-US" sz="2400" dirty="0"/>
              <a:t>About 95% of observations lie within 2 standard deviations of the mean.</a:t>
            </a:r>
          </a:p>
          <a:p>
            <a:pPr lvl="2"/>
            <a:r>
              <a:rPr lang="en-US" sz="2400" dirty="0"/>
              <a:t>About 99.7% of the observations lie within 3 standard deviations of the mean.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D91C5-D1CA-DC88-7289-F9DFDE46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04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0BFA4-C11C-9E6B-C61D-FA0AC1243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5C0DC-9EA2-DF1D-5E6E-3532B7099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Standard Deviation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E5EE10-CA15-5763-370D-1A7EB7DC6C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about when the data do not appear to be approximately normal?</a:t>
                </a:r>
              </a:p>
              <a:p>
                <a:r>
                  <a:rPr lang="en-US" dirty="0"/>
                  <a:t>We can generalize via </a:t>
                </a:r>
                <a:r>
                  <a:rPr lang="en-US" b="1" dirty="0"/>
                  <a:t>Chebyshev’s Inequality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For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with finite non-zero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and finite mean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, for any real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i="1" dirty="0"/>
                  <a:t>In (slightly more) English:</a:t>
                </a:r>
                <a:r>
                  <a:rPr lang="en-US" dirty="0"/>
                  <a:t> For any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, at least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of the observations lie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standard deviations of the mean.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E5EE10-CA15-5763-370D-1A7EB7DC6C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D1481-6D73-884B-5F66-C2EE53621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61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9B367-60BF-F803-293F-FD067232F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Standard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95216-A956-804E-BC04-95B2AE62F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/>
          <a:lstStyle/>
          <a:p>
            <a:r>
              <a:rPr lang="en-US" dirty="0"/>
              <a:t>Empirical Rule gives us an </a:t>
            </a:r>
            <a:r>
              <a:rPr lang="en-US" i="1" dirty="0"/>
              <a:t>approximate </a:t>
            </a:r>
            <a:r>
              <a:rPr lang="en-US" dirty="0"/>
              <a:t>percentage of the data contained within a window of the mean.</a:t>
            </a:r>
          </a:p>
          <a:p>
            <a:r>
              <a:rPr lang="en-US" dirty="0"/>
              <a:t>Chebyshev gives a </a:t>
            </a:r>
            <a:r>
              <a:rPr lang="en-US" i="1" dirty="0"/>
              <a:t>lower bound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1220B-29F6-E6C7-15C6-4CDC9DDD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10</a:t>
            </a:fld>
            <a:endParaRPr lang="en-US"/>
          </a:p>
        </p:txBody>
      </p:sp>
      <p:pic>
        <p:nvPicPr>
          <p:cNvPr id="3074" name="Picture 2" descr="empirical rule vs chebyshev theorem">
            <a:extLst>
              <a:ext uri="{FF2B5EF4-FFF2-40B4-BE49-F238E27FC236}">
                <a16:creationId xmlns:a16="http://schemas.microsoft.com/office/drawing/2014/main" id="{8954049A-EEF1-B419-F95E-78AACFC02C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0" t="15022" r="4400" b="18844"/>
          <a:stretch>
            <a:fillRect/>
          </a:stretch>
        </p:blipFill>
        <p:spPr bwMode="auto">
          <a:xfrm>
            <a:off x="1718733" y="2929467"/>
            <a:ext cx="8619067" cy="360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FE34E0-AF20-6AFC-8604-6B1D79DF7F56}"/>
              </a:ext>
            </a:extLst>
          </p:cNvPr>
          <p:cNvSpPr txBox="1"/>
          <p:nvPr/>
        </p:nvSpPr>
        <p:spPr>
          <a:xfrm>
            <a:off x="0" y="6590670"/>
            <a:ext cx="10998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Image source: </a:t>
            </a:r>
            <a:r>
              <a:rPr lang="en-US" sz="1100" dirty="0" err="1"/>
              <a:t>CalcWorkshop</a:t>
            </a:r>
            <a:r>
              <a:rPr lang="en-US" sz="1100" dirty="0"/>
              <a:t>. </a:t>
            </a:r>
            <a:r>
              <a:rPr lang="en-US" sz="1100" i="1" dirty="0"/>
              <a:t>Chebyshev’s Inequality</a:t>
            </a:r>
            <a:r>
              <a:rPr lang="en-US" sz="1100" dirty="0"/>
              <a:t>. Retrieved from </a:t>
            </a:r>
            <a:r>
              <a:rPr lang="en-US" sz="1100" dirty="0">
                <a:hlinkClick r:id="rId3"/>
              </a:rPr>
              <a:t>https://calcworkshop.com/joint-probability-distribution/chebyshev-inequality/</a:t>
            </a:r>
            <a:r>
              <a:rPr lang="en-US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5272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8A26-9719-C27F-FAE2-979664BE6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6FB6A-8814-8934-2913-F6CD3586A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FD4B1-9D5B-092E-373F-C42041B98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D6C376-AF71-41DC-F6E4-73B219C3B1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469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49C52-62B7-EDDB-7F14-2AE7B0957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Bivariate Data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1269A22-5777-59E1-2114-AAB686621D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3526577"/>
              </p:ext>
            </p:extLst>
          </p:nvPr>
        </p:nvGraphicFramePr>
        <p:xfrm>
          <a:off x="1439418" y="3132513"/>
          <a:ext cx="9313164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4388">
                  <a:extLst>
                    <a:ext uri="{9D8B030D-6E8A-4147-A177-3AD203B41FA5}">
                      <a16:colId xmlns:a16="http://schemas.microsoft.com/office/drawing/2014/main" val="133389282"/>
                    </a:ext>
                  </a:extLst>
                </a:gridCol>
                <a:gridCol w="3104388">
                  <a:extLst>
                    <a:ext uri="{9D8B030D-6E8A-4147-A177-3AD203B41FA5}">
                      <a16:colId xmlns:a16="http://schemas.microsoft.com/office/drawing/2014/main" val="2215027930"/>
                    </a:ext>
                  </a:extLst>
                </a:gridCol>
                <a:gridCol w="3104388">
                  <a:extLst>
                    <a:ext uri="{9D8B030D-6E8A-4147-A177-3AD203B41FA5}">
                      <a16:colId xmlns:a16="http://schemas.microsoft.com/office/drawing/2014/main" val="4089765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Data Types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Categorical / Ordinal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Numerical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0797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Categorical / Ordinal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Grouped Bar Plot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Grouped Box plot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407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Numerical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Grouped Box Plot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Scatter Plot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060186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299A6-AE86-2056-7CC2-688A44ACE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1937B5A-3076-AFD9-AE23-D21363F0B3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456267"/>
                <a:ext cx="10515600" cy="17578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Examine the relationship between a pair of variables.</a:t>
                </a:r>
              </a:p>
              <a:p>
                <a:r>
                  <a:rPr lang="en-US" dirty="0"/>
                  <a:t>Recommended EDA plots by variable type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variable type: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1937B5A-3076-AFD9-AE23-D21363F0B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56267"/>
                <a:ext cx="10515600" cy="1757849"/>
              </a:xfrm>
              <a:prstGeom prst="rect">
                <a:avLst/>
              </a:prstGeom>
              <a:blipFill>
                <a:blip r:embed="rId2"/>
                <a:stretch>
                  <a:fillRect l="-1043" t="-5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0925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913EC-C6B4-0E96-530D-E12EA6D3F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Bar Plots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8FD10-DE80-9CBF-EE03-86CEB88426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Categorical / Ordinal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Categorical / Ordinal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8FD10-DE80-9CBF-EE03-86CEB88426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2879A-C612-44AC-E60E-C9750B08B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A3A203-6070-E7D8-D058-B2FC8493B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295" y="2514600"/>
            <a:ext cx="4248456" cy="35355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9F233F-F708-75E2-149C-57916A8A8260}"/>
              </a:ext>
            </a:extLst>
          </p:cNvPr>
          <p:cNvSpPr txBox="1"/>
          <p:nvPr/>
        </p:nvSpPr>
        <p:spPr>
          <a:xfrm>
            <a:off x="0" y="6538912"/>
            <a:ext cx="10145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from the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military</a:t>
            </a:r>
            <a:r>
              <a:rPr lang="en-US" sz="1400" dirty="0"/>
              <a:t> dataset in the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OIdata</a:t>
            </a:r>
            <a:r>
              <a:rPr lang="en-US" sz="1400" dirty="0"/>
              <a:t> package (updated to the “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openintro</a:t>
            </a:r>
            <a:r>
              <a:rPr lang="en-US" sz="1400" dirty="0"/>
              <a:t>” package).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A81469-9D96-6828-F12F-30E0FE755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2517" y="2645838"/>
            <a:ext cx="3952751" cy="353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317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B57A7-A88F-C519-AA06-299A54A9C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box plot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BA7DC2-7FDA-1914-E677-41C61AB65D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3040"/>
                <a:ext cx="6975348" cy="5029835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sz="3300" dirty="0"/>
                  <a:t>Categorical / Ordinal </a:t>
                </a:r>
                <a14:m>
                  <m:oMath xmlns:m="http://schemas.openxmlformats.org/officeDocument/2006/math"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3300" dirty="0"/>
                  <a:t> Numerical</a:t>
                </a:r>
              </a:p>
              <a:p>
                <a:pPr marL="0" indent="0">
                  <a:buNone/>
                </a:pPr>
                <a:r>
                  <a:rPr lang="en-US" sz="3300" dirty="0"/>
                  <a:t>R: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boxplot(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pft_data$score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~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pft_data$rank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 </a:t>
                </a:r>
                <a:b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+ horizontal=T,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xlab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=“Score”,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ylab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=“Rank”, </a:t>
                </a:r>
                <a:b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+ main=“PFT Scores by Rank”)</a:t>
                </a:r>
              </a:p>
              <a:p>
                <a:pPr marL="0" indent="0">
                  <a:buNone/>
                </a:pPr>
                <a:r>
                  <a:rPr lang="en-US" sz="2900" dirty="0"/>
                  <a:t>Python: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import seaborn as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sns</a:t>
                </a: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import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matplotlib.pyplot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as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</a:t>
                </a: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plt.figure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figsize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=(8, 5))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sns.boxplot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data=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pft_data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x="score",        # horizontal axis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y="rank",         # grouping variable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orient="h"        # horizontal orientation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plt.xlabel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("Score")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plt.ylabel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("Rank")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plt.title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("PFT Scores by Rank")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plt.tight_layout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plt.show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</a:p>
              <a:p>
                <a:pPr marL="0" indent="0">
                  <a:buNone/>
                </a:pP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BA7DC2-7FDA-1914-E677-41C61AB65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3040"/>
                <a:ext cx="6975348" cy="5029835"/>
              </a:xfrm>
              <a:blipFill>
                <a:blip r:embed="rId2"/>
                <a:stretch>
                  <a:fillRect l="-787" t="-1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173FD-5DE2-5D97-4235-914AA984F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EB1D9E-5B89-2DAB-EB6A-15CF149A1BB6}"/>
              </a:ext>
            </a:extLst>
          </p:cNvPr>
          <p:cNvSpPr txBox="1"/>
          <p:nvPr/>
        </p:nvSpPr>
        <p:spPr>
          <a:xfrm>
            <a:off x="0" y="6538912"/>
            <a:ext cx="10145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source: R (top) and Python/Seaborn (bottom) plots from the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pft.csv </a:t>
            </a:r>
            <a:r>
              <a:rPr lang="en-US" sz="1200" dirty="0"/>
              <a:t>dataset.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F1F583-F093-8F26-5B87-7A16284CC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217" y="232532"/>
            <a:ext cx="4099280" cy="36298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EA36BB-AEDC-36C3-A439-2E4D2FC44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217" y="3862387"/>
            <a:ext cx="4315214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12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53E410-FAC5-0B40-D1A6-39C6CF7A4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30" y="253746"/>
            <a:ext cx="5935442" cy="63505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EE7F35-3E41-DEDB-5CEE-6B78FD4E2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A1107-14B9-4870-1E8E-737637FD81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Numerical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Numerical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A1107-14B9-4870-1E8E-737637FD81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686A9-2316-81CA-F28D-82C262BD5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34B4E4-3D6B-7C8F-6A77-B0CD5F4ECB60}"/>
              </a:ext>
            </a:extLst>
          </p:cNvPr>
          <p:cNvSpPr txBox="1"/>
          <p:nvPr/>
        </p:nvSpPr>
        <p:spPr>
          <a:xfrm>
            <a:off x="0" y="6538912"/>
            <a:ext cx="10145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Figure 3.8.</a:t>
            </a:r>
          </a:p>
        </p:txBody>
      </p:sp>
    </p:spTree>
    <p:extLst>
      <p:ext uri="{BB962C8B-B14F-4D97-AF65-F5344CB8AC3E}">
        <p14:creationId xmlns:p14="http://schemas.microsoft.com/office/powerpoint/2010/main" val="2524263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7DBA5-2728-4229-A3BC-234CCF11D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F28EF-10F2-0604-2D91-AC33FD6A5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4060C-60C8-4155-2DD2-B6EE87AD5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1F558-9A3F-EDE9-62AB-19A3C958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0C3C2F-BF79-EF9D-168B-DE2406A0AF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59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EE122-310A-4F01-6639-8972BED9C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0A7D3-8AFF-47EC-591E-668E60200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3d scatterplots</a:t>
            </a:r>
          </a:p>
          <a:p>
            <a:r>
              <a:rPr lang="en-US" dirty="0"/>
              <a:t>Scatterplot matrices</a:t>
            </a:r>
          </a:p>
          <a:p>
            <a:r>
              <a:rPr lang="en-US" dirty="0"/>
              <a:t>Correlation Heatmaps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50BAC-7133-B4DA-25E1-E64D7D62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 descr="A diagram of a triangle with red dots and lines&#10;&#10;AI-generated content may be incorrect.">
            <a:extLst>
              <a:ext uri="{FF2B5EF4-FFF2-40B4-BE49-F238E27FC236}">
                <a16:creationId xmlns:a16="http://schemas.microsoft.com/office/drawing/2014/main" id="{FFBB2F80-5302-06CB-6502-0C1F5942F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734" y="522564"/>
            <a:ext cx="5508564" cy="56822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A5A54E-3AE2-BB26-4E23-068E4B0A4C54}"/>
              </a:ext>
            </a:extLst>
          </p:cNvPr>
          <p:cNvSpPr txBox="1"/>
          <p:nvPr/>
        </p:nvSpPr>
        <p:spPr>
          <a:xfrm>
            <a:off x="159488" y="6413698"/>
            <a:ext cx="5805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ISLP</a:t>
            </a:r>
            <a:r>
              <a:rPr lang="en-US" sz="1400" dirty="0"/>
              <a:t> Figure 3.4</a:t>
            </a:r>
          </a:p>
        </p:txBody>
      </p:sp>
    </p:spTree>
    <p:extLst>
      <p:ext uri="{BB962C8B-B14F-4D97-AF65-F5344CB8AC3E}">
        <p14:creationId xmlns:p14="http://schemas.microsoft.com/office/powerpoint/2010/main" val="3489208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B803E6B-578A-7C07-02B8-4F9FEB581AE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Scatterplot matrices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Correlation heatmaps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B803E6B-578A-7C07-02B8-4F9FEB581A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8B742-B9E5-4A9B-6C7E-7A71FBFC3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truly “multivariate”</a:t>
            </a:r>
          </a:p>
          <a:p>
            <a:r>
              <a:rPr lang="en-US" dirty="0"/>
              <a:t>Behavior of many variables together, often summarized through collections of pairwise relationships.</a:t>
            </a:r>
          </a:p>
          <a:p>
            <a:r>
              <a:rPr lang="en-US" dirty="0"/>
              <a:t>As the number of variables grows, pairwise plots become visually dense. </a:t>
            </a:r>
          </a:p>
          <a:p>
            <a:r>
              <a:rPr lang="en-US" dirty="0"/>
              <a:t>Heatmaps can summarize the same information more efficiently.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58807-A7C9-969C-FDA3-F4CFF7A3C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446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54A95-6D0A-334C-55D9-DB9A62EFE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</a:t>
            </a:r>
            <a:br>
              <a:rPr lang="en-US" dirty="0"/>
            </a:br>
            <a:r>
              <a:rPr lang="en-US" dirty="0"/>
              <a:t>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77BB1-860B-D4AD-E8D6-1D5ACBD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051AF6-D7E0-FE21-EDBE-C1DB7AD91C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67"/>
          <a:stretch>
            <a:fillRect/>
          </a:stretch>
        </p:blipFill>
        <p:spPr>
          <a:xfrm>
            <a:off x="5714999" y="217427"/>
            <a:ext cx="6436785" cy="64231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C9E664-520E-5804-4C5D-C8F9586F2252}"/>
              </a:ext>
            </a:extLst>
          </p:cNvPr>
          <p:cNvSpPr txBox="1"/>
          <p:nvPr/>
        </p:nvSpPr>
        <p:spPr>
          <a:xfrm>
            <a:off x="40216" y="2540229"/>
            <a:ext cx="3950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Python: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head(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body_fat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8C9593-6EB7-E962-646E-4E8953A15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25607"/>
            <a:ext cx="5573712" cy="9270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27545A-4818-2911-A94C-074F4D1ADD86}"/>
              </a:ext>
            </a:extLst>
          </p:cNvPr>
          <p:cNvSpPr txBox="1"/>
          <p:nvPr/>
        </p:nvSpPr>
        <p:spPr>
          <a:xfrm>
            <a:off x="364942" y="4606888"/>
            <a:ext cx="52087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16 numerical variables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Why are the diagonal entries histograms?</a:t>
            </a:r>
          </a:p>
        </p:txBody>
      </p:sp>
    </p:spTree>
    <p:extLst>
      <p:ext uri="{BB962C8B-B14F-4D97-AF65-F5344CB8AC3E}">
        <p14:creationId xmlns:p14="http://schemas.microsoft.com/office/powerpoint/2010/main" val="2940248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E55EE-C65B-18BC-DF8B-DF298A5D0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</a:t>
            </a:r>
            <a:br>
              <a:rPr lang="en-US" dirty="0"/>
            </a:br>
            <a:r>
              <a:rPr lang="en-US" dirty="0"/>
              <a:t>Heatmap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E4B02B-9E55-DE73-42ED-F5F128E491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4068" y="1825625"/>
                <a:ext cx="4402836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Recall from last week: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Correlation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endParaRPr lang="en-US" sz="2200" dirty="0"/>
              </a:p>
              <a:p>
                <a:pPr marL="0" indent="0">
                  <a:buNone/>
                </a:pPr>
                <a:r>
                  <a:rPr lang="en-US" sz="2200" dirty="0"/>
                  <a:t>Why are the diagonal entries +1?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E4B02B-9E55-DE73-42ED-F5F128E491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4068" y="1825625"/>
                <a:ext cx="4402836" cy="4351338"/>
              </a:xfrm>
              <a:blipFill>
                <a:blip r:embed="rId2"/>
                <a:stretch>
                  <a:fillRect l="-2766" t="-2241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D67BB-94A2-2D8E-BB82-17F935855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8B7A38-A85C-04A0-1A1E-78DE6C6E4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325638"/>
            <a:ext cx="7085076" cy="616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544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5A3B1-959F-77D3-717E-2DE527D89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06F19-24F9-2BD2-62B9-2B0525D06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F7ED6-9187-E4F5-FE72-13E267C0E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525C7-914C-11B0-A112-8B6B55309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EFA576-A239-77D7-409F-FB8AEB315B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9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1D09B-3FE0-D864-A4BA-769D9F76D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Python/R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413D6-FC66-7C0E-5102-775F7FB10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/>
              <a:t>With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pft.csv</a:t>
            </a: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en-US" dirty="0"/>
              <a:t>data:</a:t>
            </a:r>
          </a:p>
          <a:p>
            <a:pPr lvl="1"/>
            <a:r>
              <a:rPr lang="en-US" dirty="0"/>
              <a:t>Build a histogram of the </a:t>
            </a:r>
            <a:r>
              <a:rPr lang="en-US" dirty="0" err="1"/>
              <a:t>pft</a:t>
            </a:r>
            <a:r>
              <a:rPr lang="en-US" dirty="0"/>
              <a:t> scores</a:t>
            </a:r>
          </a:p>
          <a:p>
            <a:pPr lvl="1"/>
            <a:r>
              <a:rPr lang="en-US" dirty="0"/>
              <a:t>Overlay the mean, median, and standard deviation lines</a:t>
            </a:r>
          </a:p>
          <a:p>
            <a:pPr lvl="1"/>
            <a:r>
              <a:rPr lang="en-US" dirty="0"/>
              <a:t>Verify the empirical rules and/or Chebyshev’s rule</a:t>
            </a:r>
          </a:p>
          <a:p>
            <a:pPr lvl="1"/>
            <a:r>
              <a:rPr lang="en-US" dirty="0"/>
              <a:t>Create a grouped boxplot of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score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gender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variables.</a:t>
            </a:r>
          </a:p>
          <a:p>
            <a:r>
              <a:rPr lang="en-US" dirty="0"/>
              <a:t>Using the </a:t>
            </a:r>
            <a:r>
              <a:rPr lang="en-US" dirty="0" err="1">
                <a:latin typeface="Courier New"/>
                <a:cs typeface="Courier New"/>
              </a:rPr>
              <a:t>pima</a:t>
            </a:r>
            <a:r>
              <a:rPr lang="en-US" dirty="0"/>
              <a:t> dataset from the </a:t>
            </a:r>
            <a:r>
              <a:rPr lang="en-US" dirty="0">
                <a:latin typeface="Courier New"/>
                <a:cs typeface="Courier New"/>
              </a:rPr>
              <a:t>faraway</a:t>
            </a:r>
            <a:br>
              <a:rPr lang="en-US" dirty="0"/>
            </a:br>
            <a:r>
              <a:rPr lang="en-US" dirty="0"/>
              <a:t>package:</a:t>
            </a:r>
          </a:p>
          <a:p>
            <a:pPr lvl="1"/>
            <a:r>
              <a:rPr lang="en-US" dirty="0"/>
              <a:t>Run a quick cleaning of the data</a:t>
            </a:r>
          </a:p>
          <a:p>
            <a:pPr lvl="2"/>
            <a:r>
              <a:rPr lang="en-US" dirty="0"/>
              <a:t>Zeros as missing: “triceps”, “insulin”, “</a:t>
            </a:r>
            <a:r>
              <a:rPr lang="en-US" dirty="0" err="1"/>
              <a:t>bmi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Create a correlation heatmap</a:t>
            </a:r>
          </a:p>
          <a:p>
            <a:pPr lvl="1"/>
            <a:r>
              <a:rPr lang="en-US" dirty="0"/>
              <a:t>(Time permitting) Save the clean </a:t>
            </a:r>
            <a:r>
              <a:rPr lang="en-US" dirty="0" err="1">
                <a:latin typeface="Courier New"/>
                <a:cs typeface="Courier New"/>
              </a:rPr>
              <a:t>pima</a:t>
            </a:r>
            <a:r>
              <a:rPr lang="en-US" dirty="0"/>
              <a:t> data as a</a:t>
            </a:r>
            <a:br>
              <a:rPr lang="en-US" dirty="0"/>
            </a:br>
            <a:r>
              <a:rPr lang="en-US" dirty="0"/>
              <a:t>csv and create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pairplot</a:t>
            </a:r>
            <a:r>
              <a:rPr lang="en-US" dirty="0"/>
              <a:t> and correlation heatmap in Python</a:t>
            </a:r>
            <a:br>
              <a:rPr lang="en-US" dirty="0"/>
            </a:br>
            <a:r>
              <a:rPr lang="en-US" dirty="0"/>
              <a:t>using </a:t>
            </a:r>
            <a:r>
              <a:rPr lang="en-US" dirty="0">
                <a:latin typeface="Courier New"/>
                <a:cs typeface="Courier New"/>
              </a:rPr>
              <a:t>seaborn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0EECD-AABB-70E7-C4C6-DC85A513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389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6E6435-4A2C-4A0D-BAA1-839AFE03DD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81aeba-3fbe-492c-aacc-230c0d934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6E6207-86C4-4F84-AC70-AF40681B0BDD}">
  <ds:schemaRefs>
    <ds:schemaRef ds:uri="http://www.w3.org/XML/1998/namespace"/>
    <ds:schemaRef ds:uri="http://schemas.microsoft.com/office/infopath/2007/PartnerControls"/>
    <ds:schemaRef ds:uri="0e81aeba-3fbe-492c-aacc-230c0d934791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5C95BC1-9232-48BA-BC44-46620B8F72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1804</TotalTime>
  <Words>1096</Words>
  <Application>Microsoft Office PowerPoint</Application>
  <PresentationFormat>Widescreen</PresentationFormat>
  <Paragraphs>177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Courier New</vt:lpstr>
      <vt:lpstr>Office Theme</vt:lpstr>
      <vt:lpstr>OA3103: Data Analysis</vt:lpstr>
      <vt:lpstr>This Week’s Roadmap</vt:lpstr>
      <vt:lpstr>Visual EDA</vt:lpstr>
      <vt:lpstr>Visual EDA - Categories</vt:lpstr>
      <vt:lpstr>Visual EDA - Categories</vt:lpstr>
      <vt:lpstr>Univariate Data</vt:lpstr>
      <vt:lpstr>Histograms</vt:lpstr>
      <vt:lpstr>Applications of Standard Deviation</vt:lpstr>
      <vt:lpstr>Applications of Standard Deviation</vt:lpstr>
      <vt:lpstr>Applications of Standard Deviation</vt:lpstr>
      <vt:lpstr>PowerPoint Presentation</vt:lpstr>
      <vt:lpstr>Bivariate Data</vt:lpstr>
      <vt:lpstr>Grouped Bar Plots</vt:lpstr>
      <vt:lpstr>Grouped box plot</vt:lpstr>
      <vt:lpstr>Scatterplots</vt:lpstr>
      <vt:lpstr>PowerPoint Presentation</vt:lpstr>
      <vt:lpstr>Multivariate Data</vt:lpstr>
      <vt:lpstr>Scatterplot matrices → Correlation heatmaps</vt:lpstr>
      <vt:lpstr>Scatterplot Matrix</vt:lpstr>
      <vt:lpstr>Correlation  Heatmap</vt:lpstr>
      <vt:lpstr>PowerPoint Presentation</vt:lpstr>
      <vt:lpstr>Back to Python/R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Singh, Paolo (CDR)</cp:lastModifiedBy>
  <cp:revision>8</cp:revision>
  <dcterms:created xsi:type="dcterms:W3CDTF">2026-04-01T15:46:41Z</dcterms:created>
  <dcterms:modified xsi:type="dcterms:W3CDTF">2026-04-07T15:45:16Z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2026-04-01T16:54:00Z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3fe9a577-88ad-49c9-8ede-48a2274d3674</vt:lpwstr>
  </property>
  <property fmtid="{D5CDD505-2E9C-101B-9397-08002B2CF9AE}" pid="8" name="MSIP_Label_acbbd4a6-dc2f-44d9-ad2c-c28d4679873f_ContentBits">
    <vt:lpwstr>0</vt:lpwstr>
  </property>
  <property fmtid="{D5CDD505-2E9C-101B-9397-08002B2CF9AE}" pid="9" name="MSIP_Label_acbbd4a6-dc2f-44d9-ad2c-c28d4679873f_Tag">
    <vt:lpwstr>10, 3, 0, 1</vt:lpwstr>
  </property>
  <property fmtid="{D5CDD505-2E9C-101B-9397-08002B2CF9AE}" pid="10" name="ContentTypeId">
    <vt:lpwstr>0x010100B5C1E69E284ED9449A95CFBB495AA443</vt:lpwstr>
  </property>
</Properties>
</file>