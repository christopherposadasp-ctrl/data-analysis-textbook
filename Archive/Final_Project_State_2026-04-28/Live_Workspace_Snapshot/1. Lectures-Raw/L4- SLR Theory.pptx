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0"/>
  </p:notesMasterIdLst>
  <p:sldIdLst>
    <p:sldId id="256" r:id="rId5"/>
    <p:sldId id="287" r:id="rId6"/>
    <p:sldId id="258" r:id="rId7"/>
    <p:sldId id="259" r:id="rId8"/>
    <p:sldId id="260" r:id="rId9"/>
    <p:sldId id="261" r:id="rId10"/>
    <p:sldId id="264" r:id="rId11"/>
    <p:sldId id="262" r:id="rId12"/>
    <p:sldId id="291" r:id="rId13"/>
    <p:sldId id="288" r:id="rId14"/>
    <p:sldId id="289" r:id="rId15"/>
    <p:sldId id="265" r:id="rId16"/>
    <p:sldId id="266" r:id="rId17"/>
    <p:sldId id="267" r:id="rId18"/>
    <p:sldId id="268" r:id="rId19"/>
    <p:sldId id="269" r:id="rId20"/>
    <p:sldId id="271" r:id="rId21"/>
    <p:sldId id="272" r:id="rId22"/>
    <p:sldId id="273" r:id="rId23"/>
    <p:sldId id="274" r:id="rId24"/>
    <p:sldId id="275" r:id="rId25"/>
    <p:sldId id="276" r:id="rId26"/>
    <p:sldId id="270" r:id="rId27"/>
    <p:sldId id="277" r:id="rId28"/>
    <p:sldId id="278" r:id="rId29"/>
    <p:sldId id="279" r:id="rId30"/>
    <p:sldId id="280" r:id="rId31"/>
    <p:sldId id="281" r:id="rId32"/>
    <p:sldId id="283" r:id="rId33"/>
    <p:sldId id="292" r:id="rId34"/>
    <p:sldId id="293" r:id="rId35"/>
    <p:sldId id="284" r:id="rId36"/>
    <p:sldId id="285" r:id="rId37"/>
    <p:sldId id="294" r:id="rId38"/>
    <p:sldId id="28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32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6369-D32A-BB82-9334-98713987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89586-47BB-72BF-EF51-A2BE6CD3A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3A71DA7-72D0-274D-FECA-DA189EED15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This is the </a:t>
                </a:r>
                <a:r>
                  <a:rPr lang="en-US" b="1" dirty="0">
                    <a:effectLst/>
                  </a:rPr>
                  <a:t>minimum assumption</a:t>
                </a:r>
                <a:r>
                  <a:rPr lang="en-US" dirty="0">
                    <a:effectLst/>
                  </a:rPr>
                  <a:t> needed for linear regression to make sense as a </a:t>
                </a:r>
                <a:r>
                  <a:rPr lang="en-US" i="1" dirty="0">
                    <a:effectLst/>
                  </a:rPr>
                  <a:t>predictive</a:t>
                </a:r>
                <a:r>
                  <a:rPr lang="en-US" dirty="0">
                    <a:effectLst/>
                  </a:rPr>
                  <a:t> tool.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Under this assumption: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is the </a:t>
                </a:r>
                <a:r>
                  <a:rPr lang="en-US" b="1" dirty="0">
                    <a:effectLst/>
                  </a:rPr>
                  <a:t>true conditional mean</a:t>
                </a:r>
                <a:r>
                  <a:rPr lang="en-US" dirty="0">
                    <a:effectLst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regression line is the </a:t>
                </a:r>
                <a:r>
                  <a:rPr lang="en-US" b="1" dirty="0">
                    <a:effectLst/>
                  </a:rPr>
                  <a:t>best possible predictor</a:t>
                </a:r>
                <a:r>
                  <a:rPr lang="en-US" dirty="0">
                    <a:effectLst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(in the MSE sense).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OLS estimates are </a:t>
                </a:r>
                <a:r>
                  <a:rPr lang="en-US" b="1" dirty="0">
                    <a:effectLst/>
                  </a:rPr>
                  <a:t>unbiased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3A71DA7-72D0-274D-FECA-DA189EED155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This is the </a:t>
                </a:r>
                <a:r>
                  <a:rPr lang="en-US" b="1" dirty="0">
                    <a:effectLst/>
                  </a:rPr>
                  <a:t>minimum assumption</a:t>
                </a:r>
                <a:r>
                  <a:rPr lang="en-US" dirty="0">
                    <a:effectLst/>
                  </a:rPr>
                  <a:t> needed for linear regression to make sense as a </a:t>
                </a:r>
                <a:r>
                  <a:rPr lang="en-US" i="1" dirty="0">
                    <a:effectLst/>
                  </a:rPr>
                  <a:t>predictive</a:t>
                </a:r>
                <a:r>
                  <a:rPr lang="en-US" dirty="0">
                    <a:effectLst/>
                  </a:rPr>
                  <a:t> tool.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Under this assumption: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𝛽_0+𝛽_1 𝑋</a:t>
                </a:r>
                <a:r>
                  <a:rPr lang="en-US" dirty="0">
                    <a:effectLst/>
                  </a:rPr>
                  <a:t>is the </a:t>
                </a:r>
                <a:r>
                  <a:rPr lang="en-US" b="1" dirty="0">
                    <a:effectLst/>
                  </a:rPr>
                  <a:t>true conditional mean</a:t>
                </a:r>
                <a:r>
                  <a:rPr lang="en-US" dirty="0">
                    <a:effectLst/>
                  </a:rPr>
                  <a:t>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regression line is the </a:t>
                </a:r>
                <a:r>
                  <a:rPr lang="en-US" b="1" dirty="0">
                    <a:effectLst/>
                  </a:rPr>
                  <a:t>best possible predictor</a:t>
                </a:r>
                <a:r>
                  <a:rPr lang="en-US" dirty="0">
                    <a:effectLst/>
                  </a:rPr>
                  <a:t>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given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(in the MSE sense).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OLS estimates are </a:t>
                </a:r>
                <a:r>
                  <a:rPr lang="en-US" b="1" dirty="0">
                    <a:effectLst/>
                  </a:rPr>
                  <a:t>unbiased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034E0-4206-CED5-88AA-07650B78A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0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9E7E-716E-2B5A-4C04-B633BA85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8C4C-A269-ED9E-A071-B8358F69F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CCCF7-370C-7E2C-158F-E9402AB9C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added the structure needed for </a:t>
            </a:r>
            <a:r>
              <a:rPr lang="en-US" b="1" dirty="0"/>
              <a:t>valid inference</a:t>
            </a:r>
            <a:r>
              <a:rPr lang="en-US" dirty="0"/>
              <a:t> in the classical SLR model.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With this assumption:</a:t>
            </a:r>
            <a:endParaRPr lang="en-US" dirty="0"/>
          </a:p>
          <a:p>
            <a:r>
              <a:rPr lang="en-US" dirty="0">
                <a:effectLst/>
              </a:rPr>
              <a:t>OLS is still unbiased (from Assumption 1).</a:t>
            </a:r>
            <a:endParaRPr lang="en-US" dirty="0"/>
          </a:p>
          <a:p>
            <a:r>
              <a:rPr lang="en-US" dirty="0">
                <a:effectLst/>
              </a:rPr>
              <a:t>OLS is now </a:t>
            </a:r>
            <a:r>
              <a:rPr lang="en-US" b="1" dirty="0">
                <a:effectLst/>
              </a:rPr>
              <a:t>BLUE</a:t>
            </a:r>
            <a:r>
              <a:rPr lang="en-US" dirty="0">
                <a:effectLst/>
              </a:rPr>
              <a:t> (Gauss–Markov). (Best Linear Unbiased Estimator)</a:t>
            </a:r>
            <a:endParaRPr lang="en-US" dirty="0"/>
          </a:p>
          <a:p>
            <a:r>
              <a:rPr lang="en-US" dirty="0">
                <a:effectLst/>
              </a:rPr>
              <a:t>We can compute </a:t>
            </a:r>
            <a:r>
              <a:rPr lang="en-US" b="1" dirty="0">
                <a:effectLst/>
              </a:rPr>
              <a:t>standard errors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We can construct </a:t>
            </a:r>
            <a:r>
              <a:rPr lang="en-US" b="1" dirty="0">
                <a:effectLst/>
              </a:rPr>
              <a:t>confidence intervals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dirty="0">
                <a:effectLst/>
              </a:rPr>
              <a:t>We can run </a:t>
            </a:r>
            <a:r>
              <a:rPr lang="en-US" b="1" dirty="0">
                <a:effectLst/>
              </a:rPr>
              <a:t>t‑tests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F‑tests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55C26-DDEB-077C-DE28-3C21D4286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60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D3ACA-22A8-52E3-8BB9-0A0E59B8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22569-65AE-3630-6033-D3A75821D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F58F15B-A822-0C0D-7CCB-CF10D06598B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F49A3-B3B8-DCB2-3A9F-41FF9D684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18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0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A757-566C-4E0F-DE6B-62A6483D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53A34-F8DC-FED1-CBCB-86F24BA25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 Review</a:t>
            </a:r>
          </a:p>
          <a:p>
            <a:r>
              <a:rPr lang="en-US" dirty="0"/>
              <a:t>No lab today</a:t>
            </a:r>
          </a:p>
          <a:p>
            <a:r>
              <a:rPr lang="en-US" dirty="0"/>
              <a:t>Today will be another theory-heavy day</a:t>
            </a:r>
          </a:p>
          <a:p>
            <a:r>
              <a:rPr lang="en-US" dirty="0"/>
              <a:t>Tomorrow we will work in Python/R and answer HW questions</a:t>
            </a:r>
          </a:p>
          <a:p>
            <a:r>
              <a:rPr lang="en-US" dirty="0"/>
              <a:t>Revisit a question from yesterday (in 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C3A5-0116-FE75-7A87-81E41209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3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ISLP: Section 3.1</a:t>
            </a:r>
          </a:p>
          <a:p>
            <a:r>
              <a:rPr lang="en-US" dirty="0"/>
              <a:t>TALR: Section 3.1*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pic>
        <p:nvPicPr>
          <p:cNvPr id="2050" name="Picture 2" descr="Start with why -- how great leaders inspire action | Simon Sinek |  TEDxPugetSound">
            <a:extLst>
              <a:ext uri="{FF2B5EF4-FFF2-40B4-BE49-F238E27FC236}">
                <a16:creationId xmlns:a16="http://schemas.microsoft.com/office/drawing/2014/main" id="{9D23561C-7B07-DE6F-8944-808009FCA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99" y="53750"/>
            <a:ext cx="3634932" cy="200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1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3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3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71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0D24-ABA4-7646-16B2-0F984B9B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300E-13CC-F726-BE57-46BD0D80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E5915-296D-09FD-75F2-C8ACEC1EF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DE5915-296D-09FD-75F2-C8ACEC1EF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D2AAC-6179-ADEE-28CA-9543870E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3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3401-1077-ED5A-30D1-476944FD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DAD3-73E3-A817-0398-4B627819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D048-4F95-1611-624B-7F39B50EF7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7FD048-4F95-1611-624B-7F39B50EF7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8D41A-4C2D-B433-4A16-38D3F267C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69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67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2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0ECE-7D00-C0A3-CFCB-9BB813A6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4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95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1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90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41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535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74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056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15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86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75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7558C-6CF1-3928-2C2E-CDD9EDC2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5351-B717-4AC9-D9B8-771F2B46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3699E-5D95-29C0-BB50-C5E905749F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3699E-5D95-29C0-BB50-C5E905749F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4B84F-B66B-E6D7-0D34-41F2DB05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75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5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54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251FA-03E3-9C8E-775F-A5A35205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3AEB-8B84-7771-223E-36DFC779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FB55A-B622-3B3C-65C7-E64E606EC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</a:t>
                </a:r>
                <a:br>
                  <a:rPr lang="en-US" sz="2400" dirty="0"/>
                </a:br>
                <a:endParaRPr lang="en-US" sz="2400" b="0" dirty="0"/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FFB55A-B622-3B3C-65C7-E64E606EC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C888C-42C4-E294-697B-4FCBD993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08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37A3-2C46-B73B-25C5-37C65DA1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F9B6-38DD-C0E5-9365-93AFC861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D388D8-33F5-3718-8F18-0C4E3EC20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i="1" dirty="0"/>
                  <a:t>unit?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D388D8-33F5-3718-8F18-0C4E3EC20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2"/>
                <a:stretch>
                  <a:fillRect l="-1168" t="-2326" r="-1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64756-59AA-BB7E-C0AB-95FA020C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11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5101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E9CE-6243-B369-C533-4FA8F000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542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968C5-0E89-0B1F-41AE-347CCF13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837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2158</Words>
  <Application>Microsoft Office PowerPoint</Application>
  <PresentationFormat>Widescreen</PresentationFormat>
  <Paragraphs>297</Paragraphs>
  <Slides>35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office theme</vt:lpstr>
      <vt:lpstr>OA3103: Data Analysis</vt:lpstr>
      <vt:lpstr>Admin</vt:lpstr>
      <vt:lpstr>References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Some Common Assumptions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Equivalences</vt:lpstr>
      <vt:lpstr>Recall from OA3102</vt:lpstr>
      <vt:lpstr>Recall from OA3102</vt:lpstr>
      <vt:lpstr>The  Least Squares Estimators</vt:lpstr>
      <vt:lpstr>The  Takeaways</vt:lpstr>
      <vt:lpstr>The  Takeaways</vt:lpstr>
      <vt:lpstr>Interpretation</vt:lpstr>
      <vt:lpstr>An Application</vt:lpstr>
      <vt:lpstr>An Application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8</cp:revision>
  <dcterms:created xsi:type="dcterms:W3CDTF">2026-04-07T19:55:26Z</dcterms:created>
  <dcterms:modified xsi:type="dcterms:W3CDTF">2026-04-08T17:38:30Z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