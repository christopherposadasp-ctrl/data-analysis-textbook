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56" r:id="rId5"/>
    <p:sldId id="334" r:id="rId6"/>
    <p:sldId id="258" r:id="rId7"/>
    <p:sldId id="452" r:id="rId8"/>
    <p:sldId id="431" r:id="rId9"/>
    <p:sldId id="437" r:id="rId10"/>
    <p:sldId id="433" r:id="rId11"/>
    <p:sldId id="435" r:id="rId12"/>
    <p:sldId id="438" r:id="rId13"/>
    <p:sldId id="439" r:id="rId14"/>
    <p:sldId id="440" r:id="rId15"/>
    <p:sldId id="441" r:id="rId16"/>
    <p:sldId id="442" r:id="rId17"/>
    <p:sldId id="443" r:id="rId18"/>
    <p:sldId id="444" r:id="rId19"/>
    <p:sldId id="445" r:id="rId20"/>
    <p:sldId id="446" r:id="rId21"/>
    <p:sldId id="448" r:id="rId22"/>
    <p:sldId id="447" r:id="rId23"/>
    <p:sldId id="449" r:id="rId24"/>
    <p:sldId id="450" r:id="rId25"/>
    <p:sldId id="451" r:id="rId26"/>
    <p:sldId id="41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FFC0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MLR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4614-C873-D273-84C3-A30AB799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9246A-DCE4-A85F-53B8-537DCE151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Happy Virtual Friday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E6296-2EC9-4464-8983-2E43DF82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5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5F56-CE10-31EA-09BF-8882CF03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9452-E667-7C57-E02E-229B97D8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ISLP: Chapter 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FC786-F85F-38B0-1D29-44393126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5642-180B-7B79-5F68-BE1092B5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Clarification / Clean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2AE2-3AFC-A0AA-2BF9-D01187418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= FALSE</a:t>
            </a:r>
          </a:p>
          <a:p>
            <a:r>
              <a:rPr lang="en-US" dirty="0">
                <a:cs typeface="Courier New" panose="02070309020205020404" pitchFamily="49" charset="0"/>
              </a:rPr>
              <a:t>We used this in the train/test split code yesterday for selecting a single column of data.</a:t>
            </a:r>
          </a:p>
          <a:p>
            <a:r>
              <a:rPr lang="en-US" dirty="0">
                <a:cs typeface="Courier New" panose="02070309020205020404" pitchFamily="49" charset="0"/>
              </a:rPr>
              <a:t>If we take a subset of data that consists of only one column, R likes to convert it to a vector.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This causes issues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>
                <a:cs typeface="Courier New" panose="02070309020205020404" pitchFamily="49" charset="0"/>
              </a:rPr>
              <a:t>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model.matrix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cs typeface="Courier New" panose="02070309020205020404" pitchFamily="49" charset="0"/>
              </a:rPr>
              <a:t> because they expect data frames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[1:3, ]				</a:t>
            </a:r>
            <a:r>
              <a:rPr lang="en-US" sz="2000" dirty="0">
                <a:cs typeface="Courier New" panose="02070309020205020404" pitchFamily="49" charset="0"/>
              </a:rPr>
              <a:t>returns a vector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[1:3, , drop =FALSE]		</a:t>
            </a:r>
            <a:r>
              <a:rPr lang="en-US" sz="2000" dirty="0">
                <a:cs typeface="Courier New" panose="02070309020205020404" pitchFamily="49" charset="0"/>
              </a:rPr>
              <a:t>preserves a data frame</a:t>
            </a:r>
          </a:p>
          <a:p>
            <a:r>
              <a:rPr lang="en-US" dirty="0">
                <a:cs typeface="Courier New" panose="02070309020205020404" pitchFamily="49" charset="0"/>
              </a:rPr>
              <a:t>In other words, R defaults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= TRUE</a:t>
            </a: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D52BD-FF89-9586-E94E-8955036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29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019C-5D48-6FCA-FC0F-5E90F7A3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Up: The “Big 4” Subspaces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7DFA0-7CF1-5E20-B6CA-F0983D0ACE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Many linear algebraists (particularly Gilbert Strang) refer to four subspaces. We look at these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7DFA0-7CF1-5E20-B6CA-F0983D0AC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96D04-680D-E344-B543-A9DDAA1C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46C546-5DF6-8F4A-6404-A55253365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34322"/>
                  </p:ext>
                </p:extLst>
              </p:nvPr>
            </p:nvGraphicFramePr>
            <p:xfrm>
              <a:off x="567267" y="3242733"/>
              <a:ext cx="11040534" cy="23975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680178">
                      <a:extLst>
                        <a:ext uri="{9D8B030D-6E8A-4147-A177-3AD203B41FA5}">
                          <a16:colId xmlns:a16="http://schemas.microsoft.com/office/drawing/2014/main" val="3181555199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586403495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10455868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Strang’s Subspace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Regression 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Dimension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19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Column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Fitted values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9593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Left null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n-US"/>
                            <a:t> </a:t>
                          </a:r>
                          <a:br>
                            <a:rPr lang="en-US"/>
                          </a:br>
                          <a:r>
                            <a:rPr lang="en-US"/>
                            <a:t> (null</a:t>
                          </a:r>
                          <a:r>
                            <a:rPr lang="en-US" baseline="0"/>
                            <a:t> space of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baseline="0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Residuals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a14:m>
                          <a:r>
                            <a:rPr lang="en-US"/>
                            <a:t> </a:t>
                          </a:r>
                          <a:br>
                            <a:rPr lang="en-US"/>
                          </a:br>
                          <a:r>
                            <a:rPr lang="en-US"/>
                            <a:t>(Remember,</a:t>
                          </a:r>
                          <a:r>
                            <a:rPr lang="en-US" baseline="0"/>
                            <a:t> these estimate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baseline="0" smtClean="0">
                                  <a:latin typeface="Cambria Math" panose="02040503050406030204" pitchFamily="18" charset="0"/>
                                </a:rPr>
                                <m:t>𝝐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0197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Row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Linear constraints on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8276239"/>
                      </a:ext>
                    </a:extLst>
                  </a:tr>
                  <a:tr h="221827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Null space of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endParaRPr lang="en-US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Non-identifiable directions (multicollinearity)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varies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070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46C546-5DF6-8F4A-6404-A552533657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34322"/>
                  </p:ext>
                </p:extLst>
              </p:nvPr>
            </p:nvGraphicFramePr>
            <p:xfrm>
              <a:off x="567267" y="3242733"/>
              <a:ext cx="11040534" cy="23975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680178">
                      <a:extLst>
                        <a:ext uri="{9D8B030D-6E8A-4147-A177-3AD203B41FA5}">
                          <a16:colId xmlns:a16="http://schemas.microsoft.com/office/drawing/2014/main" val="3181555199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586403495"/>
                        </a:ext>
                      </a:extLst>
                    </a:gridCol>
                    <a:gridCol w="3680178">
                      <a:extLst>
                        <a:ext uri="{9D8B030D-6E8A-4147-A177-3AD203B41FA5}">
                          <a16:colId xmlns:a16="http://schemas.microsoft.com/office/drawing/2014/main" val="10455868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Strang’s Subspace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Regression 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Dimension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11946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06557" r="-200662" b="-473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106557" r="-100662" b="-473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106557" r="-662" b="-4737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9593216"/>
                      </a:ext>
                    </a:extLst>
                  </a:tr>
                  <a:tr h="6449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18868" r="-200662" b="-172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118868" r="-100662" b="-172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118868" r="-662" b="-1726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01970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374194" r="-200662" b="-19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66" t="-374194" r="-100662" b="-19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166" t="-374194" r="-662" b="-1951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827623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280000" r="-200662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Non-identifiable directions (multicollinearity)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varies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21070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DE91CDC-C9C9-AEB6-1603-8C82C8A1542B}"/>
              </a:ext>
            </a:extLst>
          </p:cNvPr>
          <p:cNvSpPr txBox="1"/>
          <p:nvPr/>
        </p:nvSpPr>
        <p:spPr>
          <a:xfrm>
            <a:off x="0" y="6593085"/>
            <a:ext cx="1011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*See </a:t>
            </a:r>
            <a:r>
              <a:rPr lang="en-US" sz="1400" i="1"/>
              <a:t>Linear Algebra and Its Applications</a:t>
            </a:r>
            <a:r>
              <a:rPr lang="en-US" sz="1400"/>
              <a:t> by Gilbert Strang, as well as his MIT Open Courseware Videos for more. </a:t>
            </a:r>
          </a:p>
        </p:txBody>
      </p:sp>
    </p:spTree>
    <p:extLst>
      <p:ext uri="{BB962C8B-B14F-4D97-AF65-F5344CB8AC3E}">
        <p14:creationId xmlns:p14="http://schemas.microsoft.com/office/powerpoint/2010/main" val="2363906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02F49-7FF7-AEE3-66F2-167AA985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5C798-65FC-AFCD-035D-DA1C876C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Identifiability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EE138E-A958-2001-D165-F49BA70E36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had shown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There is a </a:t>
                </a:r>
                <a:r>
                  <a:rPr lang="en-US" b="1" dirty="0"/>
                  <a:t>unique</a:t>
                </a:r>
                <a:r>
                  <a:rPr lang="en-US" dirty="0"/>
                  <a:t> least-squares estimated regression coefficient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provided that the determinant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not zero. What does this mean?</a:t>
                </a:r>
              </a:p>
              <a:p>
                <a:r>
                  <a:rPr lang="en-US" dirty="0"/>
                  <a:t>When does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</m:func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happen?</a:t>
                </a:r>
              </a:p>
              <a:p>
                <a:r>
                  <a:rPr lang="en-US" i="1" dirty="0"/>
                  <a:t>When columns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i="1" dirty="0"/>
                  <a:t> </a:t>
                </a:r>
                <a:r>
                  <a:rPr lang="en-US" i="1" dirty="0"/>
                  <a:t>are linearly dependent. </a:t>
                </a:r>
                <a:r>
                  <a:rPr lang="en-US" dirty="0"/>
                  <a:t>What does this mean?</a:t>
                </a:r>
              </a:p>
              <a:p>
                <a:r>
                  <a:rPr lang="en-US" dirty="0"/>
                  <a:t>In this case, there is an infinite number of least-squares solutions and we say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</a:t>
                </a:r>
                <a:r>
                  <a:rPr lang="en-US" i="1" dirty="0"/>
                  <a:t>not identified</a:t>
                </a:r>
                <a:r>
                  <a:rPr lang="en-US" dirty="0"/>
                  <a:t>.</a:t>
                </a:r>
                <a:endParaRPr lang="en-US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EE138E-A958-2001-D165-F49BA70E36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507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3853A-B93E-8396-3A11-A8D79301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33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D8B489-F5A0-9976-2E81-FAAF4CE1F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333" y="1247004"/>
            <a:ext cx="4627034" cy="48018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54CB9E-6D9A-B8EB-BCE1-C684973F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Non-Identifiability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E20A1-7475-3C24-8614-C4312CAEA8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have: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	temperature measured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	temperature measured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℉</m:t>
                    </m:r>
                  </m:oMath>
                </a14:m>
                <a:br>
                  <a:rPr lang="en-US" i="1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+32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E20A1-7475-3C24-8614-C4312CAEA8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8AC2F-25F2-D3E0-A63E-AB8DE8CD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1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8ADD5-4078-BCDB-0EB8-FF4164C8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890E4-99BB-5683-D8ED-3D1397EF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796A7-1398-89C3-B71E-739A4331F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AB7B9-59B5-5BEB-2484-B4867D85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C62BF2-EE51-996C-F6B0-F060938C9A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38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4B155-2786-8657-F44D-6737C687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108250-DE34-0BD5-1B8A-3C089009FA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Simple Linear Regression (SLR)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Multiple Linear Regression (MLR)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n-US" dirty="0"/>
                  <a:t>For our assumptions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b="1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108250-DE34-0BD5-1B8A-3C089009FA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B9656-B35C-D38D-E3B5-B0E035C2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64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F9284-1795-F11E-4A11-D304903E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08B7-1856-2C94-4E63-DACEC9575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2770F-CCD1-31E8-96C1-5DFD82C989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Simple Linear Regression (SLR)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Multiple Linear Regression (MLR)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n-US" dirty="0"/>
                  <a:t>For our assumptions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design matrix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vector of coefficients.</a:t>
                </a:r>
                <a:endParaRPr lang="en-US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2770F-CCD1-31E8-96C1-5DFD82C989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  <a:blipFill>
                <a:blip r:embed="rId2"/>
                <a:stretch>
                  <a:fillRect l="-1043" t="-2381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BB985-2FD0-3438-5E55-1B0DF20BD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47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BCF3-054C-37D8-3737-A5D78607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8F772-9F7F-0A6F-1007-D16731C28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Multiple Linear Regression, we can have multiple predictors.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Tradeoff:</a:t>
            </a:r>
          </a:p>
          <a:p>
            <a:pPr lvl="1"/>
            <a:r>
              <a:rPr lang="en-US" sz="2800" dirty="0"/>
              <a:t>Graphics are difficult in higher dimensions.</a:t>
            </a:r>
          </a:p>
          <a:p>
            <a:pPr lvl="1"/>
            <a:r>
              <a:rPr lang="en-US" sz="2800" dirty="0"/>
              <a:t>Least squares fit is now a </a:t>
            </a:r>
            <a:r>
              <a:rPr lang="en-US" sz="2800" i="1" dirty="0"/>
              <a:t>(hyper) plane </a:t>
            </a:r>
            <a:r>
              <a:rPr lang="en-US" sz="2800" dirty="0"/>
              <a:t>instead of a line.</a:t>
            </a:r>
            <a:endParaRPr lang="en-US" sz="28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7CFCB-4785-E6BA-CDEE-5FDE2DBF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2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678ED-8F69-A88D-862B-70BF6EF31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2008-1B67-803A-19D9-1B5D32C9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7703C-5058-9D88-A5E8-4216FAEDF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8"/>
            <a:ext cx="10515600" cy="4351338"/>
          </a:xfrm>
        </p:spPr>
        <p:txBody>
          <a:bodyPr/>
          <a:lstStyle/>
          <a:p>
            <a:pPr lvl="1"/>
            <a:r>
              <a:rPr lang="en-US" sz="2800" dirty="0"/>
              <a:t>Least squares fit is now a </a:t>
            </a:r>
            <a:r>
              <a:rPr lang="en-US" sz="2800" i="1" dirty="0"/>
              <a:t>(hyper) plane </a:t>
            </a:r>
            <a:r>
              <a:rPr lang="en-US" sz="2800" dirty="0"/>
              <a:t>instead of a line</a:t>
            </a:r>
            <a:r>
              <a:rPr lang="en-US" dirty="0"/>
              <a:t>.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9345C-FA3D-C557-78D4-A6B1545D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87BE26-DEF7-9014-CD69-CC7222C5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64" y="2241756"/>
            <a:ext cx="4272265" cy="44797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4E3C5F-EE53-9B05-2729-849C99D24D18}"/>
              </a:ext>
            </a:extLst>
          </p:cNvPr>
          <p:cNvSpPr txBox="1"/>
          <p:nvPr/>
        </p:nvSpPr>
        <p:spPr>
          <a:xfrm>
            <a:off x="0" y="6551054"/>
            <a:ext cx="4689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i="1" dirty="0"/>
              <a:t>ISLP</a:t>
            </a:r>
            <a:r>
              <a:rPr lang="en-US" sz="1200" dirty="0"/>
              <a:t> Figure 3.4</a:t>
            </a:r>
          </a:p>
        </p:txBody>
      </p:sp>
    </p:spTree>
    <p:extLst>
      <p:ext uri="{BB962C8B-B14F-4D97-AF65-F5344CB8AC3E}">
        <p14:creationId xmlns:p14="http://schemas.microsoft.com/office/powerpoint/2010/main" val="1507649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92D7-541E-321D-B801-736E0C84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a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AD03-76B5-1D3D-0F34-682B3D91D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Advertising.csv</a:t>
            </a:r>
          </a:p>
          <a:p>
            <a:r>
              <a:rPr lang="en-US" dirty="0"/>
              <a:t>Contains data on </a:t>
            </a:r>
          </a:p>
          <a:p>
            <a:pPr lvl="1"/>
            <a:r>
              <a:rPr lang="en-US" dirty="0"/>
              <a:t>(Selected) Response Variable: 	Sales	 	thousands of units</a:t>
            </a:r>
          </a:p>
          <a:p>
            <a:pPr lvl="1"/>
            <a:r>
              <a:rPr lang="en-US" dirty="0"/>
              <a:t>Predictors are advertising budgets:</a:t>
            </a:r>
            <a:br>
              <a:rPr lang="en-US" dirty="0"/>
            </a:br>
            <a:r>
              <a:rPr lang="en-US" dirty="0"/>
              <a:t>						TV		thousands of dollars</a:t>
            </a:r>
            <a:br>
              <a:rPr lang="en-US" dirty="0"/>
            </a:br>
            <a:r>
              <a:rPr lang="en-US" dirty="0"/>
              <a:t>						Radio		thousands of dollars</a:t>
            </a:r>
            <a:br>
              <a:rPr lang="en-US" dirty="0"/>
            </a:br>
            <a:r>
              <a:rPr lang="en-US" dirty="0"/>
              <a:t>						</a:t>
            </a:r>
            <a:r>
              <a:rPr lang="en-US" dirty="0" err="1"/>
              <a:t>Nespaper</a:t>
            </a:r>
            <a:r>
              <a:rPr lang="en-US" dirty="0"/>
              <a:t>	thousands of dollars</a:t>
            </a:r>
          </a:p>
          <a:p>
            <a:pPr lvl="1"/>
            <a:endParaRPr lang="en-US" dirty="0"/>
          </a:p>
          <a:p>
            <a:r>
              <a:rPr lang="en-US" dirty="0"/>
              <a:t>200 different markets. 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9B261-DF69-100E-AAC1-3209391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37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DBE6-92DD-40BF-0F34-ED8DBA78C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Important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622C9-2532-8937-166A-E4483797F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at least one of the predictors (TV, Radio, Newspaper) useful in predicting the response (Sales)?</a:t>
            </a:r>
          </a:p>
          <a:p>
            <a:r>
              <a:rPr lang="en-US" dirty="0"/>
              <a:t>Do all of the predictors help to explain Sales, or is only a subset of predictors useful?</a:t>
            </a:r>
          </a:p>
          <a:p>
            <a:r>
              <a:rPr lang="en-US" dirty="0"/>
              <a:t>How well does the model fit the data?</a:t>
            </a:r>
          </a:p>
          <a:p>
            <a:r>
              <a:rPr lang="en-US" dirty="0"/>
              <a:t>Given a set of predictor values, what response value should we predict for Sales, and how accurate is our prediction?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4326C-CD9D-7356-158C-19723C995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1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AD45-05BA-1943-AB6B-66695BF2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with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822A4-6273-A5B7-37DB-13A7FC41D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Advertising.csv </a:t>
            </a:r>
            <a:r>
              <a:rPr lang="en-US" dirty="0"/>
              <a:t>is a cleaned dataset: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# Do any of the columns in advertising have missing values?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colSums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(is.na(advertising))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  0    TV   0    Radio    0    Newspaper    0    Sales    0 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8EAF6-6BB3-11A9-184F-3C2C58DF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40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090F47-3E84-93E8-0BF0-24A8271B1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FD3187-89E2-86F8-F402-4FF4F050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0EA2D-FEB3-C9F6-ACD0-F58F2705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52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9DDB-9F2C-5221-9759-8BACAFFC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ggpairs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46C8F-B11A-6941-1BD7-8474AD7B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21DF40-AFD8-1A9B-E4C5-A8554660A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7B9AD4-3655-02AF-07B3-2479A4921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GGally</a:t>
            </a:r>
            <a:r>
              <a:rPr lang="en-US" dirty="0"/>
              <a:t> package in R</a:t>
            </a:r>
          </a:p>
        </p:txBody>
      </p:sp>
    </p:spTree>
    <p:extLst>
      <p:ext uri="{BB962C8B-B14F-4D97-AF65-F5344CB8AC3E}">
        <p14:creationId xmlns:p14="http://schemas.microsoft.com/office/powerpoint/2010/main" val="815080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8D36-46A9-9BDF-3023-DDDC48F3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B790A-BF2F-82B9-97F6-413A37B40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predictors have the strongest correlation with Sales?</a:t>
            </a:r>
          </a:p>
          <a:p>
            <a:r>
              <a:rPr lang="en-US" dirty="0"/>
              <a:t>Which predictors have the strongest correlation with each other?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899DA-5CF5-41D5-0841-D26670A0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8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B23E1B-C5FC-D503-E540-90763E454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62EC0F-750B-94A0-22A3-FF8CC762D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</a:t>
            </a:r>
            <a:br>
              <a:rPr lang="en-US" dirty="0"/>
            </a:br>
            <a:r>
              <a:rPr lang="en-US" dirty="0"/>
              <a:t>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063C-4F40-64E0-2899-0B65A74A5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corrplot</a:t>
            </a:r>
            <a:r>
              <a:rPr lang="en-US" dirty="0"/>
              <a:t> package in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733ED-BD90-3676-278F-8EFDD40A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58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E6E8C-AB86-309E-5792-0964CC40C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C1040-5675-AA68-F7CA-1E270393C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R, we build an MLR model with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(Y ~ X1 + X2 + …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2C077-9A78-9EA7-5B9D-11F373B3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15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E265E-015E-7567-CBB1-5E8C4D772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22168-CA6E-81A3-4ECB-72D618A8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85034-BE6C-E305-D56F-BD9C18A5E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2765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In Python, we want to decide if we are doing </a:t>
            </a:r>
            <a:r>
              <a:rPr lang="en-US" i="1" dirty="0">
                <a:cs typeface="Courier New" panose="02070309020205020404" pitchFamily="49" charset="0"/>
              </a:rPr>
              <a:t>inference</a:t>
            </a:r>
            <a:r>
              <a:rPr lang="en-US" dirty="0">
                <a:cs typeface="Courier New" panose="02070309020205020404" pitchFamily="49" charset="0"/>
              </a:rPr>
              <a:t> or </a:t>
            </a:r>
            <a:r>
              <a:rPr lang="en-US" i="1" dirty="0">
                <a:cs typeface="Courier New" panose="02070309020205020404" pitchFamily="49" charset="0"/>
              </a:rPr>
              <a:t>prediction.</a:t>
            </a:r>
          </a:p>
          <a:p>
            <a:pPr marL="0" indent="0">
              <a:buNone/>
            </a:pPr>
            <a:endParaRPr lang="en-US" i="1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For </a:t>
            </a:r>
            <a:r>
              <a:rPr lang="en-US" b="1" dirty="0">
                <a:cs typeface="Courier New" panose="02070309020205020404" pitchFamily="49" charset="0"/>
              </a:rPr>
              <a:t>inference</a:t>
            </a:r>
            <a:r>
              <a:rPr lang="en-US" dirty="0">
                <a:cs typeface="Courier New" panose="02070309020205020404" pitchFamily="49" charset="0"/>
              </a:rPr>
              <a:t> we use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</a:t>
            </a:r>
            <a:r>
              <a:rPr lang="en-US" dirty="0">
                <a:cs typeface="Courier New" panose="02070309020205020404" pitchFamily="49" charset="0"/>
              </a:rPr>
              <a:t> package: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statsmodels.formula.api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smf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fit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smf.ols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("Y ~ X1 + …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 data=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).fit()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* When using the formula interface, we don’t need to build a design matrix manually.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B6559-C09E-3ACC-D667-7B4D7FE0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24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0D00-67C2-DDE0-77A4-E74B9B29C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CB16-BE0F-E288-83AF-E38790135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7EB22-D113-1F24-50B8-B2E7C4107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In Python, we want to decide if we are doing </a:t>
            </a:r>
            <a:r>
              <a:rPr lang="en-US" i="1" dirty="0">
                <a:cs typeface="Courier New" panose="02070309020205020404" pitchFamily="49" charset="0"/>
              </a:rPr>
              <a:t>inference</a:t>
            </a:r>
            <a:r>
              <a:rPr lang="en-US" dirty="0">
                <a:cs typeface="Courier New" panose="02070309020205020404" pitchFamily="49" charset="0"/>
              </a:rPr>
              <a:t> or </a:t>
            </a:r>
            <a:r>
              <a:rPr lang="en-US" i="1" dirty="0">
                <a:cs typeface="Courier New" panose="02070309020205020404" pitchFamily="49" charset="0"/>
              </a:rPr>
              <a:t>prediction.</a:t>
            </a:r>
          </a:p>
          <a:p>
            <a:pPr marL="0" indent="0">
              <a:buNone/>
            </a:pPr>
            <a:endParaRPr lang="en-US" i="1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For </a:t>
            </a:r>
            <a:r>
              <a:rPr lang="en-US" b="1" dirty="0">
                <a:cs typeface="Courier New" panose="02070309020205020404" pitchFamily="49" charset="0"/>
              </a:rPr>
              <a:t>prediction</a:t>
            </a:r>
            <a:r>
              <a:rPr lang="en-US" dirty="0">
                <a:cs typeface="Courier New" panose="02070309020205020404" pitchFamily="49" charset="0"/>
              </a:rPr>
              <a:t> we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</a:t>
            </a:r>
            <a:r>
              <a:rPr lang="en-US" dirty="0"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sklearn.linear_model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LinearRegression</a:t>
            </a:r>
            <a:endParaRPr lang="en-US" sz="2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model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LinearRegression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[["X1", "X2", "X3"]],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["Y"])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*No summary output like in 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>
                <a:cs typeface="Courier New" panose="02070309020205020404" pitchFamily="49" charset="0"/>
              </a:rPr>
              <a:t>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661F6-16D3-1A40-3A3F-CDB2440A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27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B53A-D5B7-0B1C-0422-C9E8891D9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go to R, then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F6AC9-E232-C413-05D4-6572DD5C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28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schemas.microsoft.com/office/2006/documentManagement/types"/>
    <ds:schemaRef ds:uri="http://purl.org/dc/dcmitype/"/>
    <ds:schemaRef ds:uri="http://www.w3.org/XML/1998/namespace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932</Words>
  <Application>Microsoft Office PowerPoint</Application>
  <PresentationFormat>Widescreen</PresentationFormat>
  <Paragraphs>148</Paragraphs>
  <Slides>23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Admin</vt:lpstr>
      <vt:lpstr>References</vt:lpstr>
      <vt:lpstr>Clarification / Clean Up</vt:lpstr>
      <vt:lpstr>Clean Up: The “Big 4” Subspaces</vt:lpstr>
      <vt:lpstr>Identifiability</vt:lpstr>
      <vt:lpstr>Non-Identifiability Example</vt:lpstr>
      <vt:lpstr>PowerPoint Presentation</vt:lpstr>
      <vt:lpstr>Multiple Linear Regression</vt:lpstr>
      <vt:lpstr>Multiple Linear Regression</vt:lpstr>
      <vt:lpstr>What is Different?</vt:lpstr>
      <vt:lpstr>What is Different?</vt:lpstr>
      <vt:lpstr>Let’s Look at a Dataset</vt:lpstr>
      <vt:lpstr>Some Important Questions</vt:lpstr>
      <vt:lpstr>Start with EDA</vt:lpstr>
      <vt:lpstr>Scatterplot Matrix</vt:lpstr>
      <vt:lpstr>ggpairs</vt:lpstr>
      <vt:lpstr>Things to Note</vt:lpstr>
      <vt:lpstr>Correlation  Heatmap</vt:lpstr>
      <vt:lpstr>New Commands</vt:lpstr>
      <vt:lpstr>New Commands</vt:lpstr>
      <vt:lpstr>New Commands</vt:lpstr>
      <vt:lpstr>Let’s go to R, then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>Singh, Paolo (CDR)</dc:creator>
  <cp:lastModifiedBy>Singh, Paolo (CDR)</cp:lastModifiedBy>
  <cp:revision>3</cp:revision>
  <dcterms:created xsi:type="dcterms:W3CDTF">2026-04-07T19:55:26Z</dcterms:created>
  <dcterms:modified xsi:type="dcterms:W3CDTF">2026-04-16T15:44:54Z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