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sldIdLst>
    <p:sldId id="256" r:id="rId5"/>
    <p:sldId id="263" r:id="rId6"/>
    <p:sldId id="258" r:id="rId7"/>
    <p:sldId id="276" r:id="rId8"/>
    <p:sldId id="274" r:id="rId9"/>
    <p:sldId id="261" r:id="rId10"/>
    <p:sldId id="275" r:id="rId11"/>
    <p:sldId id="262" r:id="rId12"/>
    <p:sldId id="271" r:id="rId13"/>
    <p:sldId id="264" r:id="rId14"/>
    <p:sldId id="273" r:id="rId15"/>
    <p:sldId id="295" r:id="rId16"/>
    <p:sldId id="297" r:id="rId17"/>
    <p:sldId id="265" r:id="rId18"/>
    <p:sldId id="272" r:id="rId19"/>
    <p:sldId id="266" r:id="rId20"/>
    <p:sldId id="267" r:id="rId21"/>
    <p:sldId id="268" r:id="rId22"/>
    <p:sldId id="269" r:id="rId23"/>
    <p:sldId id="270" r:id="rId24"/>
    <p:sldId id="293" r:id="rId25"/>
    <p:sldId id="278" r:id="rId26"/>
    <p:sldId id="277" r:id="rId27"/>
    <p:sldId id="279" r:id="rId28"/>
    <p:sldId id="280" r:id="rId29"/>
    <p:sldId id="294" r:id="rId30"/>
    <p:sldId id="283" r:id="rId31"/>
    <p:sldId id="281" r:id="rId32"/>
    <p:sldId id="282" r:id="rId33"/>
    <p:sldId id="302" r:id="rId34"/>
    <p:sldId id="285" r:id="rId35"/>
    <p:sldId id="303" r:id="rId36"/>
    <p:sldId id="290" r:id="rId37"/>
    <p:sldId id="289" r:id="rId38"/>
    <p:sldId id="288" r:id="rId39"/>
    <p:sldId id="286" r:id="rId40"/>
    <p:sldId id="305" r:id="rId41"/>
    <p:sldId id="306" r:id="rId42"/>
    <p:sldId id="307" r:id="rId43"/>
    <p:sldId id="287" r:id="rId44"/>
    <p:sldId id="308" r:id="rId45"/>
    <p:sldId id="309" r:id="rId46"/>
    <p:sldId id="310" r:id="rId47"/>
    <p:sldId id="30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2" autoAdjust="0"/>
    <p:restoredTop sz="86552"/>
  </p:normalViewPr>
  <p:slideViewPr>
    <p:cSldViewPr snapToGrid="0">
      <p:cViewPr varScale="1">
        <p:scale>
          <a:sx n="44" d="100"/>
          <a:sy n="44" d="100"/>
        </p:scale>
        <p:origin x="12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18:46:48.095" v="6" actId="2696"/>
      <pc:docMkLst>
        <pc:docMk/>
      </pc:docMkLst>
      <pc:sldChg chg="del">
        <pc:chgData name="christopher posadas" userId="c785335156d879ca" providerId="LiveId" clId="{C9D886FB-ED5B-489B-8330-669FD307C29D}" dt="2026-04-22T18:46:48.095" v="6" actId="2696"/>
        <pc:sldMkLst>
          <pc:docMk/>
          <pc:sldMk cId="3188642854" sldId="257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1849942314" sldId="282"/>
        </pc:sldMkLst>
      </pc:sldChg>
      <pc:sldChg chg="del">
        <pc:chgData name="christopher posadas" userId="c785335156d879ca" providerId="LiveId" clId="{C9D886FB-ED5B-489B-8330-669FD307C29D}" dt="2026-04-22T18:46:47.867" v="3" actId="2696"/>
        <pc:sldMkLst>
          <pc:docMk/>
          <pc:sldMk cId="3733482638" sldId="284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09275044" sldId="285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83709182" sldId="286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602283100" sldId="287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395723899" sldId="288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557136691" sldId="289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652411697" sldId="290"/>
        </pc:sldMkLst>
      </pc:sldChg>
      <pc:sldChg chg="del">
        <pc:chgData name="christopher posadas" userId="c785335156d879ca" providerId="LiveId" clId="{C9D886FB-ED5B-489B-8330-669FD307C29D}" dt="2026-04-22T18:46:47.871" v="4" actId="2696"/>
        <pc:sldMkLst>
          <pc:docMk/>
          <pc:sldMk cId="299987130" sldId="291"/>
        </pc:sldMkLst>
      </pc:sldChg>
      <pc:sldChg chg="del">
        <pc:chgData name="christopher posadas" userId="c785335156d879ca" providerId="LiveId" clId="{C9D886FB-ED5B-489B-8330-669FD307C29D}" dt="2026-04-22T18:46:48.050" v="5" actId="2696"/>
        <pc:sldMkLst>
          <pc:docMk/>
          <pc:sldMk cId="3345546949" sldId="292"/>
        </pc:sldMkLst>
      </pc:sldChg>
      <pc:sldChg chg="add del">
        <pc:chgData name="christopher posadas" userId="c785335156d879ca" providerId="LiveId" clId="{C9D886FB-ED5B-489B-8330-669FD307C29D}" dt="2026-04-22T18:46:47.857" v="2" actId="2696"/>
        <pc:sldMkLst>
          <pc:docMk/>
          <pc:sldMk cId="3505703057" sldId="298"/>
        </pc:sldMkLst>
      </pc:sldChg>
      <pc:sldChg chg="add del">
        <pc:chgData name="christopher posadas" userId="c785335156d879ca" providerId="LiveId" clId="{C9D886FB-ED5B-489B-8330-669FD307C29D}" dt="2026-04-22T18:46:47.844" v="1" actId="2696"/>
        <pc:sldMkLst>
          <pc:docMk/>
          <pc:sldMk cId="1348130045" sldId="301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1696392127" sldId="302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646266552" sldId="303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429023094" sldId="304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1742610758" sldId="305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722514000" sldId="306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474127650" sldId="307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964713656" sldId="308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709213444" sldId="309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113771593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Reasons we need to clean data</a:t>
            </a:r>
          </a:p>
          <a:p>
            <a:endParaRPr lang="en-US" dirty="0"/>
          </a:p>
          <a:p>
            <a:r>
              <a:rPr lang="en-US" dirty="0"/>
              <a:t>Missing or Incomplete Data</a:t>
            </a:r>
          </a:p>
          <a:p>
            <a:r>
              <a:rPr lang="en-US" dirty="0"/>
              <a:t>Inconsistency with survey responses</a:t>
            </a:r>
          </a:p>
          <a:p>
            <a:r>
              <a:rPr lang="en-US" dirty="0"/>
              <a:t>Inconsistent Units or Scales – height in inches vs cm</a:t>
            </a:r>
          </a:p>
          <a:p>
            <a:r>
              <a:rPr lang="en-US" dirty="0"/>
              <a:t>Duplicates</a:t>
            </a:r>
          </a:p>
          <a:p>
            <a:r>
              <a:rPr lang="en-US" dirty="0"/>
              <a:t>Impossible values</a:t>
            </a:r>
          </a:p>
          <a:p>
            <a:r>
              <a:rPr lang="en-US" dirty="0"/>
              <a:t>Incorrect data types – numbers stored as strings, categories as integers, dates as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8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not to impute? Ex: “Did not answer” is itself a category</a:t>
            </a:r>
          </a:p>
          <a:p>
            <a:r>
              <a:rPr lang="en-US" dirty="0"/>
              <a:t>When the variable isn’t needed</a:t>
            </a:r>
          </a:p>
          <a:p>
            <a:r>
              <a:rPr lang="en-US" dirty="0"/>
              <a:t>When missingness is too extensive</a:t>
            </a:r>
          </a:p>
          <a:p>
            <a:r>
              <a:rPr lang="en-US" dirty="0"/>
              <a:t>When imputation would introduce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9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Bell curves show up for several reasons. </a:t>
            </a:r>
          </a:p>
          <a:p>
            <a:r>
              <a:rPr lang="en-US" dirty="0"/>
              <a:t>Sometimes it’s the Central Limit Theorem — many small additive effects. </a:t>
            </a:r>
          </a:p>
          <a:p>
            <a:r>
              <a:rPr lang="en-US" dirty="0"/>
              <a:t>- In physics, maximum entropy: if all we know is mean and variance, the most natural shape is the normal. </a:t>
            </a:r>
          </a:p>
          <a:p>
            <a:r>
              <a:rPr lang="en-US" dirty="0"/>
              <a:t>- Biology, symmetry and aggregation. The normal distribution is the ‘default’ shape of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51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5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questions/84158/how-is-the-kurtosis-of-a-distribution-related-to-the-geometry-of-the-density-fun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workshop.com/joint-probability-distribution/chebyshev-inequality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979-9923-BC09-E841-3BE1A142E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F64F-654F-318D-0993-7805F463D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Exploratory Data Analysis (EDA) and Data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F67D-2F46-5DB7-2CDD-D9D9052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1589-7A66-E64E-A97D-F23FA65B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/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F753E-66A2-DB13-D877-066655948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Friday’s lab/HW introduced some basic data handling</a:t>
            </a:r>
          </a:p>
          <a:p>
            <a:r>
              <a:rPr lang="en-US" dirty="0"/>
              <a:t>Introduce data cleaning, numerical EDA, and Visual EDA</a:t>
            </a:r>
          </a:p>
          <a:p>
            <a:r>
              <a:rPr lang="en-US" dirty="0"/>
              <a:t>Build our data analysis cookbooks in Python and/or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46560-AEAD-5E3C-82F4-8E854E8F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87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DCC3-9DA6-6905-5313-176290E3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3777-1EEC-CE1E-CAF3-6D82C55C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this as “listening to the data.”</a:t>
            </a:r>
          </a:p>
          <a:p>
            <a:r>
              <a:rPr lang="en-US" dirty="0"/>
              <a:t>Gain a big-picture understanding of what the data is telling us.</a:t>
            </a:r>
          </a:p>
          <a:p>
            <a:r>
              <a:rPr lang="en-US" dirty="0"/>
              <a:t>Do this before asking targeted questions of the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675C-09DF-1829-529C-82730EB5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DAA2-5F2E-F2F5-C7EC-A9424E18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8C11-25CE-7190-C75C-5BB146E7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2F286-75DC-2007-8997-CC32035C8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 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 </a:t>
            </a:r>
            <a:endParaRPr lang="en-US" dirty="0"/>
          </a:p>
          <a:p>
            <a:pPr lvl="2"/>
            <a:r>
              <a:rPr lang="en-US" dirty="0"/>
              <a:t> 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 </a:t>
            </a:r>
            <a:endParaRPr lang="en-US" dirty="0"/>
          </a:p>
          <a:p>
            <a:pPr lvl="2"/>
            <a:r>
              <a:rPr lang="en-US" dirty="0"/>
              <a:t> </a:t>
            </a:r>
          </a:p>
          <a:p>
            <a:r>
              <a:rPr lang="en-US" dirty="0"/>
              <a:t>Ordinal variables:  </a:t>
            </a:r>
          </a:p>
          <a:p>
            <a:pPr lvl="1"/>
            <a:r>
              <a:rPr lang="en-US" dirty="0"/>
              <a:t> </a:t>
            </a:r>
          </a:p>
          <a:p>
            <a:r>
              <a:rPr lang="en-US" dirty="0"/>
              <a:t>Categorical variables:</a:t>
            </a:r>
          </a:p>
          <a:p>
            <a:pPr lvl="1"/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DB131-28D1-3755-855E-F50317F0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6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230B-4133-8788-AF0D-BFBF0E00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4AE81-EAAE-3C98-608B-6AB4E166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takes numbers as values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Can</a:t>
            </a:r>
            <a:r>
              <a:rPr lang="en-US" dirty="0"/>
              <a:t> take any value between its minimum and maximum.</a:t>
            </a:r>
          </a:p>
          <a:p>
            <a:pPr lvl="2"/>
            <a:r>
              <a:rPr lang="en-US" dirty="0"/>
              <a:t>ex: age, temperature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Cannot </a:t>
            </a:r>
            <a:r>
              <a:rPr lang="en-US" dirty="0"/>
              <a:t>take any value between its min and max; usually integers.</a:t>
            </a:r>
          </a:p>
          <a:p>
            <a:pPr lvl="2"/>
            <a:r>
              <a:rPr lang="en-US" dirty="0"/>
              <a:t>ex: number of ice cream flavors, number of Army and Air National Guard officers</a:t>
            </a:r>
          </a:p>
          <a:p>
            <a:r>
              <a:rPr lang="en-US" dirty="0"/>
              <a:t>Ordinal variables: Takes </a:t>
            </a:r>
            <a:r>
              <a:rPr lang="en-US" i="1" dirty="0"/>
              <a:t>ordered</a:t>
            </a:r>
            <a:r>
              <a:rPr lang="en-US" dirty="0"/>
              <a:t> </a:t>
            </a:r>
            <a:r>
              <a:rPr lang="en-US" i="1" dirty="0"/>
              <a:t>categories</a:t>
            </a:r>
            <a:r>
              <a:rPr lang="en-US" dirty="0"/>
              <a:t> as its values</a:t>
            </a:r>
          </a:p>
          <a:p>
            <a:pPr lvl="1"/>
            <a:r>
              <a:rPr lang="en-US" dirty="0"/>
              <a:t>ex: Enlisted ranks</a:t>
            </a:r>
          </a:p>
          <a:p>
            <a:r>
              <a:rPr lang="en-US" dirty="0"/>
              <a:t>Categorical variables: Takes </a:t>
            </a:r>
            <a:r>
              <a:rPr lang="en-US" i="1" dirty="0"/>
              <a:t>unordered categories </a:t>
            </a:r>
            <a:r>
              <a:rPr lang="en-US" dirty="0"/>
              <a:t>as its values</a:t>
            </a:r>
          </a:p>
          <a:p>
            <a:pPr lvl="1"/>
            <a:r>
              <a:rPr lang="en-US" dirty="0"/>
              <a:t>ex: Service branch, property view (“ocean”, “mountain”, etc.)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4938-8961-E4B3-749D-3149CA60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4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2300-694C-CBE3-0AC8-73339334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cleaning?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095B-4E8E-270E-8A8A-A705AE8B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can be messy/dirty. Why?</a:t>
            </a:r>
          </a:p>
          <a:p>
            <a:pPr lvl="1"/>
            <a:r>
              <a:rPr lang="en-US" dirty="0"/>
              <a:t>Data entry errors</a:t>
            </a:r>
          </a:p>
          <a:p>
            <a:pPr lvl="1"/>
            <a:r>
              <a:rPr lang="en-US" dirty="0"/>
              <a:t>Non-standardization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1B051-3D27-6D37-23AC-14E96B51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6D2D-CAE1-DA1F-70A5-26CD5FE6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50B5-7162-99EC-F391-5EC9C7AF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8"/>
            <a:ext cx="10515600" cy="50461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Categorical variables may be recorded in an incorrect variable type in the dataset. </a:t>
            </a:r>
          </a:p>
          <a:p>
            <a:r>
              <a:rPr lang="en-US" dirty="0"/>
              <a:t>Example: Survey Responses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“difference” between services?</a:t>
            </a:r>
          </a:p>
          <a:p>
            <a:r>
              <a:rPr lang="en-US" dirty="0"/>
              <a:t>Later: We will examine ways to encode categorical data numerically (binary, one-hot encoding, etc.)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9ABEF-F865-7FAC-391F-330FA4A0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D710C-2FC0-B9D1-809F-100C2330691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16192"/>
          <a:ext cx="8128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111217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2046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Service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20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28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Marine Corps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3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5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Space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37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Coast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96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7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F856-BAA2-A81F-75D9-6072E997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9702-31CC-EE89-B33D-2231B0E5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  <a:p>
            <a:r>
              <a:rPr lang="en-US" dirty="0"/>
              <a:t>Fixing data types</a:t>
            </a:r>
          </a:p>
          <a:p>
            <a:r>
              <a:rPr lang="en-US" dirty="0"/>
              <a:t>Renaming and standardizing columns</a:t>
            </a:r>
          </a:p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  <a:p>
            <a:r>
              <a:rPr lang="en-US" dirty="0"/>
              <a:t>Detecting outliers</a:t>
            </a:r>
          </a:p>
          <a:p>
            <a:r>
              <a:rPr lang="en-US" dirty="0"/>
              <a:t>Basic sanity checks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A91B-7203-B4A1-FF08-3A484F70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2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A8BC-83BC-0EFB-BE2C-770E91CF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Cleaning: Python and 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DCE3-6F76-CFDA-2B1A-63345A6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Loading a dataset as a </a:t>
            </a:r>
            <a:r>
              <a:rPr lang="en-US" dirty="0" err="1"/>
              <a:t>Dataframe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Python: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=[“”, ”NA”, “N/A”])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R: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na.strings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c("", "NA", "N/A"),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stringsAsFactors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A820D-76CC-6CE5-4673-F9830A33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E46F-8C46-0604-3681-E496F4CA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D38F-F8E6-E344-300D-A8F96C87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 missingness / count missing values</a:t>
                </a:r>
              </a:p>
              <a:p>
                <a:r>
                  <a:rPr lang="en-US" dirty="0"/>
                  <a:t>Distinguish </a:t>
                </a:r>
                <a:r>
                  <a:rPr lang="en-US" i="1" dirty="0"/>
                  <a:t>true zeros</a:t>
                </a:r>
                <a:r>
                  <a:rPr lang="en-US" dirty="0"/>
                  <a:t> from </a:t>
                </a:r>
                <a:r>
                  <a:rPr lang="en-US" i="1" dirty="0"/>
                  <a:t>missing zeros</a:t>
                </a:r>
              </a:p>
              <a:p>
                <a:pPr lvl="1"/>
                <a:r>
                  <a:rPr lang="en-US" dirty="0"/>
                  <a:t>Weight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This is not a true zero, but a placeholder for missing data</a:t>
                </a:r>
              </a:p>
              <a:p>
                <a:pPr lvl="1"/>
                <a:r>
                  <a:rPr lang="en-US" dirty="0"/>
                  <a:t>Siblings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Valid entry</a:t>
                </a:r>
              </a:p>
              <a:p>
                <a:r>
                  <a:rPr lang="en-US" dirty="0"/>
                  <a:t>Dropping vs. Imputing data</a:t>
                </a:r>
              </a:p>
              <a:p>
                <a:pPr lvl="1"/>
                <a:r>
                  <a:rPr lang="en-US" dirty="0"/>
                  <a:t>Dropping rows is simple, but can remove a lot of data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Justifications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6C42C-FC4A-1568-0FB5-0F6CA96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8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1868-8396-23BE-414E-E5CC7DB2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4022-46FA-E0A2-DE5F-5E9E9127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96C7-50AF-B90C-CEE5-ADB0CF1DA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df.isna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				</a:t>
            </a:r>
            <a:r>
              <a:rPr lang="en-US" sz="2000" dirty="0">
                <a:cs typeface="Courier New" panose="02070309020205020404" pitchFamily="49" charset="0"/>
              </a:rPr>
              <a:t>Counts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r>
              <a:rPr lang="en-US" sz="2000" dirty="0">
                <a:cs typeface="Courier New" panose="02070309020205020404" pitchFamily="49" charset="0"/>
              </a:rPr>
              <a:t> values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df.replace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</a:t>
            </a:r>
            <a:r>
              <a:rPr lang="en-US" sz="2000" dirty="0">
                <a:cs typeface="Courier New" panose="02070309020205020404" pitchFamily="49" charset="0"/>
              </a:rPr>
              <a:t>Converts zeros to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			</a:t>
            </a:r>
            <a:r>
              <a:rPr lang="en-US" sz="2000" dirty="0">
                <a:cs typeface="Courier New" panose="02070309020205020404" pitchFamily="49" charset="0"/>
              </a:rPr>
              <a:t>Counts NA values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0] &lt;- NA				</a:t>
            </a:r>
            <a:r>
              <a:rPr lang="en-US" sz="2000" dirty="0">
                <a:cs typeface="Courier New" panose="02070309020205020404" pitchFamily="49" charset="0"/>
              </a:rPr>
              <a:t>Converts zeros to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A904-B03B-2667-CDD2-FB1EA7D0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6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FCBE-9B0B-C4AD-2491-CEBB4A04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A12F-2DC9-16BC-CC2A-A720EF44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FFE84-4CFC-0983-16CD-30F55DE2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Dropping rows if specific columns are missing: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(subset=["Age", 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Age,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E59B0-B034-BCFA-92E2-15CE25F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9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9D31-7925-BE3F-27FB-95F0348E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CE3B-D97B-A208-38C1-457FE26C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5597-7CB6-B6D5-D084-43A15E96A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05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Imputation: replacing missing values with </a:t>
            </a:r>
            <a:r>
              <a:rPr lang="en-US" i="1" dirty="0"/>
              <a:t>reasonable </a:t>
            </a:r>
            <a:r>
              <a:rPr lang="en-US" dirty="0"/>
              <a:t>substitutes so we don’t lose entire rows of data.</a:t>
            </a:r>
          </a:p>
          <a:p>
            <a:r>
              <a:rPr lang="en-US" dirty="0"/>
              <a:t>Ensure summaries and models can run</a:t>
            </a:r>
          </a:p>
          <a:p>
            <a:r>
              <a:rPr lang="en-US" dirty="0"/>
              <a:t>Dataset remains as representative as possible</a:t>
            </a:r>
          </a:p>
          <a:p>
            <a:pPr lvl="1"/>
            <a:r>
              <a:rPr lang="en-US" dirty="0"/>
              <a:t>Simple (Univariate) Imputation</a:t>
            </a:r>
          </a:p>
          <a:p>
            <a:pPr lvl="2"/>
            <a:r>
              <a:rPr lang="en-US" dirty="0"/>
              <a:t>Mean, Median, Mode, or replace with a constant</a:t>
            </a:r>
          </a:p>
          <a:p>
            <a:pPr lvl="2"/>
            <a:r>
              <a:rPr lang="en-US" dirty="0"/>
              <a:t>Intuitive but can distort distributions</a:t>
            </a:r>
          </a:p>
          <a:p>
            <a:pPr lvl="1"/>
            <a:r>
              <a:rPr lang="en-US" dirty="0"/>
              <a:t>Conditional (Multivariate) Imputation</a:t>
            </a:r>
          </a:p>
          <a:p>
            <a:pPr lvl="2"/>
            <a:r>
              <a:rPr lang="en-US" dirty="0"/>
              <a:t>Use other variables to make better guesses</a:t>
            </a:r>
          </a:p>
          <a:p>
            <a:pPr lvl="2"/>
            <a:r>
              <a:rPr lang="en-US" dirty="0"/>
              <a:t>Regression, k-nearest neighbors (</a:t>
            </a:r>
            <a:r>
              <a:rPr lang="en-US" dirty="0" err="1"/>
              <a:t>kNN</a:t>
            </a:r>
            <a:r>
              <a:rPr lang="en-US" dirty="0"/>
              <a:t>), predictive mean matching</a:t>
            </a:r>
          </a:p>
          <a:p>
            <a:pPr lvl="2"/>
            <a:r>
              <a:rPr lang="en-US" dirty="0"/>
              <a:t>Preserves relationships between variables, but complex and requires modeling assumptions</a:t>
            </a:r>
          </a:p>
          <a:p>
            <a:pPr lvl="1"/>
            <a:r>
              <a:rPr lang="en-US" dirty="0"/>
              <a:t>Multiple Imputation</a:t>
            </a:r>
          </a:p>
          <a:p>
            <a:pPr lvl="2"/>
            <a:r>
              <a:rPr lang="en-US" dirty="0"/>
              <a:t>Create several plausible datasets, analyze each, and combine results</a:t>
            </a:r>
          </a:p>
          <a:p>
            <a:r>
              <a:rPr lang="en-US" dirty="0"/>
              <a:t>Know when </a:t>
            </a:r>
            <a:r>
              <a:rPr lang="en-US" i="1" dirty="0"/>
              <a:t>not </a:t>
            </a:r>
            <a:r>
              <a:rPr lang="en-US" dirty="0"/>
              <a:t>to impute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46DB-3725-4465-30C5-E9FE04A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3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E239-65C7-A915-E504-3682DE02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379E-97DA-DBEB-5265-952CA2BD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F708-68F7-3407-180F-8A412F237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0201" cy="4351338"/>
          </a:xfrm>
        </p:spPr>
        <p:txBody>
          <a:bodyPr/>
          <a:lstStyle/>
          <a:p>
            <a:r>
              <a:rPr lang="en-US" dirty="0"/>
              <a:t>Numeric columns read as strings</a:t>
            </a:r>
          </a:p>
          <a:p>
            <a:r>
              <a:rPr lang="en-US" dirty="0"/>
              <a:t>Categorical variables read as integers</a:t>
            </a:r>
          </a:p>
          <a:p>
            <a:r>
              <a:rPr lang="en-US" dirty="0"/>
              <a:t>Dates read as text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A0E5D-38E4-924A-A1AB-BA839F1F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Just Excel Things : r/pcmasterrace">
            <a:extLst>
              <a:ext uri="{FF2B5EF4-FFF2-40B4-BE49-F238E27FC236}">
                <a16:creationId xmlns:a16="http://schemas.microsoft.com/office/drawing/2014/main" id="{AF69F02C-ABEB-1FCE-A78B-1D8A657B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401" y="391485"/>
            <a:ext cx="4777415" cy="596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383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4FB3-8F49-9B7C-C0F5-0E2C397E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5D6A-5B57-D874-35F2-C2C1270F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and 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99F0-B259-51E3-9A48-A5D7BDDF9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(float)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("category")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str(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factor(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format = "%Y-%m-%d")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Technique: Import as strings first, clean values, then convert to numeric or factor once the column is trustworthy.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83CC-0982-2556-FAC5-FC91DDD8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55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5026-86B8-9338-B903-FA03788D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B96D-AB7F-12AF-3999-35408814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and standardizing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34B2-BCE2-9FB8-1222-79B261AEB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Nonstandardized</a:t>
            </a:r>
            <a:r>
              <a:rPr lang="en-US" dirty="0"/>
              <a:t> column titling</a:t>
            </a:r>
          </a:p>
          <a:p>
            <a:pPr lvl="1"/>
            <a:r>
              <a:rPr lang="en-US" dirty="0"/>
              <a:t>“college” vs “school” vs “university”</a:t>
            </a:r>
          </a:p>
          <a:p>
            <a:pPr lvl="1"/>
            <a:r>
              <a:rPr lang="en-US" dirty="0"/>
              <a:t>“miles” vs “</a:t>
            </a:r>
            <a:r>
              <a:rPr lang="en-US" dirty="0" err="1"/>
              <a:t>Miles_Driven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Python: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(columns{“college”: “school”})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”: “miles”})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rename(school = college)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rename(miles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614F7-459D-B8DF-AA32-8434F7E6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1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BCD4-4BE8-4F72-68AC-BF32FD27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B45D-C1B0-A067-9ABD-4953BAA6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F18E-4AE6-3400-710C-30133F98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Filter rows, select columns, or create new variables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["strength"] == 1]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[["miles", "population"]]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"] =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["miles"] /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["population"]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filter(strength == 1)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select(miles, population)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mutate(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miles / population)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B599C-15B3-E403-4DD4-B8328F75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04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5FEA-52E3-888D-EAC3-1C61DEAB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D863-085E-D7AE-1BEE-154CBAB8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D40F-9664-A8C2-B409-540B4311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Outliers: </a:t>
            </a:r>
            <a:r>
              <a:rPr lang="en-US" dirty="0"/>
              <a:t>Observations that are unusually far </a:t>
            </a:r>
            <a:br>
              <a:rPr lang="en-US" dirty="0"/>
            </a:br>
            <a:r>
              <a:rPr lang="en-US" dirty="0"/>
              <a:t>from the data, do not follow overall pattern</a:t>
            </a:r>
          </a:p>
          <a:p>
            <a:r>
              <a:rPr lang="en-US" dirty="0"/>
              <a:t>Also consider this during your visual EDA</a:t>
            </a:r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Boxplots</a:t>
            </a:r>
          </a:p>
          <a:p>
            <a:pPr lvl="1"/>
            <a:r>
              <a:rPr lang="en-US" dirty="0"/>
              <a:t>Scatterplots</a:t>
            </a:r>
          </a:p>
          <a:p>
            <a:r>
              <a:rPr lang="en-US" dirty="0"/>
              <a:t>Later: More techniques (e.g., leverage)</a:t>
            </a:r>
          </a:p>
          <a:p>
            <a:endParaRPr lang="en-US" dirty="0"/>
          </a:p>
          <a:p>
            <a:r>
              <a:rPr lang="en-US" i="1" dirty="0"/>
              <a:t>Look</a:t>
            </a:r>
            <a:r>
              <a:rPr lang="en-US" dirty="0"/>
              <a:t> for these before you compute</a:t>
            </a:r>
          </a:p>
          <a:p>
            <a:r>
              <a:rPr lang="en-US" dirty="0"/>
              <a:t>You may be justified in cleaning (removing) outlier data</a:t>
            </a:r>
          </a:p>
          <a:p>
            <a:pPr lvl="1"/>
            <a:r>
              <a:rPr lang="en-US" dirty="0"/>
              <a:t>Remember: </a:t>
            </a:r>
            <a:r>
              <a:rPr lang="en-US" i="1" dirty="0"/>
              <a:t>Repeatable </a:t>
            </a:r>
            <a:r>
              <a:rPr lang="en-US" dirty="0"/>
              <a:t>and</a:t>
            </a:r>
            <a:r>
              <a:rPr lang="en-US" i="1" dirty="0"/>
              <a:t> Defensible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3D10-BB9B-03EF-6A1D-B8FA314B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02E33099-12BD-D5CB-4E63-FC4536AD5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79" y="875355"/>
            <a:ext cx="4589721" cy="4177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FD60E-2801-A83B-7D3A-4940531EDCD6}"/>
              </a:ext>
            </a:extLst>
          </p:cNvPr>
          <p:cNvSpPr txBox="1"/>
          <p:nvPr/>
        </p:nvSpPr>
        <p:spPr>
          <a:xfrm>
            <a:off x="0" y="6567586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454612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7139-8C16-97B2-2E5E-E7FCE712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E6BE-A806-9DCD-4B71-03CFE876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sanity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CDAB-804F-A14A-991D-3255EF9D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Prof. Alderson: “Be wary of taking data at face value, especially when you don’t know how it was generated.”</a:t>
            </a:r>
          </a:p>
          <a:p>
            <a:pPr lvl="1"/>
            <a:r>
              <a:rPr lang="en-US" dirty="0"/>
              <a:t>Are units consistent?</a:t>
            </a:r>
          </a:p>
          <a:p>
            <a:pPr lvl="1"/>
            <a:r>
              <a:rPr lang="en-US" dirty="0"/>
              <a:t>Are there impossible values?</a:t>
            </a:r>
          </a:p>
          <a:p>
            <a:pPr lvl="1"/>
            <a:r>
              <a:rPr lang="en-US" dirty="0"/>
              <a:t>Does the number of rows match our expectations?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85ACF-CBC3-08D7-61E4-BA769F6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40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F15B-AC1A-CD79-2459-2A5C7261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EB70-4B1B-5232-65E2-CA4E0C6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 Cleaning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6EA2-6D54-CB51-AE41-9649D346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825625"/>
            <a:ext cx="1201826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String cleaning</a:t>
            </a:r>
          </a:p>
          <a:p>
            <a:pPr lvl="1"/>
            <a:r>
              <a:rPr lang="en-US" dirty="0"/>
              <a:t>Trimming whitespace</a:t>
            </a:r>
          </a:p>
          <a:p>
            <a:pPr lvl="1"/>
            <a:r>
              <a:rPr lang="en-US" dirty="0"/>
              <a:t>Fixing capitalization</a:t>
            </a:r>
          </a:p>
          <a:p>
            <a:pPr lvl="1"/>
            <a:r>
              <a:rPr lang="en-US" dirty="0"/>
              <a:t>Standardizing Naming Conventions</a:t>
            </a:r>
          </a:p>
          <a:p>
            <a:pPr lvl="2"/>
            <a:r>
              <a:rPr lang="en-US" dirty="0"/>
              <a:t>e.g., “NYC” vs “New York City” or “LA” vs “Los Angeles”</a:t>
            </a:r>
          </a:p>
          <a:p>
            <a:r>
              <a:rPr lang="en-US" dirty="0"/>
              <a:t>Duplicate detection</a:t>
            </a:r>
          </a:p>
          <a:p>
            <a:pPr marL="0" indent="0">
              <a:buNone/>
            </a:pPr>
            <a:r>
              <a:rPr lang="en-US" dirty="0"/>
              <a:t>Python: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  <a:r>
              <a:rPr lang="en-US" dirty="0"/>
              <a:t>			   R: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		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(subset=["City", "State"])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distinct(City, State)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.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keep_all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"], keep="first")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Saving cleaned data</a:t>
            </a:r>
          </a:p>
          <a:p>
            <a:pPr lvl="1"/>
            <a:r>
              <a:rPr lang="en-US" dirty="0"/>
              <a:t>e.g., “Pima2” from Lab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650DD-8DB9-4C26-AC88-4635D3D5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99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AA4A-6670-4EEF-2B4A-A2EA5DBE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673D-198A-89CD-ADF1-DFD99AC19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Data-driven studies involve very large datasets</a:t>
            </a:r>
          </a:p>
          <a:p>
            <a:r>
              <a:rPr lang="en-US" dirty="0"/>
              <a:t>Ideally, errors fixed at the data entry point</a:t>
            </a:r>
          </a:p>
          <a:p>
            <a:r>
              <a:rPr lang="en-US" dirty="0"/>
              <a:t>Fix what we can</a:t>
            </a:r>
          </a:p>
          <a:p>
            <a:pPr lvl="1"/>
            <a:r>
              <a:rPr lang="en-US" dirty="0"/>
              <a:t>Standardize variable (column) names across datasets</a:t>
            </a:r>
          </a:p>
          <a:p>
            <a:pPr lvl="1"/>
            <a:r>
              <a:rPr lang="en-US" dirty="0"/>
              <a:t>Parse / remove nonsensical data</a:t>
            </a:r>
          </a:p>
          <a:p>
            <a:r>
              <a:rPr lang="en-US" dirty="0"/>
              <a:t>Numerical issues may be easier to spot</a:t>
            </a:r>
          </a:p>
          <a:p>
            <a:pPr lvl="1"/>
            <a:r>
              <a:rPr lang="en-US" dirty="0"/>
              <a:t>Summary statistics</a:t>
            </a:r>
          </a:p>
          <a:p>
            <a:pPr lvl="1"/>
            <a:r>
              <a:rPr lang="en-US" dirty="0"/>
              <a:t>Visual EDA</a:t>
            </a:r>
          </a:p>
          <a:p>
            <a:r>
              <a:rPr lang="en-US" dirty="0"/>
              <a:t>Our toy example: Errors can be an indicator of credibility of the data source</a:t>
            </a:r>
          </a:p>
          <a:p>
            <a:pPr lvl="1"/>
            <a:r>
              <a:rPr lang="en-US" dirty="0"/>
              <a:t>Maybe we need to find another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C04F0-C820-9760-F3F9-3AB6AEE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8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D1CC-BB31-9E11-7886-222FB9E2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Number 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7773-B98A-2032-B24A-F14DB571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Ways to characterize the entire distribution of a dataset variable into one number that answers a specific question about the data’s behavior.</a:t>
            </a:r>
          </a:p>
          <a:p>
            <a:r>
              <a:rPr lang="en-US" dirty="0"/>
              <a:t>Measures of Center</a:t>
            </a:r>
          </a:p>
          <a:p>
            <a:r>
              <a:rPr lang="en-US" dirty="0"/>
              <a:t>Measures of Spread</a:t>
            </a:r>
          </a:p>
          <a:p>
            <a:r>
              <a:rPr lang="en-US" dirty="0"/>
              <a:t>Measures of Shape</a:t>
            </a:r>
          </a:p>
          <a:p>
            <a:r>
              <a:rPr lang="en-US" dirty="0"/>
              <a:t>Measures of Extremes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41F6-2122-1A16-C6DF-0D1CD471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6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158E-29E8-0F08-073A-021E6BA7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873A-9A33-1C4C-A9E7-EB13115B0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Mean: The center of mass, or “balance point.” </a:t>
            </a:r>
          </a:p>
          <a:p>
            <a:pPr lvl="1"/>
            <a:r>
              <a:rPr lang="en-US" dirty="0"/>
              <a:t>Sensitive to outliers.</a:t>
            </a:r>
          </a:p>
          <a:p>
            <a:r>
              <a:rPr lang="en-US" dirty="0"/>
              <a:t>Median: The middle value when data are ordered.</a:t>
            </a:r>
          </a:p>
          <a:p>
            <a:pPr lvl="1"/>
            <a:r>
              <a:rPr lang="en-US" dirty="0"/>
              <a:t>Robust to outliers.</a:t>
            </a:r>
          </a:p>
          <a:p>
            <a:r>
              <a:rPr lang="en-US" dirty="0"/>
              <a:t>Mode: The most common value.</a:t>
            </a:r>
          </a:p>
          <a:p>
            <a:pPr lvl="1"/>
            <a:r>
              <a:rPr lang="en-US" dirty="0"/>
              <a:t>Useful for categorical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1B02-ED2C-3263-F494-63E8106A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32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34BB-91F1-C5D5-2DD3-50F80088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How variable are the data?</a:t>
                </a:r>
                <a:endParaRPr lang="en-US" dirty="0"/>
              </a:p>
              <a:p>
                <a:r>
                  <a:rPr lang="en-US" dirty="0"/>
                  <a:t>Range: Max – Min</a:t>
                </a:r>
              </a:p>
              <a:p>
                <a:r>
                  <a:rPr lang="en-US" dirty="0"/>
                  <a:t>Interquartile Range (IQR):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Variance</a:t>
                </a:r>
              </a:p>
              <a:p>
                <a:pPr lvl="1"/>
                <a:r>
                  <a:rPr lang="en-US" dirty="0"/>
                  <a:t>Average squared deviation from the mean</a:t>
                </a:r>
              </a:p>
              <a:p>
                <a:r>
                  <a:rPr lang="en-US" dirty="0"/>
                  <a:t>Standard Deviation</a:t>
                </a:r>
              </a:p>
              <a:p>
                <a:pPr lvl="1"/>
                <a:r>
                  <a:rPr lang="en-US" dirty="0"/>
                  <a:t>Square root of variance</a:t>
                </a:r>
              </a:p>
              <a:p>
                <a:pPr lvl="1"/>
                <a:r>
                  <a:rPr lang="en-US" dirty="0"/>
                  <a:t>Useful for intuiting units of measure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2E76-38CB-7CD4-0F56-50DB5494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3384446-77F6-752F-02DB-272AF080B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F1C81-1EF8-B8CA-5533-649134EAFFC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2598992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7871-BDC7-85A4-D9F4-86478A56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B4EFF-52E3-6C16-00E2-D33928DD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3E689D64-B041-479E-ADD2-8D0C94D2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599" y="3519328"/>
            <a:ext cx="7518401" cy="283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Third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Skewness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The directional tilt or asymmetry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Positive skewness – long / heavy right tail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Negative skewness – long / heavy left tail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blipFill>
                <a:blip r:embed="rId3"/>
                <a:stretch>
                  <a:fillRect l="-866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07094E-CE98-7DFD-2EC6-8F6543A4DA3D}"/>
              </a:ext>
            </a:extLst>
          </p:cNvPr>
          <p:cNvSpPr txBox="1"/>
          <p:nvPr/>
        </p:nvSpPr>
        <p:spPr>
          <a:xfrm>
            <a:off x="0" y="6604084"/>
            <a:ext cx="77046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Image source: Jain, D. “Relationship between mean and median under different </a:t>
            </a:r>
            <a:r>
              <a:rPr lang="en-US" sz="1050" dirty="0" err="1"/>
              <a:t>skewness.png</a:t>
            </a:r>
            <a:r>
              <a:rPr lang="en-US" sz="1050" dirty="0"/>
              <a:t>” CC BY SA-4.0.</a:t>
            </a:r>
          </a:p>
        </p:txBody>
      </p:sp>
    </p:spTree>
    <p:extLst>
      <p:ext uri="{BB962C8B-B14F-4D97-AF65-F5344CB8AC3E}">
        <p14:creationId xmlns:p14="http://schemas.microsoft.com/office/powerpoint/2010/main" val="2383109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DFDD-A7F2-D7A2-FCA0-F86057AC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nter image description here">
            <a:extLst>
              <a:ext uri="{FF2B5EF4-FFF2-40B4-BE49-F238E27FC236}">
                <a16:creationId xmlns:a16="http://schemas.microsoft.com/office/drawing/2014/main" id="{B8B8C289-80AD-0A12-ED38-2525EF9E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2317618"/>
            <a:ext cx="8308622" cy="417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Fourth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Kurtosis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“Fatness” or tail weight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How much probability lives far from the mean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High kurtosis – more extreme values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Low kurtosis – fewer extremes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Excess Kurtosis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b="1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Normal distribution has kurtosis 3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blipFill>
                <a:blip r:embed="rId3"/>
                <a:stretch>
                  <a:fillRect l="-866"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13983D6-88AE-3E56-4B69-EB486880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C27C-967A-8863-765D-CAB1D96C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63CB6-594C-D77A-F8C9-63FADE1E0FC8}"/>
              </a:ext>
            </a:extLst>
          </p:cNvPr>
          <p:cNvSpPr txBox="1"/>
          <p:nvPr/>
        </p:nvSpPr>
        <p:spPr>
          <a:xfrm>
            <a:off x="0" y="6538912"/>
            <a:ext cx="9076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Image source: </a:t>
            </a:r>
            <a:r>
              <a:rPr lang="en-US" sz="1050" dirty="0">
                <a:hlinkClick r:id="rId4"/>
              </a:rPr>
              <a:t>https://stats.stackexchange.com/questions/84158/how-is-the-kurtosis-of-a-distribution-related-to-the-geometry-of-the-density-fun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7125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2C6E-AC3D-2125-0CD7-D08575B8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Nonparametric / Quantile Based Analogs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B6B8-222D-4F8C-9925-8ACA5E94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measures are more robust to outliers than others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9AD6E-E22A-4E07-D388-B8C15443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654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Bowley Skewness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𝑆𝑘𝑒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1077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92741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94" t="-124658" r="-89967" b="-50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0493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9444-5A5C-3021-5699-84AF347D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Extremes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FD3A-30F7-4D26-2329-06D26B910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</a:t>
            </a:r>
          </a:p>
          <a:p>
            <a:r>
              <a:rPr lang="en-US" dirty="0"/>
              <a:t>Maximum</a:t>
            </a:r>
          </a:p>
          <a:p>
            <a:r>
              <a:rPr lang="en-US" dirty="0"/>
              <a:t>Outlier Flags</a:t>
            </a:r>
          </a:p>
          <a:p>
            <a:pPr lvl="1"/>
            <a:r>
              <a:rPr lang="en-US" dirty="0"/>
              <a:t>Tukey fences: Named after John Tukey,</a:t>
            </a:r>
            <a:br>
              <a:rPr lang="en-US" dirty="0"/>
            </a:br>
            <a:r>
              <a:rPr lang="en-US" dirty="0"/>
              <a:t>who invented the box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EFC65-D99B-492B-AF35-8A8F416E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2EED60F-39E0-D7FF-FF73-E9EC75191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9E1F2-2F81-3B13-E1DA-361D86F026F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3605495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3CAC-0217-7888-8ECE-84F829DB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DA65C-CDCC-F9BD-F801-72206746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focused on numbers to summarize the observations of a variable.</a:t>
            </a:r>
          </a:p>
          <a:p>
            <a:r>
              <a:rPr lang="en-US" dirty="0"/>
              <a:t>Visual EDA uses plots as a powerful tool to show the behavior of these observations.</a:t>
            </a:r>
          </a:p>
          <a:p>
            <a:r>
              <a:rPr lang="en-US" dirty="0"/>
              <a:t>We will tie the single-number summary statistics to this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0D3F-C0BB-98F5-CA9C-D76EADA2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42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DB57-DC34-813C-9858-EB8CBB3E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B310-3D3B-F510-6046-10741DB2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7B23-A635-7226-1E90-9A06FE31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Categorize visual EDA into three types, based on how many variables we examine:</a:t>
            </a:r>
          </a:p>
          <a:p>
            <a:pPr lvl="1"/>
            <a:r>
              <a:rPr lang="en-US" dirty="0"/>
              <a:t>Univariate Data – behavior of a single variable (distributions)</a:t>
            </a:r>
          </a:p>
          <a:p>
            <a:pPr lvl="2"/>
            <a:r>
              <a:rPr lang="en-US" dirty="0"/>
              <a:t>ex: ages, heights, service, communities</a:t>
            </a:r>
          </a:p>
          <a:p>
            <a:pPr lvl="1"/>
            <a:r>
              <a:rPr lang="en-US" dirty="0"/>
              <a:t>Bivariate Data – behavior of the </a:t>
            </a:r>
            <a:r>
              <a:rPr lang="en-US" i="1" dirty="0"/>
              <a:t>relationships</a:t>
            </a:r>
            <a:r>
              <a:rPr lang="en-US" dirty="0"/>
              <a:t> between two variables</a:t>
            </a:r>
          </a:p>
          <a:p>
            <a:pPr lvl="2"/>
            <a:r>
              <a:rPr lang="en-US" dirty="0"/>
              <a:t>ex: height vs weight</a:t>
            </a:r>
          </a:p>
          <a:p>
            <a:pPr lvl="1"/>
            <a:r>
              <a:rPr lang="en-US" dirty="0"/>
              <a:t>Multivariate Data – </a:t>
            </a:r>
          </a:p>
          <a:p>
            <a:pPr lvl="2"/>
            <a:r>
              <a:rPr lang="en-US" dirty="0"/>
              <a:t>Suggest interactions between two variables that affect a third</a:t>
            </a:r>
          </a:p>
          <a:p>
            <a:pPr lvl="3"/>
            <a:r>
              <a:rPr lang="en-US" dirty="0"/>
              <a:t>ex: effect of seniority and education on income</a:t>
            </a:r>
          </a:p>
          <a:p>
            <a:pPr lvl="2"/>
            <a:r>
              <a:rPr lang="en-US" dirty="0"/>
              <a:t>Patterns across many bivariate relationships at once</a:t>
            </a:r>
          </a:p>
          <a:p>
            <a:pPr lvl="3"/>
            <a:r>
              <a:rPr lang="en-US" dirty="0"/>
              <a:t>ex: Pairwise behaviors of height, weight, wingspan, and age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13678-C43B-5737-119A-F6B5CDC1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92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131C-B551-9A91-C317-5D649A5D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4FA7-6127-1C6B-FF16-0E4A1DBD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Recommended plots per type of variable</a:t>
            </a:r>
          </a:p>
          <a:p>
            <a:r>
              <a:rPr lang="en-US" dirty="0"/>
              <a:t>Categorical data: Bar Plots</a:t>
            </a:r>
          </a:p>
          <a:p>
            <a:r>
              <a:rPr lang="en-US" dirty="0"/>
              <a:t>Numerical data: Histograms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4B3E-555C-EB58-8D4E-12371400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81265-E6CE-D4D3-9C8F-4DB982D5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49" y="1723771"/>
            <a:ext cx="4654299" cy="417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A70C9-E7BD-7482-A21F-ABFB9B7773AB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</p:spTree>
    <p:extLst>
      <p:ext uri="{BB962C8B-B14F-4D97-AF65-F5344CB8AC3E}">
        <p14:creationId xmlns:p14="http://schemas.microsoft.com/office/powerpoint/2010/main" val="30927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E4C9C1-1203-C035-7956-D81508AD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77" y="0"/>
            <a:ext cx="45393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5A398B-B23A-3391-FDA6-AD94C6E0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ED23-B087-5646-0F86-07196D274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 check:</a:t>
            </a:r>
          </a:p>
          <a:p>
            <a:pPr lvl="1"/>
            <a:r>
              <a:rPr lang="en-US" dirty="0"/>
              <a:t>Symmetry vs Skewness</a:t>
            </a:r>
          </a:p>
          <a:p>
            <a:pPr lvl="1"/>
            <a:r>
              <a:rPr lang="en-US" dirty="0"/>
              <a:t>Multimodality</a:t>
            </a:r>
          </a:p>
          <a:p>
            <a:pPr lvl="2"/>
            <a:r>
              <a:rPr lang="en-US" dirty="0"/>
              <a:t>Unimodal: single peak</a:t>
            </a:r>
          </a:p>
          <a:p>
            <a:pPr lvl="2"/>
            <a:r>
              <a:rPr lang="en-US" dirty="0"/>
              <a:t>Bimodal: two peaks</a:t>
            </a:r>
          </a:p>
          <a:p>
            <a:pPr lvl="2"/>
            <a:r>
              <a:rPr lang="en-US" dirty="0"/>
              <a:t>Multimodal: two or more peaks</a:t>
            </a:r>
          </a:p>
          <a:p>
            <a:pPr lvl="1"/>
            <a:r>
              <a:rPr lang="en-US" dirty="0"/>
              <a:t>Shape</a:t>
            </a:r>
          </a:p>
          <a:p>
            <a:pPr lvl="2"/>
            <a:r>
              <a:rPr lang="en-US" dirty="0"/>
              <a:t>Bell-shaped: Tells us what?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CD24-574C-868D-E5D8-2FD8D1E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C443E-57C7-F78B-271B-43F573EF9C4A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Figures 3.2 and 3.3.</a:t>
            </a:r>
          </a:p>
        </p:txBody>
      </p:sp>
    </p:spTree>
    <p:extLst>
      <p:ext uri="{BB962C8B-B14F-4D97-AF65-F5344CB8AC3E}">
        <p14:creationId xmlns:p14="http://schemas.microsoft.com/office/powerpoint/2010/main" val="2646266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4395-47EF-296A-F2C1-BED365A5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14E8-59E0-3A70-4237-7968D38B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A7AC-1F90-BDC0-55E2-CD5744EE2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Rule:</a:t>
            </a:r>
          </a:p>
          <a:p>
            <a:pPr lvl="1"/>
            <a:r>
              <a:rPr lang="en-US" dirty="0"/>
              <a:t>If the histogram of a set of observations is bell-shaped, or approximately Gaussian (why would this happen?):</a:t>
            </a:r>
          </a:p>
          <a:p>
            <a:pPr lvl="2"/>
            <a:r>
              <a:rPr lang="en-US" sz="2400" dirty="0"/>
              <a:t>About 68% of observations lie within 1 standard deviation of the mean.</a:t>
            </a:r>
          </a:p>
          <a:p>
            <a:pPr lvl="2"/>
            <a:r>
              <a:rPr lang="en-US" sz="2400" dirty="0"/>
              <a:t>About 95% of observations lie within 2 standard deviations of the mean.</a:t>
            </a:r>
          </a:p>
          <a:p>
            <a:pPr lvl="2"/>
            <a:r>
              <a:rPr lang="en-US" sz="2400" dirty="0"/>
              <a:t>About 99.7% of the observations lie within 3 standard deviations of the mean.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91C5-D1CA-DC88-7289-F9DFDE4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11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BFA4-C11C-9E6B-C61D-FA0AC124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C0DC-9EA2-DF1D-5E6E-3532B709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about when the data do not appear to be approximately normal?</a:t>
                </a:r>
              </a:p>
              <a:p>
                <a:r>
                  <a:rPr lang="en-US" dirty="0"/>
                  <a:t>We can generalize via </a:t>
                </a:r>
                <a:r>
                  <a:rPr lang="en-US" b="1" dirty="0"/>
                  <a:t>Chebyshev’s Inequality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For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finite non-zero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finite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for any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i="1" dirty="0"/>
                  <a:t>In (slightly more) English:</a:t>
                </a:r>
                <a:r>
                  <a:rPr lang="en-US" dirty="0"/>
                  <a:t> For any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observations lie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standard deviations of the mean.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1481-6D73-884B-5F66-C2EE5362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36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B367-60BF-F803-293F-FD067232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5216-A956-804E-BC04-95B2AE62F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/>
          <a:lstStyle/>
          <a:p>
            <a:r>
              <a:rPr lang="en-US" dirty="0"/>
              <a:t>Empirical Rule gives us an </a:t>
            </a:r>
            <a:r>
              <a:rPr lang="en-US" i="1" dirty="0"/>
              <a:t>approximate </a:t>
            </a:r>
            <a:r>
              <a:rPr lang="en-US" dirty="0"/>
              <a:t>percentage of the data contained within a window of the mean.</a:t>
            </a:r>
          </a:p>
          <a:p>
            <a:r>
              <a:rPr lang="en-US" dirty="0"/>
              <a:t>Chebyshev gives a </a:t>
            </a:r>
            <a:r>
              <a:rPr lang="en-US" i="1" dirty="0"/>
              <a:t>lower bound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1220B-29F6-E6C7-15C6-4CDC9DDD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35</a:t>
            </a:fld>
            <a:endParaRPr lang="en-US"/>
          </a:p>
        </p:txBody>
      </p:sp>
      <p:pic>
        <p:nvPicPr>
          <p:cNvPr id="3074" name="Picture 2" descr="empirical rule vs chebyshev theorem">
            <a:extLst>
              <a:ext uri="{FF2B5EF4-FFF2-40B4-BE49-F238E27FC236}">
                <a16:creationId xmlns:a16="http://schemas.microsoft.com/office/drawing/2014/main" id="{8954049A-EEF1-B419-F95E-78AACFC02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0" t="15022" r="4400" b="18844"/>
          <a:stretch>
            <a:fillRect/>
          </a:stretch>
        </p:blipFill>
        <p:spPr bwMode="auto">
          <a:xfrm>
            <a:off x="1718733" y="2929467"/>
            <a:ext cx="8619067" cy="360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E34E0-AF20-6AFC-8604-6B1D79DF7F56}"/>
              </a:ext>
            </a:extLst>
          </p:cNvPr>
          <p:cNvSpPr txBox="1"/>
          <p:nvPr/>
        </p:nvSpPr>
        <p:spPr>
          <a:xfrm>
            <a:off x="0" y="6590670"/>
            <a:ext cx="1099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dirty="0" err="1"/>
              <a:t>CalcWorkshop</a:t>
            </a:r>
            <a:r>
              <a:rPr lang="en-US" sz="1100" dirty="0"/>
              <a:t>. </a:t>
            </a:r>
            <a:r>
              <a:rPr lang="en-US" sz="1100" i="1" dirty="0"/>
              <a:t>Chebyshev’s Inequality</a:t>
            </a:r>
            <a:r>
              <a:rPr lang="en-US" sz="1100" dirty="0"/>
              <a:t>. Retrieved from </a:t>
            </a:r>
            <a:r>
              <a:rPr lang="en-US" sz="1100" dirty="0">
                <a:hlinkClick r:id="rId3"/>
              </a:rPr>
              <a:t>https://calcworkshop.com/joint-probability-distribution/chebyshev-inequality/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5723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9C52-62B7-EDDB-7F14-2AE7B095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269A22-5777-59E1-2114-AAB68662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526577"/>
              </p:ext>
            </p:extLst>
          </p:nvPr>
        </p:nvGraphicFramePr>
        <p:xfrm>
          <a:off x="1439418" y="3132513"/>
          <a:ext cx="931316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4388">
                  <a:extLst>
                    <a:ext uri="{9D8B030D-6E8A-4147-A177-3AD203B41FA5}">
                      <a16:colId xmlns:a16="http://schemas.microsoft.com/office/drawing/2014/main" val="133389282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2215027930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4089765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Data Types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0797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Bar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40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Scatter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060186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299A6-AE86-2056-7CC2-688A44AC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Examine the relationship between a pair of variables.</a:t>
                </a:r>
              </a:p>
              <a:p>
                <a:r>
                  <a:rPr lang="en-US" dirty="0"/>
                  <a:t>Recommended EDA plots by variable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variable type: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  <a:blipFill>
                <a:blip r:embed="rId2"/>
                <a:stretch>
                  <a:fillRect l="-1043" t="-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09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13EC-C6B4-0E96-530D-E12EA6D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Bar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Categorical / Ordinal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Categorical / Ordinal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2879A-C612-44AC-E60E-C9750B08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3A203-6070-E7D8-D058-B2FC8493B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95" y="2514600"/>
            <a:ext cx="4248456" cy="35355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9F233F-F708-75E2-149C-57916A8A82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81469-9D96-6828-F12F-30E0FE75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517" y="2645838"/>
            <a:ext cx="3952751" cy="35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10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57A7-A88F-C519-AA06-299A54A9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box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sz="3300" dirty="0"/>
                  <a:t>Categorical / Ordinal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300" dirty="0"/>
                  <a:t> Numerical</a:t>
                </a:r>
              </a:p>
              <a:p>
                <a:pPr marL="0" indent="0">
                  <a:buNone/>
                </a:pPr>
                <a:r>
                  <a:rPr lang="en-US" sz="3300" dirty="0"/>
                  <a:t>R: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boxplot(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pft_data$score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~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pft_data$rank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horizontal=T,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=“Score”,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=“Rank”,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main=“PFT Scores by Rank”)</a:t>
                </a:r>
              </a:p>
              <a:p>
                <a:pPr marL="0" indent="0">
                  <a:buNone/>
                </a:pPr>
                <a:r>
                  <a:rPr lang="en-US" sz="2900" dirty="0"/>
                  <a:t>Python: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seaborn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matplotlib.pyplot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plt.figure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figsize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=(8, 5))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sns.boxplot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data=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x="score",        # horizontal axis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y="rank",         # grouping variable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orient="h"        # horizontal orientation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plt.xlabel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("Score")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plt.ylabel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plt.title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("PFT Scores by 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plt.tight_layout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plt.show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  <a:blipFill>
                <a:blip r:embed="rId2"/>
                <a:stretch>
                  <a:fillRect l="-787" t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73FD-5DE2-5D97-4235-914AA984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B1D9E-5B89-2DAB-EB6A-15CF149A1BB6}"/>
              </a:ext>
            </a:extLst>
          </p:cNvPr>
          <p:cNvSpPr txBox="1"/>
          <p:nvPr/>
        </p:nvSpPr>
        <p:spPr>
          <a:xfrm>
            <a:off x="0" y="6538912"/>
            <a:ext cx="10145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R (top) and Python/Seaborn (bottom) plots from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pft.csv </a:t>
            </a:r>
            <a:r>
              <a:rPr lang="en-US" sz="1200" dirty="0"/>
              <a:t>dataset.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F1F583-F093-8F26-5B87-7A16284CC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17" y="232532"/>
            <a:ext cx="4099280" cy="3629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A36BB-AEDC-36C3-A439-2E4D2FC4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217" y="3862387"/>
            <a:ext cx="4315214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14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3E410-FAC5-0B40-D1A6-39C6CF7A4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30" y="253746"/>
            <a:ext cx="5935442" cy="6350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EE7F35-3E41-DEDB-5CEE-6B78FD4E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Numerical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Numerical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86A9-2316-81CA-F28D-82C262BD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4B4E4-3D6B-7C8F-6A77-B0CD5F4ECB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 3.8.</a:t>
            </a:r>
          </a:p>
        </p:txBody>
      </p:sp>
    </p:spTree>
    <p:extLst>
      <p:ext uri="{BB962C8B-B14F-4D97-AF65-F5344CB8AC3E}">
        <p14:creationId xmlns:p14="http://schemas.microsoft.com/office/powerpoint/2010/main" val="3474127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E122-310A-4F01-6639-8972BED9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A7D3-8AFF-47EC-591E-668E6020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scatterplots</a:t>
            </a:r>
          </a:p>
          <a:p>
            <a:r>
              <a:rPr lang="en-US" dirty="0"/>
              <a:t>Scatterplot matrices</a:t>
            </a:r>
          </a:p>
          <a:p>
            <a:r>
              <a:rPr lang="en-US" dirty="0"/>
              <a:t>Correlation Heatmaps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0BAC-7133-B4DA-25E1-E64D7D6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 descr="A diagram of a triangle with red dots and lines&#10;&#10;AI-generated content may be incorrect.">
            <a:extLst>
              <a:ext uri="{FF2B5EF4-FFF2-40B4-BE49-F238E27FC236}">
                <a16:creationId xmlns:a16="http://schemas.microsoft.com/office/drawing/2014/main" id="{FFBB2F80-5302-06CB-6502-0C1F5942F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4" y="522564"/>
            <a:ext cx="5508564" cy="5682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5A54E-3AE2-BB26-4E23-068E4B0A4C54}"/>
              </a:ext>
            </a:extLst>
          </p:cNvPr>
          <p:cNvSpPr txBox="1"/>
          <p:nvPr/>
        </p:nvSpPr>
        <p:spPr>
          <a:xfrm>
            <a:off x="159488" y="6413698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ISLP</a:t>
            </a:r>
            <a:r>
              <a:rPr lang="en-US" sz="14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260228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Scatterplot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Correlation heatmaps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B742-B9E5-4A9B-6C7E-7A71FBFC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truly “multivariate”</a:t>
            </a:r>
          </a:p>
          <a:p>
            <a:r>
              <a:rPr lang="en-US" dirty="0"/>
              <a:t>Behavior of many variables together, often summarized through collections of pairwise relationships.</a:t>
            </a:r>
          </a:p>
          <a:p>
            <a:r>
              <a:rPr lang="en-US" dirty="0"/>
              <a:t>As the number of variables grows, pairwise plots become visually dense. </a:t>
            </a:r>
          </a:p>
          <a:p>
            <a:r>
              <a:rPr lang="en-US" dirty="0"/>
              <a:t>Heatmaps can summarize the same information more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8807-A7C9-969C-FDA3-F4CFF7A3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13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4A95-6D0A-334C-55D9-DB9A62EF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</a:t>
            </a:r>
            <a:br>
              <a:rPr lang="en-US" dirty="0"/>
            </a:br>
            <a:r>
              <a:rPr lang="en-US" dirty="0"/>
              <a:t>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7BB1-860B-D4AD-E8D6-1D5ACBD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51AF6-D7E0-FE21-EDBE-C1DB7AD9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7"/>
          <a:stretch>
            <a:fillRect/>
          </a:stretch>
        </p:blipFill>
        <p:spPr>
          <a:xfrm>
            <a:off x="5714999" y="217427"/>
            <a:ext cx="6436785" cy="6423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C9E664-520E-5804-4C5D-C8F9586F2252}"/>
              </a:ext>
            </a:extLst>
          </p:cNvPr>
          <p:cNvSpPr txBox="1"/>
          <p:nvPr/>
        </p:nvSpPr>
        <p:spPr>
          <a:xfrm>
            <a:off x="40216" y="2540229"/>
            <a:ext cx="3950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body_fat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C9593-6EB7-E962-646E-4E8953A15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25607"/>
            <a:ext cx="5573712" cy="927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27545A-4818-2911-A94C-074F4D1ADD86}"/>
              </a:ext>
            </a:extLst>
          </p:cNvPr>
          <p:cNvSpPr txBox="1"/>
          <p:nvPr/>
        </p:nvSpPr>
        <p:spPr>
          <a:xfrm>
            <a:off x="364942" y="4606888"/>
            <a:ext cx="52087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16 numerical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 are the diagonal entries histograms?</a:t>
            </a:r>
          </a:p>
        </p:txBody>
      </p:sp>
    </p:spTree>
    <p:extLst>
      <p:ext uri="{BB962C8B-B14F-4D97-AF65-F5344CB8AC3E}">
        <p14:creationId xmlns:p14="http://schemas.microsoft.com/office/powerpoint/2010/main" val="7092134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55EE-C65B-18BC-DF8B-DF298A5D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from last week: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Why are the diagonal entries +1?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  <a:blipFill>
                <a:blip r:embed="rId2"/>
                <a:stretch>
                  <a:fillRect l="-2766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67BB-94A2-2D8E-BB82-17F93585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B7A38-A85C-04A0-1A1E-78DE6C6E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25638"/>
            <a:ext cx="7085076" cy="61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71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D09B-3FE0-D864-A4BA-769D9F76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Python/R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13D6-FC66-7C0E-5102-775F7FB1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pft.csv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/>
              <a:t>data:</a:t>
            </a:r>
          </a:p>
          <a:p>
            <a:pPr lvl="1"/>
            <a:r>
              <a:rPr lang="en-US" dirty="0"/>
              <a:t>Build a histogram of the </a:t>
            </a:r>
            <a:r>
              <a:rPr lang="en-US" dirty="0" err="1"/>
              <a:t>pft</a:t>
            </a:r>
            <a:r>
              <a:rPr lang="en-US" dirty="0"/>
              <a:t> scores</a:t>
            </a:r>
          </a:p>
          <a:p>
            <a:pPr lvl="1"/>
            <a:r>
              <a:rPr lang="en-US" dirty="0"/>
              <a:t>Overlay the mean, median, and standard deviation lines</a:t>
            </a:r>
          </a:p>
          <a:p>
            <a:pPr lvl="1"/>
            <a:r>
              <a:rPr lang="en-US" dirty="0"/>
              <a:t>Verify the empirical rules and/or Chebyshev’s rule</a:t>
            </a:r>
          </a:p>
          <a:p>
            <a:pPr lvl="1"/>
            <a:r>
              <a:rPr lang="en-US" dirty="0"/>
              <a:t>Create a grouped boxplot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variables.</a:t>
            </a:r>
          </a:p>
          <a:p>
            <a:r>
              <a:rPr lang="en-US" dirty="0"/>
              <a:t>Using the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dataset from the </a:t>
            </a:r>
            <a:r>
              <a:rPr lang="en-US" dirty="0">
                <a:latin typeface="Courier New"/>
                <a:cs typeface="Courier New"/>
              </a:rPr>
              <a:t>faraway</a:t>
            </a:r>
            <a:br>
              <a:rPr lang="en-US" dirty="0"/>
            </a:br>
            <a:r>
              <a:rPr lang="en-US" dirty="0"/>
              <a:t>package:</a:t>
            </a:r>
          </a:p>
          <a:p>
            <a:pPr lvl="1"/>
            <a:r>
              <a:rPr lang="en-US" dirty="0"/>
              <a:t>Run a quick cleaning of the data</a:t>
            </a:r>
          </a:p>
          <a:p>
            <a:pPr lvl="2"/>
            <a:r>
              <a:rPr lang="en-US" dirty="0"/>
              <a:t>Zeros as missing: “triceps”, “insulin”, “</a:t>
            </a:r>
            <a:r>
              <a:rPr lang="en-US" dirty="0" err="1"/>
              <a:t>bmi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Create a correlation heatmap</a:t>
            </a:r>
          </a:p>
          <a:p>
            <a:pPr lvl="1"/>
            <a:r>
              <a:rPr lang="en-US" dirty="0"/>
              <a:t>(Time permitting) Save the clean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 as a</a:t>
            </a:r>
            <a:br>
              <a:rPr lang="en-US" dirty="0"/>
            </a:br>
            <a:r>
              <a:rPr lang="en-US" dirty="0"/>
              <a:t>csv and create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pairplot</a:t>
            </a:r>
            <a:r>
              <a:rPr lang="en-US" dirty="0"/>
              <a:t> and correlation heatmap in Python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>
                <a:latin typeface="Courier New"/>
                <a:cs typeface="Courier New"/>
              </a:rPr>
              <a:t>seaborn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0EECD-AABB-70E7-C4C6-DC85A513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2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0e81aeba-3fbe-492c-aacc-230c0d93479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2776</Words>
  <Application>Microsoft Office PowerPoint</Application>
  <PresentationFormat>Widescreen</PresentationFormat>
  <Paragraphs>461</Paragraphs>
  <Slides>44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Objectives / Structure</vt:lpstr>
      <vt:lpstr>Exploratory Data Analysis</vt:lpstr>
      <vt:lpstr>Variable types</vt:lpstr>
      <vt:lpstr>Variable types</vt:lpstr>
      <vt:lpstr>Why data cleaning?</vt:lpstr>
      <vt:lpstr>Data Cleaning</vt:lpstr>
      <vt:lpstr>Data Cleaning 101</vt:lpstr>
      <vt:lpstr>Data Cleaning: Python and R tools</vt:lpstr>
      <vt:lpstr>Identifying and handling missing values</vt:lpstr>
      <vt:lpstr>Identifying and handling missing values</vt:lpstr>
      <vt:lpstr>Identifying and handling missing values</vt:lpstr>
      <vt:lpstr>Identifying and handling missing values</vt:lpstr>
      <vt:lpstr>Fixing data types</vt:lpstr>
      <vt:lpstr>Detecting and Fixing data types</vt:lpstr>
      <vt:lpstr>Renaming and standardizing columns</vt:lpstr>
      <vt:lpstr>Subsetting rows and columns</vt:lpstr>
      <vt:lpstr>Detecting outliers</vt:lpstr>
      <vt:lpstr>Basic sanity checks</vt:lpstr>
      <vt:lpstr>Other Data Cleaning Tools</vt:lpstr>
      <vt:lpstr>Realities</vt:lpstr>
      <vt:lpstr>Single Number Summary Statistics</vt:lpstr>
      <vt:lpstr>Measures of Center</vt:lpstr>
      <vt:lpstr>Measures of Spread</vt:lpstr>
      <vt:lpstr>Measures of Shape</vt:lpstr>
      <vt:lpstr>Measures of Shape</vt:lpstr>
      <vt:lpstr>Nonparametric / Quantile Based Analogs</vt:lpstr>
      <vt:lpstr>Measures of Extremes</vt:lpstr>
      <vt:lpstr>Visual EDA</vt:lpstr>
      <vt:lpstr>Visual EDA - Categories</vt:lpstr>
      <vt:lpstr>Univariate Data</vt:lpstr>
      <vt:lpstr>Histograms</vt:lpstr>
      <vt:lpstr>Applications of Standard Deviation</vt:lpstr>
      <vt:lpstr>Applications of Standard Deviation</vt:lpstr>
      <vt:lpstr>Applications of Standard Deviation</vt:lpstr>
      <vt:lpstr>Bivariate Data</vt:lpstr>
      <vt:lpstr>Grouped Bar Plots</vt:lpstr>
      <vt:lpstr>Grouped box plot</vt:lpstr>
      <vt:lpstr>Scatterplots</vt:lpstr>
      <vt:lpstr>Multivariate Data</vt:lpstr>
      <vt:lpstr>Scatterplot matrices → Correlation heatmaps</vt:lpstr>
      <vt:lpstr>Scatterplot Matrix</vt:lpstr>
      <vt:lpstr>Correlation  Heatmap</vt:lpstr>
      <vt:lpstr>Back to Python/R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7</cp:revision>
  <dcterms:created xsi:type="dcterms:W3CDTF">2026-04-01T15:46:41Z</dcterms:created>
  <dcterms:modified xsi:type="dcterms:W3CDTF">2026-04-22T18:46:51Z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