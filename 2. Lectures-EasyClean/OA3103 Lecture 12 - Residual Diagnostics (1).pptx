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6.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ns2="http://schemas.openxmlformats.org/drawingml/2006/main" xmlns:ns3="http://schemas.microsoft.com/office/powerpoint/2012/main" xmlns:p="http://schemas.openxmlformats.org/presentationml/2006/main" xmlns:r="http://schemas.openxmlformats.org/officeDocument/2006/relationships" saveSubsetFonts="1">
  <p:sldMasterIdLst>
    <p:sldMasterId id="2147483660" r:id="rId4"/>
  </p:sldMasterIdLst>
  <p:notesMasterIdLst>
    <p:notesMasterId r:id="rId63"/>
  </p:notesMasterIdLst>
  <p:sldIdLst>
    <p:sldId id="256" r:id="rId5"/>
    <p:sldId id="258" r:id="rId6"/>
    <p:sldId id="567" r:id="rId8"/>
    <p:sldId id="554" r:id="rId9"/>
    <p:sldId id="499" r:id="rId10"/>
    <p:sldId id="568" r:id="rId11"/>
    <p:sldId id="525" r:id="rId12"/>
    <p:sldId id="555" r:id="rId13"/>
    <p:sldId id="556" r:id="rId14"/>
    <p:sldId id="569" r:id="rId15"/>
    <p:sldId id="558" r:id="rId16"/>
    <p:sldId id="570" r:id="rId17"/>
    <p:sldId id="559" r:id="rId18"/>
    <p:sldId id="561" r:id="rId19"/>
    <p:sldId id="560" r:id="rId20"/>
    <p:sldId id="529" r:id="rId21"/>
    <p:sldId id="557" r:id="rId22"/>
    <p:sldId id="537" r:id="rId24"/>
    <p:sldId id="546" r:id="rId25"/>
    <p:sldId id="539" r:id="rId26"/>
    <p:sldId id="540" r:id="rId27"/>
    <p:sldId id="547" r:id="rId28"/>
    <p:sldId id="541" r:id="rId29"/>
    <p:sldId id="548" r:id="rId30"/>
    <p:sldId id="542" r:id="rId31"/>
    <p:sldId id="549" r:id="rId32"/>
    <p:sldId id="543" r:id="rId33"/>
    <p:sldId id="550" r:id="rId34"/>
    <p:sldId id="545" r:id="rId35"/>
    <p:sldId id="536" r:id="rId36"/>
    <p:sldId id="553" r:id="rId37"/>
    <p:sldId id="563" r:id="rId38"/>
    <p:sldId id="572" r:id="rId40"/>
    <p:sldId id="566" r:id="rId42"/>
    <p:sldId id="574" r:id="rId43"/>
    <p:sldId id="552" r:id="rId45"/>
    <p:sldId id="576" r:id="rId46"/>
    <p:sldId id="577" r:id="rId47"/>
    <p:sldId id="578" r:id="rId48"/>
    <p:sldId id="583" r:id="rId49"/>
    <p:sldId id="579" r:id="rId50"/>
    <p:sldId id="580" r:id="rId51"/>
    <p:sldId id="582" r:id="rId52"/>
    <p:sldId id="581" r:id="rId53"/>
    <p:sldId id="575" r:id="rId54"/>
    <p:sldId id="584" r:id="rId55"/>
    <p:sldId id="585" r:id="rId56"/>
    <p:sldId id="587" r:id="rId57"/>
    <p:sldId id="586" r:id="rId58"/>
    <p:sldId id="589" r:id="rId59"/>
    <p:sldId id="591" r:id="rId60"/>
    <p:sldId id="564" r:id="rId61"/>
    <p:sldId id="562" r:id="rId62"/>
  </p:sldIdLst>
  <p:sldSz cx="12192000" cy="6858000"/>
  <p:notesSz cx="6858000" cy="9144000"/>
  <p:defaultTextStyle>
    <ns2:defPPr>
      <ns2:defRPr lang="en-US"/>
    </ns2:defPPr>
    <ns2:lvl1pPr marL="0" algn="l" defTabSz="914400" rtl="0" eaLnBrk="1" latinLnBrk="0" hangingPunct="1">
      <ns2:defRPr sz="1800" kern="1200">
        <ns2:solidFill>
          <ns2:schemeClr val="tx1"/>
        </ns2:solidFill>
        <ns2:latin typeface="+mn-lt"/>
        <ns2:ea typeface="+mn-ea"/>
        <ns2:cs typeface="+mn-cs"/>
      </ns2:defRPr>
    </ns2:lvl1pPr>
    <ns2:lvl2pPr marL="457200" algn="l" defTabSz="914400" rtl="0" eaLnBrk="1" latinLnBrk="0" hangingPunct="1">
      <ns2:defRPr sz="1800" kern="1200">
        <ns2:solidFill>
          <ns2:schemeClr val="tx1"/>
        </ns2:solidFill>
        <ns2:latin typeface="+mn-lt"/>
        <ns2:ea typeface="+mn-ea"/>
        <ns2:cs typeface="+mn-cs"/>
      </ns2:defRPr>
    </ns2:lvl2pPr>
    <ns2:lvl3pPr marL="914400" algn="l" defTabSz="914400" rtl="0" eaLnBrk="1" latinLnBrk="0" hangingPunct="1">
      <ns2:defRPr sz="1800" kern="1200">
        <ns2:solidFill>
          <ns2:schemeClr val="tx1"/>
        </ns2:solidFill>
        <ns2:latin typeface="+mn-lt"/>
        <ns2:ea typeface="+mn-ea"/>
        <ns2:cs typeface="+mn-cs"/>
      </ns2:defRPr>
    </ns2:lvl3pPr>
    <ns2:lvl4pPr marL="1371600" algn="l" defTabSz="914400" rtl="0" eaLnBrk="1" latinLnBrk="0" hangingPunct="1">
      <ns2:defRPr sz="1800" kern="1200">
        <ns2:solidFill>
          <ns2:schemeClr val="tx1"/>
        </ns2:solidFill>
        <ns2:latin typeface="+mn-lt"/>
        <ns2:ea typeface="+mn-ea"/>
        <ns2:cs typeface="+mn-cs"/>
      </ns2:defRPr>
    </ns2:lvl4pPr>
    <ns2:lvl5pPr marL="1828800" algn="l" defTabSz="914400" rtl="0" eaLnBrk="1" latinLnBrk="0" hangingPunct="1">
      <ns2:defRPr sz="1800" kern="1200">
        <ns2:solidFill>
          <ns2:schemeClr val="tx1"/>
        </ns2:solidFill>
        <ns2:latin typeface="+mn-lt"/>
        <ns2:ea typeface="+mn-ea"/>
        <ns2:cs typeface="+mn-cs"/>
      </ns2:defRPr>
    </ns2:lvl5pPr>
    <ns2:lvl6pPr marL="2286000" algn="l" defTabSz="914400" rtl="0" eaLnBrk="1" latinLnBrk="0" hangingPunct="1">
      <ns2:defRPr sz="1800" kern="1200">
        <ns2:solidFill>
          <ns2:schemeClr val="tx1"/>
        </ns2:solidFill>
        <ns2:latin typeface="+mn-lt"/>
        <ns2:ea typeface="+mn-ea"/>
        <ns2:cs typeface="+mn-cs"/>
      </ns2:defRPr>
    </ns2:lvl6pPr>
    <ns2:lvl7pPr marL="2743200" algn="l" defTabSz="914400" rtl="0" eaLnBrk="1" latinLnBrk="0" hangingPunct="1">
      <ns2:defRPr sz="1800" kern="1200">
        <ns2:solidFill>
          <ns2:schemeClr val="tx1"/>
        </ns2:solidFill>
        <ns2:latin typeface="+mn-lt"/>
        <ns2:ea typeface="+mn-ea"/>
        <ns2:cs typeface="+mn-cs"/>
      </ns2:defRPr>
    </ns2:lvl7pPr>
    <ns2:lvl8pPr marL="3200400" algn="l" defTabSz="914400" rtl="0" eaLnBrk="1" latinLnBrk="0" hangingPunct="1">
      <ns2:defRPr sz="1800" kern="1200">
        <ns2:solidFill>
          <ns2:schemeClr val="tx1"/>
        </ns2:solidFill>
        <ns2:latin typeface="+mn-lt"/>
        <ns2:ea typeface="+mn-ea"/>
        <ns2:cs typeface="+mn-cs"/>
      </ns2:defRPr>
    </ns2:lvl8pPr>
    <ns2:lvl9pPr marL="3657600" algn="l" defTabSz="914400" rtl="0" eaLnBrk="1" latinLnBrk="0" hangingPunct="1">
      <ns2:defRPr sz="1800" kern="1200">
        <ns2:solidFill>
          <ns2:schemeClr val="tx1"/>
        </ns2:solidFill>
        <ns2:latin typeface="+mn-lt"/>
        <ns2:ea typeface="+mn-ea"/>
        <ns2:cs typeface="+mn-cs"/>
      </ns2:defRPr>
    </ns2:lvl9pPr>
  </p:defaultTextStyle>
  <p:extLst>
    <p:ext uri="{EFAFB233-063F-42B5-8137-9DF3F51BA10A}">
      <ns3: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300"/>
    <a:srgbClr val="FFC000"/>
    <a:srgbClr val="0432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1942A3-55D1-421C-8E05-00B8E1F585D6}" v="1521" dt="2026-04-24T20:18:19.340"/>
    <p1510:client id="{9DB47451-9567-9240-B642-4CFD589F7533}" v="6421" dt="2026-04-24T23:00:55.829"/>
    <p1510:client id="{B63344EC-5DBE-40FF-900E-3173E87934BA}" v="63" dt="2026-04-24T01:30:45.25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32"/>
  </p:normalViewPr>
  <p:slideViewPr>
    <p:cSldViewPr snapToGrid="0">
      <p:cViewPr>
        <p:scale>
          <a:sx n="145" d="100"/>
          <a:sy n="145" d="100"/>
        </p:scale>
        <p:origin x="320" y="1248"/>
      </p:cViewPr>
      <p:guideLst/>
    </p:cSldViewPr>
  </p:slideViewPr>
  <p:notesTextViewPr>
    <p:cViewPr>
      <p:scale>
        <a:sx n="1" d="1"/>
        <a:sy n="1" d="1"/>
      </p:scale>
      <p:origin x="0" y="0"/>
    </p:cViewPr>
  </p:notesTextViewPr>
  <p:gridSpacing cx="76200" cy="76200"/>
</p:viewPr>
</file>

<file path=ppt/_rels/presentation.xml.rels><?xml version='1.0' encoding='utf-8'?>
<ns0:Relationships xmlns:ns0="http://schemas.openxmlformats.org/package/2006/relationships"><ns0:Relationship Id="rId26" Type="http://schemas.openxmlformats.org/officeDocument/2006/relationships/slide" Target="slides/slide22.xml" /><ns0:Relationship Id="rId21" Type="http://schemas.openxmlformats.org/officeDocument/2006/relationships/slide" Target="slides/slide17.xml" /><ns0:Relationship Id="rId34" Type="http://schemas.openxmlformats.org/officeDocument/2006/relationships/slide" Target="slides/slide30.xml" /><ns0:Relationship Id="rId42" Type="http://schemas.openxmlformats.org/officeDocument/2006/relationships/slide" Target="slides/slide38.xml" /><ns0:Relationship Id="rId47" Type="http://schemas.openxmlformats.org/officeDocument/2006/relationships/slide" Target="slides/slide43.xml" /><ns0:Relationship Id="rId50" Type="http://schemas.openxmlformats.org/officeDocument/2006/relationships/slide" Target="slides/slide46.xml" /><ns0:Relationship Id="rId55" Type="http://schemas.openxmlformats.org/officeDocument/2006/relationships/slide" Target="slides/slide51.xml" /><ns0:Relationship Id="rId63" Type="http://schemas.openxmlformats.org/officeDocument/2006/relationships/notesMaster" Target="notesMasters/notesMaster1.xml" /><ns0:Relationship Id="rId68" Type="http://schemas.microsoft.com/office/2015/10/relationships/revisionInfo" Target="revisionInfo.xml" /><ns0:Relationship Id="rId2" Type="http://schemas.openxmlformats.org/officeDocument/2006/relationships/customXml" Target="../customXml/item2.xml" /><ns0:Relationship Id="rId16" Type="http://schemas.openxmlformats.org/officeDocument/2006/relationships/slide" Target="slides/slide12.xml" /><ns0:Relationship Id="rId29" Type="http://schemas.openxmlformats.org/officeDocument/2006/relationships/slide" Target="slides/slide25.xml" /><ns0:Relationship Id="rId11" Type="http://schemas.openxmlformats.org/officeDocument/2006/relationships/slide" Target="slides/slide7.xml" /><ns0:Relationship Id="rId24" Type="http://schemas.openxmlformats.org/officeDocument/2006/relationships/slide" Target="slides/slide20.xml" /><ns0:Relationship Id="rId32" Type="http://schemas.openxmlformats.org/officeDocument/2006/relationships/slide" Target="slides/slide28.xml" /><ns0:Relationship Id="rId37" Type="http://schemas.openxmlformats.org/officeDocument/2006/relationships/slide" Target="slides/slide33.xml" /><ns0:Relationship Id="rId40" Type="http://schemas.openxmlformats.org/officeDocument/2006/relationships/slide" Target="slides/slide36.xml" /><ns0:Relationship Id="rId45" Type="http://schemas.openxmlformats.org/officeDocument/2006/relationships/slide" Target="slides/slide41.xml" /><ns0:Relationship Id="rId53" Type="http://schemas.openxmlformats.org/officeDocument/2006/relationships/slide" Target="slides/slide49.xml" /><ns0:Relationship Id="rId58" Type="http://schemas.openxmlformats.org/officeDocument/2006/relationships/slide" Target="slides/slide54.xml" /><ns0:Relationship Id="rId66" Type="http://schemas.openxmlformats.org/officeDocument/2006/relationships/theme" Target="theme/theme1.xml" /><ns0:Relationship Id="rId5" Type="http://schemas.openxmlformats.org/officeDocument/2006/relationships/slide" Target="slides/slide1.xml" /><ns0:Relationship Id="rId61" Type="http://schemas.openxmlformats.org/officeDocument/2006/relationships/slide" Target="slides/slide57.xml" /><ns0:Relationship Id="rId19" Type="http://schemas.openxmlformats.org/officeDocument/2006/relationships/slide" Target="slides/slide15.xml" /><ns0:Relationship Id="rId14" Type="http://schemas.openxmlformats.org/officeDocument/2006/relationships/slide" Target="slides/slide10.xml" /><ns0:Relationship Id="rId22" Type="http://schemas.openxmlformats.org/officeDocument/2006/relationships/slide" Target="slides/slide18.xml" /><ns0:Relationship Id="rId27" Type="http://schemas.openxmlformats.org/officeDocument/2006/relationships/slide" Target="slides/slide23.xml" /><ns0:Relationship Id="rId30" Type="http://schemas.openxmlformats.org/officeDocument/2006/relationships/slide" Target="slides/slide26.xml" /><ns0:Relationship Id="rId35" Type="http://schemas.openxmlformats.org/officeDocument/2006/relationships/slide" Target="slides/slide31.xml" /><ns0:Relationship Id="rId43" Type="http://schemas.openxmlformats.org/officeDocument/2006/relationships/slide" Target="slides/slide39.xml" /><ns0:Relationship Id="rId48" Type="http://schemas.openxmlformats.org/officeDocument/2006/relationships/slide" Target="slides/slide44.xml" /><ns0:Relationship Id="rId56" Type="http://schemas.openxmlformats.org/officeDocument/2006/relationships/slide" Target="slides/slide52.xml" /><ns0:Relationship Id="rId64" Type="http://schemas.openxmlformats.org/officeDocument/2006/relationships/presProps" Target="presProps.xml" /><ns0:Relationship Id="rId8" Type="http://schemas.openxmlformats.org/officeDocument/2006/relationships/slide" Target="slides/slide4.xml" /><ns0:Relationship Id="rId51" Type="http://schemas.openxmlformats.org/officeDocument/2006/relationships/slide" Target="slides/slide47.xml" /><ns0:Relationship Id="rId3" Type="http://schemas.openxmlformats.org/officeDocument/2006/relationships/customXml" Target="../customXml/item3.xml" /><ns0:Relationship Id="rId12" Type="http://schemas.openxmlformats.org/officeDocument/2006/relationships/slide" Target="slides/slide8.xml" /><ns0:Relationship Id="rId17" Type="http://schemas.openxmlformats.org/officeDocument/2006/relationships/slide" Target="slides/slide13.xml" /><ns0:Relationship Id="rId25" Type="http://schemas.openxmlformats.org/officeDocument/2006/relationships/slide" Target="slides/slide21.xml" /><ns0:Relationship Id="rId33" Type="http://schemas.openxmlformats.org/officeDocument/2006/relationships/slide" Target="slides/slide29.xml" /><ns0:Relationship Id="rId38" Type="http://schemas.openxmlformats.org/officeDocument/2006/relationships/slide" Target="slides/slide34.xml" /><ns0:Relationship Id="rId46" Type="http://schemas.openxmlformats.org/officeDocument/2006/relationships/slide" Target="slides/slide42.xml" /><ns0:Relationship Id="rId59" Type="http://schemas.openxmlformats.org/officeDocument/2006/relationships/slide" Target="slides/slide55.xml" /><ns0:Relationship Id="rId67" Type="http://schemas.openxmlformats.org/officeDocument/2006/relationships/tableStyles" Target="tableStyles.xml" /><ns0:Relationship Id="rId20" Type="http://schemas.openxmlformats.org/officeDocument/2006/relationships/slide" Target="slides/slide16.xml" /><ns0:Relationship Id="rId54" Type="http://schemas.openxmlformats.org/officeDocument/2006/relationships/slide" Target="slides/slide50.xml" /><ns0:Relationship Id="rId62" Type="http://schemas.openxmlformats.org/officeDocument/2006/relationships/slide" Target="slides/slide58.xml" /><ns0:Relationship Id="rId1" Type="http://schemas.openxmlformats.org/officeDocument/2006/relationships/customXml" Target="../customXml/item1.xml" /><ns0:Relationship Id="rId6" Type="http://schemas.openxmlformats.org/officeDocument/2006/relationships/slide" Target="slides/slide2.xml" /><ns0:Relationship Id="rId15" Type="http://schemas.openxmlformats.org/officeDocument/2006/relationships/slide" Target="slides/slide11.xml" /><ns0:Relationship Id="rId28" Type="http://schemas.openxmlformats.org/officeDocument/2006/relationships/slide" Target="slides/slide24.xml" /><ns0:Relationship Id="rId36" Type="http://schemas.openxmlformats.org/officeDocument/2006/relationships/slide" Target="slides/slide32.xml" /><ns0:Relationship Id="rId49" Type="http://schemas.openxmlformats.org/officeDocument/2006/relationships/slide" Target="slides/slide45.xml" /><ns0:Relationship Id="rId57" Type="http://schemas.openxmlformats.org/officeDocument/2006/relationships/slide" Target="slides/slide53.xml" /><ns0:Relationship Id="rId10" Type="http://schemas.openxmlformats.org/officeDocument/2006/relationships/slide" Target="slides/slide6.xml" /><ns0:Relationship Id="rId31" Type="http://schemas.openxmlformats.org/officeDocument/2006/relationships/slide" Target="slides/slide27.xml" /><ns0:Relationship Id="rId52" Type="http://schemas.openxmlformats.org/officeDocument/2006/relationships/slide" Target="slides/slide48.xml" /><ns0:Relationship Id="rId60" Type="http://schemas.openxmlformats.org/officeDocument/2006/relationships/slide" Target="slides/slide56.xml" /><ns0:Relationship Id="rId65" Type="http://schemas.openxmlformats.org/officeDocument/2006/relationships/viewProps" Target="viewProps.xml" /><ns0:Relationship Id="rId4" Type="http://schemas.openxmlformats.org/officeDocument/2006/relationships/slideMaster" Target="slideMasters/slideMaster1.xml" /><ns0:Relationship Id="rId9" Type="http://schemas.openxmlformats.org/officeDocument/2006/relationships/slide" Target="slides/slide5.xml" /><ns0:Relationship Id="rId13" Type="http://schemas.openxmlformats.org/officeDocument/2006/relationships/slide" Target="slides/slide9.xml" /><ns0:Relationship Id="rId18" Type="http://schemas.openxmlformats.org/officeDocument/2006/relationships/slide" Target="slides/slide14.xml" /></ns0: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834C7B-DDCD-4DA2-A8A1-4ED0CA7899F7}" type="datetimeFigureOut">
              <a:rPr lang="en-US" smtClean="0"/>
              <a:t>4/24/26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0A2744-D874-4199-B5D0-38AFC14B8F68}" type="slidenum">
              <a:rPr lang="en-US" smtClean="0"/>
              <a:t>‹#›</a:t>
            </a:fld>
            <a:endParaRPr lang="en-US"/>
          </a:p>
        </p:txBody>
      </p:sp>
    </p:spTree>
    <p:extLst>
      <p:ext uri="{BB962C8B-B14F-4D97-AF65-F5344CB8AC3E}">
        <p14:creationId xmlns:p14="http://schemas.microsoft.com/office/powerpoint/2010/main" val="13572484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Adjusted R² asks: did this predictor improve the model enough to justify the extra complexity? It’s a ‘return on investment’ metric. If adjusted R² goes down, the predictor didn’t earn its keep.</a:t>
            </a:r>
          </a:p>
        </p:txBody>
      </p:sp>
      <p:sp>
        <p:nvSpPr>
          <p:cNvPr id="4" name="Slide Number Placeholder 3"/>
          <p:cNvSpPr>
            <a:spLocks noGrp="1"/>
          </p:cNvSpPr>
          <p:nvPr>
            <p:ph type="sldNum" sz="quarter" idx="5"/>
          </p:nvPr>
        </p:nvSpPr>
        <p:spPr/>
        <p:txBody>
          <a:bodyPr/>
          <a:lstStyle/>
          <a:p>
            <a:fld id="{CA0A2744-D874-4199-B5D0-38AFC14B8F68}" type="slidenum">
              <a:rPr lang="en-US" smtClean="0"/>
              <a:t>43</a:t>
            </a:fld>
            <a:endParaRPr lang="en-US"/>
          </a:p>
        </p:txBody>
      </p:sp>
    </p:spTree>
    <p:extLst>
      <p:ext uri="{BB962C8B-B14F-4D97-AF65-F5344CB8AC3E}">
        <p14:creationId xmlns:p14="http://schemas.microsoft.com/office/powerpoint/2010/main" val="18430406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3DE6A7-84F6-4D78-FAE8-180656D0BF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5B35C2-6B03-6C48-FCD1-17CF7DB553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2A6D76-516C-F775-A171-C0D83B400DA6}"/>
              </a:ext>
            </a:extLst>
          </p:cNvPr>
          <p:cNvSpPr>
            <a:spLocks noGrp="1"/>
          </p:cNvSpPr>
          <p:nvPr>
            <p:ph type="body" idx="1"/>
          </p:nvPr>
        </p:nvSpPr>
        <p:spPr/>
        <p:txBody>
          <a:bodyPr/>
          <a:lstStyle/>
          <a:p>
            <a:r>
              <a:rPr lang="en-US"/>
              <a:t>Adjusted R² asks: did this predictor improve the model enough to justify the extra complexity? It’s a ‘return on investment’ metric. If adjusted R² goes down, the predictor didn’t earn its keep.</a:t>
            </a:r>
          </a:p>
        </p:txBody>
      </p:sp>
      <p:sp>
        <p:nvSpPr>
          <p:cNvPr id="4" name="Slide Number Placeholder 3">
            <a:extLst>
              <a:ext uri="{FF2B5EF4-FFF2-40B4-BE49-F238E27FC236}">
                <a16:creationId xmlns:a16="http://schemas.microsoft.com/office/drawing/2014/main" id="{EA6B5B80-3E85-5FFB-BBB3-EBB4332D9B80}"/>
              </a:ext>
            </a:extLst>
          </p:cNvPr>
          <p:cNvSpPr>
            <a:spLocks noGrp="1"/>
          </p:cNvSpPr>
          <p:nvPr>
            <p:ph type="sldNum" sz="quarter" idx="5"/>
          </p:nvPr>
        </p:nvSpPr>
        <p:spPr/>
        <p:txBody>
          <a:bodyPr/>
          <a:lstStyle/>
          <a:p>
            <a:fld id="{CA0A2744-D874-4199-B5D0-38AFC14B8F68}" type="slidenum">
              <a:rPr lang="en-US" smtClean="0"/>
              <a:t>44</a:t>
            </a:fld>
            <a:endParaRPr lang="en-US"/>
          </a:p>
        </p:txBody>
      </p:sp>
    </p:spTree>
    <p:extLst>
      <p:ext uri="{BB962C8B-B14F-4D97-AF65-F5344CB8AC3E}">
        <p14:creationId xmlns:p14="http://schemas.microsoft.com/office/powerpoint/2010/main" val="2826170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C22F8-701E-EE7D-FC53-D0BECAC4E4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C7F3C7-8975-367B-3396-5B7F6282BC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54CB98-6C61-CB9D-B082-D9120B1BFE88}"/>
              </a:ext>
            </a:extLst>
          </p:cNvPr>
          <p:cNvSpPr>
            <a:spLocks noGrp="1"/>
          </p:cNvSpPr>
          <p:nvPr>
            <p:ph type="body" idx="1"/>
          </p:nvPr>
        </p:nvSpPr>
        <p:spPr/>
        <p:txBody>
          <a:bodyPr/>
          <a:lstStyle/>
          <a:p>
            <a:r>
              <a:rPr lang="en-US"/>
              <a:t>Adjusted R² asks: did this predictor improve the model enough to justify the extra complexity? It’s a ‘return on investment’ metric. If adjusted R² goes down, the predictor didn’t earn its keep.</a:t>
            </a:r>
          </a:p>
        </p:txBody>
      </p:sp>
      <p:sp>
        <p:nvSpPr>
          <p:cNvPr id="4" name="Slide Number Placeholder 3">
            <a:extLst>
              <a:ext uri="{FF2B5EF4-FFF2-40B4-BE49-F238E27FC236}">
                <a16:creationId xmlns:a16="http://schemas.microsoft.com/office/drawing/2014/main" id="{FD066DFC-21DA-AFBD-1331-078550636E42}"/>
              </a:ext>
            </a:extLst>
          </p:cNvPr>
          <p:cNvSpPr>
            <a:spLocks noGrp="1"/>
          </p:cNvSpPr>
          <p:nvPr>
            <p:ph type="sldNum" sz="quarter" idx="5"/>
          </p:nvPr>
        </p:nvSpPr>
        <p:spPr/>
        <p:txBody>
          <a:bodyPr/>
          <a:lstStyle/>
          <a:p>
            <a:fld id="{CA0A2744-D874-4199-B5D0-38AFC14B8F68}" type="slidenum">
              <a:rPr lang="en-US" smtClean="0"/>
              <a:t>45</a:t>
            </a:fld>
            <a:endParaRPr lang="en-US"/>
          </a:p>
        </p:txBody>
      </p:sp>
    </p:spTree>
    <p:extLst>
      <p:ext uri="{BB962C8B-B14F-4D97-AF65-F5344CB8AC3E}">
        <p14:creationId xmlns:p14="http://schemas.microsoft.com/office/powerpoint/2010/main" val="18380835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00C3C-59BD-566A-F238-94EFE90EE3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6C72AE-F8D6-6FF3-C2E6-EDD06D504E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A7D73C-B476-882F-500F-670C149DAA37}"/>
              </a:ext>
            </a:extLst>
          </p:cNvPr>
          <p:cNvSpPr>
            <a:spLocks noGrp="1"/>
          </p:cNvSpPr>
          <p:nvPr>
            <p:ph type="body" idx="1"/>
          </p:nvPr>
        </p:nvSpPr>
        <p:spPr/>
        <p:txBody>
          <a:bodyPr/>
          <a:lstStyle/>
          <a:p>
            <a:r>
              <a:rPr lang="en-US"/>
              <a:t>Adjusted R² asks: did this predictor improve the model enough to justify the extra complexity? It’s a ‘return on investment’ metric. If adjusted R² goes down, the predictor didn’t earn its keep.</a:t>
            </a:r>
          </a:p>
        </p:txBody>
      </p:sp>
      <p:sp>
        <p:nvSpPr>
          <p:cNvPr id="4" name="Slide Number Placeholder 3">
            <a:extLst>
              <a:ext uri="{FF2B5EF4-FFF2-40B4-BE49-F238E27FC236}">
                <a16:creationId xmlns:a16="http://schemas.microsoft.com/office/drawing/2014/main" id="{7BCB76D6-C0E2-C824-5352-CC0BFE14EC1C}"/>
              </a:ext>
            </a:extLst>
          </p:cNvPr>
          <p:cNvSpPr>
            <a:spLocks noGrp="1"/>
          </p:cNvSpPr>
          <p:nvPr>
            <p:ph type="sldNum" sz="quarter" idx="5"/>
          </p:nvPr>
        </p:nvSpPr>
        <p:spPr/>
        <p:txBody>
          <a:bodyPr/>
          <a:lstStyle/>
          <a:p>
            <a:fld id="{CA0A2744-D874-4199-B5D0-38AFC14B8F68}" type="slidenum">
              <a:rPr lang="en-US" smtClean="0"/>
              <a:t>46</a:t>
            </a:fld>
            <a:endParaRPr lang="en-US"/>
          </a:p>
        </p:txBody>
      </p:sp>
    </p:spTree>
    <p:extLst>
      <p:ext uri="{BB962C8B-B14F-4D97-AF65-F5344CB8AC3E}">
        <p14:creationId xmlns:p14="http://schemas.microsoft.com/office/powerpoint/2010/main" val="30213293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46E5BD-B8AF-5683-D13E-BF5B4BB573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9B984D-517F-A8F8-6912-8377D7E058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9E27E-D57A-758F-86C2-DDC7EBCD1285}"/>
              </a:ext>
            </a:extLst>
          </p:cNvPr>
          <p:cNvSpPr>
            <a:spLocks noGrp="1"/>
          </p:cNvSpPr>
          <p:nvPr>
            <p:ph type="body" idx="1"/>
          </p:nvPr>
        </p:nvSpPr>
        <p:spPr/>
        <p:txBody>
          <a:bodyPr/>
          <a:lstStyle/>
          <a:p>
            <a:r>
              <a:rPr lang="en-US"/>
              <a:t>Adjusted R² asks: did this predictor improve the model enough to justify the extra complexity? It’s a ‘return on investment’ metric. If adjusted R² goes down, the predictor didn’t earn its keep.</a:t>
            </a:r>
          </a:p>
        </p:txBody>
      </p:sp>
      <p:sp>
        <p:nvSpPr>
          <p:cNvPr id="4" name="Slide Number Placeholder 3">
            <a:extLst>
              <a:ext uri="{FF2B5EF4-FFF2-40B4-BE49-F238E27FC236}">
                <a16:creationId xmlns:a16="http://schemas.microsoft.com/office/drawing/2014/main" id="{D2A39FAB-F052-A302-DDF8-9D675157D87B}"/>
              </a:ext>
            </a:extLst>
          </p:cNvPr>
          <p:cNvSpPr>
            <a:spLocks noGrp="1"/>
          </p:cNvSpPr>
          <p:nvPr>
            <p:ph type="sldNum" sz="quarter" idx="5"/>
          </p:nvPr>
        </p:nvSpPr>
        <p:spPr/>
        <p:txBody>
          <a:bodyPr/>
          <a:lstStyle/>
          <a:p>
            <a:fld id="{CA0A2744-D874-4199-B5D0-38AFC14B8F68}" type="slidenum">
              <a:rPr lang="en-US" smtClean="0"/>
              <a:t>47</a:t>
            </a:fld>
            <a:endParaRPr lang="en-US"/>
          </a:p>
        </p:txBody>
      </p:sp>
    </p:spTree>
    <p:extLst>
      <p:ext uri="{BB962C8B-B14F-4D97-AF65-F5344CB8AC3E}">
        <p14:creationId xmlns:p14="http://schemas.microsoft.com/office/powerpoint/2010/main" val="13492327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6DEED-3B1F-A85D-88E5-79EEC396E3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E15669-C871-321A-B512-C56E2AF0E1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D1AE95-CDDA-DE93-16EA-8BA837EDE82E}"/>
              </a:ext>
            </a:extLst>
          </p:cNvPr>
          <p:cNvSpPr>
            <a:spLocks noGrp="1"/>
          </p:cNvSpPr>
          <p:nvPr>
            <p:ph type="body" idx="1"/>
          </p:nvPr>
        </p:nvSpPr>
        <p:spPr/>
        <p:txBody>
          <a:bodyPr/>
          <a:lstStyle/>
          <a:p>
            <a:r>
              <a:rPr lang="en-US"/>
              <a:t>Adjusted R² asks: did this predictor improve the model enough to justify the extra complexity? It’s a ‘return on investment’ metric. If adjusted R² goes down, the predictor didn’t earn its keep.</a:t>
            </a:r>
          </a:p>
        </p:txBody>
      </p:sp>
      <p:sp>
        <p:nvSpPr>
          <p:cNvPr id="4" name="Slide Number Placeholder 3">
            <a:extLst>
              <a:ext uri="{FF2B5EF4-FFF2-40B4-BE49-F238E27FC236}">
                <a16:creationId xmlns:a16="http://schemas.microsoft.com/office/drawing/2014/main" id="{84388023-C30A-BCE2-116A-6E58B52FE305}"/>
              </a:ext>
            </a:extLst>
          </p:cNvPr>
          <p:cNvSpPr>
            <a:spLocks noGrp="1"/>
          </p:cNvSpPr>
          <p:nvPr>
            <p:ph type="sldNum" sz="quarter" idx="5"/>
          </p:nvPr>
        </p:nvSpPr>
        <p:spPr/>
        <p:txBody>
          <a:bodyPr/>
          <a:lstStyle/>
          <a:p>
            <a:fld id="{CA0A2744-D874-4199-B5D0-38AFC14B8F68}" type="slidenum">
              <a:rPr lang="en-US" smtClean="0"/>
              <a:t>48</a:t>
            </a:fld>
            <a:endParaRPr lang="en-US"/>
          </a:p>
        </p:txBody>
      </p:sp>
    </p:spTree>
    <p:extLst>
      <p:ext uri="{BB962C8B-B14F-4D97-AF65-F5344CB8AC3E}">
        <p14:creationId xmlns:p14="http://schemas.microsoft.com/office/powerpoint/2010/main" val="23979510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03497-9A0D-DB92-52E9-C532383A6E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948AE7-F022-0AB0-3DC9-3FEFFA37F8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3D01DF-786E-F6A2-7F8E-A75EE247DC1E}"/>
              </a:ext>
            </a:extLst>
          </p:cNvPr>
          <p:cNvSpPr>
            <a:spLocks noGrp="1"/>
          </p:cNvSpPr>
          <p:nvPr>
            <p:ph type="body" idx="1"/>
          </p:nvPr>
        </p:nvSpPr>
        <p:spPr/>
        <p:txBody>
          <a:bodyPr/>
          <a:lstStyle/>
          <a:p>
            <a:r>
              <a:rPr lang="en-US"/>
              <a:t>Adjusted R² asks: did this predictor improve the model enough to justify the extra complexity? It’s a ‘return on investment’ metric. If adjusted R² goes down, the predictor didn’t earn its keep.</a:t>
            </a:r>
          </a:p>
        </p:txBody>
      </p:sp>
      <p:sp>
        <p:nvSpPr>
          <p:cNvPr id="4" name="Slide Number Placeholder 3">
            <a:extLst>
              <a:ext uri="{FF2B5EF4-FFF2-40B4-BE49-F238E27FC236}">
                <a16:creationId xmlns:a16="http://schemas.microsoft.com/office/drawing/2014/main" id="{8EAB05A9-FACA-D37F-1AA5-A20C8628F8BB}"/>
              </a:ext>
            </a:extLst>
          </p:cNvPr>
          <p:cNvSpPr>
            <a:spLocks noGrp="1"/>
          </p:cNvSpPr>
          <p:nvPr>
            <p:ph type="sldNum" sz="quarter" idx="5"/>
          </p:nvPr>
        </p:nvSpPr>
        <p:spPr/>
        <p:txBody>
          <a:bodyPr/>
          <a:lstStyle/>
          <a:p>
            <a:fld id="{CA0A2744-D874-4199-B5D0-38AFC14B8F68}" type="slidenum">
              <a:rPr lang="en-US" smtClean="0"/>
              <a:t>49</a:t>
            </a:fld>
            <a:endParaRPr lang="en-US"/>
          </a:p>
        </p:txBody>
      </p:sp>
    </p:spTree>
    <p:extLst>
      <p:ext uri="{BB962C8B-B14F-4D97-AF65-F5344CB8AC3E}">
        <p14:creationId xmlns:p14="http://schemas.microsoft.com/office/powerpoint/2010/main" val="42481854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CD8A0DF-77F2-41CB-8AB1-039A907AEF00}" type="datetime1">
              <a:rPr lang="en-US" smtClean="0"/>
              <a:t>4/24/26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1E560B9-39EF-4450-86E6-AD5DFD5CF4CE}" type="datetime1">
              <a:rPr lang="en-US" smtClean="0"/>
              <a:t>4/24/26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64E706A-D32F-439B-9E02-5FA81271A530}" type="datetime1">
              <a:rPr lang="en-US" smtClean="0"/>
              <a:t>4/24/26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301F620-7CEC-4EFC-97A8-6173B36C6C3E}" type="datetime1">
              <a:rPr lang="en-US" smtClean="0"/>
              <a:t>4/24/26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F741F5B-4459-4939-93E5-2F4841F265B8}" type="datetime1">
              <a:rPr lang="en-US" smtClean="0"/>
              <a:t>4/24/26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3868814-91B5-4D4E-91B7-B86E988BF520}" type="datetime1">
              <a:rPr lang="en-US" smtClean="0"/>
              <a:t>4/24/26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1D83BC-75CD-4F2E-A482-A8EC083E7A62}" type="datetime1">
              <a:rPr lang="en-US" smtClean="0"/>
              <a:t>4/24/26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30D0403-5A11-448B-92B7-544EEDC96667}" type="datetime1">
              <a:rPr lang="en-US" smtClean="0"/>
              <a:t>4/24/26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3118D0E-F4E9-4AD5-B8A6-23FA34F477DC}" type="datetime1">
              <a:rPr lang="en-US" smtClean="0"/>
              <a:t>4/24/26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73288FD-A071-4348-AEB4-B4D1D06C208E}" type="datetime1">
              <a:rPr lang="en-US" smtClean="0"/>
              <a:t>4/24/26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B2169CA-A90C-473A-854A-C73BD9482C31}" type="datetime1">
              <a:rPr lang="en-US" smtClean="0"/>
              <a:t>4/24/26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E8353AA-C9BD-4A66-9B19-E5ED1A1FFB46}" type="datetime1">
              <a:rPr lang="en-US" smtClean="0"/>
              <a:t>4/24/26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youtube.com/watch?v=mno47Jn4gaU" TargetMode="External"/><Relationship Id="rId2" Type="http://schemas.openxmlformats.org/officeDocument/2006/relationships/hyperlink" Target="https://www.statology.org/breusch-pagan-test/"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statology.org/breusch-pagan-test/" TargetMode="External"/><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4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4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OA3103: Data Analysis</a:t>
            </a:r>
          </a:p>
        </p:txBody>
      </p:sp>
      <p:sp>
        <p:nvSpPr>
          <p:cNvPr id="3" name="Subtitle 2"/>
          <p:cNvSpPr>
            <a:spLocks noGrp="1"/>
          </p:cNvSpPr>
          <p:nvPr>
            <p:ph type="subTitle" idx="1"/>
          </p:nvPr>
        </p:nvSpPr>
        <p:spPr/>
        <p:txBody>
          <a:bodyPr vert="horz" lIns="91440" tIns="45720" rIns="91440" bIns="45720" rtlCol="0" anchor="t">
            <a:normAutofit/>
          </a:bodyPr>
          <a:lstStyle/>
          <a:p>
            <a:r>
              <a:rPr lang="en-US"/>
              <a:t>Residual Diagnostics and R/Python Tools</a:t>
            </a:r>
          </a:p>
        </p:txBody>
      </p:sp>
      <p:sp>
        <p:nvSpPr>
          <p:cNvPr id="4" name="Slide Number Placeholder 3">
            <a:extLst>
              <a:ext uri="{FF2B5EF4-FFF2-40B4-BE49-F238E27FC236}">
                <a16:creationId xmlns:a16="http://schemas.microsoft.com/office/drawing/2014/main" id="{3EF20BE3-F9B2-BB01-169A-8ECF277332A2}"/>
              </a:ext>
            </a:extLst>
          </p:cNvPr>
          <p:cNvSpPr>
            <a:spLocks noGrp="1"/>
          </p:cNvSpPr>
          <p:nvPr>
            <p:ph type="sldNum" sz="quarter" idx="12"/>
          </p:nvPr>
        </p:nvSpPr>
        <p:spPr/>
        <p:txBody>
          <a:bodyPr/>
          <a:lstStyle/>
          <a:p>
            <a:fld id="{330EA680-D336-4FF7-8B7A-9848BB0A1C32}" type="slidenum">
              <a:rPr lang="en-US" smtClean="0"/>
              <a:t>1</a:t>
            </a:fld>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35F56-CE10-31EA-09BF-8882CF03C107}"/>
              </a:ext>
            </a:extLst>
          </p:cNvPr>
          <p:cNvSpPr>
            <a:spLocks noGrp="1"/>
          </p:cNvSpPr>
          <p:nvPr>
            <p:ph type="title"/>
          </p:nvPr>
        </p:nvSpPr>
        <p:spPr/>
        <p:txBody>
          <a:bodyPr/>
          <a:lstStyle/>
          <a:p>
            <a:r>
              <a:rPr lang="en-US"/>
              <a:t>References</a:t>
            </a:r>
          </a:p>
        </p:txBody>
      </p:sp>
      <p:sp>
        <p:nvSpPr>
          <p:cNvPr id="3" name="Content Placeholder 2">
            <a:extLst>
              <a:ext uri="{FF2B5EF4-FFF2-40B4-BE49-F238E27FC236}">
                <a16:creationId xmlns:a16="http://schemas.microsoft.com/office/drawing/2014/main" id="{73529452-E667-7C57-E02E-229B97D8FED5}"/>
              </a:ext>
            </a:extLst>
          </p:cNvPr>
          <p:cNvSpPr>
            <a:spLocks noGrp="1"/>
          </p:cNvSpPr>
          <p:nvPr>
            <p:ph idx="1"/>
          </p:nvPr>
        </p:nvSpPr>
        <p:spPr/>
        <p:txBody>
          <a:bodyPr vert="horz" lIns="91440" tIns="45720" rIns="91440" bIns="45720" rtlCol="0" anchor="t">
            <a:normAutofit/>
          </a:bodyPr>
          <a:lstStyle/>
          <a:p>
            <a:r>
              <a:rPr lang="en-US" dirty="0"/>
              <a:t>ISLP/R: Chapter 3</a:t>
            </a:r>
          </a:p>
          <a:p>
            <a:r>
              <a:rPr lang="en-US" dirty="0"/>
              <a:t>Faraway: 2.3-2.11</a:t>
            </a:r>
          </a:p>
          <a:p>
            <a:endParaRPr lang="en-US" dirty="0"/>
          </a:p>
          <a:p>
            <a:r>
              <a:rPr lang="en-US" i="1" dirty="0"/>
              <a:t>Breusch Pagan Test</a:t>
            </a:r>
            <a:r>
              <a:rPr lang="en-US" dirty="0"/>
              <a:t>, available </a:t>
            </a:r>
            <a:r>
              <a:rPr lang="en-US" dirty="0">
                <a:hlinkClick r:id="rId2"/>
              </a:rPr>
              <a:t>https://www.statology.org/breusch-pagan-test/</a:t>
            </a:r>
            <a:r>
              <a:rPr lang="en-US" dirty="0"/>
              <a:t> </a:t>
            </a:r>
          </a:p>
          <a:p>
            <a:r>
              <a:rPr lang="en-US" dirty="0"/>
              <a:t>"Multiple Regression in R, Step by Step," Josh Starmer, </a:t>
            </a:r>
            <a:r>
              <a:rPr lang="en-US" dirty="0" err="1"/>
              <a:t>StatQuest</a:t>
            </a:r>
            <a:r>
              <a:rPr lang="en-US" dirty="0"/>
              <a:t>. </a:t>
            </a:r>
            <a:r>
              <a:rPr lang="en-US" dirty="0">
                <a:ea typeface="+mn-lt"/>
                <a:cs typeface="+mn-lt"/>
                <a:hlinkClick r:id="rId3"/>
              </a:rPr>
              <a:t>https://www.youtube.com/watch?v=mno47Jn4gaU</a:t>
            </a:r>
            <a:r>
              <a:rPr lang="en-US" dirty="0">
                <a:ea typeface="+mn-lt"/>
                <a:cs typeface="+mn-lt"/>
              </a:rPr>
              <a:t> </a:t>
            </a:r>
            <a:endParaRPr lang="en-US" dirty="0"/>
          </a:p>
          <a:p>
            <a:endParaRPr lang="en-US" dirty="0"/>
          </a:p>
          <a:p>
            <a:endParaRPr lang="en-US" dirty="0"/>
          </a:p>
          <a:p>
            <a:endParaRPr lang="en-US" dirty="0"/>
          </a:p>
        </p:txBody>
      </p:sp>
      <p:sp>
        <p:nvSpPr>
          <p:cNvPr id="5" name="Slide Number Placeholder 4">
            <a:extLst>
              <a:ext uri="{FF2B5EF4-FFF2-40B4-BE49-F238E27FC236}">
                <a16:creationId xmlns:a16="http://schemas.microsoft.com/office/drawing/2014/main" id="{CE1FC786-F85F-38B0-1D29-44393126737B}"/>
              </a:ext>
            </a:extLst>
          </p:cNvPr>
          <p:cNvSpPr>
            <a:spLocks noGrp="1"/>
          </p:cNvSpPr>
          <p:nvPr>
            <p:ph type="sldNum" sz="quarter" idx="12"/>
          </p:nvPr>
        </p:nvSpPr>
        <p:spPr/>
        <p:txBody>
          <a:bodyPr/>
          <a:lstStyle/>
          <a:p>
            <a:fld id="{330EA680-D336-4FF7-8B7A-9848BB0A1C32}" type="slidenum">
              <a:rPr lang="en-US" smtClean="0"/>
              <a:t>2</a:t>
            </a:fld>
            <a:endParaRPr lang="en-US"/>
          </a:p>
        </p:txBody>
      </p:sp>
    </p:spTree>
    <p:extLst>
      <p:ext uri="{BB962C8B-B14F-4D97-AF65-F5344CB8AC3E}">
        <p14:creationId xmlns:p14="http://schemas.microsoft.com/office/powerpoint/2010/main" val="10344417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5FA54A05-4359-A79F-0A24-EEA4B35BEACA}"/>
                  </a:ext>
                </a:extLst>
              </p:cNvPr>
              <p:cNvSpPr>
                <a:spLocks noGrp="1"/>
              </p:cNvSpPr>
              <p:nvPr>
                <p:ph type="title"/>
              </p:nvPr>
            </p:nvSpPr>
            <p:spPr/>
            <p:txBody>
              <a:bodyPr/>
              <a:lstStyle/>
              <a:p>
                <a:r>
                  <a:rPr lang="en-US"/>
                  <a:t>Theory </a:t>
                </a:r>
                <a14:m>
                  <m:oMath xmlns:m="http://schemas.openxmlformats.org/officeDocument/2006/math">
                    <m:r>
                      <a:rPr lang="en-US" b="0" i="1" smtClean="0">
                        <a:latin typeface="Cambria Math" panose="02040503050406030204" pitchFamily="18" charset="0"/>
                      </a:rPr>
                      <m:t>→ </m:t>
                    </m:r>
                  </m:oMath>
                </a14:m>
                <a:r>
                  <a:rPr lang="en-US"/>
                  <a:t>Application </a:t>
                </a:r>
              </a:p>
            </p:txBody>
          </p:sp>
        </mc:Choice>
        <mc:Fallback>
          <p:sp>
            <p:nvSpPr>
              <p:cNvPr id="2" name="Title 1">
                <a:extLst>
                  <a:ext uri="{FF2B5EF4-FFF2-40B4-BE49-F238E27FC236}">
                    <a16:creationId xmlns:a16="http://schemas.microsoft.com/office/drawing/2014/main" id="{5FA54A05-4359-A79F-0A24-EEA4B35BEACA}"/>
                  </a:ext>
                </a:extLst>
              </p:cNvPr>
              <p:cNvSpPr>
                <a:spLocks noGrp="1" noRot="1" noChangeAspect="1" noMove="1" noResize="1" noEditPoints="1" noAdjustHandles="1" noChangeArrowheads="1" noChangeShapeType="1" noTextEdit="1"/>
              </p:cNvSpPr>
              <p:nvPr>
                <p:ph type="title"/>
              </p:nvPr>
            </p:nvSpPr>
            <p:spPr>
              <a:blipFill>
                <a:blip r:embed="rId2"/>
                <a:stretch>
                  <a:fillRect l="-2413"/>
                </a:stretch>
              </a:blipFill>
            </p:spPr>
            <p:txBody>
              <a:bodyPr/>
              <a:lstStyle/>
              <a:p>
                <a:r>
                  <a:rPr lang="en-US">
                    <a:noFill/>
                  </a:rPr>
                  <a:t> </a:t>
                </a:r>
              </a:p>
            </p:txBody>
          </p:sp>
        </mc:Fallback>
      </mc:AlternateContent>
      <p:sp>
        <p:nvSpPr>
          <p:cNvPr id="3" name="Content Placeholder 2">
            <a:extLst>
              <a:ext uri="{FF2B5EF4-FFF2-40B4-BE49-F238E27FC236}">
                <a16:creationId xmlns:a16="http://schemas.microsoft.com/office/drawing/2014/main" id="{44CDB815-2E47-3A85-F048-D71285B27DEA}"/>
              </a:ext>
            </a:extLst>
          </p:cNvPr>
          <p:cNvSpPr>
            <a:spLocks noGrp="1"/>
          </p:cNvSpPr>
          <p:nvPr>
            <p:ph idx="1"/>
          </p:nvPr>
        </p:nvSpPr>
        <p:spPr>
          <a:xfrm>
            <a:off x="838200" y="1825625"/>
            <a:ext cx="5195131" cy="4351338"/>
          </a:xfrm>
        </p:spPr>
        <p:txBody>
          <a:bodyPr/>
          <a:lstStyle/>
          <a:p>
            <a:r>
              <a:rPr lang="en-US"/>
              <a:t>Truth + Error Representation</a:t>
            </a:r>
          </a:p>
          <a:p>
            <a:r>
              <a:rPr lang="en-US"/>
              <a:t>Understanding of Linear </a:t>
            </a:r>
            <a:br>
              <a:rPr lang="en-US"/>
            </a:br>
            <a:r>
              <a:rPr lang="en-US"/>
              <a:t>Relationships (Coefficients)</a:t>
            </a:r>
          </a:p>
          <a:p>
            <a:r>
              <a:rPr lang="en-US"/>
              <a:t>Transformations (So far)</a:t>
            </a:r>
          </a:p>
          <a:p>
            <a:endParaRPr lang="en-US"/>
          </a:p>
        </p:txBody>
      </p:sp>
      <p:sp>
        <p:nvSpPr>
          <p:cNvPr id="4" name="Slide Number Placeholder 3">
            <a:extLst>
              <a:ext uri="{FF2B5EF4-FFF2-40B4-BE49-F238E27FC236}">
                <a16:creationId xmlns:a16="http://schemas.microsoft.com/office/drawing/2014/main" id="{AEF72F50-91CB-E0EC-65A2-19A4E2D7740E}"/>
              </a:ext>
            </a:extLst>
          </p:cNvPr>
          <p:cNvSpPr>
            <a:spLocks noGrp="1"/>
          </p:cNvSpPr>
          <p:nvPr>
            <p:ph type="sldNum" sz="quarter" idx="12"/>
          </p:nvPr>
        </p:nvSpPr>
        <p:spPr/>
        <p:txBody>
          <a:bodyPr/>
          <a:lstStyle/>
          <a:p>
            <a:fld id="{330EA680-D336-4FF7-8B7A-9848BB0A1C32}" type="slidenum">
              <a:rPr lang="en-US" smtClean="0"/>
              <a:t>4</a:t>
            </a:fld>
            <a:endParaRPr lang="en-US"/>
          </a:p>
        </p:txBody>
      </p:sp>
      <p:sp>
        <p:nvSpPr>
          <p:cNvPr id="5" name="Content Placeholder 2">
            <a:extLst>
              <a:ext uri="{FF2B5EF4-FFF2-40B4-BE49-F238E27FC236}">
                <a16:creationId xmlns:a16="http://schemas.microsoft.com/office/drawing/2014/main" id="{6478051A-2CBC-F6BE-8705-C215C523E092}"/>
              </a:ext>
            </a:extLst>
          </p:cNvPr>
          <p:cNvSpPr txBox="1">
            <a:spLocks/>
          </p:cNvSpPr>
          <p:nvPr/>
        </p:nvSpPr>
        <p:spPr>
          <a:xfrm>
            <a:off x="6600203" y="2338372"/>
            <a:ext cx="5361773" cy="95175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t>Look at Residuals to assess our model</a:t>
            </a:r>
          </a:p>
        </p:txBody>
      </p:sp>
      <p:sp>
        <p:nvSpPr>
          <p:cNvPr id="6" name="Right Brace 5">
            <a:extLst>
              <a:ext uri="{FF2B5EF4-FFF2-40B4-BE49-F238E27FC236}">
                <a16:creationId xmlns:a16="http://schemas.microsoft.com/office/drawing/2014/main" id="{B48308F2-52DF-31A1-2125-EA52A8F4CE03}"/>
              </a:ext>
            </a:extLst>
          </p:cNvPr>
          <p:cNvSpPr/>
          <p:nvPr/>
        </p:nvSpPr>
        <p:spPr>
          <a:xfrm>
            <a:off x="5665862" y="1825625"/>
            <a:ext cx="769121" cy="1831975"/>
          </a:xfrm>
          <a:prstGeom prst="rightBrace">
            <a:avLst/>
          </a:prstGeom>
          <a:ln>
            <a:solidFill>
              <a:srgbClr val="00B05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8799484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5632A-B089-BF0A-0357-EDCE95C58E8C}"/>
              </a:ext>
            </a:extLst>
          </p:cNvPr>
          <p:cNvSpPr>
            <a:spLocks noGrp="1"/>
          </p:cNvSpPr>
          <p:nvPr>
            <p:ph type="title"/>
          </p:nvPr>
        </p:nvSpPr>
        <p:spPr/>
        <p:txBody>
          <a:bodyPr>
            <a:normAutofit/>
          </a:bodyPr>
          <a:lstStyle/>
          <a:p>
            <a:r>
              <a:rPr lang="en-US">
                <a:latin typeface="Aptos"/>
              </a:rPr>
              <a:t>Why we look at residuals at all</a:t>
            </a:r>
            <a:endParaRPr lang="en-US"/>
          </a:p>
        </p:txBody>
      </p:sp>
      <p:sp>
        <p:nvSpPr>
          <p:cNvPr id="3" name="Content Placeholder 2">
            <a:extLst>
              <a:ext uri="{FF2B5EF4-FFF2-40B4-BE49-F238E27FC236}">
                <a16:creationId xmlns:a16="http://schemas.microsoft.com/office/drawing/2014/main" id="{4157BA31-15E9-5381-C7F8-2D71A3A990D3}"/>
              </a:ext>
            </a:extLst>
          </p:cNvPr>
          <p:cNvSpPr>
            <a:spLocks noGrp="1"/>
          </p:cNvSpPr>
          <p:nvPr>
            <p:ph idx="1"/>
          </p:nvPr>
        </p:nvSpPr>
        <p:spPr/>
        <p:txBody>
          <a:bodyPr vert="horz" lIns="91440" tIns="45720" rIns="91440" bIns="45720" rtlCol="0" anchor="t">
            <a:normAutofit/>
          </a:bodyPr>
          <a:lstStyle/>
          <a:p>
            <a:r>
              <a:rPr lang="en-US"/>
              <a:t>Residuals are the model’s “error report.”</a:t>
            </a:r>
          </a:p>
          <a:p>
            <a:r>
              <a:rPr lang="en-US"/>
              <a:t>If the model is appropriate, residuals should look like:</a:t>
            </a:r>
          </a:p>
          <a:p>
            <a:pPr lvl="1"/>
            <a:r>
              <a:rPr lang="en-US"/>
              <a:t>mean zero</a:t>
            </a:r>
          </a:p>
          <a:p>
            <a:pPr lvl="1"/>
            <a:r>
              <a:rPr lang="en-US"/>
              <a:t>roughly normal (for inference)</a:t>
            </a:r>
          </a:p>
          <a:p>
            <a:pPr lvl="1"/>
            <a:r>
              <a:rPr lang="en-US"/>
              <a:t>constant variance (aka homoskedasticity)</a:t>
            </a:r>
          </a:p>
          <a:p>
            <a:r>
              <a:rPr lang="en-US"/>
              <a:t>These checks tell us whether the </a:t>
            </a:r>
            <a:r>
              <a:rPr lang="en-US" i="1"/>
              <a:t>linear model structure</a:t>
            </a:r>
            <a:r>
              <a:rPr lang="en-US"/>
              <a:t> is appropriate.</a:t>
            </a:r>
          </a:p>
        </p:txBody>
      </p:sp>
      <p:sp>
        <p:nvSpPr>
          <p:cNvPr id="4" name="Slide Number Placeholder 3">
            <a:extLst>
              <a:ext uri="{FF2B5EF4-FFF2-40B4-BE49-F238E27FC236}">
                <a16:creationId xmlns:a16="http://schemas.microsoft.com/office/drawing/2014/main" id="{E011CB79-2ACD-AE41-A5E6-A487096A1E88}"/>
              </a:ext>
            </a:extLst>
          </p:cNvPr>
          <p:cNvSpPr>
            <a:spLocks noGrp="1"/>
          </p:cNvSpPr>
          <p:nvPr>
            <p:ph type="sldNum" sz="quarter" idx="12"/>
          </p:nvPr>
        </p:nvSpPr>
        <p:spPr/>
        <p:txBody>
          <a:bodyPr/>
          <a:lstStyle/>
          <a:p>
            <a:fld id="{330EA680-D336-4FF7-8B7A-9848BB0A1C32}" type="slidenum">
              <a:rPr lang="en-US" smtClean="0"/>
              <a:t>5</a:t>
            </a:fld>
            <a:endParaRPr lang="en-US"/>
          </a:p>
        </p:txBody>
      </p:sp>
    </p:spTree>
    <p:extLst>
      <p:ext uri="{BB962C8B-B14F-4D97-AF65-F5344CB8AC3E}">
        <p14:creationId xmlns:p14="http://schemas.microsoft.com/office/powerpoint/2010/main" val="27704527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3E6C1-3802-FBC0-1BE9-C44EA137EF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215A36-9238-2519-3FFA-C4EA0FEA3DAD}"/>
              </a:ext>
            </a:extLst>
          </p:cNvPr>
          <p:cNvSpPr>
            <a:spLocks noGrp="1"/>
          </p:cNvSpPr>
          <p:nvPr>
            <p:ph type="title"/>
          </p:nvPr>
        </p:nvSpPr>
        <p:spPr/>
        <p:txBody>
          <a:bodyPr/>
          <a:lstStyle/>
          <a:p>
            <a:r>
              <a:rPr lang="en-US"/>
              <a:t>Checking Residuals Against our “Big 3”</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7BEEF21-CD80-DE5A-BEDC-FD973E4BBE0F}"/>
                  </a:ext>
                </a:extLst>
              </p:cNvPr>
              <p:cNvSpPr>
                <a:spLocks noGrp="1"/>
              </p:cNvSpPr>
              <p:nvPr>
                <p:ph idx="1"/>
              </p:nvPr>
            </p:nvSpPr>
            <p:spPr/>
            <p:txBody>
              <a:bodyPr/>
              <a:lstStyle/>
              <a:p>
                <a:pPr marL="0" indent="0">
                  <a:buNone/>
                </a:pPr>
                <a:r>
                  <a:rPr lang="en-US"/>
                  <a:t>We can </a:t>
                </a:r>
                <a:r>
                  <a:rPr lang="en-US" b="1">
                    <a:solidFill>
                      <a:srgbClr val="00B050"/>
                    </a:solidFill>
                  </a:rPr>
                  <a:t>verify modeling assumptions </a:t>
                </a:r>
                <a:r>
                  <a:rPr lang="en-US"/>
                  <a:t>by </a:t>
                </a:r>
                <a:r>
                  <a:rPr lang="en-US" b="1">
                    <a:solidFill>
                      <a:srgbClr val="0432FF"/>
                    </a:solidFill>
                  </a:rPr>
                  <a:t>looking at properties of the residuals</a:t>
                </a:r>
                <a:r>
                  <a:rPr lang="en-US"/>
                  <a:t>.</a:t>
                </a:r>
              </a:p>
              <a:p>
                <a:pPr marL="0" indent="0">
                  <a:buNone/>
                </a:pPr>
                <a:endParaRPr lang="en-US"/>
              </a:p>
              <a:p>
                <a14:m>
                  <m:oMath xmlns:m="http://schemas.openxmlformats.org/officeDocument/2006/math">
                    <m:r>
                      <a:rPr lang="en-US" b="0" i="1" smtClean="0">
                        <a:latin typeface="Cambria Math" panose="02040503050406030204" pitchFamily="18" charset="0"/>
                      </a:rPr>
                      <m:t>𝑒</m:t>
                    </m:r>
                    <m:r>
                      <a:rPr lang="en-US" b="0" i="1" smtClean="0">
                        <a:latin typeface="Cambria Math" panose="02040503050406030204" pitchFamily="18" charset="0"/>
                      </a:rPr>
                      <m:t> </m:t>
                    </m:r>
                  </m:oMath>
                </a14:m>
                <a:r>
                  <a:rPr lang="en-US"/>
                  <a:t>has mean zero for each </a:t>
                </a:r>
                <a14:m>
                  <m:oMath xmlns:m="http://schemas.openxmlformats.org/officeDocument/2006/math">
                    <m:r>
                      <a:rPr lang="en-US" b="0" i="1" smtClean="0">
                        <a:latin typeface="Cambria Math" panose="02040503050406030204" pitchFamily="18" charset="0"/>
                      </a:rPr>
                      <m:t>𝑥</m:t>
                    </m:r>
                  </m:oMath>
                </a14:m>
                <a:r>
                  <a:rPr lang="en-US"/>
                  <a:t> </a:t>
                </a:r>
                <a:r>
                  <a:rPr lang="en-US" i="1"/>
                  <a:t>suggests</a:t>
                </a:r>
                <a:r>
                  <a:rPr lang="en-US"/>
                  <a:t> </a:t>
                </a:r>
                <a14:m>
                  <m:oMath xmlns:m="http://schemas.openxmlformats.org/officeDocument/2006/math">
                    <m:r>
                      <a:rPr lang="en-US" b="0" i="1" smtClean="0">
                        <a:latin typeface="Cambria Math" panose="02040503050406030204" pitchFamily="18" charset="0"/>
                      </a:rPr>
                      <m:t>𝜖</m:t>
                    </m:r>
                  </m:oMath>
                </a14:m>
                <a:r>
                  <a:rPr lang="en-US"/>
                  <a:t> has mean zero.</a:t>
                </a:r>
              </a:p>
              <a:p>
                <a14:m>
                  <m:oMath xmlns:m="http://schemas.openxmlformats.org/officeDocument/2006/math">
                    <m:r>
                      <a:rPr lang="en-US" b="0" i="1" smtClean="0">
                        <a:latin typeface="Cambria Math" panose="02040503050406030204" pitchFamily="18" charset="0"/>
                      </a:rPr>
                      <m:t>𝑒</m:t>
                    </m:r>
                    <m:r>
                      <a:rPr lang="en-US" b="0" i="1" smtClean="0">
                        <a:latin typeface="Cambria Math" panose="02040503050406030204" pitchFamily="18" charset="0"/>
                      </a:rPr>
                      <m:t> </m:t>
                    </m:r>
                  </m:oMath>
                </a14:m>
                <a:r>
                  <a:rPr lang="en-US"/>
                  <a:t>is </a:t>
                </a:r>
                <a:r>
                  <a:rPr lang="en-US" err="1"/>
                  <a:t>homoskedastic</a:t>
                </a:r>
                <a:r>
                  <a:rPr lang="en-US"/>
                  <a:t> </a:t>
                </a:r>
                <a:r>
                  <a:rPr lang="en-US" i="1"/>
                  <a:t>suggests</a:t>
                </a:r>
                <a:r>
                  <a:rPr lang="en-US"/>
                  <a:t> </a:t>
                </a:r>
                <a14:m>
                  <m:oMath xmlns:m="http://schemas.openxmlformats.org/officeDocument/2006/math">
                    <m:r>
                      <a:rPr lang="en-US" b="0" i="1" smtClean="0">
                        <a:latin typeface="Cambria Math" panose="02040503050406030204" pitchFamily="18" charset="0"/>
                      </a:rPr>
                      <m:t>𝜖</m:t>
                    </m:r>
                  </m:oMath>
                </a14:m>
                <a:r>
                  <a:rPr lang="en-US"/>
                  <a:t> has constant variance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𝜎</m:t>
                        </m:r>
                      </m:e>
                      <m:sup>
                        <m:r>
                          <a:rPr lang="en-US" b="0" i="1" smtClean="0">
                            <a:latin typeface="Cambria Math" panose="02040503050406030204" pitchFamily="18" charset="0"/>
                          </a:rPr>
                          <m:t>2</m:t>
                        </m:r>
                      </m:sup>
                    </m:sSup>
                  </m:oMath>
                </a14:m>
                <a:r>
                  <a:rPr lang="en-US"/>
                  <a:t>.</a:t>
                </a:r>
              </a:p>
              <a:p>
                <a14:m>
                  <m:oMath xmlns:m="http://schemas.openxmlformats.org/officeDocument/2006/math">
                    <m:r>
                      <a:rPr lang="en-US" b="0" i="1" smtClean="0">
                        <a:latin typeface="Cambria Math" panose="02040503050406030204" pitchFamily="18" charset="0"/>
                      </a:rPr>
                      <m:t>𝑒</m:t>
                    </m:r>
                    <m:r>
                      <a:rPr lang="en-US" b="0" i="1" smtClean="0">
                        <a:latin typeface="Cambria Math" panose="02040503050406030204" pitchFamily="18" charset="0"/>
                      </a:rPr>
                      <m:t> </m:t>
                    </m:r>
                    <m:r>
                      <m:rPr>
                        <m:sty m:val="p"/>
                      </m:rPr>
                      <a:rPr lang="en-US" b="0" i="0" smtClean="0">
                        <a:latin typeface="Cambria Math" panose="02040503050406030204" pitchFamily="18" charset="0"/>
                      </a:rPr>
                      <m:t>is</m:t>
                    </m:r>
                    <m:r>
                      <a:rPr lang="en-US" b="0" i="0" smtClean="0">
                        <a:latin typeface="Cambria Math" panose="02040503050406030204" pitchFamily="18" charset="0"/>
                      </a:rPr>
                      <m:t> </m:t>
                    </m:r>
                    <m:r>
                      <m:rPr>
                        <m:sty m:val="p"/>
                      </m:rPr>
                      <a:rPr lang="en-US" b="0" i="0" smtClean="0">
                        <a:latin typeface="Cambria Math" panose="02040503050406030204" pitchFamily="18" charset="0"/>
                      </a:rPr>
                      <m:t>approx</m:t>
                    </m:r>
                    <m:r>
                      <a:rPr lang="en-US" b="0" i="0" smtClean="0">
                        <a:latin typeface="Cambria Math" panose="02040503050406030204" pitchFamily="18" charset="0"/>
                      </a:rPr>
                      <m:t>.</m:t>
                    </m:r>
                  </m:oMath>
                </a14:m>
                <a:r>
                  <a:rPr lang="en-US"/>
                  <a:t> normally distributed </a:t>
                </a:r>
                <a:r>
                  <a:rPr lang="en-US" i="1"/>
                  <a:t>suggests</a:t>
                </a:r>
                <a:r>
                  <a:rPr lang="en-US"/>
                  <a:t> </a:t>
                </a:r>
                <a14:m>
                  <m:oMath xmlns:m="http://schemas.openxmlformats.org/officeDocument/2006/math">
                    <m:r>
                      <a:rPr lang="en-US" b="0" i="1" smtClean="0">
                        <a:latin typeface="Cambria Math" panose="02040503050406030204" pitchFamily="18" charset="0"/>
                      </a:rPr>
                      <m:t>𝜖</m:t>
                    </m:r>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(0,</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𝜎</m:t>
                        </m:r>
                      </m:e>
                      <m:sup>
                        <m:r>
                          <a:rPr lang="en-US" b="0" i="1" smtClean="0">
                            <a:latin typeface="Cambria Math" panose="02040503050406030204" pitchFamily="18" charset="0"/>
                          </a:rPr>
                          <m:t>2</m:t>
                        </m:r>
                      </m:sup>
                    </m:sSup>
                    <m:r>
                      <a:rPr lang="en-US" b="0" i="1" smtClean="0">
                        <a:latin typeface="Cambria Math" panose="02040503050406030204" pitchFamily="18" charset="0"/>
                      </a:rPr>
                      <m:t>)</m:t>
                    </m:r>
                  </m:oMath>
                </a14:m>
                <a:r>
                  <a:rPr lang="en-US"/>
                  <a:t>.</a:t>
                </a:r>
              </a:p>
              <a:p>
                <a:endParaRPr lang="en-US"/>
              </a:p>
              <a:p>
                <a:r>
                  <a:rPr lang="en-US"/>
                  <a:t>If </a:t>
                </a:r>
                <a14:m>
                  <m:oMath xmlns:m="http://schemas.openxmlformats.org/officeDocument/2006/math">
                    <m:r>
                      <a:rPr lang="en-US" b="0" i="1" smtClean="0">
                        <a:latin typeface="Cambria Math" panose="02040503050406030204" pitchFamily="18" charset="0"/>
                      </a:rPr>
                      <m:t>𝑒</m:t>
                    </m:r>
                    <m:r>
                      <a:rPr lang="en-US" b="0" i="1" smtClean="0">
                        <a:latin typeface="Cambria Math" panose="02040503050406030204" pitchFamily="18" charset="0"/>
                      </a:rPr>
                      <m:t> </m:t>
                    </m:r>
                  </m:oMath>
                </a14:m>
                <a:r>
                  <a:rPr lang="en-US"/>
                  <a:t>doesn’t meet these conditions, we can try to update our predictors.</a:t>
                </a:r>
              </a:p>
            </p:txBody>
          </p:sp>
        </mc:Choice>
        <mc:Fallback>
          <p:sp>
            <p:nvSpPr>
              <p:cNvPr id="3" name="Content Placeholder 2">
                <a:extLst>
                  <a:ext uri="{FF2B5EF4-FFF2-40B4-BE49-F238E27FC236}">
                    <a16:creationId xmlns:a16="http://schemas.microsoft.com/office/drawing/2014/main" id="{C7BEEF21-CD80-DE5A-BEDC-FD973E4BBE0F}"/>
                  </a:ext>
                </a:extLst>
              </p:cNvPr>
              <p:cNvSpPr>
                <a:spLocks noGrp="1" noRot="1" noChangeAspect="1" noMove="1" noResize="1" noEditPoints="1" noAdjustHandles="1" noChangeArrowheads="1" noChangeShapeType="1" noTextEdit="1"/>
              </p:cNvSpPr>
              <p:nvPr>
                <p:ph idx="1"/>
              </p:nvPr>
            </p:nvSpPr>
            <p:spPr>
              <a:blipFill>
                <a:blip r:embed="rId2"/>
                <a:stretch>
                  <a:fillRect l="-1206" t="-2326" b="-3198"/>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C6796E99-A171-6FC8-B53F-F9971226EB62}"/>
              </a:ext>
            </a:extLst>
          </p:cNvPr>
          <p:cNvSpPr>
            <a:spLocks noGrp="1"/>
          </p:cNvSpPr>
          <p:nvPr>
            <p:ph type="sldNum" sz="quarter" idx="12"/>
          </p:nvPr>
        </p:nvSpPr>
        <p:spPr/>
        <p:txBody>
          <a:bodyPr/>
          <a:lstStyle/>
          <a:p>
            <a:fld id="{330EA680-D336-4FF7-8B7A-9848BB0A1C32}" type="slidenum">
              <a:rPr lang="en-US" smtClean="0"/>
              <a:t>6</a:t>
            </a:fld>
            <a:endParaRPr lang="en-US"/>
          </a:p>
        </p:txBody>
      </p:sp>
    </p:spTree>
    <p:extLst>
      <p:ext uri="{BB962C8B-B14F-4D97-AF65-F5344CB8AC3E}">
        <p14:creationId xmlns:p14="http://schemas.microsoft.com/office/powerpoint/2010/main" val="26660559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555EA-43DB-85ED-73E7-AF50655B4C30}"/>
              </a:ext>
            </a:extLst>
          </p:cNvPr>
          <p:cNvSpPr>
            <a:spLocks noGrp="1"/>
          </p:cNvSpPr>
          <p:nvPr>
            <p:ph type="title"/>
          </p:nvPr>
        </p:nvSpPr>
        <p:spPr/>
        <p:txBody>
          <a:bodyPr/>
          <a:lstStyle/>
          <a:p>
            <a:r>
              <a:rPr lang="en-US"/>
              <a:t>Plot Types</a:t>
            </a:r>
          </a:p>
        </p:txBody>
      </p:sp>
      <p:sp>
        <p:nvSpPr>
          <p:cNvPr id="3" name="Content Placeholder 2">
            <a:extLst>
              <a:ext uri="{FF2B5EF4-FFF2-40B4-BE49-F238E27FC236}">
                <a16:creationId xmlns:a16="http://schemas.microsoft.com/office/drawing/2014/main" id="{9F474AF9-B436-9C1E-848E-C0DC32CCA7A7}"/>
              </a:ext>
            </a:extLst>
          </p:cNvPr>
          <p:cNvSpPr>
            <a:spLocks noGrp="1"/>
          </p:cNvSpPr>
          <p:nvPr>
            <p:ph idx="1"/>
          </p:nvPr>
        </p:nvSpPr>
        <p:spPr/>
        <p:txBody>
          <a:bodyPr/>
          <a:lstStyle/>
          <a:p>
            <a:r>
              <a:rPr lang="en-US"/>
              <a:t>For this first part, we will look at what types of plots (tools) we use to evaluate our model.</a:t>
            </a:r>
          </a:p>
          <a:p>
            <a:r>
              <a:rPr lang="en-US"/>
              <a:t>Later, we will look at how these plots are generated in R and Python.</a:t>
            </a:r>
          </a:p>
        </p:txBody>
      </p:sp>
      <p:sp>
        <p:nvSpPr>
          <p:cNvPr id="4" name="Slide Number Placeholder 3">
            <a:extLst>
              <a:ext uri="{FF2B5EF4-FFF2-40B4-BE49-F238E27FC236}">
                <a16:creationId xmlns:a16="http://schemas.microsoft.com/office/drawing/2014/main" id="{5AFF9C82-0839-74A2-0D4F-D478311D93B6}"/>
              </a:ext>
            </a:extLst>
          </p:cNvPr>
          <p:cNvSpPr>
            <a:spLocks noGrp="1"/>
          </p:cNvSpPr>
          <p:nvPr>
            <p:ph type="sldNum" sz="quarter" idx="12"/>
          </p:nvPr>
        </p:nvSpPr>
        <p:spPr/>
        <p:txBody>
          <a:bodyPr/>
          <a:lstStyle/>
          <a:p>
            <a:fld id="{330EA680-D336-4FF7-8B7A-9848BB0A1C32}" type="slidenum">
              <a:rPr lang="en-US" smtClean="0"/>
              <a:t>7</a:t>
            </a:fld>
            <a:endParaRPr lang="en-US"/>
          </a:p>
        </p:txBody>
      </p:sp>
    </p:spTree>
    <p:extLst>
      <p:ext uri="{BB962C8B-B14F-4D97-AF65-F5344CB8AC3E}">
        <p14:creationId xmlns:p14="http://schemas.microsoft.com/office/powerpoint/2010/main" val="12447766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40E54-90A5-F643-9E10-5A7A9BE6087F}"/>
              </a:ext>
            </a:extLst>
          </p:cNvPr>
          <p:cNvSpPr>
            <a:spLocks noGrp="1"/>
          </p:cNvSpPr>
          <p:nvPr>
            <p:ph type="title"/>
          </p:nvPr>
        </p:nvSpPr>
        <p:spPr/>
        <p:txBody>
          <a:bodyPr>
            <a:normAutofit/>
          </a:bodyPr>
          <a:lstStyle/>
          <a:p>
            <a:r>
              <a:rPr lang="en-US" sz="3600"/>
              <a:t>Residual Diagnostic: Checking Mean Zero Assumption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8BB5F84-33AA-FF51-2FA0-AB53542C9502}"/>
                  </a:ext>
                </a:extLst>
              </p:cNvPr>
              <p:cNvSpPr>
                <a:spLocks noGrp="1"/>
              </p:cNvSpPr>
              <p:nvPr>
                <p:ph idx="1"/>
              </p:nvPr>
            </p:nvSpPr>
            <p:spPr/>
            <p:txBody>
              <a:bodyPr/>
              <a:lstStyle/>
              <a:p>
                <a:pPr marL="0" indent="0">
                  <a:buNone/>
                </a:pPr>
                <a:r>
                  <a:rPr lang="en-US" sz="2400">
                    <a:cs typeface="Courier New" panose="02070309020205020404" pitchFamily="49" charset="0"/>
                  </a:rPr>
                  <a:t>Suppose</a:t>
                </a:r>
                <a:r>
                  <a:rPr lang="en-US" sz="2400">
                    <a:latin typeface="Courier New" panose="02070309020205020404" pitchFamily="49" charset="0"/>
                    <a:cs typeface="Courier New" panose="02070309020205020404" pitchFamily="49" charset="0"/>
                  </a:rPr>
                  <a:t> fit</a:t>
                </a:r>
                <a:r>
                  <a:rPr lang="en-US" sz="2400"/>
                  <a:t> is our linear model object, e.g., </a:t>
                </a:r>
                <a:r>
                  <a:rPr lang="en-US" sz="2400">
                    <a:latin typeface="Courier New" panose="02070309020205020404" pitchFamily="49" charset="0"/>
                    <a:cs typeface="Courier New" panose="02070309020205020404" pitchFamily="49" charset="0"/>
                  </a:rPr>
                  <a:t>fit &lt;- </a:t>
                </a:r>
                <a:r>
                  <a:rPr lang="en-US" sz="2400" err="1">
                    <a:latin typeface="Courier New" panose="02070309020205020404" pitchFamily="49" charset="0"/>
                    <a:cs typeface="Courier New" panose="02070309020205020404" pitchFamily="49" charset="0"/>
                  </a:rPr>
                  <a:t>lm</a:t>
                </a:r>
                <a:r>
                  <a:rPr lang="en-US" sz="2400">
                    <a:latin typeface="Courier New" panose="02070309020205020404" pitchFamily="49" charset="0"/>
                    <a:cs typeface="Courier New" panose="02070309020205020404" pitchFamily="49" charset="0"/>
                  </a:rPr>
                  <a:t>(Y ~ X)</a:t>
                </a:r>
              </a:p>
              <a:p>
                <a:r>
                  <a:rPr lang="en-US" sz="2400">
                    <a:cs typeface="Courier New" panose="02070309020205020404" pitchFamily="49" charset="0"/>
                  </a:rPr>
                  <a:t>In ordinary least squares with an intercept, the residuals always sum to zero. Thus</a:t>
                </a:r>
              </a:p>
              <a:p>
                <a:pPr marL="0" indent="0">
                  <a:buNone/>
                </a:pPr>
                <a:r>
                  <a:rPr lang="en-US" sz="2400">
                    <a:cs typeface="Courier New" panose="02070309020205020404" pitchFamily="49" charset="0"/>
                  </a:rPr>
                  <a:t>	R: </a:t>
                </a:r>
                <a:r>
                  <a:rPr lang="en-US" sz="2400">
                    <a:latin typeface="Courier New" panose="02070309020205020404" pitchFamily="49" charset="0"/>
                    <a:cs typeface="Courier New" panose="02070309020205020404" pitchFamily="49" charset="0"/>
                  </a:rPr>
                  <a:t>mean(resid(fit))</a:t>
                </a:r>
              </a:p>
              <a:p>
                <a:pPr marL="0" indent="0">
                  <a:buNone/>
                </a:pPr>
                <a:r>
                  <a:rPr lang="en-US" sz="2400">
                    <a:cs typeface="Courier New" panose="02070309020205020404" pitchFamily="49" charset="0"/>
                  </a:rPr>
                  <a:t>	Python: </a:t>
                </a:r>
                <a:r>
                  <a:rPr lang="en-US" sz="2400" err="1">
                    <a:latin typeface="Courier New" panose="02070309020205020404" pitchFamily="49" charset="0"/>
                    <a:cs typeface="Courier New" panose="02070309020205020404" pitchFamily="49" charset="0"/>
                  </a:rPr>
                  <a:t>fit.resid.mean</a:t>
                </a:r>
                <a:r>
                  <a:rPr lang="en-US" sz="2400">
                    <a:latin typeface="Courier New" panose="02070309020205020404" pitchFamily="49" charset="0"/>
                    <a:cs typeface="Courier New" panose="02070309020205020404" pitchFamily="49" charset="0"/>
                  </a:rPr>
                  <a:t>()</a:t>
                </a:r>
              </a:p>
              <a:p>
                <a:pPr marL="0" indent="0">
                  <a:buNone/>
                </a:pPr>
                <a:r>
                  <a:rPr lang="en-US" sz="2400">
                    <a:cs typeface="Courier New" panose="02070309020205020404" pitchFamily="49" charset="0"/>
                  </a:rPr>
                  <a:t>    should always report 0 (or machine zero). This won’t tell us anything new.</a:t>
                </a:r>
              </a:p>
              <a:p>
                <a:pPr marL="0" indent="0">
                  <a:buNone/>
                </a:pPr>
                <a:r>
                  <a:rPr lang="en-US" sz="2400">
                    <a:cs typeface="Courier New" panose="02070309020205020404" pitchFamily="49" charset="0"/>
                  </a:rPr>
                  <a:t>So we look at the plot of residuals against the fitted values.</a:t>
                </a:r>
              </a:p>
              <a:p>
                <a:r>
                  <a:rPr lang="en-US" sz="2400">
                    <a:cs typeface="Courier New" panose="02070309020205020404" pitchFamily="49" charset="0"/>
                  </a:rPr>
                  <a:t>If the mean-zero error assumption is </a:t>
                </a:r>
                <a:r>
                  <a:rPr lang="en-US" sz="2400" b="1">
                    <a:cs typeface="Courier New" panose="02070309020205020404" pitchFamily="49" charset="0"/>
                  </a:rPr>
                  <a:t>violated</a:t>
                </a:r>
                <a:r>
                  <a:rPr lang="en-US" sz="2400">
                    <a:cs typeface="Courier New" panose="02070309020205020404" pitchFamily="49" charset="0"/>
                  </a:rPr>
                  <a:t>, then a plot of </a:t>
                </a:r>
                <a14:m>
                  <m:oMath xmlns:m="http://schemas.openxmlformats.org/officeDocument/2006/math">
                    <m:sSub>
                      <m:sSubPr>
                        <m:ctrlPr>
                          <a:rPr lang="en-US" sz="2400" b="0" i="1" smtClean="0">
                            <a:latin typeface="Cambria Math" panose="02040503050406030204" pitchFamily="18" charset="0"/>
                            <a:cs typeface="Courier New" panose="02070309020205020404" pitchFamily="49" charset="0"/>
                          </a:rPr>
                        </m:ctrlPr>
                      </m:sSubPr>
                      <m:e>
                        <m:r>
                          <a:rPr lang="en-US" sz="2400" b="0" i="1" smtClean="0">
                            <a:latin typeface="Cambria Math" panose="02040503050406030204" pitchFamily="18" charset="0"/>
                            <a:cs typeface="Courier New" panose="02070309020205020404" pitchFamily="49" charset="0"/>
                          </a:rPr>
                          <m:t>𝑒</m:t>
                        </m:r>
                      </m:e>
                      <m:sub>
                        <m:r>
                          <a:rPr lang="en-US" sz="2400" b="0" i="1" smtClean="0">
                            <a:latin typeface="Cambria Math" panose="02040503050406030204" pitchFamily="18" charset="0"/>
                            <a:cs typeface="Courier New" panose="02070309020205020404" pitchFamily="49" charset="0"/>
                          </a:rPr>
                          <m:t>𝑖</m:t>
                        </m:r>
                      </m:sub>
                    </m:sSub>
                  </m:oMath>
                </a14:m>
                <a:r>
                  <a:rPr lang="en-US" sz="2400" b="1">
                    <a:cs typeface="Courier New" panose="02070309020205020404" pitchFamily="49" charset="0"/>
                  </a:rPr>
                  <a:t> </a:t>
                </a:r>
                <a:r>
                  <a:rPr lang="en-US" sz="2400">
                    <a:cs typeface="Courier New" panose="02070309020205020404" pitchFamily="49" charset="0"/>
                  </a:rPr>
                  <a:t>vs </a:t>
                </a:r>
                <a14:m>
                  <m:oMath xmlns:m="http://schemas.openxmlformats.org/officeDocument/2006/math">
                    <m:acc>
                      <m:accPr>
                        <m:chr m:val="̂"/>
                        <m:ctrlPr>
                          <a:rPr lang="en-US" sz="2400" b="0" i="1" smtClean="0">
                            <a:latin typeface="Cambria Math" panose="02040503050406030204" pitchFamily="18" charset="0"/>
                            <a:cs typeface="Courier New" panose="02070309020205020404" pitchFamily="49" charset="0"/>
                          </a:rPr>
                        </m:ctrlPr>
                      </m:accPr>
                      <m:e>
                        <m:r>
                          <a:rPr lang="en-US" sz="2400" b="0" i="1" smtClean="0">
                            <a:latin typeface="Cambria Math" panose="02040503050406030204" pitchFamily="18" charset="0"/>
                            <a:cs typeface="Courier New" panose="02070309020205020404" pitchFamily="49" charset="0"/>
                          </a:rPr>
                          <m:t>𝑦</m:t>
                        </m:r>
                      </m:e>
                    </m:acc>
                  </m:oMath>
                </a14:m>
                <a:r>
                  <a:rPr lang="en-US" sz="2400" b="1">
                    <a:cs typeface="Courier New" panose="02070309020205020404" pitchFamily="49" charset="0"/>
                  </a:rPr>
                  <a:t> </a:t>
                </a:r>
                <a:r>
                  <a:rPr lang="en-US" sz="2400">
                    <a:cs typeface="Courier New" panose="02070309020205020404" pitchFamily="49" charset="0"/>
                  </a:rPr>
                  <a:t>or predictor </a:t>
                </a:r>
                <a14:m>
                  <m:oMath xmlns:m="http://schemas.openxmlformats.org/officeDocument/2006/math">
                    <m:sSub>
                      <m:sSubPr>
                        <m:ctrlPr>
                          <a:rPr lang="en-US" sz="2400" b="0" i="1" smtClean="0">
                            <a:latin typeface="Cambria Math" panose="02040503050406030204" pitchFamily="18" charset="0"/>
                            <a:cs typeface="Courier New" panose="02070309020205020404" pitchFamily="49" charset="0"/>
                          </a:rPr>
                        </m:ctrlPr>
                      </m:sSubPr>
                      <m:e>
                        <m:r>
                          <a:rPr lang="en-US" sz="2400" b="0" i="1" smtClean="0">
                            <a:latin typeface="Cambria Math" panose="02040503050406030204" pitchFamily="18" charset="0"/>
                            <a:cs typeface="Courier New" panose="02070309020205020404" pitchFamily="49" charset="0"/>
                          </a:rPr>
                          <m:t>𝑥</m:t>
                        </m:r>
                      </m:e>
                      <m:sub>
                        <m:r>
                          <a:rPr lang="en-US" sz="2400" b="0" i="1" smtClean="0">
                            <a:latin typeface="Cambria Math" panose="02040503050406030204" pitchFamily="18" charset="0"/>
                            <a:cs typeface="Courier New" panose="02070309020205020404" pitchFamily="49" charset="0"/>
                          </a:rPr>
                          <m:t>𝑖</m:t>
                        </m:r>
                      </m:sub>
                    </m:sSub>
                  </m:oMath>
                </a14:m>
                <a:r>
                  <a:rPr lang="en-US" sz="2400" b="1">
                    <a:cs typeface="Courier New" panose="02070309020205020404" pitchFamily="49" charset="0"/>
                  </a:rPr>
                  <a:t> </a:t>
                </a:r>
                <a:r>
                  <a:rPr lang="en-US" sz="2400">
                    <a:cs typeface="Courier New" panose="02070309020205020404" pitchFamily="49" charset="0"/>
                  </a:rPr>
                  <a:t>will have a systematic, asymmetrical pattern deviating from zero.</a:t>
                </a:r>
                <a:endParaRPr lang="en-US" sz="2400" b="1">
                  <a:cs typeface="Courier New" panose="02070309020205020404" pitchFamily="49" charset="0"/>
                </a:endParaRPr>
              </a:p>
            </p:txBody>
          </p:sp>
        </mc:Choice>
        <mc:Fallback>
          <p:sp>
            <p:nvSpPr>
              <p:cNvPr id="3" name="Content Placeholder 2">
                <a:extLst>
                  <a:ext uri="{FF2B5EF4-FFF2-40B4-BE49-F238E27FC236}">
                    <a16:creationId xmlns:a16="http://schemas.microsoft.com/office/drawing/2014/main" id="{18BB5F84-33AA-FF51-2FA0-AB53542C9502}"/>
                  </a:ext>
                </a:extLst>
              </p:cNvPr>
              <p:cNvSpPr>
                <a:spLocks noGrp="1" noRot="1" noChangeAspect="1" noMove="1" noResize="1" noEditPoints="1" noAdjustHandles="1" noChangeArrowheads="1" noChangeShapeType="1" noTextEdit="1"/>
              </p:cNvSpPr>
              <p:nvPr>
                <p:ph idx="1"/>
              </p:nvPr>
            </p:nvSpPr>
            <p:spPr>
              <a:blipFill>
                <a:blip r:embed="rId2"/>
                <a:stretch>
                  <a:fillRect l="-965" t="-2035" r="-121"/>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AF91FD35-11A7-A0E2-E94E-35FEB0808C11}"/>
              </a:ext>
            </a:extLst>
          </p:cNvPr>
          <p:cNvSpPr>
            <a:spLocks noGrp="1"/>
          </p:cNvSpPr>
          <p:nvPr>
            <p:ph type="sldNum" sz="quarter" idx="12"/>
          </p:nvPr>
        </p:nvSpPr>
        <p:spPr/>
        <p:txBody>
          <a:bodyPr/>
          <a:lstStyle/>
          <a:p>
            <a:fld id="{330EA680-D336-4FF7-8B7A-9848BB0A1C32}" type="slidenum">
              <a:rPr lang="en-US" smtClean="0"/>
              <a:t>8</a:t>
            </a:fld>
            <a:endParaRPr lang="en-US"/>
          </a:p>
        </p:txBody>
      </p:sp>
    </p:spTree>
    <p:extLst>
      <p:ext uri="{BB962C8B-B14F-4D97-AF65-F5344CB8AC3E}">
        <p14:creationId xmlns:p14="http://schemas.microsoft.com/office/powerpoint/2010/main" val="4156232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E1C9D460-4F29-77D4-C0A2-2EB5EB45BF99}"/>
                  </a:ext>
                </a:extLst>
              </p:cNvPr>
              <p:cNvSpPr>
                <a:spLocks noGrp="1"/>
              </p:cNvSpPr>
              <p:nvPr>
                <p:ph type="title"/>
              </p:nvPr>
            </p:nvSpPr>
            <p:spPr/>
            <p:txBody>
              <a:bodyPr/>
              <a:lstStyle/>
              <a:p>
                <a:r>
                  <a:rPr lang="en-US"/>
                  <a:t>Residuals vs. Fitted: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𝑖</m:t>
                        </m:r>
                      </m:sub>
                    </m:sSub>
                  </m:oMath>
                </a14:m>
                <a:r>
                  <a:rPr lang="en-US"/>
                  <a:t> vs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oMath>
                </a14:m>
                <a:endParaRPr lang="en-US"/>
              </a:p>
            </p:txBody>
          </p:sp>
        </mc:Choice>
        <mc:Fallback>
          <p:sp>
            <p:nvSpPr>
              <p:cNvPr id="2" name="Title 1">
                <a:extLst>
                  <a:ext uri="{FF2B5EF4-FFF2-40B4-BE49-F238E27FC236}">
                    <a16:creationId xmlns:a16="http://schemas.microsoft.com/office/drawing/2014/main" id="{E1C9D460-4F29-77D4-C0A2-2EB5EB45BF99}"/>
                  </a:ext>
                </a:extLst>
              </p:cNvPr>
              <p:cNvSpPr>
                <a:spLocks noGrp="1" noRot="1" noChangeAspect="1" noMove="1" noResize="1" noEditPoints="1" noAdjustHandles="1" noChangeArrowheads="1" noChangeShapeType="1" noTextEdit="1"/>
              </p:cNvSpPr>
              <p:nvPr>
                <p:ph type="title"/>
              </p:nvPr>
            </p:nvSpPr>
            <p:spPr>
              <a:blipFill>
                <a:blip r:embed="rId2"/>
                <a:stretch>
                  <a:fillRect l="-2413"/>
                </a:stretch>
              </a:blipFill>
            </p:spPr>
            <p:txBody>
              <a:bodyPr/>
              <a:lstStyle/>
              <a:p>
                <a:r>
                  <a:rPr lang="en-US">
                    <a:noFill/>
                  </a:rPr>
                  <a:t> </a:t>
                </a:r>
              </a:p>
            </p:txBody>
          </p:sp>
        </mc:Fallback>
      </mc:AlternateContent>
      <p:sp>
        <p:nvSpPr>
          <p:cNvPr id="3" name="Content Placeholder 2">
            <a:extLst>
              <a:ext uri="{FF2B5EF4-FFF2-40B4-BE49-F238E27FC236}">
                <a16:creationId xmlns:a16="http://schemas.microsoft.com/office/drawing/2014/main" id="{A3BCCC8D-051F-4537-A344-ACF8B4C18593}"/>
              </a:ext>
            </a:extLst>
          </p:cNvPr>
          <p:cNvSpPr>
            <a:spLocks noGrp="1"/>
          </p:cNvSpPr>
          <p:nvPr>
            <p:ph idx="1"/>
          </p:nvPr>
        </p:nvSpPr>
        <p:spPr>
          <a:xfrm>
            <a:off x="838200" y="1825625"/>
            <a:ext cx="6032619" cy="4351338"/>
          </a:xfrm>
        </p:spPr>
        <p:txBody>
          <a:bodyPr>
            <a:normAutofit fontScale="92500" lnSpcReduction="10000"/>
          </a:bodyPr>
          <a:lstStyle/>
          <a:p>
            <a:pPr marL="0" indent="0">
              <a:buNone/>
            </a:pPr>
            <a:r>
              <a:rPr lang="en-US"/>
              <a:t>What it reveals:</a:t>
            </a:r>
          </a:p>
          <a:p>
            <a:r>
              <a:rPr lang="en-US"/>
              <a:t>Nonlinearity</a:t>
            </a:r>
          </a:p>
          <a:p>
            <a:r>
              <a:rPr lang="en-US"/>
              <a:t>Heteroskedasticity</a:t>
            </a:r>
          </a:p>
          <a:p>
            <a:r>
              <a:rPr lang="en-US"/>
              <a:t>Outliers</a:t>
            </a:r>
          </a:p>
          <a:p>
            <a:r>
              <a:rPr lang="en-US"/>
              <a:t>Patterns that indicate missing interactions or transformations</a:t>
            </a:r>
          </a:p>
          <a:p>
            <a:pPr marL="0" indent="0">
              <a:buNone/>
            </a:pPr>
            <a:r>
              <a:rPr lang="en-US"/>
              <a:t>What we want to see:</a:t>
            </a:r>
          </a:p>
          <a:p>
            <a:r>
              <a:rPr lang="en-US"/>
              <a:t>A shapeless cloud</a:t>
            </a:r>
          </a:p>
          <a:p>
            <a:r>
              <a:rPr lang="en-US"/>
              <a:t>Little-to-no curvature</a:t>
            </a:r>
          </a:p>
          <a:p>
            <a:r>
              <a:rPr lang="en-US"/>
              <a:t>Little-to-no funneling</a:t>
            </a:r>
          </a:p>
        </p:txBody>
      </p:sp>
      <p:sp>
        <p:nvSpPr>
          <p:cNvPr id="4" name="Slide Number Placeholder 3">
            <a:extLst>
              <a:ext uri="{FF2B5EF4-FFF2-40B4-BE49-F238E27FC236}">
                <a16:creationId xmlns:a16="http://schemas.microsoft.com/office/drawing/2014/main" id="{E677BE1D-8B08-78E8-ADED-96282317C84B}"/>
              </a:ext>
            </a:extLst>
          </p:cNvPr>
          <p:cNvSpPr>
            <a:spLocks noGrp="1"/>
          </p:cNvSpPr>
          <p:nvPr>
            <p:ph type="sldNum" sz="quarter" idx="12"/>
          </p:nvPr>
        </p:nvSpPr>
        <p:spPr/>
        <p:txBody>
          <a:bodyPr/>
          <a:lstStyle/>
          <a:p>
            <a:fld id="{330EA680-D336-4FF7-8B7A-9848BB0A1C32}" type="slidenum">
              <a:rPr lang="en-US" smtClean="0"/>
              <a:t>9</a:t>
            </a:fld>
            <a:endParaRPr lang="en-US"/>
          </a:p>
        </p:txBody>
      </p:sp>
      <p:pic>
        <p:nvPicPr>
          <p:cNvPr id="6" name="Picture 5">
            <a:extLst>
              <a:ext uri="{FF2B5EF4-FFF2-40B4-BE49-F238E27FC236}">
                <a16:creationId xmlns:a16="http://schemas.microsoft.com/office/drawing/2014/main" id="{6E89B4D3-5823-7DF2-EBF1-04F36C753971}"/>
              </a:ext>
            </a:extLst>
          </p:cNvPr>
          <p:cNvPicPr>
            <a:picLocks noChangeAspect="1"/>
          </p:cNvPicPr>
          <p:nvPr/>
        </p:nvPicPr>
        <p:blipFill>
          <a:blip r:embed="rId3"/>
          <a:stretch>
            <a:fillRect/>
          </a:stretch>
        </p:blipFill>
        <p:spPr>
          <a:xfrm>
            <a:off x="6169520" y="1613463"/>
            <a:ext cx="6022480" cy="4820112"/>
          </a:xfrm>
          <a:prstGeom prst="rect">
            <a:avLst/>
          </a:prstGeom>
        </p:spPr>
      </p:pic>
    </p:spTree>
    <p:extLst>
      <p:ext uri="{BB962C8B-B14F-4D97-AF65-F5344CB8AC3E}">
        <p14:creationId xmlns:p14="http://schemas.microsoft.com/office/powerpoint/2010/main" val="39866801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ECBC13E8-9D5D-7691-6EC3-0157C1A6E8D9}"/>
                  </a:ext>
                </a:extLst>
              </p:cNvPr>
              <p:cNvSpPr>
                <a:spLocks noGrp="1"/>
              </p:cNvSpPr>
              <p:nvPr>
                <p:ph type="title"/>
              </p:nvPr>
            </p:nvSpPr>
            <p:spPr/>
            <p:txBody>
              <a:bodyPr/>
              <a:lstStyle/>
              <a:p>
                <a:r>
                  <a:rPr lang="en-US"/>
                  <a:t>Residuals vs. Predictor(s):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𝑖</m:t>
                        </m:r>
                      </m:sub>
                    </m:sSub>
                  </m:oMath>
                </a14:m>
                <a:r>
                  <a:rPr lang="en-US"/>
                  <a:t> vs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oMath>
                </a14:m>
                <a:endParaRPr lang="en-US"/>
              </a:p>
            </p:txBody>
          </p:sp>
        </mc:Choice>
        <mc:Fallback>
          <p:sp>
            <p:nvSpPr>
              <p:cNvPr id="2" name="Title 1">
                <a:extLst>
                  <a:ext uri="{FF2B5EF4-FFF2-40B4-BE49-F238E27FC236}">
                    <a16:creationId xmlns:a16="http://schemas.microsoft.com/office/drawing/2014/main" id="{ECBC13E8-9D5D-7691-6EC3-0157C1A6E8D9}"/>
                  </a:ext>
                </a:extLst>
              </p:cNvPr>
              <p:cNvSpPr>
                <a:spLocks noGrp="1" noRot="1" noChangeAspect="1" noMove="1" noResize="1" noEditPoints="1" noAdjustHandles="1" noChangeArrowheads="1" noChangeShapeType="1" noTextEdit="1"/>
              </p:cNvSpPr>
              <p:nvPr>
                <p:ph type="title"/>
              </p:nvPr>
            </p:nvSpPr>
            <p:spPr>
              <a:blipFill>
                <a:blip r:embed="rId2"/>
                <a:stretch>
                  <a:fillRect l="-2413"/>
                </a:stretch>
              </a:blipFill>
            </p:spPr>
            <p:txBody>
              <a:bodyPr/>
              <a:lstStyle/>
              <a:p>
                <a:r>
                  <a:rPr lang="en-US">
                    <a:noFill/>
                  </a:rPr>
                  <a:t> </a:t>
                </a:r>
              </a:p>
            </p:txBody>
          </p:sp>
        </mc:Fallback>
      </mc:AlternateContent>
      <p:sp>
        <p:nvSpPr>
          <p:cNvPr id="3" name="Content Placeholder 2">
            <a:extLst>
              <a:ext uri="{FF2B5EF4-FFF2-40B4-BE49-F238E27FC236}">
                <a16:creationId xmlns:a16="http://schemas.microsoft.com/office/drawing/2014/main" id="{918E3F66-B53E-3A5F-3B18-9AE046E2B778}"/>
              </a:ext>
            </a:extLst>
          </p:cNvPr>
          <p:cNvSpPr>
            <a:spLocks noGrp="1"/>
          </p:cNvSpPr>
          <p:nvPr>
            <p:ph idx="1"/>
          </p:nvPr>
        </p:nvSpPr>
        <p:spPr>
          <a:xfrm>
            <a:off x="838200" y="1825625"/>
            <a:ext cx="5536963" cy="4351338"/>
          </a:xfrm>
        </p:spPr>
        <p:txBody>
          <a:bodyPr>
            <a:normAutofit lnSpcReduction="10000"/>
          </a:bodyPr>
          <a:lstStyle/>
          <a:p>
            <a:pPr marL="0" indent="0">
              <a:buNone/>
            </a:pPr>
            <a:r>
              <a:rPr lang="en-US"/>
              <a:t>Plotting against each predictor:</a:t>
            </a:r>
          </a:p>
          <a:p>
            <a:r>
              <a:rPr lang="en-US"/>
              <a:t>Helps identify which predictor is causing curvature</a:t>
            </a:r>
          </a:p>
          <a:p>
            <a:r>
              <a:rPr lang="en-US"/>
              <a:t>Helps diagnose variance patterns tied to specific predictors</a:t>
            </a:r>
          </a:p>
          <a:p>
            <a:r>
              <a:rPr lang="en-US"/>
              <a:t>Helps guide transformations (log, sqrt, power, etc.)</a:t>
            </a:r>
          </a:p>
          <a:p>
            <a:r>
              <a:rPr lang="en-US"/>
              <a:t>This is where we connect diagnostics to </a:t>
            </a:r>
            <a:r>
              <a:rPr lang="en-US" i="1"/>
              <a:t>actionable modeling decisions</a:t>
            </a:r>
            <a:r>
              <a:rPr lang="en-US"/>
              <a:t>.</a:t>
            </a:r>
          </a:p>
          <a:p>
            <a:endParaRPr lang="en-US"/>
          </a:p>
        </p:txBody>
      </p:sp>
      <p:sp>
        <p:nvSpPr>
          <p:cNvPr id="4" name="Slide Number Placeholder 3">
            <a:extLst>
              <a:ext uri="{FF2B5EF4-FFF2-40B4-BE49-F238E27FC236}">
                <a16:creationId xmlns:a16="http://schemas.microsoft.com/office/drawing/2014/main" id="{BBDE6BFE-4523-6BD0-9063-3B1B45076ED5}"/>
              </a:ext>
            </a:extLst>
          </p:cNvPr>
          <p:cNvSpPr>
            <a:spLocks noGrp="1"/>
          </p:cNvSpPr>
          <p:nvPr>
            <p:ph type="sldNum" sz="quarter" idx="12"/>
          </p:nvPr>
        </p:nvSpPr>
        <p:spPr/>
        <p:txBody>
          <a:bodyPr/>
          <a:lstStyle/>
          <a:p>
            <a:fld id="{330EA680-D336-4FF7-8B7A-9848BB0A1C32}" type="slidenum">
              <a:rPr lang="en-US" smtClean="0"/>
              <a:t>10</a:t>
            </a:fld>
            <a:endParaRPr lang="en-US"/>
          </a:p>
        </p:txBody>
      </p:sp>
      <p:pic>
        <p:nvPicPr>
          <p:cNvPr id="6" name="Picture 5" descr="A graph with lines and dots&#10;&#10;AI-generated content may be incorrect.">
            <a:extLst>
              <a:ext uri="{FF2B5EF4-FFF2-40B4-BE49-F238E27FC236}">
                <a16:creationId xmlns:a16="http://schemas.microsoft.com/office/drawing/2014/main" id="{9125FAA3-3460-E605-B1EA-FC4879BCD2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75163" y="2083795"/>
            <a:ext cx="5852664" cy="3419697"/>
          </a:xfrm>
          <a:prstGeom prst="rect">
            <a:avLst/>
          </a:prstGeom>
        </p:spPr>
      </p:pic>
    </p:spTree>
    <p:extLst>
      <p:ext uri="{BB962C8B-B14F-4D97-AF65-F5344CB8AC3E}">
        <p14:creationId xmlns:p14="http://schemas.microsoft.com/office/powerpoint/2010/main" val="29530745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F8C2C-67F4-270F-CAE5-47E566E9C5DC}"/>
              </a:ext>
            </a:extLst>
          </p:cNvPr>
          <p:cNvSpPr>
            <a:spLocks noGrp="1"/>
          </p:cNvSpPr>
          <p:nvPr>
            <p:ph type="title"/>
          </p:nvPr>
        </p:nvSpPr>
        <p:spPr/>
        <p:txBody>
          <a:bodyPr/>
          <a:lstStyle/>
          <a:p>
            <a:r>
              <a:rPr lang="en-US"/>
              <a:t>Checking the Constant Variance Assumption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B57AA33-B9D6-35C0-5D26-74AEA4BD2C4E}"/>
                  </a:ext>
                </a:extLst>
              </p:cNvPr>
              <p:cNvSpPr>
                <a:spLocks noGrp="1"/>
              </p:cNvSpPr>
              <p:nvPr>
                <p:ph idx="1"/>
              </p:nvPr>
            </p:nvSpPr>
            <p:spPr/>
            <p:txBody>
              <a:bodyPr/>
              <a:lstStyle/>
              <a:p>
                <a:r>
                  <a:rPr lang="en-US"/>
                  <a:t>Once again, we look at the Residuals vs Fitted Values plot</a:t>
                </a:r>
              </a:p>
              <a:p>
                <a:r>
                  <a:rPr lang="en-US"/>
                  <a:t>We can also look at these plots: </a:t>
                </a:r>
              </a:p>
              <a:p>
                <a:pPr lvl="1"/>
                <a:r>
                  <a:rPr lang="en-US"/>
                  <a:t>Squares of residuals against the fitted values,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𝑒</m:t>
                        </m:r>
                      </m:e>
                      <m:sub>
                        <m:r>
                          <a:rPr lang="en-US" b="0" i="1" smtClean="0">
                            <a:latin typeface="Cambria Math" panose="02040503050406030204" pitchFamily="18" charset="0"/>
                          </a:rPr>
                          <m:t>𝑖</m:t>
                        </m:r>
                      </m:sub>
                      <m:sup>
                        <m:r>
                          <a:rPr lang="en-US" b="0" i="1" smtClean="0">
                            <a:latin typeface="Cambria Math" panose="02040503050406030204" pitchFamily="18" charset="0"/>
                          </a:rPr>
                          <m:t>2</m:t>
                        </m:r>
                      </m:sup>
                    </m:sSubSup>
                    <m:r>
                      <a:rPr lang="en-US" b="0" i="1" smtClean="0">
                        <a:latin typeface="Cambria Math" panose="02040503050406030204" pitchFamily="18" charset="0"/>
                      </a:rPr>
                      <m:t> </m:t>
                    </m:r>
                  </m:oMath>
                </a14:m>
                <a:r>
                  <a:rPr lang="en-US"/>
                  <a:t>vs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oMath>
                </a14:m>
                <a:endParaRPr lang="en-US"/>
              </a:p>
              <a:p>
                <a:pPr lvl="1"/>
                <a:r>
                  <a:rPr lang="en-US"/>
                  <a:t>Absolute values of residuals against the fitted values, </a:t>
                </a:r>
                <a14:m>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𝑖</m:t>
                        </m:r>
                      </m:sub>
                    </m:sSub>
                    <m:r>
                      <a:rPr lang="en-US" b="0" i="1" smtClean="0">
                        <a:latin typeface="Cambria Math" panose="02040503050406030204" pitchFamily="18" charset="0"/>
                      </a:rPr>
                      <m:t>|</m:t>
                    </m:r>
                  </m:oMath>
                </a14:m>
                <a:r>
                  <a:rPr lang="en-US"/>
                  <a:t> vs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oMath>
                </a14:m>
                <a:endParaRPr lang="en-US"/>
              </a:p>
              <a:p>
                <a:pPr lvl="1"/>
                <a:r>
                  <a:rPr lang="en-US">
                    <a:solidFill>
                      <a:srgbClr val="00B050"/>
                    </a:solidFill>
                  </a:rPr>
                  <a:t>Square roots of residuals against the fitted values, </a:t>
                </a:r>
                <a14:m>
                  <m:oMath xmlns:m="http://schemas.openxmlformats.org/officeDocument/2006/math">
                    <m:rad>
                      <m:radPr>
                        <m:degHide m:val="on"/>
                        <m:ctrlPr>
                          <a:rPr lang="en-US" b="0" i="1" smtClean="0">
                            <a:solidFill>
                              <a:srgbClr val="00B050"/>
                            </a:solidFill>
                            <a:latin typeface="Cambria Math" panose="02040503050406030204" pitchFamily="18" charset="0"/>
                          </a:rPr>
                        </m:ctrlPr>
                      </m:radPr>
                      <m:deg/>
                      <m:e>
                        <m:d>
                          <m:dPr>
                            <m:begChr m:val="|"/>
                            <m:endChr m:val="|"/>
                            <m:ctrlPr>
                              <a:rPr lang="en-US" b="0" i="1" smtClean="0">
                                <a:solidFill>
                                  <a:srgbClr val="00B050"/>
                                </a:solidFill>
                                <a:latin typeface="Cambria Math" panose="02040503050406030204" pitchFamily="18" charset="0"/>
                              </a:rPr>
                            </m:ctrlPr>
                          </m:dPr>
                          <m:e>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𝑒</m:t>
                                </m:r>
                              </m:e>
                              <m:sub>
                                <m:r>
                                  <a:rPr lang="en-US" b="0" i="1" smtClean="0">
                                    <a:solidFill>
                                      <a:srgbClr val="00B050"/>
                                    </a:solidFill>
                                    <a:latin typeface="Cambria Math" panose="02040503050406030204" pitchFamily="18" charset="0"/>
                                  </a:rPr>
                                  <m:t>𝑖</m:t>
                                </m:r>
                              </m:sub>
                            </m:sSub>
                          </m:e>
                        </m:d>
                      </m:e>
                    </m:rad>
                  </m:oMath>
                </a14:m>
                <a:r>
                  <a:rPr lang="en-US">
                    <a:solidFill>
                      <a:srgbClr val="00B050"/>
                    </a:solidFill>
                  </a:rPr>
                  <a:t> vs </a:t>
                </a:r>
                <a14:m>
                  <m:oMath xmlns:m="http://schemas.openxmlformats.org/officeDocument/2006/math">
                    <m:acc>
                      <m:accPr>
                        <m:chr m:val="̂"/>
                        <m:ctrlPr>
                          <a:rPr lang="en-US" b="0" i="1" smtClean="0">
                            <a:solidFill>
                              <a:srgbClr val="00B050"/>
                            </a:solidFill>
                            <a:latin typeface="Cambria Math" panose="02040503050406030204" pitchFamily="18" charset="0"/>
                          </a:rPr>
                        </m:ctrlPr>
                      </m:accPr>
                      <m:e>
                        <m:r>
                          <a:rPr lang="en-US" b="0" i="1" smtClean="0">
                            <a:solidFill>
                              <a:srgbClr val="00B050"/>
                            </a:solidFill>
                            <a:latin typeface="Cambria Math" panose="02040503050406030204" pitchFamily="18" charset="0"/>
                          </a:rPr>
                          <m:t>𝑦</m:t>
                        </m:r>
                      </m:e>
                    </m:acc>
                  </m:oMath>
                </a14:m>
                <a:endParaRPr lang="en-US">
                  <a:solidFill>
                    <a:srgbClr val="00B050"/>
                  </a:solidFill>
                </a:endParaRPr>
              </a:p>
              <a:p>
                <a:pPr lvl="2"/>
                <a:r>
                  <a:rPr lang="en-US" sz="2400"/>
                  <a:t>This one often creates the best visual, and is one of the “automatically generated” plots in an R  </a:t>
                </a:r>
                <a:r>
                  <a:rPr lang="en-US" sz="2400" err="1">
                    <a:latin typeface="Courier New" panose="02070309020205020404" pitchFamily="49" charset="0"/>
                    <a:cs typeface="Courier New" panose="02070309020205020404" pitchFamily="49" charset="0"/>
                  </a:rPr>
                  <a:t>lm</a:t>
                </a:r>
                <a:r>
                  <a:rPr lang="en-US" sz="2400">
                    <a:latin typeface="Courier New" panose="02070309020205020404" pitchFamily="49" charset="0"/>
                    <a:cs typeface="Courier New" panose="02070309020205020404" pitchFamily="49" charset="0"/>
                  </a:rPr>
                  <a:t>() </a:t>
                </a:r>
                <a:r>
                  <a:rPr lang="en-US" sz="2400"/>
                  <a:t>object.</a:t>
                </a:r>
              </a:p>
            </p:txBody>
          </p:sp>
        </mc:Choice>
        <mc:Fallback>
          <p:sp>
            <p:nvSpPr>
              <p:cNvPr id="3" name="Content Placeholder 2">
                <a:extLst>
                  <a:ext uri="{FF2B5EF4-FFF2-40B4-BE49-F238E27FC236}">
                    <a16:creationId xmlns:a16="http://schemas.microsoft.com/office/drawing/2014/main" id="{5B57AA33-B9D6-35C0-5D26-74AEA4BD2C4E}"/>
                  </a:ext>
                </a:extLst>
              </p:cNvPr>
              <p:cNvSpPr>
                <a:spLocks noGrp="1" noRot="1" noChangeAspect="1" noMove="1" noResize="1" noEditPoints="1" noAdjustHandles="1" noChangeArrowheads="1" noChangeShapeType="1" noTextEdit="1"/>
              </p:cNvSpPr>
              <p:nvPr>
                <p:ph idx="1"/>
              </p:nvPr>
            </p:nvSpPr>
            <p:spPr>
              <a:blipFill>
                <a:blip r:embed="rId2"/>
                <a:stretch>
                  <a:fillRect l="-1086" t="-2326" r="-844"/>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27BB7296-1D1D-BCA4-FC35-DB13DE3D134D}"/>
              </a:ext>
            </a:extLst>
          </p:cNvPr>
          <p:cNvSpPr>
            <a:spLocks noGrp="1"/>
          </p:cNvSpPr>
          <p:nvPr>
            <p:ph type="sldNum" sz="quarter" idx="12"/>
          </p:nvPr>
        </p:nvSpPr>
        <p:spPr/>
        <p:txBody>
          <a:bodyPr/>
          <a:lstStyle/>
          <a:p>
            <a:fld id="{330EA680-D336-4FF7-8B7A-9848BB0A1C32}" type="slidenum">
              <a:rPr lang="en-US" smtClean="0"/>
              <a:t>11</a:t>
            </a:fld>
            <a:endParaRPr lang="en-US"/>
          </a:p>
        </p:txBody>
      </p:sp>
    </p:spTree>
    <p:extLst>
      <p:ext uri="{BB962C8B-B14F-4D97-AF65-F5344CB8AC3E}">
        <p14:creationId xmlns:p14="http://schemas.microsoft.com/office/powerpoint/2010/main" val="26128088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E6607-6BB9-109C-6141-43FC69B221C7}"/>
              </a:ext>
            </a:extLst>
          </p:cNvPr>
          <p:cNvSpPr>
            <a:spLocks noGrp="1"/>
          </p:cNvSpPr>
          <p:nvPr>
            <p:ph type="title"/>
          </p:nvPr>
        </p:nvSpPr>
        <p:spPr/>
        <p:txBody>
          <a:bodyPr/>
          <a:lstStyle/>
          <a:p>
            <a:r>
              <a:rPr lang="en-US"/>
              <a:t>Heteroskedasticity</a:t>
            </a:r>
          </a:p>
        </p:txBody>
      </p:sp>
      <p:sp>
        <p:nvSpPr>
          <p:cNvPr id="3" name="Content Placeholder 2">
            <a:extLst>
              <a:ext uri="{FF2B5EF4-FFF2-40B4-BE49-F238E27FC236}">
                <a16:creationId xmlns:a16="http://schemas.microsoft.com/office/drawing/2014/main" id="{5FBC7B79-A565-9219-D844-F4FCFC1584D4}"/>
              </a:ext>
            </a:extLst>
          </p:cNvPr>
          <p:cNvSpPr>
            <a:spLocks noGrp="1"/>
          </p:cNvSpPr>
          <p:nvPr>
            <p:ph idx="1"/>
          </p:nvPr>
        </p:nvSpPr>
        <p:spPr>
          <a:xfrm>
            <a:off x="838200" y="1825625"/>
            <a:ext cx="4921665" cy="4351338"/>
          </a:xfrm>
        </p:spPr>
        <p:txBody>
          <a:bodyPr>
            <a:normAutofit/>
          </a:bodyPr>
          <a:lstStyle/>
          <a:p>
            <a:r>
              <a:rPr lang="en-US"/>
              <a:t>Variance increasing with fitted values</a:t>
            </a:r>
          </a:p>
          <a:p>
            <a:pPr lvl="1"/>
            <a:r>
              <a:rPr lang="en-US"/>
              <a:t>(Previous HW problem used simulation to show this)</a:t>
            </a:r>
          </a:p>
          <a:p>
            <a:pPr marL="0" indent="0">
              <a:buNone/>
            </a:pPr>
            <a:endParaRPr lang="en-US"/>
          </a:p>
          <a:p>
            <a:pPr marL="0" indent="0">
              <a:buNone/>
            </a:pPr>
            <a:endParaRPr lang="en-US"/>
          </a:p>
        </p:txBody>
      </p:sp>
      <p:sp>
        <p:nvSpPr>
          <p:cNvPr id="4" name="Slide Number Placeholder 3">
            <a:extLst>
              <a:ext uri="{FF2B5EF4-FFF2-40B4-BE49-F238E27FC236}">
                <a16:creationId xmlns:a16="http://schemas.microsoft.com/office/drawing/2014/main" id="{56A59627-7F66-EC8D-B369-19E34EB0F1A1}"/>
              </a:ext>
            </a:extLst>
          </p:cNvPr>
          <p:cNvSpPr>
            <a:spLocks noGrp="1"/>
          </p:cNvSpPr>
          <p:nvPr>
            <p:ph type="sldNum" sz="quarter" idx="12"/>
          </p:nvPr>
        </p:nvSpPr>
        <p:spPr/>
        <p:txBody>
          <a:bodyPr/>
          <a:lstStyle/>
          <a:p>
            <a:fld id="{330EA680-D336-4FF7-8B7A-9848BB0A1C32}" type="slidenum">
              <a:rPr lang="en-US" smtClean="0"/>
              <a:t>12</a:t>
            </a:fld>
            <a:endParaRPr lang="en-US"/>
          </a:p>
        </p:txBody>
      </p:sp>
      <p:pic>
        <p:nvPicPr>
          <p:cNvPr id="5" name="Picture 2" descr="Example of heteroscedasticity for a Breusch-Pagan Test">
            <a:extLst>
              <a:ext uri="{FF2B5EF4-FFF2-40B4-BE49-F238E27FC236}">
                <a16:creationId xmlns:a16="http://schemas.microsoft.com/office/drawing/2014/main" id="{6FA97B3A-29B8-C7D5-AF18-F09EABCB56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44822" y="1387695"/>
            <a:ext cx="5386481" cy="408261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DF7E695-44C1-1862-664A-A13850DF6AD5}"/>
              </a:ext>
            </a:extLst>
          </p:cNvPr>
          <p:cNvSpPr txBox="1"/>
          <p:nvPr/>
        </p:nvSpPr>
        <p:spPr>
          <a:xfrm>
            <a:off x="0" y="6488668"/>
            <a:ext cx="9322542" cy="369332"/>
          </a:xfrm>
          <a:prstGeom prst="rect">
            <a:avLst/>
          </a:prstGeom>
          <a:noFill/>
        </p:spPr>
        <p:txBody>
          <a:bodyPr wrap="square" rtlCol="0">
            <a:spAutoFit/>
          </a:bodyPr>
          <a:lstStyle/>
          <a:p>
            <a:r>
              <a:rPr lang="en-US"/>
              <a:t>Image source: </a:t>
            </a:r>
            <a:r>
              <a:rPr lang="en-US">
                <a:hlinkClick r:id="rId3"/>
              </a:rPr>
              <a:t>https://www.statology.org/breusch-pagan-test/</a:t>
            </a:r>
            <a:r>
              <a:rPr lang="en-US"/>
              <a:t> </a:t>
            </a:r>
          </a:p>
        </p:txBody>
      </p:sp>
    </p:spTree>
    <p:extLst>
      <p:ext uri="{BB962C8B-B14F-4D97-AF65-F5344CB8AC3E}">
        <p14:creationId xmlns:p14="http://schemas.microsoft.com/office/powerpoint/2010/main" val="15488171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5FFD2FA-7407-8B50-E8A9-4E62FEA068DF}"/>
              </a:ext>
            </a:extLst>
          </p:cNvPr>
          <p:cNvPicPr>
            <a:picLocks noChangeAspect="1"/>
          </p:cNvPicPr>
          <p:nvPr/>
        </p:nvPicPr>
        <p:blipFill>
          <a:blip r:embed="rId2"/>
          <a:stretch>
            <a:fillRect/>
          </a:stretch>
        </p:blipFill>
        <p:spPr>
          <a:xfrm>
            <a:off x="6671735" y="836085"/>
            <a:ext cx="5520265" cy="5520265"/>
          </a:xfrm>
          <a:prstGeom prst="rect">
            <a:avLst/>
          </a:prstGeom>
        </p:spPr>
      </p:pic>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9C5D770B-6C22-2B39-1EFB-6A2A6120F990}"/>
                  </a:ext>
                </a:extLst>
              </p:cNvPr>
              <p:cNvSpPr>
                <a:spLocks noGrp="1"/>
              </p:cNvSpPr>
              <p:nvPr>
                <p:ph type="title"/>
              </p:nvPr>
            </p:nvSpPr>
            <p:spPr/>
            <p:txBody>
              <a:bodyPr/>
              <a:lstStyle/>
              <a:p>
                <a:r>
                  <a:rPr lang="en-US"/>
                  <a:t>Scale-Location, </a:t>
                </a:r>
                <a14:m>
                  <m:oMath xmlns:m="http://schemas.openxmlformats.org/officeDocument/2006/math">
                    <m:rad>
                      <m:radPr>
                        <m:degHide m:val="on"/>
                        <m:ctrlPr>
                          <a:rPr lang="en-US" b="0" i="1" smtClean="0">
                            <a:latin typeface="Cambria Math" panose="02040503050406030204" pitchFamily="18" charset="0"/>
                          </a:rPr>
                        </m:ctrlPr>
                      </m:radPr>
                      <m:deg/>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𝑖</m:t>
                                </m:r>
                              </m:sub>
                            </m:sSub>
                          </m:e>
                        </m:d>
                      </m:e>
                    </m:rad>
                  </m:oMath>
                </a14:m>
                <a:r>
                  <a:rPr lang="en-US"/>
                  <a:t> vs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oMath>
                </a14:m>
                <a:endParaRPr lang="en-US"/>
              </a:p>
            </p:txBody>
          </p:sp>
        </mc:Choice>
        <mc:Fallback>
          <p:sp>
            <p:nvSpPr>
              <p:cNvPr id="2" name="Title 1">
                <a:extLst>
                  <a:ext uri="{FF2B5EF4-FFF2-40B4-BE49-F238E27FC236}">
                    <a16:creationId xmlns:a16="http://schemas.microsoft.com/office/drawing/2014/main" id="{9C5D770B-6C22-2B39-1EFB-6A2A6120F990}"/>
                  </a:ext>
                </a:extLst>
              </p:cNvPr>
              <p:cNvSpPr>
                <a:spLocks noGrp="1" noRot="1" noChangeAspect="1" noMove="1" noResize="1" noEditPoints="1" noAdjustHandles="1" noChangeArrowheads="1" noChangeShapeType="1" noTextEdit="1"/>
              </p:cNvSpPr>
              <p:nvPr>
                <p:ph type="title"/>
              </p:nvPr>
            </p:nvSpPr>
            <p:spPr>
              <a:blipFill>
                <a:blip r:embed="rId3"/>
                <a:stretch>
                  <a:fillRect l="-2413" b="-285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FE7EAFE-A163-457F-433E-7A63A6EC7367}"/>
                  </a:ext>
                </a:extLst>
              </p:cNvPr>
              <p:cNvSpPr>
                <a:spLocks noGrp="1"/>
              </p:cNvSpPr>
              <p:nvPr>
                <p:ph idx="1"/>
              </p:nvPr>
            </p:nvSpPr>
            <p:spPr>
              <a:xfrm>
                <a:off x="838200" y="1825625"/>
                <a:ext cx="5833535" cy="4667250"/>
              </a:xfrm>
            </p:spPr>
            <p:txBody>
              <a:bodyPr>
                <a:normAutofit/>
              </a:bodyPr>
              <a:lstStyle/>
              <a:p>
                <a:r>
                  <a:rPr lang="en-US" sz="2400"/>
                  <a:t>R will include a smoothing curve (red), which is a non-parametric curve</a:t>
                </a:r>
              </a:p>
              <a:p>
                <a:r>
                  <a:rPr lang="en-US" sz="2400"/>
                  <a:t>Tries to show the trend in mean of the vertical axis unit, e.g., </a:t>
                </a:r>
                <a14:m>
                  <m:oMath xmlns:m="http://schemas.openxmlformats.org/officeDocument/2006/math">
                    <m:rad>
                      <m:radPr>
                        <m:degHide m:val="on"/>
                        <m:ctrlPr>
                          <a:rPr lang="en-US" sz="2400" b="0" i="1" smtClean="0">
                            <a:latin typeface="Cambria Math" panose="02040503050406030204" pitchFamily="18" charset="0"/>
                          </a:rPr>
                        </m:ctrlPr>
                      </m:radPr>
                      <m:deg/>
                      <m:e>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𝑟𝑒𝑠𝑖𝑑𝑢𝑎𝑙𝑠</m:t>
                            </m:r>
                          </m:e>
                        </m:d>
                      </m:e>
                    </m:rad>
                  </m:oMath>
                </a14:m>
                <a:endParaRPr lang="en-US" sz="2400"/>
              </a:p>
              <a:p>
                <a:r>
                  <a:rPr lang="en-US" sz="2400"/>
                  <a:t>Low-fidelity and local, so smoothing curves will not tend to look “great” especially in smaller datasets.</a:t>
                </a:r>
              </a:p>
              <a:p>
                <a:r>
                  <a:rPr lang="en-US" sz="2400"/>
                  <a:t>In this plot:</a:t>
                </a:r>
              </a:p>
              <a:p>
                <a:pPr lvl="1"/>
                <a:r>
                  <a:rPr lang="en-US" sz="2000"/>
                  <a:t>Spread of residuals does not systematically increase/decrease</a:t>
                </a:r>
              </a:p>
              <a:p>
                <a:pPr lvl="1"/>
                <a:r>
                  <a:rPr lang="en-US" sz="2000"/>
                  <a:t>Variance does not significantly change across fitted values</a:t>
                </a:r>
              </a:p>
            </p:txBody>
          </p:sp>
        </mc:Choice>
        <mc:Fallback>
          <p:sp>
            <p:nvSpPr>
              <p:cNvPr id="3" name="Content Placeholder 2">
                <a:extLst>
                  <a:ext uri="{FF2B5EF4-FFF2-40B4-BE49-F238E27FC236}">
                    <a16:creationId xmlns:a16="http://schemas.microsoft.com/office/drawing/2014/main" id="{4FE7EAFE-A163-457F-433E-7A63A6EC7367}"/>
                  </a:ext>
                </a:extLst>
              </p:cNvPr>
              <p:cNvSpPr>
                <a:spLocks noGrp="1" noRot="1" noChangeAspect="1" noMove="1" noResize="1" noEditPoints="1" noAdjustHandles="1" noChangeArrowheads="1" noChangeShapeType="1" noTextEdit="1"/>
              </p:cNvSpPr>
              <p:nvPr>
                <p:ph idx="1"/>
              </p:nvPr>
            </p:nvSpPr>
            <p:spPr>
              <a:xfrm>
                <a:off x="838200" y="1825625"/>
                <a:ext cx="5833535" cy="4667250"/>
              </a:xfrm>
              <a:blipFill>
                <a:blip r:embed="rId4"/>
                <a:stretch>
                  <a:fillRect l="-1522" t="-1897"/>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9F693AC2-B44E-F7EE-1894-4E42F58D7DA9}"/>
              </a:ext>
            </a:extLst>
          </p:cNvPr>
          <p:cNvSpPr>
            <a:spLocks noGrp="1"/>
          </p:cNvSpPr>
          <p:nvPr>
            <p:ph type="sldNum" sz="quarter" idx="12"/>
          </p:nvPr>
        </p:nvSpPr>
        <p:spPr/>
        <p:txBody>
          <a:bodyPr/>
          <a:lstStyle/>
          <a:p>
            <a:fld id="{330EA680-D336-4FF7-8B7A-9848BB0A1C32}" type="slidenum">
              <a:rPr lang="en-US" smtClean="0"/>
              <a:t>13</a:t>
            </a:fld>
            <a:endParaRPr lang="en-US"/>
          </a:p>
        </p:txBody>
      </p:sp>
    </p:spTree>
    <p:extLst>
      <p:ext uri="{BB962C8B-B14F-4D97-AF65-F5344CB8AC3E}">
        <p14:creationId xmlns:p14="http://schemas.microsoft.com/office/powerpoint/2010/main" val="37889757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7B4C1-74FF-4267-3469-898818D5B340}"/>
              </a:ext>
            </a:extLst>
          </p:cNvPr>
          <p:cNvSpPr>
            <a:spLocks noGrp="1"/>
          </p:cNvSpPr>
          <p:nvPr>
            <p:ph type="title"/>
          </p:nvPr>
        </p:nvSpPr>
        <p:spPr/>
        <p:txBody>
          <a:bodyPr/>
          <a:lstStyle/>
          <a:p>
            <a:r>
              <a:rPr lang="en-US"/>
              <a:t>The Breusch–Pagan (BP) Test </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721A28C-99DB-8B27-8B72-3024F4A6016D}"/>
                  </a:ext>
                </a:extLst>
              </p:cNvPr>
              <p:cNvSpPr>
                <a:spLocks noGrp="1"/>
              </p:cNvSpPr>
              <p:nvPr>
                <p:ph idx="1"/>
              </p:nvPr>
            </p:nvSpPr>
            <p:spPr/>
            <p:txBody>
              <a:bodyPr>
                <a:normAutofit/>
              </a:bodyPr>
              <a:lstStyle/>
              <a:p>
                <a:pPr marL="0" indent="0">
                  <a:buNone/>
                </a:pPr>
                <a14:m>
                  <m:oMathPara xmlns:m="http://schemas.openxmlformats.org/officeDocument/2006/math">
                    <m:oMathParaPr>
                      <m:jc m:val="centerGroup"/>
                    </m:oMathParaPr>
                    <m:oMath xmlns:m="http://schemas.openxmlformats.org/officeDocument/2006/math">
                      <m:sSub>
                        <m:sSubPr>
                          <m:ctrlPr>
                            <a:rPr lang="en-US" b="0" i="1" smtClean="0">
                              <a:effectLst/>
                              <a:latin typeface="Cambria Math" panose="02040503050406030204" pitchFamily="18" charset="0"/>
                            </a:rPr>
                          </m:ctrlPr>
                        </m:sSubPr>
                        <m:e>
                          <m:r>
                            <a:rPr lang="en-US" b="0" i="1" smtClean="0">
                              <a:effectLst/>
                              <a:latin typeface="Cambria Math" panose="02040503050406030204" pitchFamily="18" charset="0"/>
                            </a:rPr>
                            <m:t>𝐻</m:t>
                          </m:r>
                        </m:e>
                        <m:sub>
                          <m:r>
                            <a:rPr lang="en-US" b="0" i="1" smtClean="0">
                              <a:effectLst/>
                              <a:latin typeface="Cambria Math" panose="02040503050406030204" pitchFamily="18" charset="0"/>
                            </a:rPr>
                            <m:t>0</m:t>
                          </m:r>
                        </m:sub>
                      </m:sSub>
                      <m:r>
                        <a:rPr lang="en-US" b="0" i="1" smtClean="0">
                          <a:effectLst/>
                          <a:latin typeface="Cambria Math" panose="02040503050406030204" pitchFamily="18" charset="0"/>
                        </a:rPr>
                        <m:t>:</m:t>
                      </m:r>
                      <m:r>
                        <m:rPr>
                          <m:sty m:val="p"/>
                        </m:rPr>
                        <a:rPr lang="en-US" b="0" i="0" smtClean="0">
                          <a:effectLst/>
                          <a:latin typeface="Cambria Math" panose="02040503050406030204" pitchFamily="18" charset="0"/>
                        </a:rPr>
                        <m:t>Var</m:t>
                      </m:r>
                      <m:d>
                        <m:dPr>
                          <m:begChr m:val="["/>
                          <m:endChr m:val="]"/>
                          <m:ctrlPr>
                            <a:rPr lang="en-US" b="0" i="1" smtClean="0">
                              <a:effectLst/>
                              <a:latin typeface="Cambria Math" panose="02040503050406030204" pitchFamily="18" charset="0"/>
                            </a:rPr>
                          </m:ctrlPr>
                        </m:dPr>
                        <m:e>
                          <m:d>
                            <m:dPr>
                              <m:begChr m:val="{"/>
                              <m:endChr m:val="}"/>
                              <m:ctrlPr>
                                <a:rPr lang="en-US" b="0" i="1" smtClean="0">
                                  <a:effectLst/>
                                  <a:latin typeface="Cambria Math" panose="02040503050406030204" pitchFamily="18" charset="0"/>
                                </a:rPr>
                              </m:ctrlPr>
                            </m:dPr>
                            <m:e>
                              <m:sSub>
                                <m:sSubPr>
                                  <m:ctrlPr>
                                    <a:rPr lang="en-US" b="0" i="1" smtClean="0">
                                      <a:effectLst/>
                                      <a:latin typeface="Cambria Math" panose="02040503050406030204" pitchFamily="18" charset="0"/>
                                    </a:rPr>
                                  </m:ctrlPr>
                                </m:sSubPr>
                                <m:e>
                                  <m:r>
                                    <a:rPr lang="en-US" b="0" i="1" smtClean="0">
                                      <a:effectLst/>
                                      <a:latin typeface="Cambria Math" panose="02040503050406030204" pitchFamily="18" charset="0"/>
                                    </a:rPr>
                                    <m:t>𝑒</m:t>
                                  </m:r>
                                </m:e>
                                <m:sub>
                                  <m:r>
                                    <a:rPr lang="en-US" b="0" i="1" smtClean="0">
                                      <a:effectLst/>
                                      <a:latin typeface="Cambria Math" panose="02040503050406030204" pitchFamily="18" charset="0"/>
                                    </a:rPr>
                                    <m:t>𝑖</m:t>
                                  </m:r>
                                </m:sub>
                              </m:sSub>
                            </m:e>
                          </m:d>
                        </m:e>
                      </m:d>
                      <m:r>
                        <a:rPr lang="en-US" b="0" i="0" smtClean="0">
                          <a:effectLst/>
                          <a:latin typeface="Cambria Math" panose="02040503050406030204" pitchFamily="18" charset="0"/>
                        </a:rPr>
                        <m:t> </m:t>
                      </m:r>
                      <m:r>
                        <m:rPr>
                          <m:sty m:val="p"/>
                        </m:rPr>
                        <a:rPr lang="en-US" b="0" i="0" smtClean="0">
                          <a:effectLst/>
                          <a:latin typeface="Cambria Math" panose="02040503050406030204" pitchFamily="18" charset="0"/>
                        </a:rPr>
                        <m:t>is</m:t>
                      </m:r>
                      <m:r>
                        <a:rPr lang="en-US" b="0" i="0" smtClean="0">
                          <a:effectLst/>
                          <a:latin typeface="Cambria Math" panose="02040503050406030204" pitchFamily="18" charset="0"/>
                        </a:rPr>
                        <m:t> </m:t>
                      </m:r>
                      <m:r>
                        <m:rPr>
                          <m:sty m:val="p"/>
                        </m:rPr>
                        <a:rPr lang="en-US" b="0" i="0" smtClean="0">
                          <a:effectLst/>
                          <a:latin typeface="Cambria Math" panose="02040503050406030204" pitchFamily="18" charset="0"/>
                        </a:rPr>
                        <m:t>constant</m:t>
                      </m:r>
                      <m:r>
                        <a:rPr lang="en-US" b="0" i="0" smtClean="0">
                          <a:effectLst/>
                          <a:latin typeface="Cambria Math" panose="02040503050406030204" pitchFamily="18" charset="0"/>
                        </a:rPr>
                        <m:t> </m:t>
                      </m:r>
                      <m:d>
                        <m:dPr>
                          <m:ctrlPr>
                            <a:rPr lang="en-US" b="0" i="1" smtClean="0">
                              <a:effectLst/>
                              <a:latin typeface="Cambria Math" panose="02040503050406030204" pitchFamily="18" charset="0"/>
                            </a:rPr>
                          </m:ctrlPr>
                        </m:dPr>
                        <m:e>
                          <m:r>
                            <m:rPr>
                              <m:sty m:val="p"/>
                            </m:rPr>
                            <a:rPr lang="en-US" b="0" i="0" smtClean="0">
                              <a:effectLst/>
                              <a:latin typeface="Cambria Math" panose="02040503050406030204" pitchFamily="18" charset="0"/>
                            </a:rPr>
                            <m:t>homoskedastic</m:t>
                          </m:r>
                        </m:e>
                      </m:d>
                      <m:r>
                        <a:rPr lang="en-US" b="0" i="0" smtClean="0">
                          <a:effectLst/>
                          <a:latin typeface="Cambria Math" panose="02040503050406030204" pitchFamily="18" charset="0"/>
                        </a:rPr>
                        <m:t>   </m:t>
                      </m:r>
                    </m:oMath>
                  </m:oMathPara>
                </a14:m>
                <a:endParaRPr lang="en-US" b="0" i="0">
                  <a:effectLst/>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smtClean="0">
                          <a:effectLst/>
                          <a:latin typeface="Cambria Math" panose="02040503050406030204" pitchFamily="18" charset="0"/>
                        </a:rPr>
                        <m:t>𝑣𝑠</m:t>
                      </m:r>
                      <m:r>
                        <a:rPr lang="en-US" b="0" i="1" smtClean="0">
                          <a:effectLst/>
                          <a:latin typeface="Cambria Math" panose="02040503050406030204" pitchFamily="18" charset="0"/>
                        </a:rPr>
                        <m:t>    </m:t>
                      </m:r>
                    </m:oMath>
                  </m:oMathPara>
                </a14:m>
                <a:endParaRPr lang="en-US" b="0" i="1">
                  <a:effectLst/>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b="0" i="1" smtClean="0">
                              <a:effectLst/>
                              <a:latin typeface="Cambria Math" panose="02040503050406030204" pitchFamily="18" charset="0"/>
                            </a:rPr>
                          </m:ctrlPr>
                        </m:sSubPr>
                        <m:e>
                          <m:r>
                            <a:rPr lang="en-US" b="0" i="1" smtClean="0">
                              <a:effectLst/>
                              <a:latin typeface="Cambria Math" panose="02040503050406030204" pitchFamily="18" charset="0"/>
                            </a:rPr>
                            <m:t>𝐻</m:t>
                          </m:r>
                        </m:e>
                        <m:sub>
                          <m:r>
                            <a:rPr lang="en-US" b="0" i="1" smtClean="0">
                              <a:effectLst/>
                              <a:latin typeface="Cambria Math" panose="02040503050406030204" pitchFamily="18" charset="0"/>
                            </a:rPr>
                            <m:t>𝐴</m:t>
                          </m:r>
                        </m:sub>
                      </m:sSub>
                      <m:r>
                        <a:rPr lang="en-US" b="0" i="1" smtClean="0">
                          <a:effectLst/>
                          <a:latin typeface="Cambria Math" panose="02040503050406030204" pitchFamily="18" charset="0"/>
                        </a:rPr>
                        <m:t>:</m:t>
                      </m:r>
                      <m:r>
                        <m:rPr>
                          <m:sty m:val="p"/>
                        </m:rPr>
                        <a:rPr lang="en-US" b="0" i="0" smtClean="0">
                          <a:effectLst/>
                          <a:latin typeface="Cambria Math" panose="02040503050406030204" pitchFamily="18" charset="0"/>
                        </a:rPr>
                        <m:t>Var</m:t>
                      </m:r>
                      <m:d>
                        <m:dPr>
                          <m:begChr m:val="["/>
                          <m:endChr m:val="]"/>
                          <m:ctrlPr>
                            <a:rPr lang="en-US" b="0" i="1" smtClean="0">
                              <a:effectLst/>
                              <a:latin typeface="Cambria Math" panose="02040503050406030204" pitchFamily="18" charset="0"/>
                            </a:rPr>
                          </m:ctrlPr>
                        </m:dPr>
                        <m:e>
                          <m:d>
                            <m:dPr>
                              <m:begChr m:val="{"/>
                              <m:endChr m:val="}"/>
                              <m:ctrlPr>
                                <a:rPr lang="en-US" b="0" i="1" smtClean="0">
                                  <a:effectLst/>
                                  <a:latin typeface="Cambria Math" panose="02040503050406030204" pitchFamily="18" charset="0"/>
                                </a:rPr>
                              </m:ctrlPr>
                            </m:dPr>
                            <m:e>
                              <m:sSub>
                                <m:sSubPr>
                                  <m:ctrlPr>
                                    <a:rPr lang="en-US" b="0" i="1" smtClean="0">
                                      <a:effectLst/>
                                      <a:latin typeface="Cambria Math" panose="02040503050406030204" pitchFamily="18" charset="0"/>
                                    </a:rPr>
                                  </m:ctrlPr>
                                </m:sSubPr>
                                <m:e>
                                  <m:r>
                                    <a:rPr lang="en-US" b="0" i="1" smtClean="0">
                                      <a:effectLst/>
                                      <a:latin typeface="Cambria Math" panose="02040503050406030204" pitchFamily="18" charset="0"/>
                                    </a:rPr>
                                    <m:t>𝑒</m:t>
                                  </m:r>
                                </m:e>
                                <m:sub>
                                  <m:r>
                                    <a:rPr lang="en-US" b="0" i="1" smtClean="0">
                                      <a:effectLst/>
                                      <a:latin typeface="Cambria Math" panose="02040503050406030204" pitchFamily="18" charset="0"/>
                                    </a:rPr>
                                    <m:t>𝑖</m:t>
                                  </m:r>
                                </m:sub>
                              </m:sSub>
                            </m:e>
                          </m:d>
                        </m:e>
                      </m:d>
                      <m:r>
                        <a:rPr lang="en-US" b="0" i="0" smtClean="0">
                          <a:effectLst/>
                          <a:latin typeface="Cambria Math" panose="02040503050406030204" pitchFamily="18" charset="0"/>
                        </a:rPr>
                        <m:t> </m:t>
                      </m:r>
                      <m:r>
                        <m:rPr>
                          <m:sty m:val="p"/>
                        </m:rPr>
                        <a:rPr lang="en-US" b="0" i="0" smtClean="0">
                          <a:effectLst/>
                          <a:latin typeface="Cambria Math" panose="02040503050406030204" pitchFamily="18" charset="0"/>
                        </a:rPr>
                        <m:t>depends</m:t>
                      </m:r>
                      <m:r>
                        <a:rPr lang="en-US" b="0" i="0" smtClean="0">
                          <a:effectLst/>
                          <a:latin typeface="Cambria Math" panose="02040503050406030204" pitchFamily="18" charset="0"/>
                        </a:rPr>
                        <m:t> </m:t>
                      </m:r>
                      <m:r>
                        <m:rPr>
                          <m:sty m:val="p"/>
                        </m:rPr>
                        <a:rPr lang="en-US" b="0" i="0" smtClean="0">
                          <a:effectLst/>
                          <a:latin typeface="Cambria Math" panose="02040503050406030204" pitchFamily="18" charset="0"/>
                        </a:rPr>
                        <m:t>on</m:t>
                      </m:r>
                      <m:r>
                        <a:rPr lang="en-US" b="0" i="0" smtClean="0">
                          <a:effectLst/>
                          <a:latin typeface="Cambria Math" panose="02040503050406030204" pitchFamily="18" charset="0"/>
                        </a:rPr>
                        <m:t> </m:t>
                      </m:r>
                      <m:r>
                        <m:rPr>
                          <m:sty m:val="p"/>
                        </m:rPr>
                        <a:rPr lang="en-US" b="0" i="0" smtClean="0">
                          <a:effectLst/>
                          <a:latin typeface="Cambria Math" panose="02040503050406030204" pitchFamily="18" charset="0"/>
                        </a:rPr>
                        <m:t>the</m:t>
                      </m:r>
                      <m:r>
                        <a:rPr lang="en-US" b="0" i="0" smtClean="0">
                          <a:effectLst/>
                          <a:latin typeface="Cambria Math" panose="02040503050406030204" pitchFamily="18" charset="0"/>
                        </a:rPr>
                        <m:t> </m:t>
                      </m:r>
                      <m:r>
                        <m:rPr>
                          <m:sty m:val="p"/>
                        </m:rPr>
                        <a:rPr lang="en-US" b="0" i="0" smtClean="0">
                          <a:effectLst/>
                          <a:latin typeface="Cambria Math" panose="02040503050406030204" pitchFamily="18" charset="0"/>
                        </a:rPr>
                        <m:t>predictors</m:t>
                      </m:r>
                      <m:r>
                        <a:rPr lang="en-US" b="0" i="0" smtClean="0">
                          <a:effectLst/>
                          <a:latin typeface="Cambria Math" panose="02040503050406030204" pitchFamily="18" charset="0"/>
                        </a:rPr>
                        <m:t> (</m:t>
                      </m:r>
                      <m:r>
                        <m:rPr>
                          <m:sty m:val="p"/>
                        </m:rPr>
                        <a:rPr lang="en-US" b="0" i="0" smtClean="0">
                          <a:effectLst/>
                          <a:latin typeface="Cambria Math" panose="02040503050406030204" pitchFamily="18" charset="0"/>
                        </a:rPr>
                        <m:t>heteroskedastic</m:t>
                      </m:r>
                      <m:r>
                        <a:rPr lang="en-US" b="0" i="0" smtClean="0">
                          <a:effectLst/>
                          <a:latin typeface="Cambria Math" panose="02040503050406030204" pitchFamily="18" charset="0"/>
                        </a:rPr>
                        <m:t>)</m:t>
                      </m:r>
                    </m:oMath>
                  </m:oMathPara>
                </a14:m>
                <a:endParaRPr lang="en-US">
                  <a:effectLst/>
                </a:endParaRPr>
              </a:p>
              <a:p>
                <a:endParaRPr lang="en-US">
                  <a:effectLst/>
                </a:endParaRPr>
              </a:p>
              <a:p>
                <a:r>
                  <a:rPr lang="en-US">
                    <a:effectLst/>
                  </a:rPr>
                  <a:t>BP regresses </a:t>
                </a:r>
                <a14:m>
                  <m:oMath xmlns:m="http://schemas.openxmlformats.org/officeDocument/2006/math">
                    <m:sSubSup>
                      <m:sSubSupPr>
                        <m:ctrlPr>
                          <a:rPr lang="ar-AE" i="1">
                            <a:latin typeface="Cambria Math" panose="02040503050406030204" pitchFamily="18" charset="0"/>
                          </a:rPr>
                        </m:ctrlPr>
                      </m:sSubSupPr>
                      <m:e>
                        <m:r>
                          <a:rPr lang="ar-AE" i="1">
                            <a:latin typeface="Cambria Math" panose="02040503050406030204" pitchFamily="18" charset="0"/>
                          </a:rPr>
                          <m:t>𝑒</m:t>
                        </m:r>
                      </m:e>
                      <m:sub>
                        <m:r>
                          <a:rPr lang="ar-AE" i="1">
                            <a:latin typeface="Cambria Math" panose="02040503050406030204" pitchFamily="18" charset="0"/>
                          </a:rPr>
                          <m:t>𝑖</m:t>
                        </m:r>
                      </m:sub>
                      <m:sup>
                        <m:r>
                          <a:rPr lang="ar-AE">
                            <a:latin typeface="Cambria Math" panose="02040503050406030204" pitchFamily="18" charset="0"/>
                          </a:rPr>
                          <m:t>2</m:t>
                        </m:r>
                      </m:sup>
                    </m:sSubSup>
                  </m:oMath>
                </a14:m>
                <a:r>
                  <a:rPr lang="en-US">
                    <a:effectLst/>
                  </a:rPr>
                  <a:t>on the predictors</a:t>
                </a:r>
                <a:r>
                  <a:rPr lang="en-US"/>
                  <a:t>.</a:t>
                </a:r>
              </a:p>
              <a:p>
                <a:r>
                  <a:rPr lang="en-US"/>
                  <a:t>If variance is constant, squared residuals shouldn’t depend on predictors.</a:t>
                </a:r>
              </a:p>
              <a:p>
                <a:r>
                  <a:rPr lang="en-US">
                    <a:effectLst/>
                  </a:rPr>
                  <a:t>A significant result suggests heteroskedasticity.</a:t>
                </a:r>
                <a:endParaRPr lang="en-US"/>
              </a:p>
              <a:p>
                <a:pPr marL="0" indent="0">
                  <a:buNone/>
                </a:pPr>
                <a:endParaRPr lang="en-US">
                  <a:effectLst/>
                </a:endParaRPr>
              </a:p>
            </p:txBody>
          </p:sp>
        </mc:Choice>
        <mc:Fallback>
          <p:sp>
            <p:nvSpPr>
              <p:cNvPr id="3" name="Content Placeholder 2">
                <a:extLst>
                  <a:ext uri="{FF2B5EF4-FFF2-40B4-BE49-F238E27FC236}">
                    <a16:creationId xmlns:a16="http://schemas.microsoft.com/office/drawing/2014/main" id="{8721A28C-99DB-8B27-8B72-3024F4A6016D}"/>
                  </a:ext>
                </a:extLst>
              </p:cNvPr>
              <p:cNvSpPr>
                <a:spLocks noGrp="1" noRot="1" noChangeAspect="1" noMove="1" noResize="1" noEditPoints="1" noAdjustHandles="1" noChangeArrowheads="1" noChangeShapeType="1" noTextEdit="1"/>
              </p:cNvSpPr>
              <p:nvPr>
                <p:ph idx="1"/>
              </p:nvPr>
            </p:nvSpPr>
            <p:spPr>
              <a:blipFill>
                <a:blip r:embed="rId2"/>
                <a:stretch>
                  <a:fillRect l="-1086" t="-581"/>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F6EC07D7-2D42-13F3-1796-C57B8BB2D068}"/>
              </a:ext>
            </a:extLst>
          </p:cNvPr>
          <p:cNvSpPr>
            <a:spLocks noGrp="1"/>
          </p:cNvSpPr>
          <p:nvPr>
            <p:ph type="sldNum" sz="quarter" idx="12"/>
          </p:nvPr>
        </p:nvSpPr>
        <p:spPr/>
        <p:txBody>
          <a:bodyPr/>
          <a:lstStyle/>
          <a:p>
            <a:fld id="{330EA680-D336-4FF7-8B7A-9848BB0A1C32}" type="slidenum">
              <a:rPr lang="en-US" smtClean="0"/>
              <a:t>14</a:t>
            </a:fld>
            <a:endParaRPr lang="en-US"/>
          </a:p>
        </p:txBody>
      </p:sp>
    </p:spTree>
    <p:extLst>
      <p:ext uri="{BB962C8B-B14F-4D97-AF65-F5344CB8AC3E}">
        <p14:creationId xmlns:p14="http://schemas.microsoft.com/office/powerpoint/2010/main" val="13306454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BEBE2-1F5F-03A6-D65F-73310894853E}"/>
              </a:ext>
            </a:extLst>
          </p:cNvPr>
          <p:cNvSpPr>
            <a:spLocks noGrp="1"/>
          </p:cNvSpPr>
          <p:nvPr>
            <p:ph type="title"/>
          </p:nvPr>
        </p:nvSpPr>
        <p:spPr/>
        <p:txBody>
          <a:bodyPr/>
          <a:lstStyle/>
          <a:p>
            <a:r>
              <a:rPr lang="en-US"/>
              <a:t>The Breusch–Pagan (BP) Test </a:t>
            </a:r>
          </a:p>
        </p:txBody>
      </p:sp>
      <p:sp>
        <p:nvSpPr>
          <p:cNvPr id="3" name="Content Placeholder 2">
            <a:extLst>
              <a:ext uri="{FF2B5EF4-FFF2-40B4-BE49-F238E27FC236}">
                <a16:creationId xmlns:a16="http://schemas.microsoft.com/office/drawing/2014/main" id="{B0C5DD21-A05D-F527-2BB9-39D4BD99B89D}"/>
              </a:ext>
            </a:extLst>
          </p:cNvPr>
          <p:cNvSpPr>
            <a:spLocks noGrp="1"/>
          </p:cNvSpPr>
          <p:nvPr>
            <p:ph idx="1"/>
          </p:nvPr>
        </p:nvSpPr>
        <p:spPr>
          <a:xfrm>
            <a:off x="838200" y="1825625"/>
            <a:ext cx="5326626" cy="4351338"/>
          </a:xfrm>
        </p:spPr>
        <p:txBody>
          <a:bodyPr>
            <a:normAutofit/>
          </a:bodyPr>
          <a:lstStyle/>
          <a:p>
            <a:pPr marL="0" indent="0">
              <a:buNone/>
            </a:pPr>
            <a:r>
              <a:rPr lang="en-US" sz="1800">
                <a:cs typeface="Courier New" panose="02070309020205020404" pitchFamily="49" charset="0"/>
              </a:rPr>
              <a:t>R:</a:t>
            </a:r>
          </a:p>
          <a:p>
            <a:pPr marL="0" indent="0">
              <a:buNone/>
            </a:pPr>
            <a:r>
              <a:rPr lang="en-US" sz="1800">
                <a:latin typeface="Courier New" panose="02070309020205020404" pitchFamily="49" charset="0"/>
                <a:cs typeface="Courier New" panose="02070309020205020404" pitchFamily="49" charset="0"/>
              </a:rPr>
              <a:t>library(</a:t>
            </a:r>
            <a:r>
              <a:rPr lang="en-US" sz="1800" err="1">
                <a:latin typeface="Courier New" panose="02070309020205020404" pitchFamily="49" charset="0"/>
                <a:cs typeface="Courier New" panose="02070309020205020404" pitchFamily="49" charset="0"/>
              </a:rPr>
              <a:t>lmtest</a:t>
            </a:r>
            <a:r>
              <a:rPr lang="en-US" sz="1800">
                <a:latin typeface="Courier New" panose="02070309020205020404" pitchFamily="49" charset="0"/>
                <a:cs typeface="Courier New" panose="02070309020205020404" pitchFamily="49" charset="0"/>
              </a:rPr>
              <a:t>)</a:t>
            </a:r>
          </a:p>
          <a:p>
            <a:pPr marL="0" indent="0">
              <a:buNone/>
            </a:pPr>
            <a:r>
              <a:rPr lang="en-US" sz="1800" err="1">
                <a:latin typeface="Courier New" panose="02070309020205020404" pitchFamily="49" charset="0"/>
                <a:cs typeface="Courier New" panose="02070309020205020404" pitchFamily="49" charset="0"/>
              </a:rPr>
              <a:t>bptest</a:t>
            </a:r>
            <a:r>
              <a:rPr lang="en-US" sz="1800">
                <a:latin typeface="Courier New" panose="02070309020205020404" pitchFamily="49" charset="0"/>
                <a:cs typeface="Courier New" panose="02070309020205020404" pitchFamily="49" charset="0"/>
              </a:rPr>
              <a:t>(fit)</a:t>
            </a:r>
          </a:p>
          <a:p>
            <a:pPr marL="0" indent="0">
              <a:buNone/>
            </a:pPr>
            <a:endParaRPr lang="en-US" sz="1800">
              <a:latin typeface="Courier New" panose="02070309020205020404" pitchFamily="49" charset="0"/>
              <a:cs typeface="Courier New" panose="02070309020205020404" pitchFamily="49" charset="0"/>
            </a:endParaRPr>
          </a:p>
          <a:p>
            <a:pPr marL="0" indent="0">
              <a:buNone/>
            </a:pPr>
            <a:endParaRPr lang="en-US" sz="1800">
              <a:latin typeface="Courier New" panose="02070309020205020404" pitchFamily="49" charset="0"/>
              <a:cs typeface="Courier New" panose="02070309020205020404" pitchFamily="49" charset="0"/>
            </a:endParaRPr>
          </a:p>
          <a:p>
            <a:pPr marL="0" indent="0">
              <a:buNone/>
            </a:pPr>
            <a:r>
              <a:rPr lang="en-US" sz="1800">
                <a:cs typeface="Courier New" panose="02070309020205020404" pitchFamily="49" charset="0"/>
              </a:rPr>
              <a:t>Python:</a:t>
            </a:r>
          </a:p>
          <a:p>
            <a:pPr marL="0" indent="0">
              <a:buNone/>
            </a:pPr>
            <a:r>
              <a:rPr lang="en-US" sz="1800">
                <a:latin typeface="Courier New" panose="02070309020205020404" pitchFamily="49" charset="0"/>
                <a:cs typeface="Courier New" panose="02070309020205020404" pitchFamily="49" charset="0"/>
              </a:rPr>
              <a:t>from </a:t>
            </a:r>
            <a:r>
              <a:rPr lang="en-US" sz="1800" err="1">
                <a:latin typeface="Courier New" panose="02070309020205020404" pitchFamily="49" charset="0"/>
                <a:cs typeface="Courier New" panose="02070309020205020404" pitchFamily="49" charset="0"/>
              </a:rPr>
              <a:t>statsmodels.stats.diagnostic</a:t>
            </a:r>
            <a:r>
              <a:rPr lang="en-US" sz="1800">
                <a:latin typeface="Courier New" panose="02070309020205020404" pitchFamily="49" charset="0"/>
                <a:cs typeface="Courier New" panose="02070309020205020404" pitchFamily="49" charset="0"/>
              </a:rPr>
              <a:t> import </a:t>
            </a:r>
            <a:r>
              <a:rPr lang="en-US" sz="1800" err="1">
                <a:latin typeface="Courier New" panose="02070309020205020404" pitchFamily="49" charset="0"/>
                <a:cs typeface="Courier New" panose="02070309020205020404" pitchFamily="49" charset="0"/>
              </a:rPr>
              <a:t>het_breuschpagan</a:t>
            </a:r>
            <a:endParaRPr lang="en-US" sz="1800">
              <a:latin typeface="Courier New" panose="02070309020205020404" pitchFamily="49" charset="0"/>
              <a:cs typeface="Courier New" panose="02070309020205020404" pitchFamily="49" charset="0"/>
            </a:endParaRPr>
          </a:p>
          <a:p>
            <a:pPr marL="0" indent="0">
              <a:buNone/>
            </a:pPr>
            <a:r>
              <a:rPr lang="en-US" sz="1800">
                <a:latin typeface="Courier New" panose="02070309020205020404" pitchFamily="49" charset="0"/>
                <a:cs typeface="Courier New" panose="02070309020205020404" pitchFamily="49" charset="0"/>
              </a:rPr>
              <a:t># Breusch–Pagan test</a:t>
            </a:r>
          </a:p>
          <a:p>
            <a:pPr marL="0" indent="0">
              <a:buNone/>
            </a:pPr>
            <a:r>
              <a:rPr lang="en-US" sz="1800" err="1">
                <a:latin typeface="Courier New" panose="02070309020205020404" pitchFamily="49" charset="0"/>
                <a:cs typeface="Courier New" panose="02070309020205020404" pitchFamily="49" charset="0"/>
              </a:rPr>
              <a:t>bp_test</a:t>
            </a:r>
            <a:r>
              <a:rPr lang="en-US" sz="1800">
                <a:latin typeface="Courier New" panose="02070309020205020404" pitchFamily="49" charset="0"/>
                <a:cs typeface="Courier New" panose="02070309020205020404" pitchFamily="49" charset="0"/>
              </a:rPr>
              <a:t> = </a:t>
            </a:r>
            <a:r>
              <a:rPr lang="en-US" sz="1800" err="1">
                <a:latin typeface="Courier New" panose="02070309020205020404" pitchFamily="49" charset="0"/>
                <a:cs typeface="Courier New" panose="02070309020205020404" pitchFamily="49" charset="0"/>
              </a:rPr>
              <a:t>het_breuschpagan</a:t>
            </a:r>
            <a:r>
              <a:rPr lang="en-US" sz="1800">
                <a:latin typeface="Courier New" panose="02070309020205020404" pitchFamily="49" charset="0"/>
                <a:cs typeface="Courier New" panose="02070309020205020404" pitchFamily="49" charset="0"/>
              </a:rPr>
              <a:t>(</a:t>
            </a:r>
            <a:r>
              <a:rPr lang="en-US" sz="1800" err="1">
                <a:latin typeface="Courier New" panose="02070309020205020404" pitchFamily="49" charset="0"/>
                <a:cs typeface="Courier New" panose="02070309020205020404" pitchFamily="49" charset="0"/>
              </a:rPr>
              <a:t>fit.resid</a:t>
            </a:r>
            <a:r>
              <a:rPr lang="en-US" sz="1800">
                <a:latin typeface="Courier New" panose="02070309020205020404" pitchFamily="49" charset="0"/>
                <a:cs typeface="Courier New" panose="02070309020205020404" pitchFamily="49" charset="0"/>
              </a:rPr>
              <a:t>, </a:t>
            </a:r>
            <a:r>
              <a:rPr lang="en-US" sz="1800" err="1">
                <a:latin typeface="Courier New" panose="02070309020205020404" pitchFamily="49" charset="0"/>
                <a:cs typeface="Courier New" panose="02070309020205020404" pitchFamily="49" charset="0"/>
              </a:rPr>
              <a:t>fit.model.exog</a:t>
            </a:r>
            <a:r>
              <a:rPr lang="en-US" sz="1800">
                <a:latin typeface="Courier New" panose="02070309020205020404" pitchFamily="49" charset="0"/>
                <a:cs typeface="Courier New" panose="02070309020205020404" pitchFamily="49" charset="0"/>
              </a:rPr>
              <a:t>)</a:t>
            </a:r>
          </a:p>
          <a:p>
            <a:pPr marL="0" indent="0">
              <a:buNone/>
            </a:pPr>
            <a:r>
              <a:rPr lang="en-US" sz="1800" err="1">
                <a:latin typeface="Courier New" panose="02070309020205020404" pitchFamily="49" charset="0"/>
                <a:cs typeface="Courier New" panose="02070309020205020404" pitchFamily="49" charset="0"/>
              </a:rPr>
              <a:t>bp_test</a:t>
            </a:r>
            <a:endParaRPr lang="en-US" sz="1800">
              <a:latin typeface="Courier New" panose="02070309020205020404" pitchFamily="49" charset="0"/>
              <a:cs typeface="Courier New" panose="02070309020205020404" pitchFamily="49" charset="0"/>
            </a:endParaRPr>
          </a:p>
          <a:p>
            <a:pPr marL="0" indent="0">
              <a:buNone/>
            </a:pPr>
            <a:endParaRPr lang="en-US" sz="1800">
              <a:latin typeface="Courier New" panose="02070309020205020404" pitchFamily="49" charset="0"/>
              <a:cs typeface="Courier New" panose="02070309020205020404" pitchFamily="49" charset="0"/>
            </a:endParaRPr>
          </a:p>
        </p:txBody>
      </p:sp>
      <p:sp>
        <p:nvSpPr>
          <p:cNvPr id="4" name="Slide Number Placeholder 3">
            <a:extLst>
              <a:ext uri="{FF2B5EF4-FFF2-40B4-BE49-F238E27FC236}">
                <a16:creationId xmlns:a16="http://schemas.microsoft.com/office/drawing/2014/main" id="{F9C97808-26DB-CA25-3125-2D1B98F5A6F1}"/>
              </a:ext>
            </a:extLst>
          </p:cNvPr>
          <p:cNvSpPr>
            <a:spLocks noGrp="1"/>
          </p:cNvSpPr>
          <p:nvPr>
            <p:ph type="sldNum" sz="quarter" idx="12"/>
          </p:nvPr>
        </p:nvSpPr>
        <p:spPr/>
        <p:txBody>
          <a:bodyPr/>
          <a:lstStyle/>
          <a:p>
            <a:fld id="{330EA680-D336-4FF7-8B7A-9848BB0A1C32}" type="slidenum">
              <a:rPr lang="en-US" smtClean="0"/>
              <a:t>15</a:t>
            </a:fld>
            <a:endParaRPr lang="en-US"/>
          </a:p>
        </p:txBody>
      </p:sp>
      <p:sp>
        <p:nvSpPr>
          <p:cNvPr id="5" name="Content Placeholder 2">
            <a:extLst>
              <a:ext uri="{FF2B5EF4-FFF2-40B4-BE49-F238E27FC236}">
                <a16:creationId xmlns:a16="http://schemas.microsoft.com/office/drawing/2014/main" id="{F456DF3B-3C8E-CA94-7EC6-C8A124AD5C26}"/>
              </a:ext>
            </a:extLst>
          </p:cNvPr>
          <p:cNvSpPr txBox="1">
            <a:spLocks/>
          </p:cNvSpPr>
          <p:nvPr/>
        </p:nvSpPr>
        <p:spPr>
          <a:xfrm>
            <a:off x="6438085" y="1825625"/>
            <a:ext cx="532662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a:cs typeface="Courier New" panose="02070309020205020404" pitchFamily="49" charset="0"/>
              </a:rPr>
              <a:t>R:</a:t>
            </a:r>
          </a:p>
          <a:p>
            <a:pPr marL="0" indent="0">
              <a:buNone/>
            </a:pPr>
            <a:r>
              <a:rPr lang="en-US" sz="1800">
                <a:latin typeface="Courier New" panose="02070309020205020404" pitchFamily="49" charset="0"/>
                <a:cs typeface="Courier New" panose="02070309020205020404" pitchFamily="49" charset="0"/>
              </a:rPr>
              <a:t>studentized Breusch-Pagan </a:t>
            </a:r>
            <a:br>
              <a:rPr lang="en-US" sz="1800">
                <a:latin typeface="Courier New" panose="02070309020205020404" pitchFamily="49" charset="0"/>
                <a:cs typeface="Courier New" panose="02070309020205020404" pitchFamily="49" charset="0"/>
              </a:rPr>
            </a:br>
            <a:r>
              <a:rPr lang="en-US" sz="1800" err="1">
                <a:latin typeface="Courier New" panose="02070309020205020404" pitchFamily="49" charset="0"/>
                <a:cs typeface="Courier New" panose="02070309020205020404" pitchFamily="49" charset="0"/>
              </a:rPr>
              <a:t>testdata</a:t>
            </a:r>
            <a:r>
              <a:rPr lang="en-US" sz="1800">
                <a:latin typeface="Courier New" panose="02070309020205020404" pitchFamily="49" charset="0"/>
                <a:cs typeface="Courier New" panose="02070309020205020404" pitchFamily="49" charset="0"/>
              </a:rPr>
              <a:t>:  fit</a:t>
            </a:r>
          </a:p>
          <a:p>
            <a:pPr marL="0" indent="0">
              <a:buNone/>
            </a:pPr>
            <a:r>
              <a:rPr lang="en-US" sz="1800">
                <a:latin typeface="Courier New" panose="02070309020205020404" pitchFamily="49" charset="0"/>
                <a:cs typeface="Courier New" panose="02070309020205020404" pitchFamily="49" charset="0"/>
              </a:rPr>
              <a:t>BP = 4.8904, </a:t>
            </a:r>
            <a:r>
              <a:rPr lang="en-US" sz="1800" err="1">
                <a:latin typeface="Courier New" panose="02070309020205020404" pitchFamily="49" charset="0"/>
                <a:cs typeface="Courier New" panose="02070309020205020404" pitchFamily="49" charset="0"/>
              </a:rPr>
              <a:t>df</a:t>
            </a:r>
            <a:r>
              <a:rPr lang="en-US" sz="1800">
                <a:latin typeface="Courier New" panose="02070309020205020404" pitchFamily="49" charset="0"/>
                <a:cs typeface="Courier New" panose="02070309020205020404" pitchFamily="49" charset="0"/>
              </a:rPr>
              <a:t> = 3, p-value = 0.18</a:t>
            </a:r>
          </a:p>
          <a:p>
            <a:pPr marL="0" indent="0">
              <a:buNone/>
            </a:pPr>
            <a:endParaRPr lang="en-US" sz="1800">
              <a:latin typeface="Courier New" panose="02070309020205020404" pitchFamily="49" charset="0"/>
              <a:cs typeface="Courier New" panose="02070309020205020404" pitchFamily="49" charset="0"/>
            </a:endParaRPr>
          </a:p>
          <a:p>
            <a:pPr marL="0" indent="0">
              <a:buNone/>
            </a:pPr>
            <a:r>
              <a:rPr lang="en-US" sz="1800">
                <a:cs typeface="Courier New" panose="02070309020205020404" pitchFamily="49" charset="0"/>
              </a:rPr>
              <a:t>Python:</a:t>
            </a:r>
          </a:p>
          <a:p>
            <a:pPr marL="0" indent="0">
              <a:buNone/>
            </a:pPr>
            <a:r>
              <a:rPr lang="en-US" sz="1800">
                <a:latin typeface="Courier New" panose="02070309020205020404" pitchFamily="49" charset="0"/>
                <a:cs typeface="Courier New" panose="02070309020205020404" pitchFamily="49" charset="0"/>
              </a:rPr>
              <a:t>(np.float64(4.890367743975322), np.float64(0.18000324351490046), np.float64(1.7202182794807785), np.float64(0.200707041993429))</a:t>
            </a:r>
          </a:p>
        </p:txBody>
      </p:sp>
      <p:sp>
        <p:nvSpPr>
          <p:cNvPr id="6" name="Rectangle 5">
            <a:extLst>
              <a:ext uri="{FF2B5EF4-FFF2-40B4-BE49-F238E27FC236}">
                <a16:creationId xmlns:a16="http://schemas.microsoft.com/office/drawing/2014/main" id="{8EDC5E6C-0345-8225-9A60-23A025BB2DE3}"/>
              </a:ext>
            </a:extLst>
          </p:cNvPr>
          <p:cNvSpPr/>
          <p:nvPr/>
        </p:nvSpPr>
        <p:spPr>
          <a:xfrm>
            <a:off x="6438085" y="4487333"/>
            <a:ext cx="4441582" cy="516467"/>
          </a:xfrm>
          <a:prstGeom prst="rect">
            <a:avLst/>
          </a:prstGeom>
          <a:noFill/>
          <a:ln w="28575">
            <a:solidFill>
              <a:srgbClr val="FF93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63E6C98A-565A-2D9D-732F-DD7652B3B44F}"/>
              </a:ext>
            </a:extLst>
          </p:cNvPr>
          <p:cNvSpPr txBox="1"/>
          <p:nvPr/>
        </p:nvSpPr>
        <p:spPr>
          <a:xfrm>
            <a:off x="7086600" y="5113867"/>
            <a:ext cx="4267200" cy="646331"/>
          </a:xfrm>
          <a:prstGeom prst="rect">
            <a:avLst/>
          </a:prstGeom>
          <a:noFill/>
        </p:spPr>
        <p:txBody>
          <a:bodyPr wrap="square" rtlCol="0">
            <a:spAutoFit/>
          </a:bodyPr>
          <a:lstStyle/>
          <a:p>
            <a:r>
              <a:rPr lang="en-US"/>
              <a:t>Additional, F-statistic formulation of the BP test.</a:t>
            </a:r>
          </a:p>
        </p:txBody>
      </p:sp>
    </p:spTree>
    <p:extLst>
      <p:ext uri="{BB962C8B-B14F-4D97-AF65-F5344CB8AC3E}">
        <p14:creationId xmlns:p14="http://schemas.microsoft.com/office/powerpoint/2010/main" val="346061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D1AC7-C0C5-45C6-6A65-982F484ABE7D}"/>
              </a:ext>
            </a:extLst>
          </p:cNvPr>
          <p:cNvSpPr>
            <a:spLocks noGrp="1"/>
          </p:cNvSpPr>
          <p:nvPr>
            <p:ph type="title"/>
          </p:nvPr>
        </p:nvSpPr>
        <p:spPr/>
        <p:txBody>
          <a:bodyPr/>
          <a:lstStyle/>
          <a:p>
            <a:r>
              <a:rPr lang="en-US"/>
              <a:t>BP Bottom Line</a:t>
            </a:r>
          </a:p>
        </p:txBody>
      </p:sp>
      <p:sp>
        <p:nvSpPr>
          <p:cNvPr id="3" name="Content Placeholder 2">
            <a:extLst>
              <a:ext uri="{FF2B5EF4-FFF2-40B4-BE49-F238E27FC236}">
                <a16:creationId xmlns:a16="http://schemas.microsoft.com/office/drawing/2014/main" id="{BDFFC6B9-5607-7BEB-0520-A7B7733BBDFD}"/>
              </a:ext>
            </a:extLst>
          </p:cNvPr>
          <p:cNvSpPr>
            <a:spLocks noGrp="1"/>
          </p:cNvSpPr>
          <p:nvPr>
            <p:ph idx="1"/>
          </p:nvPr>
        </p:nvSpPr>
        <p:spPr/>
        <p:txBody>
          <a:bodyPr>
            <a:normAutofit fontScale="85000" lnSpcReduction="10000"/>
          </a:bodyPr>
          <a:lstStyle/>
          <a:p>
            <a:pPr marL="0" indent="0">
              <a:buNone/>
            </a:pPr>
            <a:r>
              <a:rPr lang="en-US"/>
              <a:t>Limitations</a:t>
            </a:r>
          </a:p>
          <a:p>
            <a:r>
              <a:rPr lang="en-US"/>
              <a:t>BP is sensitive to model misspecification (i.e., not the best model for our data).</a:t>
            </a:r>
          </a:p>
          <a:p>
            <a:r>
              <a:rPr lang="en-US"/>
              <a:t>BP can flag heteroskedasticity even when the model is simply nonlinear.</a:t>
            </a:r>
          </a:p>
          <a:p>
            <a:r>
              <a:rPr lang="en-US"/>
              <a:t>BP can miss heteroskedasticity if the variance pattern is subtle.</a:t>
            </a:r>
          </a:p>
          <a:p>
            <a:pPr marL="0" indent="0">
              <a:buNone/>
            </a:pPr>
            <a:endParaRPr lang="en-US"/>
          </a:p>
          <a:p>
            <a:pPr marL="0" indent="0">
              <a:buNone/>
            </a:pPr>
            <a:r>
              <a:rPr lang="en-US"/>
              <a:t>Don’t use the BP test in a vacuum</a:t>
            </a:r>
          </a:p>
          <a:p>
            <a:r>
              <a:rPr lang="en-US"/>
              <a:t>Use the plots as our primary tool to check for constant variance</a:t>
            </a:r>
          </a:p>
          <a:p>
            <a:r>
              <a:rPr lang="en-US"/>
              <a:t>BP test doesn’t tell us </a:t>
            </a:r>
            <a:r>
              <a:rPr lang="en-US" i="1"/>
              <a:t>how</a:t>
            </a:r>
            <a:r>
              <a:rPr lang="en-US"/>
              <a:t> to fix the problem.</a:t>
            </a:r>
          </a:p>
          <a:p>
            <a:r>
              <a:rPr lang="en-US" i="1"/>
              <a:t>If the plot looks heteroskedastic, it is. </a:t>
            </a:r>
            <a:br>
              <a:rPr lang="en-US" i="1"/>
            </a:br>
            <a:r>
              <a:rPr lang="en-US" i="1"/>
              <a:t>If the plot looks fine, but BP says otherwise, trust the plot.</a:t>
            </a:r>
          </a:p>
          <a:p>
            <a:endParaRPr lang="en-US"/>
          </a:p>
        </p:txBody>
      </p:sp>
      <p:sp>
        <p:nvSpPr>
          <p:cNvPr id="4" name="Slide Number Placeholder 3">
            <a:extLst>
              <a:ext uri="{FF2B5EF4-FFF2-40B4-BE49-F238E27FC236}">
                <a16:creationId xmlns:a16="http://schemas.microsoft.com/office/drawing/2014/main" id="{D8E68782-A0B9-633A-D3DB-F7F836197199}"/>
              </a:ext>
            </a:extLst>
          </p:cNvPr>
          <p:cNvSpPr>
            <a:spLocks noGrp="1"/>
          </p:cNvSpPr>
          <p:nvPr>
            <p:ph type="sldNum" sz="quarter" idx="12"/>
          </p:nvPr>
        </p:nvSpPr>
        <p:spPr/>
        <p:txBody>
          <a:bodyPr/>
          <a:lstStyle/>
          <a:p>
            <a:fld id="{330EA680-D336-4FF7-8B7A-9848BB0A1C32}" type="slidenum">
              <a:rPr lang="en-US" smtClean="0"/>
              <a:t>16</a:t>
            </a:fld>
            <a:endParaRPr lang="en-US"/>
          </a:p>
        </p:txBody>
      </p:sp>
    </p:spTree>
    <p:extLst>
      <p:ext uri="{BB962C8B-B14F-4D97-AF65-F5344CB8AC3E}">
        <p14:creationId xmlns:p14="http://schemas.microsoft.com/office/powerpoint/2010/main" val="3976025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22F5B-78EF-E3AE-855D-4936849436F2}"/>
            </a:ext>
          </a:extLst>
        </p:cNvPr>
        <p:cNvGrpSpPr/>
        <p:nvPr/>
      </p:nvGrpSpPr>
      <p:grpSpPr>
        <a:xfrm>
          <a:off x="0" y="0"/>
          <a:ext cx="0" cy="0"/>
          <a:chOff x="0" y="0"/>
          <a:chExt cx="0" cy="0"/>
        </a:xfrm>
      </p:grpSpPr>
      <p:pic>
        <p:nvPicPr>
          <p:cNvPr id="6" name="Picture 5" descr="A graph of a number of individuals&#10;&#10;AI-generated content may be incorrect.">
            <a:extLst>
              <a:ext uri="{FF2B5EF4-FFF2-40B4-BE49-F238E27FC236}">
                <a16:creationId xmlns:a16="http://schemas.microsoft.com/office/drawing/2014/main" id="{CDE49E84-78D6-BFF0-5A25-EE54BBF1D4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05028" y="2085445"/>
            <a:ext cx="5586972" cy="4453467"/>
          </a:xfrm>
          <a:prstGeom prst="rect">
            <a:avLst/>
          </a:prstGeom>
        </p:spPr>
      </p:pic>
      <p:sp>
        <p:nvSpPr>
          <p:cNvPr id="2" name="Title 1">
            <a:extLst>
              <a:ext uri="{FF2B5EF4-FFF2-40B4-BE49-F238E27FC236}">
                <a16:creationId xmlns:a16="http://schemas.microsoft.com/office/drawing/2014/main" id="{DCD55986-08A4-5814-13E9-062B8191F21E}"/>
              </a:ext>
            </a:extLst>
          </p:cNvPr>
          <p:cNvSpPr>
            <a:spLocks noGrp="1"/>
          </p:cNvSpPr>
          <p:nvPr>
            <p:ph type="title"/>
          </p:nvPr>
        </p:nvSpPr>
        <p:spPr>
          <a:xfrm>
            <a:off x="838200" y="365125"/>
            <a:ext cx="10668000" cy="1325563"/>
          </a:xfrm>
        </p:spPr>
        <p:txBody>
          <a:bodyPr/>
          <a:lstStyle/>
          <a:p>
            <a:r>
              <a:rPr lang="en-US"/>
              <a:t>Residual Diagnostic Tools: Checking Normality</a:t>
            </a:r>
          </a:p>
        </p:txBody>
      </p:sp>
      <p:sp>
        <p:nvSpPr>
          <p:cNvPr id="3" name="Content Placeholder 2">
            <a:extLst>
              <a:ext uri="{FF2B5EF4-FFF2-40B4-BE49-F238E27FC236}">
                <a16:creationId xmlns:a16="http://schemas.microsoft.com/office/drawing/2014/main" id="{31A59710-6D28-190C-2C5C-DB1618DBBE0D}"/>
              </a:ext>
            </a:extLst>
          </p:cNvPr>
          <p:cNvSpPr>
            <a:spLocks noGrp="1"/>
          </p:cNvSpPr>
          <p:nvPr>
            <p:ph idx="1"/>
          </p:nvPr>
        </p:nvSpPr>
        <p:spPr>
          <a:xfrm>
            <a:off x="838200" y="1825625"/>
            <a:ext cx="6032383" cy="4351338"/>
          </a:xfrm>
        </p:spPr>
        <p:txBody>
          <a:bodyPr>
            <a:normAutofit fontScale="92500" lnSpcReduction="10000"/>
          </a:bodyPr>
          <a:lstStyle/>
          <a:p>
            <a:pPr marL="0" indent="0">
              <a:buNone/>
            </a:pPr>
            <a:r>
              <a:rPr lang="en-US"/>
              <a:t>We can assess the normality assumption </a:t>
            </a:r>
            <a:br>
              <a:rPr lang="en-US"/>
            </a:br>
            <a:r>
              <a:rPr lang="en-US"/>
              <a:t>using:</a:t>
            </a:r>
          </a:p>
          <a:p>
            <a:r>
              <a:rPr lang="en-US"/>
              <a:t>A histogram of residuals</a:t>
            </a:r>
          </a:p>
          <a:p>
            <a:r>
              <a:rPr lang="en-US"/>
              <a:t>A Quantile-Quantile (Q-Q) plot</a:t>
            </a:r>
          </a:p>
          <a:p>
            <a:pPr marL="0" indent="0">
              <a:buNone/>
            </a:pPr>
            <a:endParaRPr lang="en-US"/>
          </a:p>
          <a:p>
            <a:pPr marL="0" indent="0">
              <a:buNone/>
            </a:pPr>
            <a:r>
              <a:rPr lang="en-US"/>
              <a:t>There are hypothesis test-based</a:t>
            </a:r>
            <a:br>
              <a:rPr lang="en-US"/>
            </a:br>
            <a:r>
              <a:rPr lang="en-US"/>
              <a:t>tools (e.g., Shapiro-Wilk, Kolmogorov-Smirnov) but tend to be too sensitive</a:t>
            </a:r>
            <a:br>
              <a:rPr lang="en-US"/>
            </a:br>
            <a:r>
              <a:rPr lang="en-US"/>
              <a:t>to be useful.</a:t>
            </a:r>
          </a:p>
          <a:p>
            <a:pPr marL="0" indent="0">
              <a:buNone/>
            </a:pPr>
            <a:endParaRPr lang="en-US"/>
          </a:p>
          <a:p>
            <a:pPr marL="0" indent="0">
              <a:buNone/>
            </a:pPr>
            <a:r>
              <a:rPr lang="en-US"/>
              <a:t>BL: Stick to the plots</a:t>
            </a:r>
          </a:p>
          <a:p>
            <a:pPr marL="0" indent="0">
              <a:buNone/>
            </a:pPr>
            <a:endParaRPr lang="en-US"/>
          </a:p>
        </p:txBody>
      </p:sp>
      <p:sp>
        <p:nvSpPr>
          <p:cNvPr id="4" name="Slide Number Placeholder 3">
            <a:extLst>
              <a:ext uri="{FF2B5EF4-FFF2-40B4-BE49-F238E27FC236}">
                <a16:creationId xmlns:a16="http://schemas.microsoft.com/office/drawing/2014/main" id="{019E1BA8-37F2-FD7C-2FE3-8C6F9D2EFEBA}"/>
              </a:ext>
            </a:extLst>
          </p:cNvPr>
          <p:cNvSpPr>
            <a:spLocks noGrp="1"/>
          </p:cNvSpPr>
          <p:nvPr>
            <p:ph type="sldNum" sz="quarter" idx="12"/>
          </p:nvPr>
        </p:nvSpPr>
        <p:spPr/>
        <p:txBody>
          <a:bodyPr/>
          <a:lstStyle/>
          <a:p>
            <a:fld id="{330EA680-D336-4FF7-8B7A-9848BB0A1C32}" type="slidenum">
              <a:rPr lang="en-US" smtClean="0"/>
              <a:t>17</a:t>
            </a:fld>
            <a:endParaRPr lang="en-US"/>
          </a:p>
        </p:txBody>
      </p:sp>
    </p:spTree>
    <p:extLst>
      <p:ext uri="{BB962C8B-B14F-4D97-AF65-F5344CB8AC3E}">
        <p14:creationId xmlns:p14="http://schemas.microsoft.com/office/powerpoint/2010/main" val="37492909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B25E2-81DC-3BCC-B5BF-7BDE2E0783D5}"/>
              </a:ext>
            </a:extLst>
          </p:cNvPr>
          <p:cNvSpPr>
            <a:spLocks noGrp="1"/>
          </p:cNvSpPr>
          <p:nvPr>
            <p:ph type="title"/>
          </p:nvPr>
        </p:nvSpPr>
        <p:spPr/>
        <p:txBody>
          <a:bodyPr/>
          <a:lstStyle/>
          <a:p>
            <a:r>
              <a:rPr lang="en-US"/>
              <a:t>Normal Quantile–Quantile (Q-Q) Plot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EE68585-8874-FC20-CCEA-C14DD28CAAF2}"/>
                  </a:ext>
                </a:extLst>
              </p:cNvPr>
              <p:cNvSpPr>
                <a:spLocks noGrp="1"/>
              </p:cNvSpPr>
              <p:nvPr>
                <p:ph idx="1"/>
              </p:nvPr>
            </p:nvSpPr>
            <p:spPr>
              <a:xfrm>
                <a:off x="838200" y="1825625"/>
                <a:ext cx="5673695" cy="4351338"/>
              </a:xfrm>
            </p:spPr>
            <p:txBody>
              <a:bodyPr>
                <a:normAutofit/>
              </a:bodyPr>
              <a:lstStyle/>
              <a:p>
                <a:pPr marL="0" indent="0">
                  <a:buNone/>
                </a:pPr>
                <a:r>
                  <a:rPr lang="en-US"/>
                  <a:t>Use these to check whether residuals are roughly normal</a:t>
                </a:r>
              </a:p>
              <a:p>
                <a:r>
                  <a:rPr lang="en-US" sz="2400"/>
                  <a:t>Important primarily for inference (F/t‑tests, Confidence/Prediction Intervals (CIs/PIs)</a:t>
                </a:r>
              </a:p>
              <a:p>
                <a:r>
                  <a:rPr lang="en-US" sz="2400"/>
                  <a:t>Not as important for prediction</a:t>
                </a:r>
              </a:p>
              <a:p>
                <a:pPr marL="0" indent="0">
                  <a:buNone/>
                </a:pPr>
                <a:r>
                  <a:rPr lang="en-US"/>
                  <a:t>What we want to see:</a:t>
                </a:r>
              </a:p>
              <a:p>
                <a:r>
                  <a:rPr lang="en-US" sz="2400"/>
                  <a:t>Points roughly on the </a:t>
                </a:r>
                <a14:m>
                  <m:oMath xmlns:m="http://schemas.openxmlformats.org/officeDocument/2006/math">
                    <m:r>
                      <a:rPr lang="en-US" sz="2400" b="0" i="1" smtClean="0">
                        <a:latin typeface="Cambria Math" panose="02040503050406030204" pitchFamily="18" charset="0"/>
                      </a:rPr>
                      <m:t>45</m:t>
                    </m:r>
                    <m:r>
                      <a:rPr lang="en-US" sz="2400" b="0" i="1" smtClean="0">
                        <a:latin typeface="Cambria Math" panose="02040503050406030204" pitchFamily="18" charset="0"/>
                        <a:ea typeface="Cambria Math" panose="02040503050406030204" pitchFamily="18" charset="0"/>
                      </a:rPr>
                      <m:t>°</m:t>
                    </m:r>
                  </m:oMath>
                </a14:m>
                <a:r>
                  <a:rPr lang="en-US" sz="2400"/>
                  <a:t> line </a:t>
                </a:r>
                <a:br>
                  <a:rPr lang="en-US" sz="2400"/>
                </a:br>
                <a:r>
                  <a:rPr lang="en-US" sz="2400"/>
                  <a:t>(when standardized)</a:t>
                </a:r>
              </a:p>
              <a:p>
                <a:r>
                  <a:rPr lang="en-US" sz="2400"/>
                  <a:t>Mild tail deviations are typical</a:t>
                </a:r>
              </a:p>
              <a:p>
                <a:endParaRPr lang="en-US"/>
              </a:p>
            </p:txBody>
          </p:sp>
        </mc:Choice>
        <mc:Fallback>
          <p:sp>
            <p:nvSpPr>
              <p:cNvPr id="3" name="Content Placeholder 2">
                <a:extLst>
                  <a:ext uri="{FF2B5EF4-FFF2-40B4-BE49-F238E27FC236}">
                    <a16:creationId xmlns:a16="http://schemas.microsoft.com/office/drawing/2014/main" id="{6EE68585-8874-FC20-CCEA-C14DD28CAAF2}"/>
                  </a:ext>
                </a:extLst>
              </p:cNvPr>
              <p:cNvSpPr>
                <a:spLocks noGrp="1" noRot="1" noChangeAspect="1" noMove="1" noResize="1" noEditPoints="1" noAdjustHandles="1" noChangeArrowheads="1" noChangeShapeType="1" noTextEdit="1"/>
              </p:cNvSpPr>
              <p:nvPr>
                <p:ph idx="1"/>
              </p:nvPr>
            </p:nvSpPr>
            <p:spPr>
              <a:xfrm>
                <a:off x="838200" y="1825625"/>
                <a:ext cx="5673695" cy="4351338"/>
              </a:xfrm>
              <a:blipFill>
                <a:blip r:embed="rId2"/>
                <a:stretch>
                  <a:fillRect l="-2237" t="-2326"/>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9B19D954-E579-EA50-E8E4-2CC8FA7DF776}"/>
              </a:ext>
            </a:extLst>
          </p:cNvPr>
          <p:cNvSpPr>
            <a:spLocks noGrp="1"/>
          </p:cNvSpPr>
          <p:nvPr>
            <p:ph type="sldNum" sz="quarter" idx="12"/>
          </p:nvPr>
        </p:nvSpPr>
        <p:spPr/>
        <p:txBody>
          <a:bodyPr/>
          <a:lstStyle/>
          <a:p>
            <a:fld id="{330EA680-D336-4FF7-8B7A-9848BB0A1C32}" type="slidenum">
              <a:rPr lang="en-US" smtClean="0"/>
              <a:t>18</a:t>
            </a:fld>
            <a:endParaRPr lang="en-US"/>
          </a:p>
        </p:txBody>
      </p:sp>
      <p:pic>
        <p:nvPicPr>
          <p:cNvPr id="6" name="Picture 5" descr="A graph of a normal curve&#10;&#10;AI-generated content may be incorrect.">
            <a:extLst>
              <a:ext uri="{FF2B5EF4-FFF2-40B4-BE49-F238E27FC236}">
                <a16:creationId xmlns:a16="http://schemas.microsoft.com/office/drawing/2014/main" id="{6349F1B3-41EA-357E-BAA8-C2DDD08C75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63313" y="1594891"/>
            <a:ext cx="6628688" cy="4795921"/>
          </a:xfrm>
          <a:prstGeom prst="rect">
            <a:avLst/>
          </a:prstGeom>
        </p:spPr>
      </p:pic>
    </p:spTree>
    <p:extLst>
      <p:ext uri="{BB962C8B-B14F-4D97-AF65-F5344CB8AC3E}">
        <p14:creationId xmlns:p14="http://schemas.microsoft.com/office/powerpoint/2010/main" val="18198686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81CDC-501E-1AB2-CAF5-2F59C1585F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CBB518-F8C6-42E8-E1E1-38B79407B4CD}"/>
              </a:ext>
            </a:extLst>
          </p:cNvPr>
          <p:cNvSpPr>
            <a:spLocks noGrp="1"/>
          </p:cNvSpPr>
          <p:nvPr>
            <p:ph type="title"/>
          </p:nvPr>
        </p:nvSpPr>
        <p:spPr/>
        <p:txBody>
          <a:bodyPr/>
          <a:lstStyle/>
          <a:p>
            <a:r>
              <a:rPr lang="en-US"/>
              <a:t>Residual Diagnostic Tools – Hands On</a:t>
            </a:r>
          </a:p>
        </p:txBody>
      </p:sp>
      <p:sp>
        <p:nvSpPr>
          <p:cNvPr id="3" name="Content Placeholder 2">
            <a:extLst>
              <a:ext uri="{FF2B5EF4-FFF2-40B4-BE49-F238E27FC236}">
                <a16:creationId xmlns:a16="http://schemas.microsoft.com/office/drawing/2014/main" id="{454BF143-5082-1A8F-1DD6-D47BB63E025B}"/>
              </a:ext>
            </a:extLst>
          </p:cNvPr>
          <p:cNvSpPr>
            <a:spLocks noGrp="1"/>
          </p:cNvSpPr>
          <p:nvPr>
            <p:ph idx="1"/>
          </p:nvPr>
        </p:nvSpPr>
        <p:spPr/>
        <p:txBody>
          <a:bodyPr>
            <a:normAutofit/>
          </a:bodyPr>
          <a:lstStyle/>
          <a:p>
            <a:r>
              <a:rPr lang="en-US"/>
              <a:t>Try the following in R:</a:t>
            </a:r>
          </a:p>
          <a:p>
            <a:pPr marL="0" indent="0">
              <a:buNone/>
            </a:pPr>
            <a:endParaRPr lang="en-US"/>
          </a:p>
          <a:p>
            <a:pPr marL="0" indent="0">
              <a:buNone/>
            </a:pPr>
            <a:r>
              <a:rPr lang="en-US" sz="1800">
                <a:latin typeface="Courier New" panose="02070309020205020404" pitchFamily="49" charset="0"/>
                <a:cs typeface="Courier New" panose="02070309020205020404" pitchFamily="49" charset="0"/>
              </a:rPr>
              <a:t>	fit &lt;- </a:t>
            </a:r>
            <a:r>
              <a:rPr lang="en-US" sz="1800" err="1">
                <a:latin typeface="Courier New" panose="02070309020205020404" pitchFamily="49" charset="0"/>
                <a:cs typeface="Courier New" panose="02070309020205020404" pitchFamily="49" charset="0"/>
              </a:rPr>
              <a:t>lm</a:t>
            </a:r>
            <a:r>
              <a:rPr lang="en-US" sz="1800">
                <a:latin typeface="Courier New" panose="02070309020205020404" pitchFamily="49" charset="0"/>
                <a:cs typeface="Courier New" panose="02070309020205020404" pitchFamily="49" charset="0"/>
              </a:rPr>
              <a:t>(</a:t>
            </a:r>
            <a:r>
              <a:rPr lang="en-US" sz="1800" err="1">
                <a:latin typeface="Courier New" panose="02070309020205020404" pitchFamily="49" charset="0"/>
                <a:cs typeface="Courier New" panose="02070309020205020404" pitchFamily="49" charset="0"/>
              </a:rPr>
              <a:t>stack.loss</a:t>
            </a:r>
            <a:r>
              <a:rPr lang="en-US" sz="1800">
                <a:latin typeface="Courier New" panose="02070309020205020404" pitchFamily="49" charset="0"/>
                <a:cs typeface="Courier New" panose="02070309020205020404" pitchFamily="49" charset="0"/>
              </a:rPr>
              <a:t> ~ </a:t>
            </a:r>
            <a:r>
              <a:rPr lang="en-US" sz="1800" err="1">
                <a:latin typeface="Courier New" panose="02070309020205020404" pitchFamily="49" charset="0"/>
                <a:cs typeface="Courier New" panose="02070309020205020404" pitchFamily="49" charset="0"/>
              </a:rPr>
              <a:t>Air.Flow</a:t>
            </a:r>
            <a:r>
              <a:rPr lang="en-US" sz="1800">
                <a:latin typeface="Courier New" panose="02070309020205020404" pitchFamily="49" charset="0"/>
                <a:cs typeface="Courier New" panose="02070309020205020404" pitchFamily="49" charset="0"/>
              </a:rPr>
              <a:t> + </a:t>
            </a:r>
            <a:r>
              <a:rPr lang="en-US" sz="1800" err="1">
                <a:latin typeface="Courier New" panose="02070309020205020404" pitchFamily="49" charset="0"/>
                <a:cs typeface="Courier New" panose="02070309020205020404" pitchFamily="49" charset="0"/>
              </a:rPr>
              <a:t>Water.Temp</a:t>
            </a:r>
            <a:r>
              <a:rPr lang="en-US" sz="1800">
                <a:latin typeface="Courier New" panose="02070309020205020404" pitchFamily="49" charset="0"/>
                <a:cs typeface="Courier New" panose="02070309020205020404" pitchFamily="49" charset="0"/>
              </a:rPr>
              <a:t> + </a:t>
            </a:r>
            <a:r>
              <a:rPr lang="en-US" sz="1800" err="1">
                <a:latin typeface="Courier New" panose="02070309020205020404" pitchFamily="49" charset="0"/>
                <a:cs typeface="Courier New" panose="02070309020205020404" pitchFamily="49" charset="0"/>
              </a:rPr>
              <a:t>Acid.Conc</a:t>
            </a:r>
            <a:r>
              <a:rPr lang="en-US" sz="1800">
                <a:latin typeface="Courier New" panose="02070309020205020404" pitchFamily="49" charset="0"/>
                <a:cs typeface="Courier New" panose="02070309020205020404" pitchFamily="49" charset="0"/>
              </a:rPr>
              <a:t>., 				data=</a:t>
            </a:r>
            <a:r>
              <a:rPr lang="en-US" sz="1800" err="1">
                <a:latin typeface="Courier New" panose="02070309020205020404" pitchFamily="49" charset="0"/>
                <a:cs typeface="Courier New" panose="02070309020205020404" pitchFamily="49" charset="0"/>
              </a:rPr>
              <a:t>stackloss</a:t>
            </a:r>
            <a:r>
              <a:rPr lang="en-US" sz="1800">
                <a:latin typeface="Courier New" panose="02070309020205020404" pitchFamily="49" charset="0"/>
                <a:cs typeface="Courier New" panose="02070309020205020404" pitchFamily="49" charset="0"/>
              </a:rPr>
              <a:t>)</a:t>
            </a:r>
          </a:p>
          <a:p>
            <a:pPr marL="0" indent="0">
              <a:buNone/>
            </a:pPr>
            <a:r>
              <a:rPr lang="en-US" sz="1800">
                <a:latin typeface="Courier New" panose="02070309020205020404" pitchFamily="49" charset="0"/>
                <a:cs typeface="Courier New" panose="02070309020205020404" pitchFamily="49" charset="0"/>
              </a:rPr>
              <a:t>	plot(fit)</a:t>
            </a:r>
          </a:p>
          <a:p>
            <a:pPr marL="0" indent="0">
              <a:buNone/>
            </a:pPr>
            <a:endParaRPr lang="en-US" sz="1800">
              <a:latin typeface="Courier New" panose="02070309020205020404" pitchFamily="49" charset="0"/>
              <a:cs typeface="Courier New" panose="02070309020205020404" pitchFamily="49" charset="0"/>
            </a:endParaRPr>
          </a:p>
          <a:p>
            <a:pPr marL="0" indent="0">
              <a:buNone/>
            </a:pPr>
            <a:r>
              <a:rPr lang="en-US">
                <a:cs typeface="Courier New" panose="02070309020205020404" pitchFamily="49" charset="0"/>
              </a:rPr>
              <a:t>What do we get from this?</a:t>
            </a:r>
          </a:p>
          <a:p>
            <a:pPr marL="0" indent="0">
              <a:buNone/>
            </a:pPr>
            <a:r>
              <a:rPr lang="en-US">
                <a:cs typeface="Courier New" panose="02070309020205020404" pitchFamily="49" charset="0"/>
              </a:rPr>
              <a:t>	</a:t>
            </a:r>
          </a:p>
          <a:p>
            <a:pPr lvl="1"/>
            <a:endParaRPr lang="en-US"/>
          </a:p>
          <a:p>
            <a:pPr lvl="1"/>
            <a:endParaRPr lang="en-US"/>
          </a:p>
          <a:p>
            <a:pPr marL="457200" lvl="1" indent="0">
              <a:buNone/>
            </a:pPr>
            <a:endParaRPr lang="en-US"/>
          </a:p>
        </p:txBody>
      </p:sp>
      <p:sp>
        <p:nvSpPr>
          <p:cNvPr id="4" name="Slide Number Placeholder 3">
            <a:extLst>
              <a:ext uri="{FF2B5EF4-FFF2-40B4-BE49-F238E27FC236}">
                <a16:creationId xmlns:a16="http://schemas.microsoft.com/office/drawing/2014/main" id="{27DA8CF6-1391-F3B2-E04C-CCB7947F2326}"/>
              </a:ext>
            </a:extLst>
          </p:cNvPr>
          <p:cNvSpPr>
            <a:spLocks noGrp="1"/>
          </p:cNvSpPr>
          <p:nvPr>
            <p:ph type="sldNum" sz="quarter" idx="12"/>
          </p:nvPr>
        </p:nvSpPr>
        <p:spPr/>
        <p:txBody>
          <a:bodyPr/>
          <a:lstStyle/>
          <a:p>
            <a:fld id="{330EA680-D336-4FF7-8B7A-9848BB0A1C32}" type="slidenum">
              <a:rPr lang="en-US" smtClean="0"/>
              <a:t>20</a:t>
            </a:fld>
            <a:endParaRPr lang="en-US"/>
          </a:p>
        </p:txBody>
      </p:sp>
    </p:spTree>
    <p:extLst>
      <p:ext uri="{BB962C8B-B14F-4D97-AF65-F5344CB8AC3E}">
        <p14:creationId xmlns:p14="http://schemas.microsoft.com/office/powerpoint/2010/main" val="40610301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9E46F-4E6F-6157-78D8-B1E49FB147C7}"/>
              </a:ext>
            </a:extLst>
          </p:cNvPr>
          <p:cNvSpPr>
            <a:spLocks noGrp="1"/>
          </p:cNvSpPr>
          <p:nvPr>
            <p:ph type="title"/>
          </p:nvPr>
        </p:nvSpPr>
        <p:spPr/>
        <p:txBody>
          <a:bodyPr/>
          <a:lstStyle/>
          <a:p>
            <a:r>
              <a:rPr lang="en-US"/>
              <a:t>Four Plots</a:t>
            </a:r>
          </a:p>
        </p:txBody>
      </p:sp>
      <p:pic>
        <p:nvPicPr>
          <p:cNvPr id="8" name="Content Placeholder 7">
            <a:extLst>
              <a:ext uri="{FF2B5EF4-FFF2-40B4-BE49-F238E27FC236}">
                <a16:creationId xmlns:a16="http://schemas.microsoft.com/office/drawing/2014/main" id="{7D130AC2-9CA0-CCA3-5822-DA103FED6EF4}"/>
              </a:ext>
            </a:extLst>
          </p:cNvPr>
          <p:cNvPicPr>
            <a:picLocks noGrp="1" noChangeAspect="1"/>
          </p:cNvPicPr>
          <p:nvPr>
            <p:ph idx="1"/>
          </p:nvPr>
        </p:nvPicPr>
        <p:blipFill>
          <a:blip r:embed="rId2"/>
          <a:stretch>
            <a:fillRect/>
          </a:stretch>
        </p:blipFill>
        <p:spPr>
          <a:xfrm>
            <a:off x="3048000" y="2086749"/>
            <a:ext cx="2938501" cy="2938501"/>
          </a:xfrm>
          <a:prstGeom prst="rect">
            <a:avLst/>
          </a:prstGeom>
        </p:spPr>
      </p:pic>
      <p:sp>
        <p:nvSpPr>
          <p:cNvPr id="4" name="Slide Number Placeholder 3">
            <a:extLst>
              <a:ext uri="{FF2B5EF4-FFF2-40B4-BE49-F238E27FC236}">
                <a16:creationId xmlns:a16="http://schemas.microsoft.com/office/drawing/2014/main" id="{E6A8EA3B-29C8-044D-D11F-8DE360356EE9}"/>
              </a:ext>
            </a:extLst>
          </p:cNvPr>
          <p:cNvSpPr>
            <a:spLocks noGrp="1"/>
          </p:cNvSpPr>
          <p:nvPr>
            <p:ph type="sldNum" sz="quarter" idx="12"/>
          </p:nvPr>
        </p:nvSpPr>
        <p:spPr/>
        <p:txBody>
          <a:bodyPr/>
          <a:lstStyle/>
          <a:p>
            <a:fld id="{330EA680-D336-4FF7-8B7A-9848BB0A1C32}" type="slidenum">
              <a:rPr lang="en-US" smtClean="0"/>
              <a:t>21</a:t>
            </a:fld>
            <a:endParaRPr lang="en-US"/>
          </a:p>
        </p:txBody>
      </p:sp>
      <p:pic>
        <p:nvPicPr>
          <p:cNvPr id="6" name="Picture 5">
            <a:extLst>
              <a:ext uri="{FF2B5EF4-FFF2-40B4-BE49-F238E27FC236}">
                <a16:creationId xmlns:a16="http://schemas.microsoft.com/office/drawing/2014/main" id="{6C25E615-6CDB-35BC-ED19-FA4F52DFD0A2}"/>
              </a:ext>
            </a:extLst>
          </p:cNvPr>
          <p:cNvPicPr>
            <a:picLocks noChangeAspect="1"/>
          </p:cNvPicPr>
          <p:nvPr/>
        </p:nvPicPr>
        <p:blipFill>
          <a:blip r:embed="rId3"/>
          <a:stretch>
            <a:fillRect/>
          </a:stretch>
        </p:blipFill>
        <p:spPr>
          <a:xfrm>
            <a:off x="0" y="1364662"/>
            <a:ext cx="2938501" cy="2938501"/>
          </a:xfrm>
          <a:prstGeom prst="rect">
            <a:avLst/>
          </a:prstGeom>
        </p:spPr>
      </p:pic>
      <p:pic>
        <p:nvPicPr>
          <p:cNvPr id="10" name="Picture 9">
            <a:extLst>
              <a:ext uri="{FF2B5EF4-FFF2-40B4-BE49-F238E27FC236}">
                <a16:creationId xmlns:a16="http://schemas.microsoft.com/office/drawing/2014/main" id="{2E66EAA6-9317-E2E0-1494-116755020031}"/>
              </a:ext>
            </a:extLst>
          </p:cNvPr>
          <p:cNvPicPr>
            <a:picLocks noChangeAspect="1"/>
          </p:cNvPicPr>
          <p:nvPr/>
        </p:nvPicPr>
        <p:blipFill>
          <a:blip r:embed="rId4"/>
          <a:stretch>
            <a:fillRect/>
          </a:stretch>
        </p:blipFill>
        <p:spPr>
          <a:xfrm>
            <a:off x="6096000" y="2907722"/>
            <a:ext cx="2938501" cy="2938501"/>
          </a:xfrm>
          <a:prstGeom prst="rect">
            <a:avLst/>
          </a:prstGeom>
        </p:spPr>
      </p:pic>
      <p:pic>
        <p:nvPicPr>
          <p:cNvPr id="12" name="Picture 11">
            <a:extLst>
              <a:ext uri="{FF2B5EF4-FFF2-40B4-BE49-F238E27FC236}">
                <a16:creationId xmlns:a16="http://schemas.microsoft.com/office/drawing/2014/main" id="{48D2F63A-9F0F-186C-CF9B-A947DA54BF6B}"/>
              </a:ext>
            </a:extLst>
          </p:cNvPr>
          <p:cNvPicPr>
            <a:picLocks noChangeAspect="1"/>
          </p:cNvPicPr>
          <p:nvPr/>
        </p:nvPicPr>
        <p:blipFill>
          <a:blip r:embed="rId5"/>
          <a:stretch>
            <a:fillRect/>
          </a:stretch>
        </p:blipFill>
        <p:spPr>
          <a:xfrm>
            <a:off x="9253499" y="3417849"/>
            <a:ext cx="2938501" cy="2938501"/>
          </a:xfrm>
          <a:prstGeom prst="rect">
            <a:avLst/>
          </a:prstGeom>
        </p:spPr>
      </p:pic>
    </p:spTree>
    <p:extLst>
      <p:ext uri="{BB962C8B-B14F-4D97-AF65-F5344CB8AC3E}">
        <p14:creationId xmlns:p14="http://schemas.microsoft.com/office/powerpoint/2010/main" val="30239475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568DF-EE0E-C3D8-CF3B-26FA13F88E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D59C11-80BB-2596-A2D9-33331C73FC3A}"/>
              </a:ext>
            </a:extLst>
          </p:cNvPr>
          <p:cNvSpPr>
            <a:spLocks noGrp="1"/>
          </p:cNvSpPr>
          <p:nvPr>
            <p:ph type="title"/>
          </p:nvPr>
        </p:nvSpPr>
        <p:spPr/>
        <p:txBody>
          <a:bodyPr/>
          <a:lstStyle/>
          <a:p>
            <a:r>
              <a:rPr lang="en-US"/>
              <a:t>Residual Diagnostic Tools – Hands On</a:t>
            </a:r>
          </a:p>
        </p:txBody>
      </p:sp>
      <p:sp>
        <p:nvSpPr>
          <p:cNvPr id="3" name="Content Placeholder 2">
            <a:extLst>
              <a:ext uri="{FF2B5EF4-FFF2-40B4-BE49-F238E27FC236}">
                <a16:creationId xmlns:a16="http://schemas.microsoft.com/office/drawing/2014/main" id="{9E35118A-4E7C-EFF4-E012-E1F6644D705B}"/>
              </a:ext>
            </a:extLst>
          </p:cNvPr>
          <p:cNvSpPr>
            <a:spLocks noGrp="1"/>
          </p:cNvSpPr>
          <p:nvPr>
            <p:ph idx="1"/>
          </p:nvPr>
        </p:nvSpPr>
        <p:spPr/>
        <p:txBody>
          <a:bodyPr>
            <a:normAutofit/>
          </a:bodyPr>
          <a:lstStyle/>
          <a:p>
            <a:r>
              <a:rPr lang="en-US"/>
              <a:t>R: Selecting them individually</a:t>
            </a:r>
          </a:p>
          <a:p>
            <a:endParaRPr lang="en-US">
              <a:cs typeface="Courier New" panose="02070309020205020404" pitchFamily="49" charset="0"/>
            </a:endParaRPr>
          </a:p>
          <a:p>
            <a:pPr marL="0" indent="0">
              <a:buNone/>
            </a:pPr>
            <a:r>
              <a:rPr lang="en-US" sz="1800">
                <a:latin typeface="Courier New" panose="02070309020205020404" pitchFamily="49" charset="0"/>
                <a:cs typeface="Courier New" panose="02070309020205020404" pitchFamily="49" charset="0"/>
              </a:rPr>
              <a:t>	plot(fit, which = 1) # Residuals vs Fitted</a:t>
            </a:r>
          </a:p>
          <a:p>
            <a:pPr marL="0" indent="0">
              <a:buNone/>
            </a:pPr>
            <a:r>
              <a:rPr lang="en-US" sz="1800">
                <a:latin typeface="Courier New" panose="02070309020205020404" pitchFamily="49" charset="0"/>
                <a:cs typeface="Courier New" panose="02070309020205020404" pitchFamily="49" charset="0"/>
              </a:rPr>
              <a:t>	plot(fit, which = 2) # Normal Q-Q of Residuals</a:t>
            </a:r>
          </a:p>
          <a:p>
            <a:pPr marL="0" indent="0">
              <a:buNone/>
            </a:pPr>
            <a:r>
              <a:rPr lang="en-US" sz="1800">
                <a:latin typeface="Courier New" panose="02070309020205020404" pitchFamily="49" charset="0"/>
                <a:cs typeface="Courier New" panose="02070309020205020404" pitchFamily="49" charset="0"/>
              </a:rPr>
              <a:t>	plot(fit, which = 3) # Scale-Location</a:t>
            </a:r>
          </a:p>
          <a:p>
            <a:pPr marL="0" indent="0">
              <a:buNone/>
            </a:pPr>
            <a:r>
              <a:rPr lang="en-US" sz="1800">
                <a:latin typeface="Courier New" panose="02070309020205020404" pitchFamily="49" charset="0"/>
                <a:cs typeface="Courier New" panose="02070309020205020404" pitchFamily="49" charset="0"/>
              </a:rPr>
              <a:t>	plot(fit, which = 5) # Residuals vs Leverage</a:t>
            </a:r>
          </a:p>
          <a:p>
            <a:pPr marL="0" indent="0">
              <a:buNone/>
            </a:pPr>
            <a:r>
              <a:rPr lang="en-US">
                <a:cs typeface="Courier New" panose="02070309020205020404" pitchFamily="49" charset="0"/>
              </a:rPr>
              <a:t>	</a:t>
            </a:r>
          </a:p>
          <a:p>
            <a:pPr lvl="1"/>
            <a:endParaRPr lang="en-US"/>
          </a:p>
          <a:p>
            <a:pPr lvl="1"/>
            <a:endParaRPr lang="en-US"/>
          </a:p>
          <a:p>
            <a:pPr marL="457200" lvl="1" indent="0">
              <a:buNone/>
            </a:pPr>
            <a:endParaRPr lang="en-US"/>
          </a:p>
        </p:txBody>
      </p:sp>
      <p:sp>
        <p:nvSpPr>
          <p:cNvPr id="4" name="Slide Number Placeholder 3">
            <a:extLst>
              <a:ext uri="{FF2B5EF4-FFF2-40B4-BE49-F238E27FC236}">
                <a16:creationId xmlns:a16="http://schemas.microsoft.com/office/drawing/2014/main" id="{0061A03C-5F9C-0AD0-A791-CB57E62756D3}"/>
              </a:ext>
            </a:extLst>
          </p:cNvPr>
          <p:cNvSpPr>
            <a:spLocks noGrp="1"/>
          </p:cNvSpPr>
          <p:nvPr>
            <p:ph type="sldNum" sz="quarter" idx="12"/>
          </p:nvPr>
        </p:nvSpPr>
        <p:spPr/>
        <p:txBody>
          <a:bodyPr/>
          <a:lstStyle/>
          <a:p>
            <a:fld id="{330EA680-D336-4FF7-8B7A-9848BB0A1C32}" type="slidenum">
              <a:rPr lang="en-US" smtClean="0"/>
              <a:t>22</a:t>
            </a:fld>
            <a:endParaRPr lang="en-US"/>
          </a:p>
        </p:txBody>
      </p:sp>
    </p:spTree>
    <p:extLst>
      <p:ext uri="{BB962C8B-B14F-4D97-AF65-F5344CB8AC3E}">
        <p14:creationId xmlns:p14="http://schemas.microsoft.com/office/powerpoint/2010/main" val="39986900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4F504-B8EA-44ED-6F1A-319457C31E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25A9FD-8AEB-4525-FD92-65C551E4D99B}"/>
              </a:ext>
            </a:extLst>
          </p:cNvPr>
          <p:cNvSpPr>
            <a:spLocks noGrp="1"/>
          </p:cNvSpPr>
          <p:nvPr>
            <p:ph type="title"/>
          </p:nvPr>
        </p:nvSpPr>
        <p:spPr/>
        <p:txBody>
          <a:bodyPr/>
          <a:lstStyle/>
          <a:p>
            <a:r>
              <a:rPr lang="en-US"/>
              <a:t>Residual Diagnostic Tools – Hands On</a:t>
            </a:r>
          </a:p>
        </p:txBody>
      </p:sp>
      <p:sp>
        <p:nvSpPr>
          <p:cNvPr id="3" name="Content Placeholder 2">
            <a:extLst>
              <a:ext uri="{FF2B5EF4-FFF2-40B4-BE49-F238E27FC236}">
                <a16:creationId xmlns:a16="http://schemas.microsoft.com/office/drawing/2014/main" id="{A4BD7EBC-5FFD-AD5D-B356-93BB5C96C5EA}"/>
              </a:ext>
            </a:extLst>
          </p:cNvPr>
          <p:cNvSpPr>
            <a:spLocks noGrp="1"/>
          </p:cNvSpPr>
          <p:nvPr>
            <p:ph idx="1"/>
          </p:nvPr>
        </p:nvSpPr>
        <p:spPr/>
        <p:txBody>
          <a:bodyPr>
            <a:normAutofit fontScale="92500"/>
          </a:bodyPr>
          <a:lstStyle/>
          <a:p>
            <a:r>
              <a:rPr lang="en-US"/>
              <a:t>Python equivalents:</a:t>
            </a:r>
          </a:p>
          <a:p>
            <a:pPr marL="0" indent="0">
              <a:buNone/>
            </a:pPr>
            <a:r>
              <a:rPr lang="en-US">
                <a:cs typeface="Courier New" panose="02070309020205020404" pitchFamily="49" charset="0"/>
              </a:rPr>
              <a:t>	</a:t>
            </a:r>
            <a:r>
              <a:rPr lang="en-US" sz="2400">
                <a:latin typeface="Courier New" panose="02070309020205020404" pitchFamily="49" charset="0"/>
                <a:cs typeface="Courier New" panose="02070309020205020404" pitchFamily="49" charset="0"/>
              </a:rPr>
              <a:t>import </a:t>
            </a:r>
            <a:r>
              <a:rPr lang="en-US" sz="2400" err="1">
                <a:latin typeface="Courier New" panose="02070309020205020404" pitchFamily="49" charset="0"/>
                <a:cs typeface="Courier New" panose="02070309020205020404" pitchFamily="49" charset="0"/>
              </a:rPr>
              <a:t>statsmodels.api</a:t>
            </a:r>
            <a:r>
              <a:rPr lang="en-US" sz="2400">
                <a:latin typeface="Courier New" panose="02070309020205020404" pitchFamily="49" charset="0"/>
                <a:cs typeface="Courier New" panose="02070309020205020404" pitchFamily="49" charset="0"/>
              </a:rPr>
              <a:t> as </a:t>
            </a:r>
            <a:r>
              <a:rPr lang="en-US" sz="2400" err="1">
                <a:latin typeface="Courier New" panose="02070309020205020404" pitchFamily="49" charset="0"/>
                <a:cs typeface="Courier New" panose="02070309020205020404" pitchFamily="49" charset="0"/>
              </a:rPr>
              <a:t>sm</a:t>
            </a:r>
            <a:endParaRPr lang="en-US" sz="2400">
              <a:latin typeface="Courier New" panose="02070309020205020404" pitchFamily="49" charset="0"/>
              <a:cs typeface="Courier New" panose="02070309020205020404" pitchFamily="49" charset="0"/>
            </a:endParaRPr>
          </a:p>
          <a:p>
            <a:pPr marL="0" indent="0">
              <a:buNone/>
            </a:pPr>
            <a:r>
              <a:rPr lang="en-US" sz="2400">
                <a:latin typeface="Courier New" panose="02070309020205020404" pitchFamily="49" charset="0"/>
                <a:cs typeface="Courier New" panose="02070309020205020404" pitchFamily="49" charset="0"/>
              </a:rPr>
              <a:t>	import </a:t>
            </a:r>
            <a:r>
              <a:rPr lang="en-US" sz="2400" err="1">
                <a:latin typeface="Courier New" panose="02070309020205020404" pitchFamily="49" charset="0"/>
                <a:cs typeface="Courier New" panose="02070309020205020404" pitchFamily="49" charset="0"/>
              </a:rPr>
              <a:t>matplotlib.pyplot</a:t>
            </a:r>
            <a:r>
              <a:rPr lang="en-US" sz="2400">
                <a:latin typeface="Courier New" panose="02070309020205020404" pitchFamily="49" charset="0"/>
                <a:cs typeface="Courier New" panose="02070309020205020404" pitchFamily="49" charset="0"/>
              </a:rPr>
              <a:t> as </a:t>
            </a:r>
            <a:r>
              <a:rPr lang="en-US" sz="2400" err="1">
                <a:latin typeface="Courier New" panose="02070309020205020404" pitchFamily="49" charset="0"/>
                <a:cs typeface="Courier New" panose="02070309020205020404" pitchFamily="49" charset="0"/>
              </a:rPr>
              <a:t>plt</a:t>
            </a:r>
            <a:endParaRPr lang="en-US" sz="2400">
              <a:latin typeface="Courier New" panose="02070309020205020404" pitchFamily="49" charset="0"/>
              <a:cs typeface="Courier New" panose="02070309020205020404" pitchFamily="49" charset="0"/>
            </a:endParaRPr>
          </a:p>
          <a:p>
            <a:pPr marL="0" indent="0">
              <a:buNone/>
            </a:pPr>
            <a:r>
              <a:rPr lang="en-US" sz="2400">
                <a:latin typeface="Courier New" panose="02070309020205020404" pitchFamily="49" charset="0"/>
                <a:cs typeface="Courier New" panose="02070309020205020404" pitchFamily="49" charset="0"/>
              </a:rPr>
              <a:t>	</a:t>
            </a:r>
            <a:r>
              <a:rPr lang="en-US" sz="2400" err="1">
                <a:latin typeface="Courier New" panose="02070309020205020404" pitchFamily="49" charset="0"/>
                <a:cs typeface="Courier New" panose="02070309020205020404" pitchFamily="49" charset="0"/>
              </a:rPr>
              <a:t>stackloss</a:t>
            </a:r>
            <a:r>
              <a:rPr lang="en-US" sz="2400">
                <a:latin typeface="Courier New" panose="02070309020205020404" pitchFamily="49" charset="0"/>
                <a:cs typeface="Courier New" panose="02070309020205020404" pitchFamily="49" charset="0"/>
              </a:rPr>
              <a:t> = </a:t>
            </a:r>
            <a:r>
              <a:rPr lang="en-US" sz="2400" err="1">
                <a:latin typeface="Courier New" panose="02070309020205020404" pitchFamily="49" charset="0"/>
                <a:cs typeface="Courier New" panose="02070309020205020404" pitchFamily="49" charset="0"/>
              </a:rPr>
              <a:t>sm.datasets.stackloss.load_pandas</a:t>
            </a:r>
            <a:r>
              <a:rPr lang="en-US" sz="2400">
                <a:latin typeface="Courier New" panose="02070309020205020404" pitchFamily="49" charset="0"/>
                <a:cs typeface="Courier New" panose="02070309020205020404" pitchFamily="49" charset="0"/>
              </a:rPr>
              <a:t>().data</a:t>
            </a:r>
          </a:p>
          <a:p>
            <a:pPr marL="0" indent="0">
              <a:buNone/>
            </a:pPr>
            <a:r>
              <a:rPr lang="en-US" sz="2400">
                <a:latin typeface="Courier New" panose="02070309020205020404" pitchFamily="49" charset="0"/>
                <a:cs typeface="Courier New" panose="02070309020205020404" pitchFamily="49" charset="0"/>
              </a:rPr>
              <a:t>	fit = </a:t>
            </a:r>
            <a:r>
              <a:rPr lang="en-US" sz="2400" err="1">
                <a:latin typeface="Courier New" panose="02070309020205020404" pitchFamily="49" charset="0"/>
                <a:cs typeface="Courier New" panose="02070309020205020404" pitchFamily="49" charset="0"/>
              </a:rPr>
              <a:t>sm.OLS</a:t>
            </a:r>
            <a:r>
              <a:rPr lang="en-US" sz="2400">
                <a:latin typeface="Courier New" panose="02070309020205020404" pitchFamily="49" charset="0"/>
                <a:cs typeface="Courier New" panose="02070309020205020404" pitchFamily="49" charset="0"/>
              </a:rPr>
              <a:t>(</a:t>
            </a:r>
            <a:r>
              <a:rPr lang="en-US" sz="2400" err="1">
                <a:latin typeface="Courier New" panose="02070309020205020404" pitchFamily="49" charset="0"/>
                <a:cs typeface="Courier New" panose="02070309020205020404" pitchFamily="49" charset="0"/>
              </a:rPr>
              <a:t>stackloss</a:t>
            </a:r>
            <a:r>
              <a:rPr lang="en-US" sz="2400">
                <a:latin typeface="Courier New" panose="02070309020205020404" pitchFamily="49" charset="0"/>
                <a:cs typeface="Courier New" panose="02070309020205020404" pitchFamily="49" charset="0"/>
              </a:rPr>
              <a:t>['STACKLOSS'], </a:t>
            </a:r>
            <a:r>
              <a:rPr lang="en-US" sz="2400" err="1">
                <a:latin typeface="Courier New" panose="02070309020205020404" pitchFamily="49" charset="0"/>
                <a:cs typeface="Courier New" panose="02070309020205020404" pitchFamily="49" charset="0"/>
              </a:rPr>
              <a:t>sm.add_constant</a:t>
            </a:r>
            <a:r>
              <a:rPr lang="en-US" sz="2400">
                <a:latin typeface="Courier New" panose="02070309020205020404" pitchFamily="49" charset="0"/>
                <a:cs typeface="Courier New" panose="02070309020205020404" pitchFamily="49" charset="0"/>
              </a:rPr>
              <a:t> </a:t>
            </a:r>
            <a:br>
              <a:rPr lang="en-US" sz="2400">
                <a:latin typeface="Courier New" panose="02070309020205020404" pitchFamily="49" charset="0"/>
                <a:cs typeface="Courier New" panose="02070309020205020404" pitchFamily="49" charset="0"/>
              </a:rPr>
            </a:br>
            <a:r>
              <a:rPr lang="en-US" sz="2400">
                <a:latin typeface="Courier New" panose="02070309020205020404" pitchFamily="49" charset="0"/>
                <a:cs typeface="Courier New" panose="02070309020205020404" pitchFamily="49" charset="0"/>
              </a:rPr>
              <a:t>		(</a:t>
            </a:r>
            <a:r>
              <a:rPr lang="en-US" sz="2400" err="1">
                <a:latin typeface="Courier New" panose="02070309020205020404" pitchFamily="49" charset="0"/>
                <a:cs typeface="Courier New" panose="02070309020205020404" pitchFamily="49" charset="0"/>
              </a:rPr>
              <a:t>stackloss.drop</a:t>
            </a:r>
            <a:r>
              <a:rPr lang="en-US" sz="2400">
                <a:latin typeface="Courier New" panose="02070309020205020404" pitchFamily="49" charset="0"/>
                <a:cs typeface="Courier New" panose="02070309020205020404" pitchFamily="49" charset="0"/>
              </a:rPr>
              <a:t>('STACKLOSS', axis=1))).fit()</a:t>
            </a:r>
          </a:p>
          <a:p>
            <a:pPr marL="0" indent="0">
              <a:buNone/>
            </a:pPr>
            <a:endParaRPr lang="en-US" sz="2400">
              <a:latin typeface="Courier New" panose="02070309020205020404" pitchFamily="49" charset="0"/>
              <a:cs typeface="Courier New" panose="02070309020205020404" pitchFamily="49" charset="0"/>
            </a:endParaRPr>
          </a:p>
          <a:p>
            <a:pPr marL="0" indent="0">
              <a:buNone/>
            </a:pPr>
            <a:r>
              <a:rPr lang="en-US" sz="2400">
                <a:latin typeface="Courier New" panose="02070309020205020404" pitchFamily="49" charset="0"/>
                <a:cs typeface="Courier New" panose="02070309020205020404" pitchFamily="49" charset="0"/>
              </a:rPr>
              <a:t>	# Extract residuals and fitted values</a:t>
            </a:r>
          </a:p>
          <a:p>
            <a:pPr marL="0" indent="0">
              <a:buNone/>
            </a:pPr>
            <a:r>
              <a:rPr lang="en-US" sz="2400">
                <a:latin typeface="Courier New" panose="02070309020205020404" pitchFamily="49" charset="0"/>
                <a:cs typeface="Courier New" panose="02070309020205020404" pitchFamily="49" charset="0"/>
              </a:rPr>
              <a:t>	resid = </a:t>
            </a:r>
            <a:r>
              <a:rPr lang="en-US" sz="2400" err="1">
                <a:latin typeface="Courier New" panose="02070309020205020404" pitchFamily="49" charset="0"/>
                <a:cs typeface="Courier New" panose="02070309020205020404" pitchFamily="49" charset="0"/>
              </a:rPr>
              <a:t>fit.resid</a:t>
            </a:r>
            <a:endParaRPr lang="en-US" sz="2400">
              <a:latin typeface="Courier New" panose="02070309020205020404" pitchFamily="49" charset="0"/>
              <a:cs typeface="Courier New" panose="02070309020205020404" pitchFamily="49" charset="0"/>
            </a:endParaRPr>
          </a:p>
          <a:p>
            <a:pPr marL="0" indent="0">
              <a:buNone/>
            </a:pPr>
            <a:r>
              <a:rPr lang="en-US" sz="2400">
                <a:latin typeface="Courier New" panose="02070309020205020404" pitchFamily="49" charset="0"/>
                <a:cs typeface="Courier New" panose="02070309020205020404" pitchFamily="49" charset="0"/>
              </a:rPr>
              <a:t>	fitted = </a:t>
            </a:r>
            <a:r>
              <a:rPr lang="en-US" sz="2400" err="1">
                <a:latin typeface="Courier New" panose="02070309020205020404" pitchFamily="49" charset="0"/>
                <a:cs typeface="Courier New" panose="02070309020205020404" pitchFamily="49" charset="0"/>
              </a:rPr>
              <a:t>fit.fittedvalues</a:t>
            </a:r>
            <a:endParaRPr lang="en-US" sz="2400">
              <a:latin typeface="Courier New" panose="02070309020205020404" pitchFamily="49" charset="0"/>
              <a:cs typeface="Courier New" panose="02070309020205020404" pitchFamily="49" charset="0"/>
            </a:endParaRPr>
          </a:p>
          <a:p>
            <a:pPr lvl="1"/>
            <a:endParaRPr lang="en-US"/>
          </a:p>
          <a:p>
            <a:pPr lvl="1"/>
            <a:endParaRPr lang="en-US"/>
          </a:p>
          <a:p>
            <a:pPr marL="457200" lvl="1" indent="0">
              <a:buNone/>
            </a:pPr>
            <a:endParaRPr lang="en-US"/>
          </a:p>
        </p:txBody>
      </p:sp>
      <p:sp>
        <p:nvSpPr>
          <p:cNvPr id="4" name="Slide Number Placeholder 3">
            <a:extLst>
              <a:ext uri="{FF2B5EF4-FFF2-40B4-BE49-F238E27FC236}">
                <a16:creationId xmlns:a16="http://schemas.microsoft.com/office/drawing/2014/main" id="{3921E871-AEE1-1FAA-B162-278DE4DA3B72}"/>
              </a:ext>
            </a:extLst>
          </p:cNvPr>
          <p:cNvSpPr>
            <a:spLocks noGrp="1"/>
          </p:cNvSpPr>
          <p:nvPr>
            <p:ph type="sldNum" sz="quarter" idx="12"/>
          </p:nvPr>
        </p:nvSpPr>
        <p:spPr/>
        <p:txBody>
          <a:bodyPr/>
          <a:lstStyle/>
          <a:p>
            <a:fld id="{330EA680-D336-4FF7-8B7A-9848BB0A1C32}" type="slidenum">
              <a:rPr lang="en-US" smtClean="0"/>
              <a:t>23</a:t>
            </a:fld>
            <a:endParaRPr lang="en-US"/>
          </a:p>
        </p:txBody>
      </p:sp>
    </p:spTree>
    <p:extLst>
      <p:ext uri="{BB962C8B-B14F-4D97-AF65-F5344CB8AC3E}">
        <p14:creationId xmlns:p14="http://schemas.microsoft.com/office/powerpoint/2010/main" val="5265152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C0CF2-3C91-5EFE-6C3A-EBE435F2F2D6}"/>
              </a:ext>
            </a:extLst>
          </p:cNvPr>
          <p:cNvSpPr>
            <a:spLocks noGrp="1"/>
          </p:cNvSpPr>
          <p:nvPr>
            <p:ph type="title"/>
          </p:nvPr>
        </p:nvSpPr>
        <p:spPr/>
        <p:txBody>
          <a:bodyPr/>
          <a:lstStyle/>
          <a:p>
            <a:r>
              <a:rPr lang="en-US"/>
              <a:t>Residuals vs Fitted</a:t>
            </a:r>
          </a:p>
        </p:txBody>
      </p:sp>
      <p:sp>
        <p:nvSpPr>
          <p:cNvPr id="3" name="Content Placeholder 2">
            <a:extLst>
              <a:ext uri="{FF2B5EF4-FFF2-40B4-BE49-F238E27FC236}">
                <a16:creationId xmlns:a16="http://schemas.microsoft.com/office/drawing/2014/main" id="{9E8D8EDB-21D7-2221-0783-8B3EB4C5A255}"/>
              </a:ext>
            </a:extLst>
          </p:cNvPr>
          <p:cNvSpPr>
            <a:spLocks noGrp="1"/>
          </p:cNvSpPr>
          <p:nvPr>
            <p:ph idx="1"/>
          </p:nvPr>
        </p:nvSpPr>
        <p:spPr/>
        <p:txBody>
          <a:bodyPr>
            <a:normAutofit/>
          </a:bodyPr>
          <a:lstStyle/>
          <a:p>
            <a:pPr marL="0" indent="0">
              <a:buNone/>
            </a:pPr>
            <a:r>
              <a:rPr lang="en-US" sz="2000">
                <a:latin typeface="Courier New" panose="02070309020205020404" pitchFamily="49" charset="0"/>
                <a:cs typeface="Courier New" panose="02070309020205020404" pitchFamily="49" charset="0"/>
              </a:rPr>
              <a:t>plot(fit, which = 1)</a:t>
            </a:r>
            <a:endParaRPr lang="en-US" sz="2000"/>
          </a:p>
        </p:txBody>
      </p:sp>
      <p:sp>
        <p:nvSpPr>
          <p:cNvPr id="4" name="Slide Number Placeholder 3">
            <a:extLst>
              <a:ext uri="{FF2B5EF4-FFF2-40B4-BE49-F238E27FC236}">
                <a16:creationId xmlns:a16="http://schemas.microsoft.com/office/drawing/2014/main" id="{1E9DE6ED-DE2E-F8B5-E268-27A969B7CD7F}"/>
              </a:ext>
            </a:extLst>
          </p:cNvPr>
          <p:cNvSpPr>
            <a:spLocks noGrp="1"/>
          </p:cNvSpPr>
          <p:nvPr>
            <p:ph type="sldNum" sz="quarter" idx="12"/>
          </p:nvPr>
        </p:nvSpPr>
        <p:spPr/>
        <p:txBody>
          <a:bodyPr/>
          <a:lstStyle/>
          <a:p>
            <a:fld id="{330EA680-D336-4FF7-8B7A-9848BB0A1C32}" type="slidenum">
              <a:rPr lang="en-US" smtClean="0"/>
              <a:t>24</a:t>
            </a:fld>
            <a:endParaRPr lang="en-US"/>
          </a:p>
        </p:txBody>
      </p:sp>
      <p:pic>
        <p:nvPicPr>
          <p:cNvPr id="8" name="Picture 7">
            <a:extLst>
              <a:ext uri="{FF2B5EF4-FFF2-40B4-BE49-F238E27FC236}">
                <a16:creationId xmlns:a16="http://schemas.microsoft.com/office/drawing/2014/main" id="{D6076189-A94A-A773-7504-E443C618861E}"/>
              </a:ext>
            </a:extLst>
          </p:cNvPr>
          <p:cNvPicPr>
            <a:picLocks noChangeAspect="1"/>
          </p:cNvPicPr>
          <p:nvPr/>
        </p:nvPicPr>
        <p:blipFill>
          <a:blip r:embed="rId2"/>
          <a:stretch>
            <a:fillRect/>
          </a:stretch>
        </p:blipFill>
        <p:spPr>
          <a:xfrm>
            <a:off x="6265333" y="800100"/>
            <a:ext cx="5257800" cy="5257800"/>
          </a:xfrm>
          <a:prstGeom prst="rect">
            <a:avLst/>
          </a:prstGeom>
        </p:spPr>
      </p:pic>
    </p:spTree>
    <p:extLst>
      <p:ext uri="{BB962C8B-B14F-4D97-AF65-F5344CB8AC3E}">
        <p14:creationId xmlns:p14="http://schemas.microsoft.com/office/powerpoint/2010/main" val="31747123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2A66EF-DACC-384F-70E7-5A65305770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4A1141-D127-BA64-334F-D6329769A28D}"/>
              </a:ext>
            </a:extLst>
          </p:cNvPr>
          <p:cNvSpPr>
            <a:spLocks noGrp="1"/>
          </p:cNvSpPr>
          <p:nvPr>
            <p:ph type="title"/>
          </p:nvPr>
        </p:nvSpPr>
        <p:spPr/>
        <p:txBody>
          <a:bodyPr/>
          <a:lstStyle/>
          <a:p>
            <a:r>
              <a:rPr lang="en-US"/>
              <a:t>Residual Diagnostic Tools</a:t>
            </a:r>
          </a:p>
        </p:txBody>
      </p:sp>
      <p:sp>
        <p:nvSpPr>
          <p:cNvPr id="3" name="Content Placeholder 2">
            <a:extLst>
              <a:ext uri="{FF2B5EF4-FFF2-40B4-BE49-F238E27FC236}">
                <a16:creationId xmlns:a16="http://schemas.microsoft.com/office/drawing/2014/main" id="{426ED40F-4BC1-636F-1964-5A5AD5B4D060}"/>
              </a:ext>
            </a:extLst>
          </p:cNvPr>
          <p:cNvSpPr>
            <a:spLocks noGrp="1"/>
          </p:cNvSpPr>
          <p:nvPr>
            <p:ph idx="1"/>
          </p:nvPr>
        </p:nvSpPr>
        <p:spPr/>
        <p:txBody>
          <a:bodyPr>
            <a:normAutofit/>
          </a:bodyPr>
          <a:lstStyle/>
          <a:p>
            <a:r>
              <a:rPr lang="en-US"/>
              <a:t>Python equivalents (Residuals vs Fitted)</a:t>
            </a:r>
          </a:p>
          <a:p>
            <a:pPr marL="457200" lvl="1" indent="0">
              <a:buNone/>
            </a:pPr>
            <a:r>
              <a:rPr lang="en-US">
                <a:cs typeface="Courier New" panose="02070309020205020404" pitchFamily="49" charset="0"/>
              </a:rPr>
              <a:t>	</a:t>
            </a:r>
            <a:r>
              <a:rPr lang="en-US" sz="2000" err="1">
                <a:latin typeface="Courier New" panose="02070309020205020404" pitchFamily="49" charset="0"/>
                <a:cs typeface="Courier New" panose="02070309020205020404" pitchFamily="49" charset="0"/>
              </a:rPr>
              <a:t>plt.scatter</a:t>
            </a:r>
            <a:r>
              <a:rPr lang="en-US" sz="2000">
                <a:latin typeface="Courier New" panose="02070309020205020404" pitchFamily="49" charset="0"/>
                <a:cs typeface="Courier New" panose="02070309020205020404" pitchFamily="49" charset="0"/>
              </a:rPr>
              <a:t>(fitted, resid)</a:t>
            </a:r>
          </a:p>
          <a:p>
            <a:pPr marL="457200" lvl="1" indent="0">
              <a:buNone/>
            </a:pPr>
            <a:r>
              <a:rPr lang="en-US" sz="2000">
                <a:latin typeface="Courier New" panose="02070309020205020404" pitchFamily="49" charset="0"/>
                <a:cs typeface="Courier New" panose="02070309020205020404" pitchFamily="49" charset="0"/>
              </a:rPr>
              <a:t>	</a:t>
            </a:r>
            <a:r>
              <a:rPr lang="en-US" sz="2000" err="1">
                <a:latin typeface="Courier New" panose="02070309020205020404" pitchFamily="49" charset="0"/>
                <a:cs typeface="Courier New" panose="02070309020205020404" pitchFamily="49" charset="0"/>
              </a:rPr>
              <a:t>plt.axhline</a:t>
            </a:r>
            <a:r>
              <a:rPr lang="en-US" sz="2000">
                <a:latin typeface="Courier New" panose="02070309020205020404" pitchFamily="49" charset="0"/>
                <a:cs typeface="Courier New" panose="02070309020205020404" pitchFamily="49" charset="0"/>
              </a:rPr>
              <a:t>(0, color='red’)</a:t>
            </a:r>
          </a:p>
          <a:p>
            <a:pPr marL="457200" lvl="1" indent="0">
              <a:buNone/>
            </a:pPr>
            <a:r>
              <a:rPr lang="en-US" sz="2000">
                <a:latin typeface="Courier New" panose="02070309020205020404" pitchFamily="49" charset="0"/>
                <a:cs typeface="Courier New" panose="02070309020205020404" pitchFamily="49" charset="0"/>
              </a:rPr>
              <a:t>	</a:t>
            </a:r>
            <a:r>
              <a:rPr lang="en-US" sz="2000" err="1">
                <a:latin typeface="Courier New" panose="02070309020205020404" pitchFamily="49" charset="0"/>
                <a:cs typeface="Courier New" panose="02070309020205020404" pitchFamily="49" charset="0"/>
              </a:rPr>
              <a:t>plt.xlabel</a:t>
            </a:r>
            <a:r>
              <a:rPr lang="en-US" sz="2000">
                <a:latin typeface="Courier New" panose="02070309020205020404" pitchFamily="49" charset="0"/>
                <a:cs typeface="Courier New" panose="02070309020205020404" pitchFamily="49" charset="0"/>
              </a:rPr>
              <a:t>("Fitted Values")</a:t>
            </a:r>
          </a:p>
          <a:p>
            <a:pPr marL="457200" lvl="1" indent="0">
              <a:buNone/>
            </a:pPr>
            <a:r>
              <a:rPr lang="en-US" sz="2000">
                <a:latin typeface="Courier New" panose="02070309020205020404" pitchFamily="49" charset="0"/>
                <a:cs typeface="Courier New" panose="02070309020205020404" pitchFamily="49" charset="0"/>
              </a:rPr>
              <a:t>	</a:t>
            </a:r>
            <a:r>
              <a:rPr lang="en-US" sz="2000" err="1">
                <a:latin typeface="Courier New" panose="02070309020205020404" pitchFamily="49" charset="0"/>
                <a:cs typeface="Courier New" panose="02070309020205020404" pitchFamily="49" charset="0"/>
              </a:rPr>
              <a:t>plt.ylabel</a:t>
            </a:r>
            <a:r>
              <a:rPr lang="en-US" sz="2000">
                <a:latin typeface="Courier New" panose="02070309020205020404" pitchFamily="49" charset="0"/>
                <a:cs typeface="Courier New" panose="02070309020205020404" pitchFamily="49" charset="0"/>
              </a:rPr>
              <a:t>("Residuals")</a:t>
            </a:r>
          </a:p>
          <a:p>
            <a:pPr marL="457200" lvl="1" indent="0">
              <a:buNone/>
            </a:pPr>
            <a:r>
              <a:rPr lang="en-US" sz="2000">
                <a:latin typeface="Courier New" panose="02070309020205020404" pitchFamily="49" charset="0"/>
                <a:cs typeface="Courier New" panose="02070309020205020404" pitchFamily="49" charset="0"/>
              </a:rPr>
              <a:t>	</a:t>
            </a:r>
            <a:r>
              <a:rPr lang="en-US" sz="2000" err="1">
                <a:latin typeface="Courier New" panose="02070309020205020404" pitchFamily="49" charset="0"/>
                <a:cs typeface="Courier New" panose="02070309020205020404" pitchFamily="49" charset="0"/>
              </a:rPr>
              <a:t>plt.title</a:t>
            </a:r>
            <a:r>
              <a:rPr lang="en-US" sz="2000">
                <a:latin typeface="Courier New" panose="02070309020205020404" pitchFamily="49" charset="0"/>
                <a:cs typeface="Courier New" panose="02070309020205020404" pitchFamily="49" charset="0"/>
              </a:rPr>
              <a:t>("Residuals vs Fitted")</a:t>
            </a:r>
          </a:p>
          <a:p>
            <a:pPr marL="457200" lvl="1" indent="0">
              <a:buNone/>
            </a:pPr>
            <a:r>
              <a:rPr lang="en-US" sz="2000">
                <a:latin typeface="Courier New" panose="02070309020205020404" pitchFamily="49" charset="0"/>
                <a:cs typeface="Courier New" panose="02070309020205020404" pitchFamily="49" charset="0"/>
              </a:rPr>
              <a:t>	</a:t>
            </a:r>
            <a:r>
              <a:rPr lang="en-US" sz="2000" err="1">
                <a:latin typeface="Courier New" panose="02070309020205020404" pitchFamily="49" charset="0"/>
                <a:cs typeface="Courier New" panose="02070309020205020404" pitchFamily="49" charset="0"/>
              </a:rPr>
              <a:t>plt.show</a:t>
            </a:r>
            <a:r>
              <a:rPr lang="en-US" sz="2000">
                <a:latin typeface="Courier New" panose="02070309020205020404" pitchFamily="49" charset="0"/>
                <a:cs typeface="Courier New" panose="02070309020205020404" pitchFamily="49" charset="0"/>
              </a:rPr>
              <a:t>()</a:t>
            </a:r>
          </a:p>
          <a:p>
            <a:pPr marL="457200" lvl="1" indent="0">
              <a:buNone/>
            </a:pPr>
            <a:endParaRPr lang="en-US"/>
          </a:p>
          <a:p>
            <a:pPr lvl="1"/>
            <a:endParaRPr lang="en-US"/>
          </a:p>
          <a:p>
            <a:pPr marL="457200" lvl="1" indent="0">
              <a:buNone/>
            </a:pPr>
            <a:endParaRPr lang="en-US"/>
          </a:p>
        </p:txBody>
      </p:sp>
      <p:sp>
        <p:nvSpPr>
          <p:cNvPr id="4" name="Slide Number Placeholder 3">
            <a:extLst>
              <a:ext uri="{FF2B5EF4-FFF2-40B4-BE49-F238E27FC236}">
                <a16:creationId xmlns:a16="http://schemas.microsoft.com/office/drawing/2014/main" id="{35E653D6-8181-D98B-D9EE-01CCFAFDDAF2}"/>
              </a:ext>
            </a:extLst>
          </p:cNvPr>
          <p:cNvSpPr>
            <a:spLocks noGrp="1"/>
          </p:cNvSpPr>
          <p:nvPr>
            <p:ph type="sldNum" sz="quarter" idx="12"/>
          </p:nvPr>
        </p:nvSpPr>
        <p:spPr/>
        <p:txBody>
          <a:bodyPr/>
          <a:lstStyle/>
          <a:p>
            <a:fld id="{330EA680-D336-4FF7-8B7A-9848BB0A1C32}" type="slidenum">
              <a:rPr lang="en-US" smtClean="0"/>
              <a:t>25</a:t>
            </a:fld>
            <a:endParaRPr lang="en-US"/>
          </a:p>
        </p:txBody>
      </p:sp>
      <p:pic>
        <p:nvPicPr>
          <p:cNvPr id="6" name="Picture 5">
            <a:extLst>
              <a:ext uri="{FF2B5EF4-FFF2-40B4-BE49-F238E27FC236}">
                <a16:creationId xmlns:a16="http://schemas.microsoft.com/office/drawing/2014/main" id="{AAABFA9A-C9B0-AB1F-0136-5B7BE9BD7FD3}"/>
              </a:ext>
            </a:extLst>
          </p:cNvPr>
          <p:cNvPicPr>
            <a:picLocks noChangeAspect="1"/>
          </p:cNvPicPr>
          <p:nvPr/>
        </p:nvPicPr>
        <p:blipFill>
          <a:blip r:embed="rId2"/>
          <a:stretch>
            <a:fillRect/>
          </a:stretch>
        </p:blipFill>
        <p:spPr>
          <a:xfrm>
            <a:off x="7013916" y="2212053"/>
            <a:ext cx="5178084" cy="4144297"/>
          </a:xfrm>
          <a:prstGeom prst="rect">
            <a:avLst/>
          </a:prstGeom>
        </p:spPr>
      </p:pic>
    </p:spTree>
    <p:extLst>
      <p:ext uri="{BB962C8B-B14F-4D97-AF65-F5344CB8AC3E}">
        <p14:creationId xmlns:p14="http://schemas.microsoft.com/office/powerpoint/2010/main" val="34516437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A07F7-97A6-E140-AB1E-383773E6C758}"/>
              </a:ext>
            </a:extLst>
          </p:cNvPr>
          <p:cNvSpPr>
            <a:spLocks noGrp="1"/>
          </p:cNvSpPr>
          <p:nvPr>
            <p:ph type="title"/>
          </p:nvPr>
        </p:nvSpPr>
        <p:spPr/>
        <p:txBody>
          <a:bodyPr/>
          <a:lstStyle/>
          <a:p>
            <a:r>
              <a:rPr lang="en-US"/>
              <a:t>Residual Q-Q Plot</a:t>
            </a:r>
          </a:p>
        </p:txBody>
      </p:sp>
      <p:sp>
        <p:nvSpPr>
          <p:cNvPr id="3" name="Content Placeholder 2">
            <a:extLst>
              <a:ext uri="{FF2B5EF4-FFF2-40B4-BE49-F238E27FC236}">
                <a16:creationId xmlns:a16="http://schemas.microsoft.com/office/drawing/2014/main" id="{683F2F24-EFCC-6A26-71A0-89C90A8610B8}"/>
              </a:ext>
            </a:extLst>
          </p:cNvPr>
          <p:cNvSpPr>
            <a:spLocks noGrp="1"/>
          </p:cNvSpPr>
          <p:nvPr>
            <p:ph idx="1"/>
          </p:nvPr>
        </p:nvSpPr>
        <p:spPr/>
        <p:txBody>
          <a:bodyPr/>
          <a:lstStyle/>
          <a:p>
            <a:pPr marL="0" indent="0">
              <a:buNone/>
            </a:pPr>
            <a:r>
              <a:rPr lang="en-US">
                <a:latin typeface="Courier New" panose="02070309020205020404" pitchFamily="49" charset="0"/>
                <a:cs typeface="Courier New" panose="02070309020205020404" pitchFamily="49" charset="0"/>
              </a:rPr>
              <a:t>plot(fit, which = 2)</a:t>
            </a:r>
            <a:endParaRPr lang="en-US"/>
          </a:p>
        </p:txBody>
      </p:sp>
      <p:sp>
        <p:nvSpPr>
          <p:cNvPr id="4" name="Slide Number Placeholder 3">
            <a:extLst>
              <a:ext uri="{FF2B5EF4-FFF2-40B4-BE49-F238E27FC236}">
                <a16:creationId xmlns:a16="http://schemas.microsoft.com/office/drawing/2014/main" id="{03D5C3FA-2ECC-881D-EE7C-0307664836EA}"/>
              </a:ext>
            </a:extLst>
          </p:cNvPr>
          <p:cNvSpPr>
            <a:spLocks noGrp="1"/>
          </p:cNvSpPr>
          <p:nvPr>
            <p:ph type="sldNum" sz="quarter" idx="12"/>
          </p:nvPr>
        </p:nvSpPr>
        <p:spPr/>
        <p:txBody>
          <a:bodyPr/>
          <a:lstStyle/>
          <a:p>
            <a:fld id="{330EA680-D336-4FF7-8B7A-9848BB0A1C32}" type="slidenum">
              <a:rPr lang="en-US" smtClean="0"/>
              <a:t>26</a:t>
            </a:fld>
            <a:endParaRPr lang="en-US"/>
          </a:p>
        </p:txBody>
      </p:sp>
      <p:pic>
        <p:nvPicPr>
          <p:cNvPr id="6" name="Picture 5">
            <a:extLst>
              <a:ext uri="{FF2B5EF4-FFF2-40B4-BE49-F238E27FC236}">
                <a16:creationId xmlns:a16="http://schemas.microsoft.com/office/drawing/2014/main" id="{45EFAE27-0634-87C5-0213-239AEE5B91A4}"/>
              </a:ext>
            </a:extLst>
          </p:cNvPr>
          <p:cNvPicPr>
            <a:picLocks noChangeAspect="1"/>
          </p:cNvPicPr>
          <p:nvPr/>
        </p:nvPicPr>
        <p:blipFill>
          <a:blip r:embed="rId2"/>
          <a:stretch>
            <a:fillRect/>
          </a:stretch>
        </p:blipFill>
        <p:spPr>
          <a:xfrm>
            <a:off x="6654800" y="681037"/>
            <a:ext cx="5537200" cy="5537200"/>
          </a:xfrm>
          <a:prstGeom prst="rect">
            <a:avLst/>
          </a:prstGeom>
        </p:spPr>
      </p:pic>
    </p:spTree>
    <p:extLst>
      <p:ext uri="{BB962C8B-B14F-4D97-AF65-F5344CB8AC3E}">
        <p14:creationId xmlns:p14="http://schemas.microsoft.com/office/powerpoint/2010/main" val="36497605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E22E8-4F25-24D4-ECBE-54BC5E34AD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DB843B-CD61-F84B-70F7-30D3387194F7}"/>
              </a:ext>
            </a:extLst>
          </p:cNvPr>
          <p:cNvSpPr>
            <a:spLocks noGrp="1"/>
          </p:cNvSpPr>
          <p:nvPr>
            <p:ph type="title"/>
          </p:nvPr>
        </p:nvSpPr>
        <p:spPr/>
        <p:txBody>
          <a:bodyPr/>
          <a:lstStyle/>
          <a:p>
            <a:r>
              <a:rPr lang="en-US"/>
              <a:t>Residual Diagnostic Tools – Hands On</a:t>
            </a:r>
          </a:p>
        </p:txBody>
      </p:sp>
      <p:sp>
        <p:nvSpPr>
          <p:cNvPr id="3" name="Content Placeholder 2">
            <a:extLst>
              <a:ext uri="{FF2B5EF4-FFF2-40B4-BE49-F238E27FC236}">
                <a16:creationId xmlns:a16="http://schemas.microsoft.com/office/drawing/2014/main" id="{52F99F7B-AFFA-2888-AA6A-D03A9B2073E1}"/>
              </a:ext>
            </a:extLst>
          </p:cNvPr>
          <p:cNvSpPr>
            <a:spLocks noGrp="1"/>
          </p:cNvSpPr>
          <p:nvPr>
            <p:ph idx="1"/>
          </p:nvPr>
        </p:nvSpPr>
        <p:spPr/>
        <p:txBody>
          <a:bodyPr>
            <a:normAutofit/>
          </a:bodyPr>
          <a:lstStyle/>
          <a:p>
            <a:r>
              <a:rPr lang="en-US"/>
              <a:t>Python equivalents (Normal QQ-plot)</a:t>
            </a:r>
          </a:p>
          <a:p>
            <a:pPr marL="457200" lvl="1" indent="0">
              <a:buNone/>
            </a:pPr>
            <a:r>
              <a:rPr lang="en-US">
                <a:cs typeface="Courier New" panose="02070309020205020404" pitchFamily="49" charset="0"/>
              </a:rPr>
              <a:t>	</a:t>
            </a:r>
            <a:r>
              <a:rPr lang="en-US" sz="2000" err="1">
                <a:latin typeface="Courier New" panose="02070309020205020404" pitchFamily="49" charset="0"/>
                <a:cs typeface="Courier New" panose="02070309020205020404" pitchFamily="49" charset="0"/>
              </a:rPr>
              <a:t>sm.qqplot</a:t>
            </a:r>
            <a:r>
              <a:rPr lang="en-US" sz="2000">
                <a:latin typeface="Courier New" panose="02070309020205020404" pitchFamily="49" charset="0"/>
                <a:cs typeface="Courier New" panose="02070309020205020404" pitchFamily="49" charset="0"/>
              </a:rPr>
              <a:t>(resid, line=‘s’)</a:t>
            </a:r>
          </a:p>
          <a:p>
            <a:pPr marL="457200" lvl="1" indent="0">
              <a:buNone/>
            </a:pPr>
            <a:r>
              <a:rPr lang="en-US" sz="2000">
                <a:latin typeface="Courier New" panose="02070309020205020404" pitchFamily="49" charset="0"/>
                <a:cs typeface="Courier New" panose="02070309020205020404" pitchFamily="49" charset="0"/>
              </a:rPr>
              <a:t>	</a:t>
            </a:r>
            <a:r>
              <a:rPr lang="en-US" sz="2000" err="1">
                <a:latin typeface="Courier New" panose="02070309020205020404" pitchFamily="49" charset="0"/>
                <a:cs typeface="Courier New" panose="02070309020205020404" pitchFamily="49" charset="0"/>
              </a:rPr>
              <a:t>plt.title</a:t>
            </a:r>
            <a:r>
              <a:rPr lang="en-US" sz="2000">
                <a:latin typeface="Courier New" panose="02070309020205020404" pitchFamily="49" charset="0"/>
                <a:cs typeface="Courier New" panose="02070309020205020404" pitchFamily="49" charset="0"/>
              </a:rPr>
              <a:t>("Normal Q-Q")</a:t>
            </a:r>
          </a:p>
          <a:p>
            <a:pPr marL="457200" lvl="1" indent="0">
              <a:buNone/>
            </a:pPr>
            <a:r>
              <a:rPr lang="en-US" sz="2000">
                <a:latin typeface="Courier New" panose="02070309020205020404" pitchFamily="49" charset="0"/>
                <a:cs typeface="Courier New" panose="02070309020205020404" pitchFamily="49" charset="0"/>
              </a:rPr>
              <a:t>	</a:t>
            </a:r>
            <a:r>
              <a:rPr lang="en-US" sz="2000" err="1">
                <a:latin typeface="Courier New" panose="02070309020205020404" pitchFamily="49" charset="0"/>
                <a:cs typeface="Courier New" panose="02070309020205020404" pitchFamily="49" charset="0"/>
              </a:rPr>
              <a:t>plt.show</a:t>
            </a:r>
            <a:r>
              <a:rPr lang="en-US" sz="2000">
                <a:latin typeface="Courier New" panose="02070309020205020404" pitchFamily="49" charset="0"/>
                <a:cs typeface="Courier New" panose="02070309020205020404" pitchFamily="49" charset="0"/>
              </a:rPr>
              <a:t>()</a:t>
            </a:r>
          </a:p>
          <a:p>
            <a:pPr marL="457200" lvl="1" indent="0">
              <a:buNone/>
            </a:pPr>
            <a:endParaRPr lang="en-US" sz="2000">
              <a:cs typeface="Courier New" panose="02070309020205020404" pitchFamily="49" charset="0"/>
            </a:endParaRPr>
          </a:p>
          <a:p>
            <a:r>
              <a:rPr lang="en-US" sz="2400">
                <a:cs typeface="Courier New" panose="02070309020205020404" pitchFamily="49" charset="0"/>
              </a:rPr>
              <a:t>Differs slightly from R plot</a:t>
            </a:r>
            <a:endParaRPr lang="en-US" sz="1600">
              <a:cs typeface="Courier New" panose="02070309020205020404" pitchFamily="49" charset="0"/>
            </a:endParaRPr>
          </a:p>
          <a:p>
            <a:r>
              <a:rPr lang="en-US" sz="2400">
                <a:cs typeface="Courier New" panose="02070309020205020404" pitchFamily="49" charset="0"/>
              </a:rPr>
              <a:t>R uses standardized residuals and a </a:t>
            </a:r>
            <a:br>
              <a:rPr lang="en-US" sz="2400">
                <a:cs typeface="Courier New" panose="02070309020205020404" pitchFamily="49" charset="0"/>
              </a:rPr>
            </a:br>
            <a:r>
              <a:rPr lang="en-US" sz="2400">
                <a:cs typeface="Courier New" panose="02070309020205020404" pitchFamily="49" charset="0"/>
              </a:rPr>
              <a:t>slightly different algorithm</a:t>
            </a:r>
          </a:p>
          <a:p>
            <a:r>
              <a:rPr lang="en-US" sz="2400">
                <a:cs typeface="Courier New" panose="02070309020205020404" pitchFamily="49" charset="0"/>
              </a:rPr>
              <a:t>The salient analysis is still worthwhile</a:t>
            </a:r>
            <a:endParaRPr lang="en-US" sz="3600">
              <a:cs typeface="Courier New" panose="02070309020205020404" pitchFamily="49" charset="0"/>
            </a:endParaRPr>
          </a:p>
        </p:txBody>
      </p:sp>
      <p:sp>
        <p:nvSpPr>
          <p:cNvPr id="4" name="Slide Number Placeholder 3">
            <a:extLst>
              <a:ext uri="{FF2B5EF4-FFF2-40B4-BE49-F238E27FC236}">
                <a16:creationId xmlns:a16="http://schemas.microsoft.com/office/drawing/2014/main" id="{C5ED9BEA-B026-4184-227F-FDFA20B4F66D}"/>
              </a:ext>
            </a:extLst>
          </p:cNvPr>
          <p:cNvSpPr>
            <a:spLocks noGrp="1"/>
          </p:cNvSpPr>
          <p:nvPr>
            <p:ph type="sldNum" sz="quarter" idx="12"/>
          </p:nvPr>
        </p:nvSpPr>
        <p:spPr/>
        <p:txBody>
          <a:bodyPr/>
          <a:lstStyle/>
          <a:p>
            <a:fld id="{330EA680-D336-4FF7-8B7A-9848BB0A1C32}" type="slidenum">
              <a:rPr lang="en-US" smtClean="0"/>
              <a:t>27</a:t>
            </a:fld>
            <a:endParaRPr lang="en-US"/>
          </a:p>
        </p:txBody>
      </p:sp>
      <p:pic>
        <p:nvPicPr>
          <p:cNvPr id="6" name="Picture 5">
            <a:extLst>
              <a:ext uri="{FF2B5EF4-FFF2-40B4-BE49-F238E27FC236}">
                <a16:creationId xmlns:a16="http://schemas.microsoft.com/office/drawing/2014/main" id="{5B5922D5-EFB3-9161-4C87-E4D5691345EF}"/>
              </a:ext>
            </a:extLst>
          </p:cNvPr>
          <p:cNvPicPr>
            <a:picLocks noChangeAspect="1"/>
          </p:cNvPicPr>
          <p:nvPr/>
        </p:nvPicPr>
        <p:blipFill>
          <a:blip r:embed="rId2"/>
          <a:stretch>
            <a:fillRect/>
          </a:stretch>
        </p:blipFill>
        <p:spPr>
          <a:xfrm>
            <a:off x="6810375" y="2406650"/>
            <a:ext cx="5381625" cy="4314825"/>
          </a:xfrm>
          <a:prstGeom prst="rect">
            <a:avLst/>
          </a:prstGeom>
        </p:spPr>
      </p:pic>
    </p:spTree>
    <p:extLst>
      <p:ext uri="{BB962C8B-B14F-4D97-AF65-F5344CB8AC3E}">
        <p14:creationId xmlns:p14="http://schemas.microsoft.com/office/powerpoint/2010/main" val="19556986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E5EAC-B58F-F141-E126-E68ABF49BD42}"/>
              </a:ext>
            </a:extLst>
          </p:cNvPr>
          <p:cNvSpPr>
            <a:spLocks noGrp="1"/>
          </p:cNvSpPr>
          <p:nvPr>
            <p:ph type="title"/>
          </p:nvPr>
        </p:nvSpPr>
        <p:spPr/>
        <p:txBody>
          <a:bodyPr/>
          <a:lstStyle/>
          <a:p>
            <a:r>
              <a:rPr lang="en-US"/>
              <a:t>Scale-Location Plot</a:t>
            </a:r>
          </a:p>
        </p:txBody>
      </p:sp>
      <p:sp>
        <p:nvSpPr>
          <p:cNvPr id="3" name="Content Placeholder 2">
            <a:extLst>
              <a:ext uri="{FF2B5EF4-FFF2-40B4-BE49-F238E27FC236}">
                <a16:creationId xmlns:a16="http://schemas.microsoft.com/office/drawing/2014/main" id="{6FEA35BC-EDF6-6567-32B4-6A486A89F7C5}"/>
              </a:ext>
            </a:extLst>
          </p:cNvPr>
          <p:cNvSpPr>
            <a:spLocks noGrp="1"/>
          </p:cNvSpPr>
          <p:nvPr>
            <p:ph idx="1"/>
          </p:nvPr>
        </p:nvSpPr>
        <p:spPr/>
        <p:txBody>
          <a:bodyPr/>
          <a:lstStyle/>
          <a:p>
            <a:pPr marL="0" indent="0">
              <a:buNone/>
            </a:pPr>
            <a:r>
              <a:rPr lang="en-US">
                <a:latin typeface="Courier New" panose="02070309020205020404" pitchFamily="49" charset="0"/>
                <a:cs typeface="Courier New" panose="02070309020205020404" pitchFamily="49" charset="0"/>
              </a:rPr>
              <a:t>plot(fit, which = 3)</a:t>
            </a:r>
            <a:endParaRPr lang="en-US"/>
          </a:p>
        </p:txBody>
      </p:sp>
      <p:sp>
        <p:nvSpPr>
          <p:cNvPr id="4" name="Slide Number Placeholder 3">
            <a:extLst>
              <a:ext uri="{FF2B5EF4-FFF2-40B4-BE49-F238E27FC236}">
                <a16:creationId xmlns:a16="http://schemas.microsoft.com/office/drawing/2014/main" id="{0027ECC3-85EF-0135-76BE-630618F3FF79}"/>
              </a:ext>
            </a:extLst>
          </p:cNvPr>
          <p:cNvSpPr>
            <a:spLocks noGrp="1"/>
          </p:cNvSpPr>
          <p:nvPr>
            <p:ph type="sldNum" sz="quarter" idx="12"/>
          </p:nvPr>
        </p:nvSpPr>
        <p:spPr/>
        <p:txBody>
          <a:bodyPr/>
          <a:lstStyle/>
          <a:p>
            <a:fld id="{330EA680-D336-4FF7-8B7A-9848BB0A1C32}" type="slidenum">
              <a:rPr lang="en-US" smtClean="0"/>
              <a:t>28</a:t>
            </a:fld>
            <a:endParaRPr lang="en-US"/>
          </a:p>
        </p:txBody>
      </p:sp>
      <p:pic>
        <p:nvPicPr>
          <p:cNvPr id="6" name="Picture 5">
            <a:extLst>
              <a:ext uri="{FF2B5EF4-FFF2-40B4-BE49-F238E27FC236}">
                <a16:creationId xmlns:a16="http://schemas.microsoft.com/office/drawing/2014/main" id="{20D0152E-C630-71C2-945A-4F4E228C9E2D}"/>
              </a:ext>
            </a:extLst>
          </p:cNvPr>
          <p:cNvPicPr>
            <a:picLocks noChangeAspect="1"/>
          </p:cNvPicPr>
          <p:nvPr/>
        </p:nvPicPr>
        <p:blipFill>
          <a:blip r:embed="rId2"/>
          <a:stretch>
            <a:fillRect/>
          </a:stretch>
        </p:blipFill>
        <p:spPr>
          <a:xfrm>
            <a:off x="6764867" y="929217"/>
            <a:ext cx="5427133" cy="5427133"/>
          </a:xfrm>
          <a:prstGeom prst="rect">
            <a:avLst/>
          </a:prstGeom>
        </p:spPr>
      </p:pic>
    </p:spTree>
    <p:extLst>
      <p:ext uri="{BB962C8B-B14F-4D97-AF65-F5344CB8AC3E}">
        <p14:creationId xmlns:p14="http://schemas.microsoft.com/office/powerpoint/2010/main" val="36623623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FF99C-0CE6-8030-E2BC-800CA930F3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C31B46-C943-E705-3340-CA6DB0D3A6B8}"/>
              </a:ext>
            </a:extLst>
          </p:cNvPr>
          <p:cNvSpPr>
            <a:spLocks noGrp="1"/>
          </p:cNvSpPr>
          <p:nvPr>
            <p:ph type="title"/>
          </p:nvPr>
        </p:nvSpPr>
        <p:spPr/>
        <p:txBody>
          <a:bodyPr/>
          <a:lstStyle/>
          <a:p>
            <a:r>
              <a:rPr lang="en-US"/>
              <a:t>Residual Diagnostic Tools – Hands On</a:t>
            </a:r>
          </a:p>
        </p:txBody>
      </p:sp>
      <p:sp>
        <p:nvSpPr>
          <p:cNvPr id="3" name="Content Placeholder 2">
            <a:extLst>
              <a:ext uri="{FF2B5EF4-FFF2-40B4-BE49-F238E27FC236}">
                <a16:creationId xmlns:a16="http://schemas.microsoft.com/office/drawing/2014/main" id="{A3B7F660-BD80-5298-56A7-4DAA34F005DF}"/>
              </a:ext>
            </a:extLst>
          </p:cNvPr>
          <p:cNvSpPr>
            <a:spLocks noGrp="1"/>
          </p:cNvSpPr>
          <p:nvPr>
            <p:ph idx="1"/>
          </p:nvPr>
        </p:nvSpPr>
        <p:spPr/>
        <p:txBody>
          <a:bodyPr>
            <a:normAutofit/>
          </a:bodyPr>
          <a:lstStyle/>
          <a:p>
            <a:r>
              <a:rPr lang="en-US"/>
              <a:t>Python equivalents (Scale-Location Plot)</a:t>
            </a:r>
          </a:p>
          <a:p>
            <a:pPr marL="457200" lvl="1" indent="0">
              <a:buNone/>
            </a:pPr>
            <a:r>
              <a:rPr lang="en-US">
                <a:cs typeface="Courier New" panose="02070309020205020404" pitchFamily="49" charset="0"/>
              </a:rPr>
              <a:t>	</a:t>
            </a:r>
            <a:r>
              <a:rPr lang="en-US" sz="2000">
                <a:latin typeface="Courier New" panose="02070309020205020404" pitchFamily="49" charset="0"/>
                <a:cs typeface="Courier New" panose="02070309020205020404" pitchFamily="49" charset="0"/>
              </a:rPr>
              <a:t>import </a:t>
            </a:r>
            <a:r>
              <a:rPr lang="en-US" sz="2000" err="1">
                <a:latin typeface="Courier New" panose="02070309020205020404" pitchFamily="49" charset="0"/>
                <a:cs typeface="Courier New" panose="02070309020205020404" pitchFamily="49" charset="0"/>
              </a:rPr>
              <a:t>numpy</a:t>
            </a:r>
            <a:r>
              <a:rPr lang="en-US" sz="2000">
                <a:latin typeface="Courier New" panose="02070309020205020404" pitchFamily="49" charset="0"/>
                <a:cs typeface="Courier New" panose="02070309020205020404" pitchFamily="49" charset="0"/>
              </a:rPr>
              <a:t> as np</a:t>
            </a:r>
          </a:p>
          <a:p>
            <a:pPr marL="457200" lvl="1" indent="0">
              <a:buNone/>
            </a:pPr>
            <a:endParaRPr lang="en-US" sz="2000">
              <a:latin typeface="Courier New" panose="02070309020205020404" pitchFamily="49" charset="0"/>
              <a:cs typeface="Courier New" panose="02070309020205020404" pitchFamily="49" charset="0"/>
            </a:endParaRPr>
          </a:p>
          <a:p>
            <a:pPr marL="457200" lvl="1" indent="0">
              <a:buNone/>
            </a:pPr>
            <a:r>
              <a:rPr lang="en-US" sz="2000">
                <a:latin typeface="Courier New" panose="02070309020205020404" pitchFamily="49" charset="0"/>
                <a:cs typeface="Courier New" panose="02070309020205020404" pitchFamily="49" charset="0"/>
              </a:rPr>
              <a:t>	</a:t>
            </a:r>
            <a:r>
              <a:rPr lang="en-US" sz="2000" err="1">
                <a:latin typeface="Courier New" panose="02070309020205020404" pitchFamily="49" charset="0"/>
                <a:cs typeface="Courier New" panose="02070309020205020404" pitchFamily="49" charset="0"/>
              </a:rPr>
              <a:t>plt.scatter</a:t>
            </a:r>
            <a:r>
              <a:rPr lang="en-US" sz="2000">
                <a:latin typeface="Courier New" panose="02070309020205020404" pitchFamily="49" charset="0"/>
                <a:cs typeface="Courier New" panose="02070309020205020404" pitchFamily="49" charset="0"/>
              </a:rPr>
              <a:t>(fitted, </a:t>
            </a:r>
            <a:r>
              <a:rPr lang="en-US" sz="2000" err="1">
                <a:latin typeface="Courier New" panose="02070309020205020404" pitchFamily="49" charset="0"/>
                <a:cs typeface="Courier New" panose="02070309020205020404" pitchFamily="49" charset="0"/>
              </a:rPr>
              <a:t>np.sqrt</a:t>
            </a:r>
            <a:br>
              <a:rPr lang="en-US" sz="2000">
                <a:latin typeface="Courier New" panose="02070309020205020404" pitchFamily="49" charset="0"/>
                <a:cs typeface="Courier New" panose="02070309020205020404" pitchFamily="49" charset="0"/>
              </a:rPr>
            </a:br>
            <a:r>
              <a:rPr lang="en-US" sz="2000">
                <a:latin typeface="Courier New" panose="02070309020205020404" pitchFamily="49" charset="0"/>
                <a:cs typeface="Courier New" panose="02070309020205020404" pitchFamily="49" charset="0"/>
              </a:rPr>
              <a:t>	    (</a:t>
            </a:r>
            <a:r>
              <a:rPr lang="en-US" sz="2000" err="1">
                <a:latin typeface="Courier New" panose="02070309020205020404" pitchFamily="49" charset="0"/>
                <a:cs typeface="Courier New" panose="02070309020205020404" pitchFamily="49" charset="0"/>
              </a:rPr>
              <a:t>np.abs</a:t>
            </a:r>
            <a:r>
              <a:rPr lang="en-US" sz="2000">
                <a:latin typeface="Courier New" panose="02070309020205020404" pitchFamily="49" charset="0"/>
                <a:cs typeface="Courier New" panose="02070309020205020404" pitchFamily="49" charset="0"/>
              </a:rPr>
              <a:t>(resid)))</a:t>
            </a:r>
          </a:p>
          <a:p>
            <a:pPr marL="457200" lvl="1" indent="0">
              <a:buNone/>
            </a:pPr>
            <a:r>
              <a:rPr lang="en-US" sz="2000">
                <a:latin typeface="Courier New" panose="02070309020205020404" pitchFamily="49" charset="0"/>
                <a:cs typeface="Courier New" panose="02070309020205020404" pitchFamily="49" charset="0"/>
              </a:rPr>
              <a:t>	</a:t>
            </a:r>
            <a:r>
              <a:rPr lang="en-US" sz="2000" err="1">
                <a:latin typeface="Courier New" panose="02070309020205020404" pitchFamily="49" charset="0"/>
                <a:cs typeface="Courier New" panose="02070309020205020404" pitchFamily="49" charset="0"/>
              </a:rPr>
              <a:t>plt.axhline</a:t>
            </a:r>
            <a:r>
              <a:rPr lang="en-US" sz="2000">
                <a:latin typeface="Courier New" panose="02070309020205020404" pitchFamily="49" charset="0"/>
                <a:cs typeface="Courier New" panose="02070309020205020404" pitchFamily="49" charset="0"/>
              </a:rPr>
              <a:t>(0, color='red’)</a:t>
            </a:r>
          </a:p>
          <a:p>
            <a:pPr marL="457200" lvl="1" indent="0">
              <a:buNone/>
            </a:pPr>
            <a:r>
              <a:rPr lang="en-US" sz="2000">
                <a:latin typeface="Courier New" panose="02070309020205020404" pitchFamily="49" charset="0"/>
                <a:cs typeface="Courier New" panose="02070309020205020404" pitchFamily="49" charset="0"/>
              </a:rPr>
              <a:t>	</a:t>
            </a:r>
            <a:r>
              <a:rPr lang="en-US" sz="2000" err="1">
                <a:latin typeface="Courier New" panose="02070309020205020404" pitchFamily="49" charset="0"/>
                <a:cs typeface="Courier New" panose="02070309020205020404" pitchFamily="49" charset="0"/>
              </a:rPr>
              <a:t>plt.xlabel</a:t>
            </a:r>
            <a:r>
              <a:rPr lang="en-US" sz="2000">
                <a:latin typeface="Courier New" panose="02070309020205020404" pitchFamily="49" charset="0"/>
                <a:cs typeface="Courier New" panose="02070309020205020404" pitchFamily="49" charset="0"/>
              </a:rPr>
              <a:t>("Fitted Values")</a:t>
            </a:r>
          </a:p>
          <a:p>
            <a:pPr marL="457200" lvl="1" indent="0">
              <a:buNone/>
            </a:pPr>
            <a:r>
              <a:rPr lang="en-US" sz="2000">
                <a:latin typeface="Courier New" panose="02070309020205020404" pitchFamily="49" charset="0"/>
                <a:cs typeface="Courier New" panose="02070309020205020404" pitchFamily="49" charset="0"/>
              </a:rPr>
              <a:t>	</a:t>
            </a:r>
            <a:r>
              <a:rPr lang="en-US" sz="2000" err="1">
                <a:latin typeface="Courier New" panose="02070309020205020404" pitchFamily="49" charset="0"/>
                <a:cs typeface="Courier New" panose="02070309020205020404" pitchFamily="49" charset="0"/>
              </a:rPr>
              <a:t>plt.ylabel</a:t>
            </a:r>
            <a:r>
              <a:rPr lang="en-US" sz="2000">
                <a:latin typeface="Courier New" panose="02070309020205020404" pitchFamily="49" charset="0"/>
                <a:cs typeface="Courier New" panose="02070309020205020404" pitchFamily="49" charset="0"/>
              </a:rPr>
              <a:t>("Sqrt(|Residuals|)")</a:t>
            </a:r>
          </a:p>
          <a:p>
            <a:pPr marL="457200" lvl="1" indent="0">
              <a:buNone/>
            </a:pPr>
            <a:r>
              <a:rPr lang="en-US" sz="2000">
                <a:latin typeface="Courier New" panose="02070309020205020404" pitchFamily="49" charset="0"/>
                <a:cs typeface="Courier New" panose="02070309020205020404" pitchFamily="49" charset="0"/>
              </a:rPr>
              <a:t>	</a:t>
            </a:r>
            <a:r>
              <a:rPr lang="en-US" sz="2000" err="1">
                <a:latin typeface="Courier New" panose="02070309020205020404" pitchFamily="49" charset="0"/>
                <a:cs typeface="Courier New" panose="02070309020205020404" pitchFamily="49" charset="0"/>
              </a:rPr>
              <a:t>plt.title</a:t>
            </a:r>
            <a:r>
              <a:rPr lang="en-US" sz="2000">
                <a:latin typeface="Courier New" panose="02070309020205020404" pitchFamily="49" charset="0"/>
                <a:cs typeface="Courier New" panose="02070309020205020404" pitchFamily="49" charset="0"/>
              </a:rPr>
              <a:t>("Scale-Location")</a:t>
            </a:r>
          </a:p>
          <a:p>
            <a:pPr marL="457200" lvl="1" indent="0">
              <a:buNone/>
            </a:pPr>
            <a:r>
              <a:rPr lang="en-US" sz="2000">
                <a:latin typeface="Courier New" panose="02070309020205020404" pitchFamily="49" charset="0"/>
                <a:cs typeface="Courier New" panose="02070309020205020404" pitchFamily="49" charset="0"/>
              </a:rPr>
              <a:t>	</a:t>
            </a:r>
            <a:r>
              <a:rPr lang="en-US" sz="2000" err="1">
                <a:latin typeface="Courier New" panose="02070309020205020404" pitchFamily="49" charset="0"/>
                <a:cs typeface="Courier New" panose="02070309020205020404" pitchFamily="49" charset="0"/>
              </a:rPr>
              <a:t>plt.show</a:t>
            </a:r>
            <a:r>
              <a:rPr lang="en-US" sz="2000">
                <a:latin typeface="Courier New" panose="02070309020205020404" pitchFamily="49" charset="0"/>
                <a:cs typeface="Courier New" panose="02070309020205020404" pitchFamily="49" charset="0"/>
              </a:rPr>
              <a:t>()</a:t>
            </a:r>
          </a:p>
          <a:p>
            <a:pPr marL="457200" lvl="1" indent="0">
              <a:buNone/>
            </a:pPr>
            <a:endParaRPr lang="en-US"/>
          </a:p>
          <a:p>
            <a:pPr lvl="1"/>
            <a:endParaRPr lang="en-US"/>
          </a:p>
          <a:p>
            <a:pPr marL="457200" lvl="1" indent="0">
              <a:buNone/>
            </a:pPr>
            <a:endParaRPr lang="en-US"/>
          </a:p>
        </p:txBody>
      </p:sp>
      <p:sp>
        <p:nvSpPr>
          <p:cNvPr id="4" name="Slide Number Placeholder 3">
            <a:extLst>
              <a:ext uri="{FF2B5EF4-FFF2-40B4-BE49-F238E27FC236}">
                <a16:creationId xmlns:a16="http://schemas.microsoft.com/office/drawing/2014/main" id="{F33BD073-C8F6-800B-A39D-0E4DD7049CC5}"/>
              </a:ext>
            </a:extLst>
          </p:cNvPr>
          <p:cNvSpPr>
            <a:spLocks noGrp="1"/>
          </p:cNvSpPr>
          <p:nvPr>
            <p:ph type="sldNum" sz="quarter" idx="12"/>
          </p:nvPr>
        </p:nvSpPr>
        <p:spPr/>
        <p:txBody>
          <a:bodyPr/>
          <a:lstStyle/>
          <a:p>
            <a:fld id="{330EA680-D336-4FF7-8B7A-9848BB0A1C32}" type="slidenum">
              <a:rPr lang="en-US" smtClean="0"/>
              <a:t>29</a:t>
            </a:fld>
            <a:endParaRPr lang="en-US"/>
          </a:p>
        </p:txBody>
      </p:sp>
      <p:pic>
        <p:nvPicPr>
          <p:cNvPr id="6" name="Picture 5">
            <a:extLst>
              <a:ext uri="{FF2B5EF4-FFF2-40B4-BE49-F238E27FC236}">
                <a16:creationId xmlns:a16="http://schemas.microsoft.com/office/drawing/2014/main" id="{6B399CE7-8294-92F2-CEE3-487EF5D969BE}"/>
              </a:ext>
            </a:extLst>
          </p:cNvPr>
          <p:cNvPicPr>
            <a:picLocks noChangeAspect="1"/>
          </p:cNvPicPr>
          <p:nvPr/>
        </p:nvPicPr>
        <p:blipFill>
          <a:blip r:embed="rId2"/>
          <a:stretch>
            <a:fillRect/>
          </a:stretch>
        </p:blipFill>
        <p:spPr>
          <a:xfrm>
            <a:off x="6781800" y="2490839"/>
            <a:ext cx="5410200" cy="4314825"/>
          </a:xfrm>
          <a:prstGeom prst="rect">
            <a:avLst/>
          </a:prstGeom>
        </p:spPr>
      </p:pic>
    </p:spTree>
    <p:extLst>
      <p:ext uri="{BB962C8B-B14F-4D97-AF65-F5344CB8AC3E}">
        <p14:creationId xmlns:p14="http://schemas.microsoft.com/office/powerpoint/2010/main" val="35493556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5DE53-764A-56F7-2897-A79ACBBEA5A2}"/>
              </a:ext>
            </a:extLst>
          </p:cNvPr>
          <p:cNvSpPr>
            <a:spLocks noGrp="1"/>
          </p:cNvSpPr>
          <p:nvPr>
            <p:ph type="title"/>
          </p:nvPr>
        </p:nvSpPr>
        <p:spPr/>
        <p:txBody>
          <a:bodyPr/>
          <a:lstStyle/>
          <a:p>
            <a:r>
              <a:rPr lang="en-US"/>
              <a:t>Residuals vs Leverage (Cook’s Distance)</a:t>
            </a:r>
          </a:p>
        </p:txBody>
      </p:sp>
      <p:sp>
        <p:nvSpPr>
          <p:cNvPr id="3" name="Content Placeholder 2">
            <a:extLst>
              <a:ext uri="{FF2B5EF4-FFF2-40B4-BE49-F238E27FC236}">
                <a16:creationId xmlns:a16="http://schemas.microsoft.com/office/drawing/2014/main" id="{310BE721-4765-6CDE-8DAD-9D7F43B6F763}"/>
              </a:ext>
            </a:extLst>
          </p:cNvPr>
          <p:cNvSpPr>
            <a:spLocks noGrp="1"/>
          </p:cNvSpPr>
          <p:nvPr>
            <p:ph idx="1"/>
          </p:nvPr>
        </p:nvSpPr>
        <p:spPr/>
        <p:txBody>
          <a:bodyPr/>
          <a:lstStyle/>
          <a:p>
            <a:pPr marL="0" indent="0">
              <a:buNone/>
            </a:pPr>
            <a:r>
              <a:rPr lang="en-US">
                <a:latin typeface="Courier New" panose="02070309020205020404" pitchFamily="49" charset="0"/>
                <a:cs typeface="Courier New" panose="02070309020205020404" pitchFamily="49" charset="0"/>
              </a:rPr>
              <a:t>plot(fit, which = 5)</a:t>
            </a:r>
            <a:endParaRPr lang="en-US"/>
          </a:p>
        </p:txBody>
      </p:sp>
      <p:sp>
        <p:nvSpPr>
          <p:cNvPr id="4" name="Slide Number Placeholder 3">
            <a:extLst>
              <a:ext uri="{FF2B5EF4-FFF2-40B4-BE49-F238E27FC236}">
                <a16:creationId xmlns:a16="http://schemas.microsoft.com/office/drawing/2014/main" id="{ACAE9D0A-3774-5792-EB11-0F11FEAD2AA8}"/>
              </a:ext>
            </a:extLst>
          </p:cNvPr>
          <p:cNvSpPr>
            <a:spLocks noGrp="1"/>
          </p:cNvSpPr>
          <p:nvPr>
            <p:ph type="sldNum" sz="quarter" idx="12"/>
          </p:nvPr>
        </p:nvSpPr>
        <p:spPr/>
        <p:txBody>
          <a:bodyPr/>
          <a:lstStyle/>
          <a:p>
            <a:fld id="{330EA680-D336-4FF7-8B7A-9848BB0A1C32}" type="slidenum">
              <a:rPr lang="en-US" smtClean="0"/>
              <a:t>30</a:t>
            </a:fld>
            <a:endParaRPr lang="en-US"/>
          </a:p>
        </p:txBody>
      </p:sp>
      <p:pic>
        <p:nvPicPr>
          <p:cNvPr id="6" name="Picture 5">
            <a:extLst>
              <a:ext uri="{FF2B5EF4-FFF2-40B4-BE49-F238E27FC236}">
                <a16:creationId xmlns:a16="http://schemas.microsoft.com/office/drawing/2014/main" id="{BB9CFD3F-CAE6-EB3F-4056-49FD9E043289}"/>
              </a:ext>
            </a:extLst>
          </p:cNvPr>
          <p:cNvPicPr>
            <a:picLocks noChangeAspect="1"/>
          </p:cNvPicPr>
          <p:nvPr/>
        </p:nvPicPr>
        <p:blipFill>
          <a:blip r:embed="rId2"/>
          <a:stretch>
            <a:fillRect/>
          </a:stretch>
        </p:blipFill>
        <p:spPr>
          <a:xfrm>
            <a:off x="5632451" y="1356519"/>
            <a:ext cx="5289550" cy="5289550"/>
          </a:xfrm>
          <a:prstGeom prst="rect">
            <a:avLst/>
          </a:prstGeom>
        </p:spPr>
      </p:pic>
    </p:spTree>
    <p:extLst>
      <p:ext uri="{BB962C8B-B14F-4D97-AF65-F5344CB8AC3E}">
        <p14:creationId xmlns:p14="http://schemas.microsoft.com/office/powerpoint/2010/main" val="28885774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3CE14-E35E-EB02-49F5-6279AC307D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DE2F7A-2DB0-3E46-022C-FCB7D858AA50}"/>
              </a:ext>
            </a:extLst>
          </p:cNvPr>
          <p:cNvSpPr>
            <a:spLocks noGrp="1"/>
          </p:cNvSpPr>
          <p:nvPr>
            <p:ph type="title"/>
          </p:nvPr>
        </p:nvSpPr>
        <p:spPr/>
        <p:txBody>
          <a:bodyPr/>
          <a:lstStyle/>
          <a:p>
            <a:r>
              <a:rPr lang="en-US"/>
              <a:t>Residual Diagnostic Tools – Hands On</a:t>
            </a:r>
          </a:p>
        </p:txBody>
      </p:sp>
      <p:sp>
        <p:nvSpPr>
          <p:cNvPr id="3" name="Content Placeholder 2">
            <a:extLst>
              <a:ext uri="{FF2B5EF4-FFF2-40B4-BE49-F238E27FC236}">
                <a16:creationId xmlns:a16="http://schemas.microsoft.com/office/drawing/2014/main" id="{CC40AC89-79CE-B0E6-D408-259A5A583949}"/>
              </a:ext>
            </a:extLst>
          </p:cNvPr>
          <p:cNvSpPr>
            <a:spLocks noGrp="1"/>
          </p:cNvSpPr>
          <p:nvPr>
            <p:ph idx="1"/>
          </p:nvPr>
        </p:nvSpPr>
        <p:spPr>
          <a:xfrm>
            <a:off x="228601" y="1690688"/>
            <a:ext cx="10515600" cy="4351338"/>
          </a:xfrm>
        </p:spPr>
        <p:txBody>
          <a:bodyPr>
            <a:normAutofit/>
          </a:bodyPr>
          <a:lstStyle/>
          <a:p>
            <a:r>
              <a:rPr lang="en-US"/>
              <a:t>Python equivalents (Residuals vs Leverage)</a:t>
            </a:r>
          </a:p>
          <a:p>
            <a:pPr marL="457200" lvl="1" indent="0">
              <a:buNone/>
            </a:pPr>
            <a:r>
              <a:rPr lang="en-US">
                <a:cs typeface="Courier New" panose="02070309020205020404" pitchFamily="49" charset="0"/>
              </a:rPr>
              <a:t>	</a:t>
            </a:r>
            <a:r>
              <a:rPr lang="en-US" sz="2000">
                <a:latin typeface="Courier New" panose="02070309020205020404" pitchFamily="49" charset="0"/>
                <a:cs typeface="Courier New" panose="02070309020205020404" pitchFamily="49" charset="0"/>
              </a:rPr>
              <a:t>from </a:t>
            </a:r>
            <a:r>
              <a:rPr lang="en-US" sz="2000" err="1">
                <a:latin typeface="Courier New" panose="02070309020205020404" pitchFamily="49" charset="0"/>
                <a:cs typeface="Courier New" panose="02070309020205020404" pitchFamily="49" charset="0"/>
              </a:rPr>
              <a:t>statsmodels.graphics.regressionplots</a:t>
            </a:r>
            <a:r>
              <a:rPr lang="en-US" sz="2000">
                <a:latin typeface="Courier New" panose="02070309020205020404" pitchFamily="49" charset="0"/>
                <a:cs typeface="Courier New" panose="02070309020205020404" pitchFamily="49" charset="0"/>
              </a:rPr>
              <a:t> import </a:t>
            </a:r>
            <a:br>
              <a:rPr lang="en-US" sz="2000">
                <a:latin typeface="Courier New" panose="02070309020205020404" pitchFamily="49" charset="0"/>
                <a:cs typeface="Courier New" panose="02070309020205020404" pitchFamily="49" charset="0"/>
              </a:rPr>
            </a:br>
            <a:r>
              <a:rPr lang="en-US" sz="2000">
                <a:latin typeface="Courier New" panose="02070309020205020404" pitchFamily="49" charset="0"/>
                <a:cs typeface="Courier New" panose="02070309020205020404" pitchFamily="49" charset="0"/>
              </a:rPr>
              <a:t>		</a:t>
            </a:r>
            <a:r>
              <a:rPr lang="en-US" sz="2000" err="1">
                <a:latin typeface="Courier New" panose="02070309020205020404" pitchFamily="49" charset="0"/>
                <a:cs typeface="Courier New" panose="02070309020205020404" pitchFamily="49" charset="0"/>
              </a:rPr>
              <a:t>influence_plot</a:t>
            </a:r>
            <a:endParaRPr lang="en-US" sz="2000">
              <a:latin typeface="Courier New" panose="02070309020205020404" pitchFamily="49" charset="0"/>
              <a:cs typeface="Courier New" panose="02070309020205020404" pitchFamily="49" charset="0"/>
            </a:endParaRPr>
          </a:p>
          <a:p>
            <a:pPr marL="457200" lvl="1" indent="0">
              <a:buNone/>
            </a:pPr>
            <a:endParaRPr lang="en-US" sz="2000">
              <a:latin typeface="Courier New" panose="02070309020205020404" pitchFamily="49" charset="0"/>
              <a:cs typeface="Courier New" panose="02070309020205020404" pitchFamily="49" charset="0"/>
            </a:endParaRPr>
          </a:p>
          <a:p>
            <a:pPr marL="457200" lvl="1" indent="0">
              <a:buNone/>
            </a:pPr>
            <a:r>
              <a:rPr lang="en-US" sz="2000">
                <a:latin typeface="Courier New" panose="02070309020205020404" pitchFamily="49" charset="0"/>
                <a:cs typeface="Courier New" panose="02070309020205020404" pitchFamily="49" charset="0"/>
              </a:rPr>
              <a:t>	</a:t>
            </a:r>
            <a:r>
              <a:rPr lang="en-US" sz="2000" err="1">
                <a:latin typeface="Courier New" panose="02070309020205020404" pitchFamily="49" charset="0"/>
                <a:cs typeface="Courier New" panose="02070309020205020404" pitchFamily="49" charset="0"/>
              </a:rPr>
              <a:t>influence_plot</a:t>
            </a:r>
            <a:r>
              <a:rPr lang="en-US" sz="2000">
                <a:latin typeface="Courier New" panose="02070309020205020404" pitchFamily="49" charset="0"/>
                <a:cs typeface="Courier New" panose="02070309020205020404" pitchFamily="49" charset="0"/>
              </a:rPr>
              <a:t>(fit)</a:t>
            </a:r>
          </a:p>
          <a:p>
            <a:pPr marL="457200" lvl="1" indent="0">
              <a:buNone/>
            </a:pPr>
            <a:r>
              <a:rPr lang="en-US" sz="2000">
                <a:latin typeface="Courier New" panose="02070309020205020404" pitchFamily="49" charset="0"/>
                <a:cs typeface="Courier New" panose="02070309020205020404" pitchFamily="49" charset="0"/>
              </a:rPr>
              <a:t>	</a:t>
            </a:r>
            <a:r>
              <a:rPr lang="en-US" sz="2000" err="1">
                <a:latin typeface="Courier New" panose="02070309020205020404" pitchFamily="49" charset="0"/>
                <a:cs typeface="Courier New" panose="02070309020205020404" pitchFamily="49" charset="0"/>
              </a:rPr>
              <a:t>plt.title</a:t>
            </a:r>
            <a:r>
              <a:rPr lang="en-US" sz="2000">
                <a:latin typeface="Courier New" panose="02070309020205020404" pitchFamily="49" charset="0"/>
                <a:cs typeface="Courier New" panose="02070309020205020404" pitchFamily="49" charset="0"/>
              </a:rPr>
              <a:t>("Residuals vs Leverage")</a:t>
            </a:r>
          </a:p>
          <a:p>
            <a:pPr marL="457200" lvl="1" indent="0">
              <a:buNone/>
            </a:pPr>
            <a:r>
              <a:rPr lang="en-US" sz="2000">
                <a:latin typeface="Courier New" panose="02070309020205020404" pitchFamily="49" charset="0"/>
                <a:cs typeface="Courier New" panose="02070309020205020404" pitchFamily="49" charset="0"/>
              </a:rPr>
              <a:t>	</a:t>
            </a:r>
            <a:r>
              <a:rPr lang="en-US" sz="2000" err="1">
                <a:latin typeface="Courier New" panose="02070309020205020404" pitchFamily="49" charset="0"/>
                <a:cs typeface="Courier New" panose="02070309020205020404" pitchFamily="49" charset="0"/>
              </a:rPr>
              <a:t>plt.show</a:t>
            </a:r>
            <a:r>
              <a:rPr lang="en-US" sz="2000">
                <a:latin typeface="Courier New" panose="02070309020205020404" pitchFamily="49" charset="0"/>
                <a:cs typeface="Courier New" panose="02070309020205020404" pitchFamily="49" charset="0"/>
              </a:rPr>
              <a:t>()</a:t>
            </a:r>
          </a:p>
          <a:p>
            <a:pPr marL="457200" lvl="1" indent="0">
              <a:buNone/>
            </a:pPr>
            <a:endParaRPr lang="en-US"/>
          </a:p>
          <a:p>
            <a:pPr lvl="1"/>
            <a:endParaRPr lang="en-US"/>
          </a:p>
          <a:p>
            <a:pPr marL="457200" lvl="1" indent="0">
              <a:buNone/>
            </a:pPr>
            <a:endParaRPr lang="en-US"/>
          </a:p>
        </p:txBody>
      </p:sp>
      <p:sp>
        <p:nvSpPr>
          <p:cNvPr id="4" name="Slide Number Placeholder 3">
            <a:extLst>
              <a:ext uri="{FF2B5EF4-FFF2-40B4-BE49-F238E27FC236}">
                <a16:creationId xmlns:a16="http://schemas.microsoft.com/office/drawing/2014/main" id="{F0D2B68F-2E72-518D-E080-89B4C3916660}"/>
              </a:ext>
            </a:extLst>
          </p:cNvPr>
          <p:cNvSpPr>
            <a:spLocks noGrp="1"/>
          </p:cNvSpPr>
          <p:nvPr>
            <p:ph type="sldNum" sz="quarter" idx="12"/>
          </p:nvPr>
        </p:nvSpPr>
        <p:spPr/>
        <p:txBody>
          <a:bodyPr/>
          <a:lstStyle/>
          <a:p>
            <a:fld id="{330EA680-D336-4FF7-8B7A-9848BB0A1C32}" type="slidenum">
              <a:rPr lang="en-US" smtClean="0"/>
              <a:t>31</a:t>
            </a:fld>
            <a:endParaRPr lang="en-US"/>
          </a:p>
        </p:txBody>
      </p:sp>
      <p:pic>
        <p:nvPicPr>
          <p:cNvPr id="6" name="Picture 5">
            <a:extLst>
              <a:ext uri="{FF2B5EF4-FFF2-40B4-BE49-F238E27FC236}">
                <a16:creationId xmlns:a16="http://schemas.microsoft.com/office/drawing/2014/main" id="{5E2629FB-C993-86FA-3C81-55CEC7F3BA52}"/>
              </a:ext>
            </a:extLst>
          </p:cNvPr>
          <p:cNvPicPr>
            <a:picLocks noChangeAspect="1"/>
          </p:cNvPicPr>
          <p:nvPr/>
        </p:nvPicPr>
        <p:blipFill>
          <a:blip r:embed="rId2"/>
          <a:stretch>
            <a:fillRect/>
          </a:stretch>
        </p:blipFill>
        <p:spPr>
          <a:xfrm>
            <a:off x="6705600" y="2543175"/>
            <a:ext cx="5486400" cy="4314825"/>
          </a:xfrm>
          <a:prstGeom prst="rect">
            <a:avLst/>
          </a:prstGeom>
        </p:spPr>
      </p:pic>
    </p:spTree>
    <p:extLst>
      <p:ext uri="{BB962C8B-B14F-4D97-AF65-F5344CB8AC3E}">
        <p14:creationId xmlns:p14="http://schemas.microsoft.com/office/powerpoint/2010/main" val="38723667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D01A7-E45E-2C05-23E3-DC4B1B0028FA}"/>
              </a:ext>
            </a:extLst>
          </p:cNvPr>
          <p:cNvSpPr>
            <a:spLocks noGrp="1"/>
          </p:cNvSpPr>
          <p:nvPr>
            <p:ph type="title"/>
          </p:nvPr>
        </p:nvSpPr>
        <p:spPr/>
        <p:txBody>
          <a:bodyPr/>
          <a:lstStyle/>
          <a:p>
            <a:r>
              <a:rPr lang="en-US"/>
              <a:t>Closer to R</a:t>
            </a:r>
          </a:p>
        </p:txBody>
      </p:sp>
      <p:sp>
        <p:nvSpPr>
          <p:cNvPr id="3" name="Content Placeholder 2">
            <a:extLst>
              <a:ext uri="{FF2B5EF4-FFF2-40B4-BE49-F238E27FC236}">
                <a16:creationId xmlns:a16="http://schemas.microsoft.com/office/drawing/2014/main" id="{48EEA551-0319-CC78-92EB-60C27577F348}"/>
              </a:ext>
            </a:extLst>
          </p:cNvPr>
          <p:cNvSpPr>
            <a:spLocks noGrp="1"/>
          </p:cNvSpPr>
          <p:nvPr>
            <p:ph idx="1"/>
          </p:nvPr>
        </p:nvSpPr>
        <p:spPr>
          <a:xfrm>
            <a:off x="838200" y="1445342"/>
            <a:ext cx="11058832" cy="5276133"/>
          </a:xfrm>
        </p:spPr>
        <p:txBody>
          <a:bodyPr>
            <a:normAutofit fontScale="92500" lnSpcReduction="10000"/>
          </a:bodyPr>
          <a:lstStyle/>
          <a:p>
            <a:pPr marL="0" indent="0">
              <a:lnSpc>
                <a:spcPct val="110000"/>
              </a:lnSpc>
              <a:spcBef>
                <a:spcPts val="0"/>
              </a:spcBef>
              <a:buNone/>
            </a:pPr>
            <a:r>
              <a:rPr lang="en-US" sz="1600">
                <a:latin typeface="Courier New" panose="02070309020205020404" pitchFamily="49" charset="0"/>
                <a:cs typeface="Courier New" panose="02070309020205020404" pitchFamily="49" charset="0"/>
              </a:rPr>
              <a:t># Studentized Residuals vs Leverage plot with Cook's distance contours (Closer to R's plot)</a:t>
            </a:r>
          </a:p>
          <a:p>
            <a:pPr marL="0" indent="0">
              <a:lnSpc>
                <a:spcPct val="110000"/>
              </a:lnSpc>
              <a:spcBef>
                <a:spcPts val="0"/>
              </a:spcBef>
              <a:buNone/>
            </a:pPr>
            <a:r>
              <a:rPr lang="en-US" sz="1600">
                <a:latin typeface="Courier New" panose="02070309020205020404" pitchFamily="49" charset="0"/>
                <a:cs typeface="Courier New" panose="02070309020205020404" pitchFamily="49" charset="0"/>
              </a:rPr>
              <a:t>influence = </a:t>
            </a:r>
            <a:r>
              <a:rPr lang="en-US" sz="1600" err="1">
                <a:latin typeface="Courier New" panose="02070309020205020404" pitchFamily="49" charset="0"/>
                <a:cs typeface="Courier New" panose="02070309020205020404" pitchFamily="49" charset="0"/>
              </a:rPr>
              <a:t>fit.get_influence</a:t>
            </a:r>
            <a:r>
              <a:rPr lang="en-US" sz="1600">
                <a:latin typeface="Courier New" panose="02070309020205020404" pitchFamily="49" charset="0"/>
                <a:cs typeface="Courier New" panose="02070309020205020404" pitchFamily="49" charset="0"/>
              </a:rPr>
              <a:t>()</a:t>
            </a:r>
          </a:p>
          <a:p>
            <a:pPr marL="0" indent="0">
              <a:lnSpc>
                <a:spcPct val="110000"/>
              </a:lnSpc>
              <a:spcBef>
                <a:spcPts val="0"/>
              </a:spcBef>
              <a:buNone/>
            </a:pPr>
            <a:r>
              <a:rPr lang="en-US" sz="1600">
                <a:latin typeface="Courier New" panose="02070309020205020404" pitchFamily="49" charset="0"/>
                <a:cs typeface="Courier New" panose="02070309020205020404" pitchFamily="49" charset="0"/>
              </a:rPr>
              <a:t># Extract leverage and studentized residuals</a:t>
            </a:r>
          </a:p>
          <a:p>
            <a:pPr marL="0" indent="0">
              <a:lnSpc>
                <a:spcPct val="110000"/>
              </a:lnSpc>
              <a:spcBef>
                <a:spcPts val="0"/>
              </a:spcBef>
              <a:buNone/>
            </a:pPr>
            <a:r>
              <a:rPr lang="en-US" sz="1600">
                <a:latin typeface="Courier New" panose="02070309020205020404" pitchFamily="49" charset="0"/>
                <a:cs typeface="Courier New" panose="02070309020205020404" pitchFamily="49" charset="0"/>
              </a:rPr>
              <a:t>leverage = </a:t>
            </a:r>
            <a:r>
              <a:rPr lang="en-US" sz="1600" err="1">
                <a:latin typeface="Courier New" panose="02070309020205020404" pitchFamily="49" charset="0"/>
                <a:cs typeface="Courier New" panose="02070309020205020404" pitchFamily="49" charset="0"/>
              </a:rPr>
              <a:t>influence.hat_matrix_diag</a:t>
            </a:r>
            <a:endParaRPr lang="en-US" sz="1600">
              <a:latin typeface="Courier New" panose="02070309020205020404" pitchFamily="49" charset="0"/>
              <a:cs typeface="Courier New" panose="02070309020205020404" pitchFamily="49" charset="0"/>
            </a:endParaRPr>
          </a:p>
          <a:p>
            <a:pPr marL="0" indent="0">
              <a:lnSpc>
                <a:spcPct val="110000"/>
              </a:lnSpc>
              <a:spcBef>
                <a:spcPts val="0"/>
              </a:spcBef>
              <a:buNone/>
            </a:pPr>
            <a:r>
              <a:rPr lang="en-US" sz="1600" err="1">
                <a:latin typeface="Courier New" panose="02070309020205020404" pitchFamily="49" charset="0"/>
                <a:cs typeface="Courier New" panose="02070309020205020404" pitchFamily="49" charset="0"/>
              </a:rPr>
              <a:t>stud_resid</a:t>
            </a:r>
            <a:r>
              <a:rPr lang="en-US" sz="1600">
                <a:latin typeface="Courier New" panose="02070309020205020404" pitchFamily="49" charset="0"/>
                <a:cs typeface="Courier New" panose="02070309020205020404" pitchFamily="49" charset="0"/>
              </a:rPr>
              <a:t> = </a:t>
            </a:r>
            <a:r>
              <a:rPr lang="en-US" sz="1600" err="1">
                <a:latin typeface="Courier New" panose="02070309020205020404" pitchFamily="49" charset="0"/>
                <a:cs typeface="Courier New" panose="02070309020205020404" pitchFamily="49" charset="0"/>
              </a:rPr>
              <a:t>influence.resid_studentized_internal</a:t>
            </a:r>
            <a:endParaRPr lang="en-US" sz="1600">
              <a:latin typeface="Courier New" panose="02070309020205020404" pitchFamily="49" charset="0"/>
              <a:cs typeface="Courier New" panose="02070309020205020404" pitchFamily="49" charset="0"/>
            </a:endParaRPr>
          </a:p>
          <a:p>
            <a:pPr marL="0" indent="0">
              <a:lnSpc>
                <a:spcPct val="110000"/>
              </a:lnSpc>
              <a:spcBef>
                <a:spcPts val="0"/>
              </a:spcBef>
              <a:buNone/>
            </a:pPr>
            <a:r>
              <a:rPr lang="en-US" sz="1600" err="1">
                <a:latin typeface="Courier New" panose="02070309020205020404" pitchFamily="49" charset="0"/>
                <a:cs typeface="Courier New" panose="02070309020205020404" pitchFamily="49" charset="0"/>
              </a:rPr>
              <a:t>plt.scatter</a:t>
            </a:r>
            <a:r>
              <a:rPr lang="en-US" sz="1600">
                <a:latin typeface="Courier New" panose="02070309020205020404" pitchFamily="49" charset="0"/>
                <a:cs typeface="Courier New" panose="02070309020205020404" pitchFamily="49" charset="0"/>
              </a:rPr>
              <a:t>(leverage, </a:t>
            </a:r>
            <a:r>
              <a:rPr lang="en-US" sz="1600" err="1">
                <a:latin typeface="Courier New" panose="02070309020205020404" pitchFamily="49" charset="0"/>
                <a:cs typeface="Courier New" panose="02070309020205020404" pitchFamily="49" charset="0"/>
              </a:rPr>
              <a:t>stud_resid</a:t>
            </a:r>
            <a:r>
              <a:rPr lang="en-US" sz="1600">
                <a:latin typeface="Courier New" panose="02070309020205020404" pitchFamily="49" charset="0"/>
                <a:cs typeface="Courier New" panose="02070309020205020404" pitchFamily="49" charset="0"/>
              </a:rPr>
              <a:t>, alpha=0.7)</a:t>
            </a:r>
          </a:p>
          <a:p>
            <a:pPr marL="0" indent="0">
              <a:lnSpc>
                <a:spcPct val="110000"/>
              </a:lnSpc>
              <a:spcBef>
                <a:spcPts val="0"/>
              </a:spcBef>
              <a:buNone/>
            </a:pPr>
            <a:r>
              <a:rPr lang="en-US" sz="1600" err="1">
                <a:latin typeface="Courier New" panose="02070309020205020404" pitchFamily="49" charset="0"/>
                <a:cs typeface="Courier New" panose="02070309020205020404" pitchFamily="49" charset="0"/>
              </a:rPr>
              <a:t>plt.xlabel</a:t>
            </a:r>
            <a:r>
              <a:rPr lang="en-US" sz="1600">
                <a:latin typeface="Courier New" panose="02070309020205020404" pitchFamily="49" charset="0"/>
                <a:cs typeface="Courier New" panose="02070309020205020404" pitchFamily="49" charset="0"/>
              </a:rPr>
              <a:t>("Leverage")</a:t>
            </a:r>
          </a:p>
          <a:p>
            <a:pPr marL="0" indent="0">
              <a:lnSpc>
                <a:spcPct val="110000"/>
              </a:lnSpc>
              <a:spcBef>
                <a:spcPts val="0"/>
              </a:spcBef>
              <a:buNone/>
            </a:pPr>
            <a:r>
              <a:rPr lang="en-US" sz="1600" err="1">
                <a:latin typeface="Courier New" panose="02070309020205020404" pitchFamily="49" charset="0"/>
                <a:cs typeface="Courier New" panose="02070309020205020404" pitchFamily="49" charset="0"/>
              </a:rPr>
              <a:t>plt.ylabel</a:t>
            </a:r>
            <a:r>
              <a:rPr lang="en-US" sz="1600">
                <a:latin typeface="Courier New" panose="02070309020205020404" pitchFamily="49" charset="0"/>
                <a:cs typeface="Courier New" panose="02070309020205020404" pitchFamily="49" charset="0"/>
              </a:rPr>
              <a:t>("Studentized Residuals")</a:t>
            </a:r>
          </a:p>
          <a:p>
            <a:pPr marL="0" indent="0">
              <a:lnSpc>
                <a:spcPct val="110000"/>
              </a:lnSpc>
              <a:spcBef>
                <a:spcPts val="0"/>
              </a:spcBef>
              <a:buNone/>
            </a:pPr>
            <a:r>
              <a:rPr lang="en-US" sz="1600" err="1">
                <a:latin typeface="Courier New" panose="02070309020205020404" pitchFamily="49" charset="0"/>
                <a:cs typeface="Courier New" panose="02070309020205020404" pitchFamily="49" charset="0"/>
              </a:rPr>
              <a:t>plt.title</a:t>
            </a:r>
            <a:r>
              <a:rPr lang="en-US" sz="1600">
                <a:latin typeface="Courier New" panose="02070309020205020404" pitchFamily="49" charset="0"/>
                <a:cs typeface="Courier New" panose="02070309020205020404" pitchFamily="49" charset="0"/>
              </a:rPr>
              <a:t>("Leverage vs Studentized Residuals with Cook's Distance Contours")</a:t>
            </a:r>
          </a:p>
          <a:p>
            <a:pPr marL="0" indent="0">
              <a:lnSpc>
                <a:spcPct val="110000"/>
              </a:lnSpc>
              <a:spcBef>
                <a:spcPts val="0"/>
              </a:spcBef>
              <a:buNone/>
            </a:pPr>
            <a:r>
              <a:rPr lang="en-US" sz="1600">
                <a:latin typeface="Courier New" panose="02070309020205020404" pitchFamily="49" charset="0"/>
                <a:cs typeface="Courier New" panose="02070309020205020404" pitchFamily="49" charset="0"/>
              </a:rPr>
              <a:t># Cook's distance contours</a:t>
            </a:r>
          </a:p>
          <a:p>
            <a:pPr marL="0" indent="0">
              <a:lnSpc>
                <a:spcPct val="110000"/>
              </a:lnSpc>
              <a:spcBef>
                <a:spcPts val="0"/>
              </a:spcBef>
              <a:buNone/>
            </a:pPr>
            <a:r>
              <a:rPr lang="en-US" sz="1600">
                <a:latin typeface="Courier New" panose="02070309020205020404" pitchFamily="49" charset="0"/>
                <a:cs typeface="Courier New" panose="02070309020205020404" pitchFamily="49" charset="0"/>
              </a:rPr>
              <a:t>p = </a:t>
            </a:r>
            <a:r>
              <a:rPr lang="en-US" sz="1600" err="1">
                <a:latin typeface="Courier New" panose="02070309020205020404" pitchFamily="49" charset="0"/>
                <a:cs typeface="Courier New" panose="02070309020205020404" pitchFamily="49" charset="0"/>
              </a:rPr>
              <a:t>fit.df_model</a:t>
            </a:r>
            <a:r>
              <a:rPr lang="en-US" sz="1600">
                <a:latin typeface="Courier New" panose="02070309020205020404" pitchFamily="49" charset="0"/>
                <a:cs typeface="Courier New" panose="02070309020205020404" pitchFamily="49" charset="0"/>
              </a:rPr>
              <a:t> + 1  # number of parameters including intercept</a:t>
            </a:r>
          </a:p>
          <a:p>
            <a:pPr marL="0" indent="0">
              <a:lnSpc>
                <a:spcPct val="110000"/>
              </a:lnSpc>
              <a:spcBef>
                <a:spcPts val="0"/>
              </a:spcBef>
              <a:buNone/>
            </a:pPr>
            <a:r>
              <a:rPr lang="en-US" sz="1600" err="1">
                <a:latin typeface="Courier New" panose="02070309020205020404" pitchFamily="49" charset="0"/>
                <a:cs typeface="Courier New" panose="02070309020205020404" pitchFamily="49" charset="0"/>
              </a:rPr>
              <a:t>h_vals</a:t>
            </a:r>
            <a:r>
              <a:rPr lang="en-US" sz="1600">
                <a:latin typeface="Courier New" panose="02070309020205020404" pitchFamily="49" charset="0"/>
                <a:cs typeface="Courier New" panose="02070309020205020404" pitchFamily="49" charset="0"/>
              </a:rPr>
              <a:t> = </a:t>
            </a:r>
            <a:r>
              <a:rPr lang="en-US" sz="1600" err="1">
                <a:latin typeface="Courier New" panose="02070309020205020404" pitchFamily="49" charset="0"/>
                <a:cs typeface="Courier New" panose="02070309020205020404" pitchFamily="49" charset="0"/>
              </a:rPr>
              <a:t>np.linspace</a:t>
            </a:r>
            <a:r>
              <a:rPr lang="en-US" sz="1600">
                <a:latin typeface="Courier New" panose="02070309020205020404" pitchFamily="49" charset="0"/>
                <a:cs typeface="Courier New" panose="02070309020205020404" pitchFamily="49" charset="0"/>
              </a:rPr>
              <a:t>(0.001, max(leverage) * 1.1, 200)</a:t>
            </a:r>
          </a:p>
          <a:p>
            <a:pPr marL="0" indent="0">
              <a:lnSpc>
                <a:spcPct val="110000"/>
              </a:lnSpc>
              <a:spcBef>
                <a:spcPts val="0"/>
              </a:spcBef>
              <a:buNone/>
            </a:pPr>
            <a:r>
              <a:rPr lang="en-US" sz="1600">
                <a:latin typeface="Courier New" panose="02070309020205020404" pitchFamily="49" charset="0"/>
                <a:cs typeface="Courier New" panose="02070309020205020404" pitchFamily="49" charset="0"/>
              </a:rPr>
              <a:t>for D in [0.5, 1]:  # typical contour levels</a:t>
            </a:r>
          </a:p>
          <a:p>
            <a:pPr marL="0" indent="0">
              <a:lnSpc>
                <a:spcPct val="110000"/>
              </a:lnSpc>
              <a:spcBef>
                <a:spcPts val="0"/>
              </a:spcBef>
              <a:buNone/>
            </a:pPr>
            <a:r>
              <a:rPr lang="en-US" sz="1600">
                <a:latin typeface="Courier New" panose="02070309020205020404" pitchFamily="49" charset="0"/>
                <a:cs typeface="Courier New" panose="02070309020205020404" pitchFamily="49" charset="0"/>
              </a:rPr>
              <a:t>    </a:t>
            </a:r>
            <a:r>
              <a:rPr lang="en-US" sz="1600" err="1">
                <a:latin typeface="Courier New" panose="02070309020205020404" pitchFamily="49" charset="0"/>
                <a:cs typeface="Courier New" panose="02070309020205020404" pitchFamily="49" charset="0"/>
              </a:rPr>
              <a:t>r_vals</a:t>
            </a:r>
            <a:r>
              <a:rPr lang="en-US" sz="1600">
                <a:latin typeface="Courier New" panose="02070309020205020404" pitchFamily="49" charset="0"/>
                <a:cs typeface="Courier New" panose="02070309020205020404" pitchFamily="49" charset="0"/>
              </a:rPr>
              <a:t> = </a:t>
            </a:r>
            <a:r>
              <a:rPr lang="en-US" sz="1600" err="1">
                <a:latin typeface="Courier New" panose="02070309020205020404" pitchFamily="49" charset="0"/>
                <a:cs typeface="Courier New" panose="02070309020205020404" pitchFamily="49" charset="0"/>
              </a:rPr>
              <a:t>np.sqrt</a:t>
            </a:r>
            <a:r>
              <a:rPr lang="en-US" sz="1600">
                <a:latin typeface="Courier New" panose="02070309020205020404" pitchFamily="49" charset="0"/>
                <a:cs typeface="Courier New" panose="02070309020205020404" pitchFamily="49" charset="0"/>
              </a:rPr>
              <a:t>(D * p * (1 - </a:t>
            </a:r>
            <a:r>
              <a:rPr lang="en-US" sz="1600" err="1">
                <a:latin typeface="Courier New" panose="02070309020205020404" pitchFamily="49" charset="0"/>
                <a:cs typeface="Courier New" panose="02070309020205020404" pitchFamily="49" charset="0"/>
              </a:rPr>
              <a:t>h_vals</a:t>
            </a:r>
            <a:r>
              <a:rPr lang="en-US" sz="1600">
                <a:latin typeface="Courier New" panose="02070309020205020404" pitchFamily="49" charset="0"/>
                <a:cs typeface="Courier New" panose="02070309020205020404" pitchFamily="49" charset="0"/>
              </a:rPr>
              <a:t>)**2 / </a:t>
            </a:r>
            <a:r>
              <a:rPr lang="en-US" sz="1600" err="1">
                <a:latin typeface="Courier New" panose="02070309020205020404" pitchFamily="49" charset="0"/>
                <a:cs typeface="Courier New" panose="02070309020205020404" pitchFamily="49" charset="0"/>
              </a:rPr>
              <a:t>h_vals</a:t>
            </a:r>
            <a:r>
              <a:rPr lang="en-US" sz="1600">
                <a:latin typeface="Courier New" panose="02070309020205020404" pitchFamily="49" charset="0"/>
                <a:cs typeface="Courier New" panose="02070309020205020404" pitchFamily="49" charset="0"/>
              </a:rPr>
              <a:t>)</a:t>
            </a:r>
          </a:p>
          <a:p>
            <a:pPr marL="0" indent="0">
              <a:lnSpc>
                <a:spcPct val="110000"/>
              </a:lnSpc>
              <a:spcBef>
                <a:spcPts val="0"/>
              </a:spcBef>
              <a:buNone/>
            </a:pPr>
            <a:r>
              <a:rPr lang="en-US" sz="1600">
                <a:latin typeface="Courier New" panose="02070309020205020404" pitchFamily="49" charset="0"/>
                <a:cs typeface="Courier New" panose="02070309020205020404" pitchFamily="49" charset="0"/>
              </a:rPr>
              <a:t>    </a:t>
            </a:r>
            <a:r>
              <a:rPr lang="en-US" sz="1600" err="1">
                <a:latin typeface="Courier New" panose="02070309020205020404" pitchFamily="49" charset="0"/>
                <a:cs typeface="Courier New" panose="02070309020205020404" pitchFamily="49" charset="0"/>
              </a:rPr>
              <a:t>plt.plot</a:t>
            </a:r>
            <a:r>
              <a:rPr lang="en-US" sz="1600">
                <a:latin typeface="Courier New" panose="02070309020205020404" pitchFamily="49" charset="0"/>
                <a:cs typeface="Courier New" panose="02070309020205020404" pitchFamily="49" charset="0"/>
              </a:rPr>
              <a:t>(</a:t>
            </a:r>
            <a:r>
              <a:rPr lang="en-US" sz="1600" err="1">
                <a:latin typeface="Courier New" panose="02070309020205020404" pitchFamily="49" charset="0"/>
                <a:cs typeface="Courier New" panose="02070309020205020404" pitchFamily="49" charset="0"/>
              </a:rPr>
              <a:t>h_vals</a:t>
            </a:r>
            <a:r>
              <a:rPr lang="en-US" sz="1600">
                <a:latin typeface="Courier New" panose="02070309020205020404" pitchFamily="49" charset="0"/>
                <a:cs typeface="Courier New" panose="02070309020205020404" pitchFamily="49" charset="0"/>
              </a:rPr>
              <a:t>, </a:t>
            </a:r>
            <a:r>
              <a:rPr lang="en-US" sz="1600" err="1">
                <a:latin typeface="Courier New" panose="02070309020205020404" pitchFamily="49" charset="0"/>
                <a:cs typeface="Courier New" panose="02070309020205020404" pitchFamily="49" charset="0"/>
              </a:rPr>
              <a:t>r_vals</a:t>
            </a:r>
            <a:r>
              <a:rPr lang="en-US" sz="1600">
                <a:latin typeface="Courier New" panose="02070309020205020404" pitchFamily="49" charset="0"/>
                <a:cs typeface="Courier New" panose="02070309020205020404" pitchFamily="49" charset="0"/>
              </a:rPr>
              <a:t>, 'r--', linewidth=1)</a:t>
            </a:r>
          </a:p>
          <a:p>
            <a:pPr marL="0" indent="0">
              <a:lnSpc>
                <a:spcPct val="110000"/>
              </a:lnSpc>
              <a:spcBef>
                <a:spcPts val="0"/>
              </a:spcBef>
              <a:buNone/>
            </a:pPr>
            <a:r>
              <a:rPr lang="en-US" sz="1600">
                <a:latin typeface="Courier New" panose="02070309020205020404" pitchFamily="49" charset="0"/>
                <a:cs typeface="Courier New" panose="02070309020205020404" pitchFamily="49" charset="0"/>
              </a:rPr>
              <a:t>    </a:t>
            </a:r>
            <a:r>
              <a:rPr lang="en-US" sz="1600" err="1">
                <a:latin typeface="Courier New" panose="02070309020205020404" pitchFamily="49" charset="0"/>
                <a:cs typeface="Courier New" panose="02070309020205020404" pitchFamily="49" charset="0"/>
              </a:rPr>
              <a:t>plt.plot</a:t>
            </a:r>
            <a:r>
              <a:rPr lang="en-US" sz="1600">
                <a:latin typeface="Courier New" panose="02070309020205020404" pitchFamily="49" charset="0"/>
                <a:cs typeface="Courier New" panose="02070309020205020404" pitchFamily="49" charset="0"/>
              </a:rPr>
              <a:t>(</a:t>
            </a:r>
            <a:r>
              <a:rPr lang="en-US" sz="1600" err="1">
                <a:latin typeface="Courier New" panose="02070309020205020404" pitchFamily="49" charset="0"/>
                <a:cs typeface="Courier New" panose="02070309020205020404" pitchFamily="49" charset="0"/>
              </a:rPr>
              <a:t>h_vals</a:t>
            </a:r>
            <a:r>
              <a:rPr lang="en-US" sz="1600">
                <a:latin typeface="Courier New" panose="02070309020205020404" pitchFamily="49" charset="0"/>
                <a:cs typeface="Courier New" panose="02070309020205020404" pitchFamily="49" charset="0"/>
              </a:rPr>
              <a:t>, -</a:t>
            </a:r>
            <a:r>
              <a:rPr lang="en-US" sz="1600" err="1">
                <a:latin typeface="Courier New" panose="02070309020205020404" pitchFamily="49" charset="0"/>
                <a:cs typeface="Courier New" panose="02070309020205020404" pitchFamily="49" charset="0"/>
              </a:rPr>
              <a:t>r_vals</a:t>
            </a:r>
            <a:r>
              <a:rPr lang="en-US" sz="1600">
                <a:latin typeface="Courier New" panose="02070309020205020404" pitchFamily="49" charset="0"/>
                <a:cs typeface="Courier New" panose="02070309020205020404" pitchFamily="49" charset="0"/>
              </a:rPr>
              <a:t>, 'r--', linewidth=1)</a:t>
            </a:r>
          </a:p>
          <a:p>
            <a:pPr marL="0" indent="0">
              <a:lnSpc>
                <a:spcPct val="110000"/>
              </a:lnSpc>
              <a:spcBef>
                <a:spcPts val="0"/>
              </a:spcBef>
              <a:buNone/>
            </a:pPr>
            <a:r>
              <a:rPr lang="en-US" sz="1600">
                <a:latin typeface="Courier New" panose="02070309020205020404" pitchFamily="49" charset="0"/>
                <a:cs typeface="Courier New" panose="02070309020205020404" pitchFamily="49" charset="0"/>
              </a:rPr>
              <a:t>    </a:t>
            </a:r>
            <a:r>
              <a:rPr lang="en-US" sz="1600" err="1">
                <a:latin typeface="Courier New" panose="02070309020205020404" pitchFamily="49" charset="0"/>
                <a:cs typeface="Courier New" panose="02070309020205020404" pitchFamily="49" charset="0"/>
              </a:rPr>
              <a:t>plt.text</a:t>
            </a:r>
            <a:r>
              <a:rPr lang="en-US" sz="1600">
                <a:latin typeface="Courier New" panose="02070309020205020404" pitchFamily="49" charset="0"/>
                <a:cs typeface="Courier New" panose="02070309020205020404" pitchFamily="49" charset="0"/>
              </a:rPr>
              <a:t>(</a:t>
            </a:r>
            <a:r>
              <a:rPr lang="en-US" sz="1600" err="1">
                <a:latin typeface="Courier New" panose="02070309020205020404" pitchFamily="49" charset="0"/>
                <a:cs typeface="Courier New" panose="02070309020205020404" pitchFamily="49" charset="0"/>
              </a:rPr>
              <a:t>h_vals</a:t>
            </a:r>
            <a:r>
              <a:rPr lang="en-US" sz="1600">
                <a:latin typeface="Courier New" panose="02070309020205020404" pitchFamily="49" charset="0"/>
                <a:cs typeface="Courier New" panose="02070309020205020404" pitchFamily="49" charset="0"/>
              </a:rPr>
              <a:t>[-1], </a:t>
            </a:r>
            <a:r>
              <a:rPr lang="en-US" sz="1600" err="1">
                <a:latin typeface="Courier New" panose="02070309020205020404" pitchFamily="49" charset="0"/>
                <a:cs typeface="Courier New" panose="02070309020205020404" pitchFamily="49" charset="0"/>
              </a:rPr>
              <a:t>r_vals</a:t>
            </a:r>
            <a:r>
              <a:rPr lang="en-US" sz="1600">
                <a:latin typeface="Courier New" panose="02070309020205020404" pitchFamily="49" charset="0"/>
                <a:cs typeface="Courier New" panose="02070309020205020404" pitchFamily="49" charset="0"/>
              </a:rPr>
              <a:t>[-1], </a:t>
            </a:r>
            <a:r>
              <a:rPr lang="en-US" sz="1600" err="1">
                <a:latin typeface="Courier New" panose="02070309020205020404" pitchFamily="49" charset="0"/>
                <a:cs typeface="Courier New" panose="02070309020205020404" pitchFamily="49" charset="0"/>
              </a:rPr>
              <a:t>f"D</a:t>
            </a:r>
            <a:r>
              <a:rPr lang="en-US" sz="1600">
                <a:latin typeface="Courier New" panose="02070309020205020404" pitchFamily="49" charset="0"/>
                <a:cs typeface="Courier New" panose="02070309020205020404" pitchFamily="49" charset="0"/>
              </a:rPr>
              <a:t>={D}", color='red')</a:t>
            </a:r>
          </a:p>
          <a:p>
            <a:pPr marL="0" indent="0">
              <a:lnSpc>
                <a:spcPct val="110000"/>
              </a:lnSpc>
              <a:spcBef>
                <a:spcPts val="0"/>
              </a:spcBef>
              <a:buNone/>
            </a:pPr>
            <a:r>
              <a:rPr lang="en-US" sz="1600">
                <a:latin typeface="Courier New" panose="02070309020205020404" pitchFamily="49" charset="0"/>
                <a:cs typeface="Courier New" panose="02070309020205020404" pitchFamily="49" charset="0"/>
              </a:rPr>
              <a:t># Set the vertical axis limits to integers above the max and below the min studentized residuals</a:t>
            </a:r>
          </a:p>
          <a:p>
            <a:pPr marL="0" indent="0">
              <a:lnSpc>
                <a:spcPct val="110000"/>
              </a:lnSpc>
              <a:spcBef>
                <a:spcPts val="0"/>
              </a:spcBef>
              <a:buNone/>
            </a:pPr>
            <a:r>
              <a:rPr lang="en-US" sz="1600" err="1">
                <a:latin typeface="Courier New" panose="02070309020205020404" pitchFamily="49" charset="0"/>
                <a:cs typeface="Courier New" panose="02070309020205020404" pitchFamily="49" charset="0"/>
              </a:rPr>
              <a:t>plt.ylim</a:t>
            </a:r>
            <a:r>
              <a:rPr lang="en-US" sz="1600">
                <a:latin typeface="Courier New" panose="02070309020205020404" pitchFamily="49" charset="0"/>
                <a:cs typeface="Courier New" panose="02070309020205020404" pitchFamily="49" charset="0"/>
              </a:rPr>
              <a:t>(int(min(</a:t>
            </a:r>
            <a:r>
              <a:rPr lang="en-US" sz="1600" err="1">
                <a:latin typeface="Courier New" panose="02070309020205020404" pitchFamily="49" charset="0"/>
                <a:cs typeface="Courier New" panose="02070309020205020404" pitchFamily="49" charset="0"/>
              </a:rPr>
              <a:t>stud_resid</a:t>
            </a:r>
            <a:r>
              <a:rPr lang="en-US" sz="1600">
                <a:latin typeface="Courier New" panose="02070309020205020404" pitchFamily="49" charset="0"/>
                <a:cs typeface="Courier New" panose="02070309020205020404" pitchFamily="49" charset="0"/>
              </a:rPr>
              <a:t>)) - 1, int(max(</a:t>
            </a:r>
            <a:r>
              <a:rPr lang="en-US" sz="1600" err="1">
                <a:latin typeface="Courier New" panose="02070309020205020404" pitchFamily="49" charset="0"/>
                <a:cs typeface="Courier New" panose="02070309020205020404" pitchFamily="49" charset="0"/>
              </a:rPr>
              <a:t>stud_resid</a:t>
            </a:r>
            <a:r>
              <a:rPr lang="en-US" sz="1600">
                <a:latin typeface="Courier New" panose="02070309020205020404" pitchFamily="49" charset="0"/>
                <a:cs typeface="Courier New" panose="02070309020205020404" pitchFamily="49" charset="0"/>
              </a:rPr>
              <a:t>)) + 1)</a:t>
            </a:r>
          </a:p>
          <a:p>
            <a:pPr marL="0" indent="0">
              <a:lnSpc>
                <a:spcPct val="110000"/>
              </a:lnSpc>
              <a:spcBef>
                <a:spcPts val="0"/>
              </a:spcBef>
              <a:buNone/>
            </a:pPr>
            <a:r>
              <a:rPr lang="en-US" sz="1600" err="1">
                <a:latin typeface="Courier New" panose="02070309020205020404" pitchFamily="49" charset="0"/>
                <a:cs typeface="Courier New" panose="02070309020205020404" pitchFamily="49" charset="0"/>
              </a:rPr>
              <a:t>plt.show</a:t>
            </a:r>
            <a:r>
              <a:rPr lang="en-US" sz="1600">
                <a:latin typeface="Courier New" panose="02070309020205020404" pitchFamily="49" charset="0"/>
                <a:cs typeface="Courier New" panose="02070309020205020404" pitchFamily="49" charset="0"/>
              </a:rPr>
              <a:t>()</a:t>
            </a:r>
          </a:p>
        </p:txBody>
      </p:sp>
      <p:sp>
        <p:nvSpPr>
          <p:cNvPr id="4" name="Slide Number Placeholder 3">
            <a:extLst>
              <a:ext uri="{FF2B5EF4-FFF2-40B4-BE49-F238E27FC236}">
                <a16:creationId xmlns:a16="http://schemas.microsoft.com/office/drawing/2014/main" id="{EC971928-C392-79FD-F7B0-D92A6CAADD0E}"/>
              </a:ext>
            </a:extLst>
          </p:cNvPr>
          <p:cNvSpPr>
            <a:spLocks noGrp="1"/>
          </p:cNvSpPr>
          <p:nvPr>
            <p:ph type="sldNum" sz="quarter" idx="12"/>
          </p:nvPr>
        </p:nvSpPr>
        <p:spPr/>
        <p:txBody>
          <a:bodyPr/>
          <a:lstStyle/>
          <a:p>
            <a:fld id="{330EA680-D336-4FF7-8B7A-9848BB0A1C32}" type="slidenum">
              <a:rPr lang="en-US" smtClean="0"/>
              <a:t>32</a:t>
            </a:fld>
            <a:endParaRPr lang="en-US"/>
          </a:p>
        </p:txBody>
      </p:sp>
    </p:spTree>
    <p:extLst>
      <p:ext uri="{BB962C8B-B14F-4D97-AF65-F5344CB8AC3E}">
        <p14:creationId xmlns:p14="http://schemas.microsoft.com/office/powerpoint/2010/main" val="39183238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2796C-3B0E-D58D-9134-878281A4390A}"/>
              </a:ext>
            </a:extLst>
          </p:cNvPr>
          <p:cNvSpPr>
            <a:spLocks noGrp="1"/>
          </p:cNvSpPr>
          <p:nvPr>
            <p:ph type="title"/>
          </p:nvPr>
        </p:nvSpPr>
        <p:spPr/>
        <p:txBody>
          <a:bodyPr/>
          <a:lstStyle/>
          <a:p>
            <a:r>
              <a:rPr lang="en-US"/>
              <a:t>(Studentized) Residuals vs Leverage</a:t>
            </a:r>
          </a:p>
        </p:txBody>
      </p:sp>
      <p:sp>
        <p:nvSpPr>
          <p:cNvPr id="3" name="Content Placeholder 2">
            <a:extLst>
              <a:ext uri="{FF2B5EF4-FFF2-40B4-BE49-F238E27FC236}">
                <a16:creationId xmlns:a16="http://schemas.microsoft.com/office/drawing/2014/main" id="{5B4EB39E-C3C6-4367-9B48-EF3C50633F2A}"/>
              </a:ext>
            </a:extLst>
          </p:cNvPr>
          <p:cNvSpPr>
            <a:spLocks noGrp="1"/>
          </p:cNvSpPr>
          <p:nvPr>
            <p:ph idx="1"/>
          </p:nvPr>
        </p:nvSpPr>
        <p:spPr/>
        <p:txBody>
          <a:bodyPr/>
          <a:lstStyle/>
          <a:p>
            <a:pPr marL="0" indent="0">
              <a:buNone/>
            </a:pPr>
            <a:r>
              <a:rPr lang="en-US"/>
              <a:t>Python Version</a:t>
            </a:r>
          </a:p>
        </p:txBody>
      </p:sp>
      <p:sp>
        <p:nvSpPr>
          <p:cNvPr id="4" name="Slide Number Placeholder 3">
            <a:extLst>
              <a:ext uri="{FF2B5EF4-FFF2-40B4-BE49-F238E27FC236}">
                <a16:creationId xmlns:a16="http://schemas.microsoft.com/office/drawing/2014/main" id="{A39706E2-3E64-7B7A-F1CA-569322E291E9}"/>
              </a:ext>
            </a:extLst>
          </p:cNvPr>
          <p:cNvSpPr>
            <a:spLocks noGrp="1"/>
          </p:cNvSpPr>
          <p:nvPr>
            <p:ph type="sldNum" sz="quarter" idx="12"/>
          </p:nvPr>
        </p:nvSpPr>
        <p:spPr/>
        <p:txBody>
          <a:bodyPr/>
          <a:lstStyle/>
          <a:p>
            <a:fld id="{330EA680-D336-4FF7-8B7A-9848BB0A1C32}" type="slidenum">
              <a:rPr lang="en-US" smtClean="0"/>
              <a:t>33</a:t>
            </a:fld>
            <a:endParaRPr lang="en-US"/>
          </a:p>
        </p:txBody>
      </p:sp>
      <p:pic>
        <p:nvPicPr>
          <p:cNvPr id="6" name="Picture 5">
            <a:extLst>
              <a:ext uri="{FF2B5EF4-FFF2-40B4-BE49-F238E27FC236}">
                <a16:creationId xmlns:a16="http://schemas.microsoft.com/office/drawing/2014/main" id="{AF3798B7-6136-D13A-BFF6-5B4E12EBB31A}"/>
              </a:ext>
            </a:extLst>
          </p:cNvPr>
          <p:cNvPicPr>
            <a:picLocks noChangeAspect="1"/>
          </p:cNvPicPr>
          <p:nvPr/>
        </p:nvPicPr>
        <p:blipFill>
          <a:blip r:embed="rId2"/>
          <a:stretch>
            <a:fillRect/>
          </a:stretch>
        </p:blipFill>
        <p:spPr>
          <a:xfrm>
            <a:off x="5926667" y="1546331"/>
            <a:ext cx="6179147" cy="4720326"/>
          </a:xfrm>
          <a:prstGeom prst="rect">
            <a:avLst/>
          </a:prstGeom>
        </p:spPr>
      </p:pic>
    </p:spTree>
    <p:extLst>
      <p:ext uri="{BB962C8B-B14F-4D97-AF65-F5344CB8AC3E}">
        <p14:creationId xmlns:p14="http://schemas.microsoft.com/office/powerpoint/2010/main" val="27654059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AB795-B269-95DB-FCB7-D3DE8C820964}"/>
              </a:ext>
            </a:extLst>
          </p:cNvPr>
          <p:cNvSpPr>
            <a:spLocks noGrp="1"/>
          </p:cNvSpPr>
          <p:nvPr>
            <p:ph type="title"/>
          </p:nvPr>
        </p:nvSpPr>
        <p:spPr/>
        <p:txBody>
          <a:bodyPr/>
          <a:lstStyle/>
          <a:p>
            <a:r>
              <a:rPr lang="en-US"/>
              <a:t>What about R’s Plot #4?</a:t>
            </a:r>
          </a:p>
        </p:txBody>
      </p:sp>
      <p:sp>
        <p:nvSpPr>
          <p:cNvPr id="3" name="Content Placeholder 2">
            <a:extLst>
              <a:ext uri="{FF2B5EF4-FFF2-40B4-BE49-F238E27FC236}">
                <a16:creationId xmlns:a16="http://schemas.microsoft.com/office/drawing/2014/main" id="{5BCC2E2F-5349-C10E-D7CD-1DADA8BBE0E8}"/>
              </a:ext>
            </a:extLst>
          </p:cNvPr>
          <p:cNvSpPr>
            <a:spLocks noGrp="1"/>
          </p:cNvSpPr>
          <p:nvPr>
            <p:ph idx="1"/>
          </p:nvPr>
        </p:nvSpPr>
        <p:spPr>
          <a:xfrm>
            <a:off x="838200" y="1825625"/>
            <a:ext cx="5257800" cy="4351338"/>
          </a:xfrm>
        </p:spPr>
        <p:txBody>
          <a:bodyPr/>
          <a:lstStyle/>
          <a:p>
            <a:pPr marL="0" indent="0">
              <a:buNone/>
            </a:pPr>
            <a:r>
              <a:rPr lang="en-US">
                <a:latin typeface="Courier New" panose="02070309020205020404" pitchFamily="49" charset="0"/>
                <a:cs typeface="Courier New" panose="02070309020205020404" pitchFamily="49" charset="0"/>
              </a:rPr>
              <a:t>plot(fit, which = 4)</a:t>
            </a:r>
          </a:p>
          <a:p>
            <a:pPr marL="0" indent="0">
              <a:buNone/>
            </a:pPr>
            <a:endParaRPr lang="en-US">
              <a:latin typeface="Courier New" panose="02070309020205020404" pitchFamily="49" charset="0"/>
              <a:cs typeface="Courier New" panose="02070309020205020404" pitchFamily="49" charset="0"/>
            </a:endParaRPr>
          </a:p>
          <a:p>
            <a:pPr marL="0" indent="0">
              <a:buNone/>
            </a:pPr>
            <a:r>
              <a:rPr lang="en-US">
                <a:cs typeface="Courier New" panose="02070309020205020404" pitchFamily="49" charset="0"/>
              </a:rPr>
              <a:t>Not used as often because it’s combined in Plot #5.</a:t>
            </a:r>
            <a:endParaRPr lang="en-US"/>
          </a:p>
        </p:txBody>
      </p:sp>
      <p:sp>
        <p:nvSpPr>
          <p:cNvPr id="4" name="Slide Number Placeholder 3">
            <a:extLst>
              <a:ext uri="{FF2B5EF4-FFF2-40B4-BE49-F238E27FC236}">
                <a16:creationId xmlns:a16="http://schemas.microsoft.com/office/drawing/2014/main" id="{02BF6E9D-E339-F845-0B36-5497214375B5}"/>
              </a:ext>
            </a:extLst>
          </p:cNvPr>
          <p:cNvSpPr>
            <a:spLocks noGrp="1"/>
          </p:cNvSpPr>
          <p:nvPr>
            <p:ph type="sldNum" sz="quarter" idx="12"/>
          </p:nvPr>
        </p:nvSpPr>
        <p:spPr/>
        <p:txBody>
          <a:bodyPr/>
          <a:lstStyle/>
          <a:p>
            <a:fld id="{330EA680-D336-4FF7-8B7A-9848BB0A1C32}" type="slidenum">
              <a:rPr lang="en-US" smtClean="0"/>
              <a:t>34</a:t>
            </a:fld>
            <a:endParaRPr lang="en-US"/>
          </a:p>
        </p:txBody>
      </p:sp>
      <p:pic>
        <p:nvPicPr>
          <p:cNvPr id="6" name="Picture 5">
            <a:extLst>
              <a:ext uri="{FF2B5EF4-FFF2-40B4-BE49-F238E27FC236}">
                <a16:creationId xmlns:a16="http://schemas.microsoft.com/office/drawing/2014/main" id="{CB39F223-560A-1BEA-5E1F-02941A40B815}"/>
              </a:ext>
            </a:extLst>
          </p:cNvPr>
          <p:cNvPicPr>
            <a:picLocks noChangeAspect="1"/>
          </p:cNvPicPr>
          <p:nvPr/>
        </p:nvPicPr>
        <p:blipFill>
          <a:blip r:embed="rId2"/>
          <a:stretch>
            <a:fillRect/>
          </a:stretch>
        </p:blipFill>
        <p:spPr>
          <a:xfrm>
            <a:off x="6803922" y="1469922"/>
            <a:ext cx="5388077" cy="5388077"/>
          </a:xfrm>
          <a:prstGeom prst="rect">
            <a:avLst/>
          </a:prstGeom>
        </p:spPr>
      </p:pic>
    </p:spTree>
    <p:extLst>
      <p:ext uri="{BB962C8B-B14F-4D97-AF65-F5344CB8AC3E}">
        <p14:creationId xmlns:p14="http://schemas.microsoft.com/office/powerpoint/2010/main" val="7216322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A3C53-158E-8E7F-F2D2-F060F16D505E}"/>
              </a:ext>
            </a:extLst>
          </p:cNvPr>
          <p:cNvSpPr>
            <a:spLocks noGrp="1"/>
          </p:cNvSpPr>
          <p:nvPr>
            <p:ph type="title"/>
          </p:nvPr>
        </p:nvSpPr>
        <p:spPr/>
        <p:txBody>
          <a:bodyPr/>
          <a:lstStyle/>
          <a:p>
            <a:r>
              <a:rPr lang="en-US"/>
              <a:t>Python Woes</a:t>
            </a:r>
          </a:p>
        </p:txBody>
      </p:sp>
      <p:sp>
        <p:nvSpPr>
          <p:cNvPr id="3" name="Content Placeholder 2">
            <a:extLst>
              <a:ext uri="{FF2B5EF4-FFF2-40B4-BE49-F238E27FC236}">
                <a16:creationId xmlns:a16="http://schemas.microsoft.com/office/drawing/2014/main" id="{7B215C4B-F529-B77C-A4DA-5950D82572F7}"/>
              </a:ext>
            </a:extLst>
          </p:cNvPr>
          <p:cNvSpPr>
            <a:spLocks noGrp="1"/>
          </p:cNvSpPr>
          <p:nvPr>
            <p:ph idx="1"/>
          </p:nvPr>
        </p:nvSpPr>
        <p:spPr/>
        <p:txBody>
          <a:bodyPr/>
          <a:lstStyle/>
          <a:p>
            <a:r>
              <a:rPr lang="en-US"/>
              <a:t>R was built as a statistical analysis software package</a:t>
            </a:r>
          </a:p>
          <a:p>
            <a:r>
              <a:rPr lang="en-US"/>
              <a:t>Python is an object oriented programming language</a:t>
            </a:r>
          </a:p>
          <a:p>
            <a:pPr lvl="1"/>
            <a:r>
              <a:rPr lang="en-US"/>
              <a:t>While powerful, needs packages and boilerplate code to get things done</a:t>
            </a:r>
          </a:p>
          <a:p>
            <a:pPr lvl="1"/>
            <a:r>
              <a:rPr lang="en-US"/>
              <a:t>It is possible to write a function in Python to replicate the R plots, and to output either</a:t>
            </a:r>
          </a:p>
          <a:p>
            <a:pPr marL="1371600" lvl="2" indent="-457200">
              <a:buFont typeface="+mj-lt"/>
              <a:buAutoNum type="arabicPeriod"/>
            </a:pPr>
            <a:r>
              <a:rPr lang="en-US"/>
              <a:t>All four at once, or</a:t>
            </a:r>
          </a:p>
          <a:p>
            <a:pPr marL="1371600" lvl="2" indent="-457200">
              <a:buFont typeface="+mj-lt"/>
              <a:buAutoNum type="arabicPeriod"/>
            </a:pPr>
            <a:r>
              <a:rPr lang="en-US"/>
              <a:t>Calling each one specifically.</a:t>
            </a:r>
          </a:p>
        </p:txBody>
      </p:sp>
      <p:sp>
        <p:nvSpPr>
          <p:cNvPr id="4" name="Slide Number Placeholder 3">
            <a:extLst>
              <a:ext uri="{FF2B5EF4-FFF2-40B4-BE49-F238E27FC236}">
                <a16:creationId xmlns:a16="http://schemas.microsoft.com/office/drawing/2014/main" id="{E640BF76-8151-621B-9855-0E76E56FF354}"/>
              </a:ext>
            </a:extLst>
          </p:cNvPr>
          <p:cNvSpPr>
            <a:spLocks noGrp="1"/>
          </p:cNvSpPr>
          <p:nvPr>
            <p:ph type="sldNum" sz="quarter" idx="12"/>
          </p:nvPr>
        </p:nvSpPr>
        <p:spPr/>
        <p:txBody>
          <a:bodyPr/>
          <a:lstStyle/>
          <a:p>
            <a:fld id="{330EA680-D336-4FF7-8B7A-9848BB0A1C32}" type="slidenum">
              <a:rPr lang="en-US" smtClean="0"/>
              <a:t>36</a:t>
            </a:fld>
            <a:endParaRPr lang="en-US"/>
          </a:p>
        </p:txBody>
      </p:sp>
    </p:spTree>
    <p:extLst>
      <p:ext uri="{BB962C8B-B14F-4D97-AF65-F5344CB8AC3E}">
        <p14:creationId xmlns:p14="http://schemas.microsoft.com/office/powerpoint/2010/main" val="34668547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3D73E-0A32-743A-9CFF-0FDDCE97A537}"/>
              </a:ext>
            </a:extLst>
          </p:cNvPr>
          <p:cNvSpPr>
            <a:spLocks noGrp="1"/>
          </p:cNvSpPr>
          <p:nvPr>
            <p:ph type="title"/>
          </p:nvPr>
        </p:nvSpPr>
        <p:spPr/>
        <p:txBody>
          <a:bodyPr/>
          <a:lstStyle/>
          <a:p>
            <a:r>
              <a:rPr lang="en-US"/>
              <a:t>Checking Residuals against Predictors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9EBEA5B-C776-4F1A-3197-91CF8BD6DA6A}"/>
                  </a:ext>
                </a:extLst>
              </p:cNvPr>
              <p:cNvSpPr>
                <a:spLocks noGrp="1"/>
              </p:cNvSpPr>
              <p:nvPr>
                <p:ph idx="1"/>
              </p:nvPr>
            </p:nvSpPr>
            <p:spPr>
              <a:xfrm>
                <a:off x="838200" y="1825625"/>
                <a:ext cx="6330193" cy="4351338"/>
              </a:xfrm>
            </p:spPr>
            <p:txBody>
              <a:bodyPr>
                <a:normAutofit/>
              </a:bodyPr>
              <a:lstStyle/>
              <a:p>
                <a:r>
                  <a:rPr lang="en-US" sz="2400"/>
                  <a:t>As seen on an earlier slide, plotting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𝑒</m:t>
                        </m:r>
                      </m:e>
                      <m:sub>
                        <m:r>
                          <a:rPr lang="en-US" sz="2400" b="0" i="1" smtClean="0">
                            <a:latin typeface="Cambria Math" panose="02040503050406030204" pitchFamily="18" charset="0"/>
                          </a:rPr>
                          <m:t>𝑖</m:t>
                        </m:r>
                      </m:sub>
                    </m:sSub>
                  </m:oMath>
                </a14:m>
                <a:r>
                  <a:rPr lang="en-US" sz="2400"/>
                  <a:t> vs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𝑖</m:t>
                        </m:r>
                      </m:sub>
                    </m:sSub>
                  </m:oMath>
                </a14:m>
                <a:r>
                  <a:rPr lang="en-US" sz="2400"/>
                  <a:t> is useful for identifying which predictors can be refined/transformed. </a:t>
                </a:r>
              </a:p>
              <a:p>
                <a:r>
                  <a:rPr lang="en-US" sz="2400"/>
                  <a:t>In R, use the </a:t>
                </a:r>
                <a:r>
                  <a:rPr lang="en-US" sz="2400" err="1">
                    <a:latin typeface="Courier New" panose="02070309020205020404" pitchFamily="49" charset="0"/>
                    <a:cs typeface="Courier New" panose="02070309020205020404" pitchFamily="49" charset="0"/>
                  </a:rPr>
                  <a:t>termplot</a:t>
                </a:r>
                <a:r>
                  <a:rPr lang="en-US" sz="2400"/>
                  <a:t> command.  This creates a residual plot against each of the predictors we selected for the model.</a:t>
                </a:r>
              </a:p>
              <a:p>
                <a:r>
                  <a:rPr lang="en-US" sz="2400"/>
                  <a:t>Adding “</a:t>
                </a:r>
                <a:r>
                  <a:rPr lang="en-US" sz="2400" err="1">
                    <a:latin typeface="Courier New" panose="02070309020205020404" pitchFamily="49" charset="0"/>
                    <a:cs typeface="Courier New" panose="02070309020205020404" pitchFamily="49" charset="0"/>
                  </a:rPr>
                  <a:t>partial.resid</a:t>
                </a:r>
                <a:r>
                  <a:rPr lang="en-US" sz="2400">
                    <a:latin typeface="Courier New" panose="02070309020205020404" pitchFamily="49" charset="0"/>
                    <a:cs typeface="Courier New" panose="02070309020205020404" pitchFamily="49" charset="0"/>
                  </a:rPr>
                  <a:t> = TRUE</a:t>
                </a:r>
                <a:r>
                  <a:rPr lang="en-US" sz="2400"/>
                  <a:t>” includes the residuals so the plot doesn’t appear naked.</a:t>
                </a:r>
              </a:p>
              <a:p>
                <a:endParaRPr lang="en-US" sz="2400"/>
              </a:p>
              <a:p>
                <a:pPr marL="0" indent="0">
                  <a:buNone/>
                </a:pPr>
                <a:r>
                  <a:rPr lang="en-US" sz="2000">
                    <a:latin typeface="Courier New" panose="02070309020205020404" pitchFamily="49" charset="0"/>
                    <a:cs typeface="Courier New" panose="02070309020205020404" pitchFamily="49" charset="0"/>
                  </a:rPr>
                  <a:t>   </a:t>
                </a:r>
                <a:r>
                  <a:rPr lang="en-US" sz="2000" err="1">
                    <a:latin typeface="Courier New" panose="02070309020205020404" pitchFamily="49" charset="0"/>
                    <a:cs typeface="Courier New" panose="02070309020205020404" pitchFamily="49" charset="0"/>
                  </a:rPr>
                  <a:t>termplot</a:t>
                </a:r>
                <a:r>
                  <a:rPr lang="en-US" sz="2000">
                    <a:latin typeface="Courier New" panose="02070309020205020404" pitchFamily="49" charset="0"/>
                    <a:cs typeface="Courier New" panose="02070309020205020404" pitchFamily="49" charset="0"/>
                  </a:rPr>
                  <a:t>(fit, </a:t>
                </a:r>
                <a:r>
                  <a:rPr lang="en-US" sz="2000" err="1">
                    <a:latin typeface="Courier New" panose="02070309020205020404" pitchFamily="49" charset="0"/>
                    <a:cs typeface="Courier New" panose="02070309020205020404" pitchFamily="49" charset="0"/>
                  </a:rPr>
                  <a:t>partial.resid</a:t>
                </a:r>
                <a:r>
                  <a:rPr lang="en-US" sz="2000">
                    <a:latin typeface="Courier New" panose="02070309020205020404" pitchFamily="49" charset="0"/>
                    <a:cs typeface="Courier New" panose="02070309020205020404" pitchFamily="49" charset="0"/>
                  </a:rPr>
                  <a:t> = TRUE)</a:t>
                </a:r>
              </a:p>
            </p:txBody>
          </p:sp>
        </mc:Choice>
        <mc:Fallback>
          <p:sp>
            <p:nvSpPr>
              <p:cNvPr id="3" name="Content Placeholder 2">
                <a:extLst>
                  <a:ext uri="{FF2B5EF4-FFF2-40B4-BE49-F238E27FC236}">
                    <a16:creationId xmlns:a16="http://schemas.microsoft.com/office/drawing/2014/main" id="{B9EBEA5B-C776-4F1A-3197-91CF8BD6DA6A}"/>
                  </a:ext>
                </a:extLst>
              </p:cNvPr>
              <p:cNvSpPr>
                <a:spLocks noGrp="1" noRot="1" noChangeAspect="1" noMove="1" noResize="1" noEditPoints="1" noAdjustHandles="1" noChangeArrowheads="1" noChangeShapeType="1" noTextEdit="1"/>
              </p:cNvSpPr>
              <p:nvPr>
                <p:ph idx="1"/>
              </p:nvPr>
            </p:nvSpPr>
            <p:spPr>
              <a:xfrm>
                <a:off x="838200" y="1825625"/>
                <a:ext cx="6330193" cy="4351338"/>
              </a:xfrm>
              <a:blipFill>
                <a:blip r:embed="rId2"/>
                <a:stretch>
                  <a:fillRect l="-1403" t="-2035" r="-1804"/>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5FA3B6C1-69B9-60FA-6B23-721BD92005D4}"/>
              </a:ext>
            </a:extLst>
          </p:cNvPr>
          <p:cNvSpPr>
            <a:spLocks noGrp="1"/>
          </p:cNvSpPr>
          <p:nvPr>
            <p:ph type="sldNum" sz="quarter" idx="12"/>
          </p:nvPr>
        </p:nvSpPr>
        <p:spPr/>
        <p:txBody>
          <a:bodyPr/>
          <a:lstStyle/>
          <a:p>
            <a:fld id="{330EA680-D336-4FF7-8B7A-9848BB0A1C32}" type="slidenum">
              <a:rPr lang="en-US" smtClean="0"/>
              <a:t>38</a:t>
            </a:fld>
            <a:endParaRPr lang="en-US"/>
          </a:p>
        </p:txBody>
      </p:sp>
      <p:pic>
        <p:nvPicPr>
          <p:cNvPr id="7" name="Picture 6">
            <a:extLst>
              <a:ext uri="{FF2B5EF4-FFF2-40B4-BE49-F238E27FC236}">
                <a16:creationId xmlns:a16="http://schemas.microsoft.com/office/drawing/2014/main" id="{30035FC7-AE8D-283A-6C46-5DFB9ACEAECB}"/>
              </a:ext>
            </a:extLst>
          </p:cNvPr>
          <p:cNvPicPr>
            <a:picLocks noChangeAspect="1"/>
          </p:cNvPicPr>
          <p:nvPr/>
        </p:nvPicPr>
        <p:blipFill>
          <a:blip r:embed="rId3"/>
          <a:stretch>
            <a:fillRect/>
          </a:stretch>
        </p:blipFill>
        <p:spPr>
          <a:xfrm>
            <a:off x="7331978" y="1496328"/>
            <a:ext cx="4860022" cy="4860022"/>
          </a:xfrm>
          <a:prstGeom prst="rect">
            <a:avLst/>
          </a:prstGeom>
        </p:spPr>
      </p:pic>
    </p:spTree>
    <p:extLst>
      <p:ext uri="{BB962C8B-B14F-4D97-AF65-F5344CB8AC3E}">
        <p14:creationId xmlns:p14="http://schemas.microsoft.com/office/powerpoint/2010/main" val="16396168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4F748-0B78-1BA2-ADA4-D231AD4CF7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B87DD5-BB1D-49A4-995C-A8685F9C706F}"/>
              </a:ext>
            </a:extLst>
          </p:cNvPr>
          <p:cNvSpPr>
            <a:spLocks noGrp="1"/>
          </p:cNvSpPr>
          <p:nvPr>
            <p:ph type="title"/>
          </p:nvPr>
        </p:nvSpPr>
        <p:spPr/>
        <p:txBody>
          <a:bodyPr/>
          <a:lstStyle/>
          <a:p>
            <a:r>
              <a:rPr lang="en-US"/>
              <a:t>Checking Residuals against Predictors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D39E5D8-AE91-02CA-45DA-76CF690ED216}"/>
                  </a:ext>
                </a:extLst>
              </p:cNvPr>
              <p:cNvSpPr>
                <a:spLocks noGrp="1"/>
              </p:cNvSpPr>
              <p:nvPr>
                <p:ph idx="1"/>
              </p:nvPr>
            </p:nvSpPr>
            <p:spPr>
              <a:xfrm>
                <a:off x="838200" y="1825625"/>
                <a:ext cx="6330193" cy="4351338"/>
              </a:xfrm>
            </p:spPr>
            <p:txBody>
              <a:bodyPr>
                <a:normAutofit/>
              </a:bodyPr>
              <a:lstStyle/>
              <a:p>
                <a:r>
                  <a:rPr lang="en-US" sz="2400"/>
                  <a:t>In Python, we can utilize</a:t>
                </a:r>
                <a:r>
                  <a:rPr lang="en-US" sz="2400">
                    <a:latin typeface="Courier New" panose="02070309020205020404" pitchFamily="49" charset="0"/>
                    <a:cs typeface="Courier New" panose="02070309020205020404" pitchFamily="49" charset="0"/>
                  </a:rPr>
                  <a:t> </a:t>
                </a:r>
                <a:r>
                  <a:rPr lang="en-US" sz="2400" err="1">
                    <a:latin typeface="Courier New" panose="02070309020205020404" pitchFamily="49" charset="0"/>
                    <a:cs typeface="Courier New" panose="02070309020205020404" pitchFamily="49" charset="0"/>
                  </a:rPr>
                  <a:t>statsmodels</a:t>
                </a:r>
                <a:r>
                  <a:rPr lang="en-US" sz="2400"/>
                  <a:t> functionality:</a:t>
                </a:r>
              </a:p>
              <a:p>
                <a:endParaRPr lang="en-US" sz="2400">
                  <a:latin typeface="Courier New" panose="02070309020205020404" pitchFamily="49" charset="0"/>
                  <a:cs typeface="Courier New" panose="02070309020205020404" pitchFamily="49" charset="0"/>
                </a:endParaRPr>
              </a:p>
              <a:p>
                <a:pPr marL="0" indent="0">
                  <a:buNone/>
                </a:pPr>
                <a:r>
                  <a:rPr lang="en-US" sz="1800">
                    <a:latin typeface="Courier New" panose="02070309020205020404" pitchFamily="49" charset="0"/>
                    <a:cs typeface="Courier New" panose="02070309020205020404" pitchFamily="49" charset="0"/>
                  </a:rPr>
                  <a:t>   import </a:t>
                </a:r>
                <a:r>
                  <a:rPr lang="en-US" sz="1800" err="1">
                    <a:latin typeface="Courier New" panose="02070309020205020404" pitchFamily="49" charset="0"/>
                    <a:cs typeface="Courier New" panose="02070309020205020404" pitchFamily="49" charset="0"/>
                  </a:rPr>
                  <a:t>statsmodels.api</a:t>
                </a:r>
                <a:r>
                  <a:rPr lang="en-US" sz="1800">
                    <a:latin typeface="Courier New" panose="02070309020205020404" pitchFamily="49" charset="0"/>
                    <a:cs typeface="Courier New" panose="02070309020205020404" pitchFamily="49" charset="0"/>
                  </a:rPr>
                  <a:t> as </a:t>
                </a:r>
                <a:r>
                  <a:rPr lang="en-US" sz="1800" err="1">
                    <a:latin typeface="Courier New" panose="02070309020205020404" pitchFamily="49" charset="0"/>
                    <a:cs typeface="Courier New" panose="02070309020205020404" pitchFamily="49" charset="0"/>
                  </a:rPr>
                  <a:t>sm</a:t>
                </a:r>
                <a:endParaRPr lang="en-US" sz="1800">
                  <a:latin typeface="Courier New" panose="02070309020205020404" pitchFamily="49" charset="0"/>
                  <a:cs typeface="Courier New" panose="02070309020205020404" pitchFamily="49" charset="0"/>
                </a:endParaRPr>
              </a:p>
              <a:p>
                <a:pPr marL="0" indent="0">
                  <a:buNone/>
                </a:pPr>
                <a:r>
                  <a:rPr lang="en-US" sz="1800">
                    <a:latin typeface="Courier New" panose="02070309020205020404" pitchFamily="49" charset="0"/>
                    <a:cs typeface="Courier New" panose="02070309020205020404" pitchFamily="49" charset="0"/>
                  </a:rPr>
                  <a:t>   import </a:t>
                </a:r>
                <a:r>
                  <a:rPr lang="en-US" sz="1800" err="1">
                    <a:latin typeface="Courier New" panose="02070309020205020404" pitchFamily="49" charset="0"/>
                    <a:cs typeface="Courier New" panose="02070309020205020404" pitchFamily="49" charset="0"/>
                  </a:rPr>
                  <a:t>statsmodels.graphics.api</a:t>
                </a:r>
                <a:r>
                  <a:rPr lang="en-US" sz="1800">
                    <a:latin typeface="Courier New" panose="02070309020205020404" pitchFamily="49" charset="0"/>
                    <a:cs typeface="Courier New" panose="02070309020205020404" pitchFamily="49" charset="0"/>
                  </a:rPr>
                  <a:t> as </a:t>
                </a:r>
                <a:r>
                  <a:rPr lang="en-US" sz="1800" err="1">
                    <a:latin typeface="Courier New" panose="02070309020205020404" pitchFamily="49" charset="0"/>
                    <a:cs typeface="Courier New" panose="02070309020205020404" pitchFamily="49" charset="0"/>
                  </a:rPr>
                  <a:t>smg</a:t>
                </a:r>
                <a:endParaRPr lang="en-US" sz="1800">
                  <a:latin typeface="Courier New" panose="02070309020205020404" pitchFamily="49" charset="0"/>
                  <a:cs typeface="Courier New" panose="02070309020205020404" pitchFamily="49" charset="0"/>
                </a:endParaRPr>
              </a:p>
              <a:p>
                <a:pPr marL="0" indent="0">
                  <a:buNone/>
                </a:pPr>
                <a:endParaRPr lang="en-US" sz="1800">
                  <a:latin typeface="Courier New" panose="02070309020205020404" pitchFamily="49" charset="0"/>
                  <a:cs typeface="Courier New" panose="02070309020205020404" pitchFamily="49" charset="0"/>
                </a:endParaRPr>
              </a:p>
              <a:p>
                <a:pPr marL="0" indent="0">
                  <a:buNone/>
                </a:pPr>
                <a:r>
                  <a:rPr lang="en-US" sz="1800">
                    <a:latin typeface="Courier New" panose="02070309020205020404" pitchFamily="49" charset="0"/>
                    <a:cs typeface="Courier New" panose="02070309020205020404" pitchFamily="49" charset="0"/>
                  </a:rPr>
                  <a:t>   fig = </a:t>
                </a:r>
                <a:r>
                  <a:rPr lang="en-US" sz="1800" err="1">
                    <a:latin typeface="Courier New" panose="02070309020205020404" pitchFamily="49" charset="0"/>
                    <a:cs typeface="Courier New" panose="02070309020205020404" pitchFamily="49" charset="0"/>
                  </a:rPr>
                  <a:t>smg.plot_partregress_grid</a:t>
                </a:r>
                <a:r>
                  <a:rPr lang="en-US" sz="1800">
                    <a:latin typeface="Courier New" panose="02070309020205020404" pitchFamily="49" charset="0"/>
                    <a:cs typeface="Courier New" panose="02070309020205020404" pitchFamily="49" charset="0"/>
                  </a:rPr>
                  <a:t>(fit)</a:t>
                </a:r>
              </a:p>
              <a:p>
                <a:pPr marL="0" indent="0">
                  <a:buNone/>
                </a:pPr>
                <a:endParaRPr lang="en-US" sz="2000">
                  <a:latin typeface="Courier New" panose="02070309020205020404" pitchFamily="49" charset="0"/>
                  <a:cs typeface="Courier New" panose="02070309020205020404" pitchFamily="49" charset="0"/>
                </a:endParaRPr>
              </a:p>
              <a:p>
                <a:r>
                  <a:rPr lang="en-US" sz="2000">
                    <a:cs typeface="Courier New" panose="02070309020205020404" pitchFamily="49" charset="0"/>
                  </a:rPr>
                  <a:t>Notice that this adds a residual vs </a:t>
                </a:r>
                <a14:m>
                  <m:oMath xmlns:m="http://schemas.openxmlformats.org/officeDocument/2006/math">
                    <m:sSub>
                      <m:sSubPr>
                        <m:ctrlPr>
                          <a:rPr lang="en-US" sz="2000" b="0" i="1" smtClean="0">
                            <a:latin typeface="Cambria Math" panose="02040503050406030204" pitchFamily="18" charset="0"/>
                            <a:cs typeface="Courier New" panose="02070309020205020404" pitchFamily="49" charset="0"/>
                          </a:rPr>
                        </m:ctrlPr>
                      </m:sSubPr>
                      <m:e>
                        <m:acc>
                          <m:accPr>
                            <m:chr m:val="̂"/>
                            <m:ctrlPr>
                              <a:rPr lang="en-US" sz="2000" b="0" i="1" smtClean="0">
                                <a:latin typeface="Cambria Math" panose="02040503050406030204" pitchFamily="18" charset="0"/>
                                <a:cs typeface="Courier New" panose="02070309020205020404" pitchFamily="49" charset="0"/>
                              </a:rPr>
                            </m:ctrlPr>
                          </m:accPr>
                          <m:e>
                            <m:r>
                              <a:rPr lang="en-US" sz="2000" b="0" i="1" smtClean="0">
                                <a:latin typeface="Cambria Math" panose="02040503050406030204" pitchFamily="18" charset="0"/>
                                <a:cs typeface="Courier New" panose="02070309020205020404" pitchFamily="49" charset="0"/>
                              </a:rPr>
                              <m:t>𝛽</m:t>
                            </m:r>
                          </m:e>
                        </m:acc>
                      </m:e>
                      <m:sub>
                        <m:r>
                          <a:rPr lang="en-US" sz="2000" b="0" i="1" smtClean="0">
                            <a:latin typeface="Cambria Math" panose="02040503050406030204" pitchFamily="18" charset="0"/>
                            <a:cs typeface="Courier New" panose="02070309020205020404" pitchFamily="49" charset="0"/>
                          </a:rPr>
                          <m:t>0</m:t>
                        </m:r>
                      </m:sub>
                    </m:sSub>
                  </m:oMath>
                </a14:m>
                <a:r>
                  <a:rPr lang="en-US" sz="1800">
                    <a:cs typeface="Courier New" panose="02070309020205020404" pitchFamily="49" charset="0"/>
                  </a:rPr>
                  <a:t> plot as well.</a:t>
                </a:r>
              </a:p>
            </p:txBody>
          </p:sp>
        </mc:Choice>
        <mc:Fallback>
          <p:sp>
            <p:nvSpPr>
              <p:cNvPr id="3" name="Content Placeholder 2">
                <a:extLst>
                  <a:ext uri="{FF2B5EF4-FFF2-40B4-BE49-F238E27FC236}">
                    <a16:creationId xmlns:a16="http://schemas.microsoft.com/office/drawing/2014/main" id="{9D39E5D8-AE91-02CA-45DA-76CF690ED216}"/>
                  </a:ext>
                </a:extLst>
              </p:cNvPr>
              <p:cNvSpPr>
                <a:spLocks noGrp="1" noRot="1" noChangeAspect="1" noMove="1" noResize="1" noEditPoints="1" noAdjustHandles="1" noChangeArrowheads="1" noChangeShapeType="1" noTextEdit="1"/>
              </p:cNvSpPr>
              <p:nvPr>
                <p:ph idx="1"/>
              </p:nvPr>
            </p:nvSpPr>
            <p:spPr>
              <a:xfrm>
                <a:off x="838200" y="1825625"/>
                <a:ext cx="6330193" cy="4351338"/>
              </a:xfrm>
              <a:blipFill>
                <a:blip r:embed="rId2"/>
                <a:stretch>
                  <a:fillRect l="-1403" t="-2035"/>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D4B20989-773B-6259-2ED6-89B3894DC597}"/>
              </a:ext>
            </a:extLst>
          </p:cNvPr>
          <p:cNvSpPr>
            <a:spLocks noGrp="1"/>
          </p:cNvSpPr>
          <p:nvPr>
            <p:ph type="sldNum" sz="quarter" idx="12"/>
          </p:nvPr>
        </p:nvSpPr>
        <p:spPr/>
        <p:txBody>
          <a:bodyPr/>
          <a:lstStyle/>
          <a:p>
            <a:fld id="{330EA680-D336-4FF7-8B7A-9848BB0A1C32}" type="slidenum">
              <a:rPr lang="en-US" smtClean="0"/>
              <a:t>39</a:t>
            </a:fld>
            <a:endParaRPr lang="en-US"/>
          </a:p>
        </p:txBody>
      </p:sp>
      <p:pic>
        <p:nvPicPr>
          <p:cNvPr id="6" name="Picture 5">
            <a:extLst>
              <a:ext uri="{FF2B5EF4-FFF2-40B4-BE49-F238E27FC236}">
                <a16:creationId xmlns:a16="http://schemas.microsoft.com/office/drawing/2014/main" id="{666ABB45-A14E-AD16-080C-EBA7665ACD29}"/>
              </a:ext>
            </a:extLst>
          </p:cNvPr>
          <p:cNvPicPr>
            <a:picLocks noChangeAspect="1"/>
          </p:cNvPicPr>
          <p:nvPr/>
        </p:nvPicPr>
        <p:blipFill>
          <a:blip r:embed="rId3"/>
          <a:stretch>
            <a:fillRect/>
          </a:stretch>
        </p:blipFill>
        <p:spPr>
          <a:xfrm>
            <a:off x="6899188" y="1765883"/>
            <a:ext cx="5225700" cy="3946276"/>
          </a:xfrm>
          <a:prstGeom prst="rect">
            <a:avLst/>
          </a:prstGeom>
        </p:spPr>
      </p:pic>
    </p:spTree>
    <p:extLst>
      <p:ext uri="{BB962C8B-B14F-4D97-AF65-F5344CB8AC3E}">
        <p14:creationId xmlns:p14="http://schemas.microsoft.com/office/powerpoint/2010/main" val="8535789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DBAEC-1EAA-A2F0-281C-AE1AFC6600F5}"/>
              </a:ext>
            </a:extLst>
          </p:cNvPr>
          <p:cNvSpPr>
            <a:spLocks noGrp="1"/>
          </p:cNvSpPr>
          <p:nvPr>
            <p:ph type="title"/>
          </p:nvPr>
        </p:nvSpPr>
        <p:spPr/>
        <p:txBody>
          <a:bodyPr/>
          <a:lstStyle/>
          <a:p>
            <a:r>
              <a:rPr lang="en-US"/>
              <a:t>While We’re Here…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80B5D00-C5CC-0B61-B3AA-4FF8930063A5}"/>
                  </a:ext>
                </a:extLst>
              </p:cNvPr>
              <p:cNvSpPr>
                <a:spLocks noGrp="1"/>
              </p:cNvSpPr>
              <p:nvPr>
                <p:ph idx="1"/>
              </p:nvPr>
            </p:nvSpPr>
            <p:spPr/>
            <p:txBody>
              <a:bodyPr/>
              <a:lstStyle/>
              <a:p>
                <a:pPr marL="0" indent="0">
                  <a:buNone/>
                </a:pPr>
                <a:r>
                  <a:rPr lang="en-US"/>
                  <a:t>Let’s Close the Loop on </a:t>
                </a:r>
                <a:r>
                  <a:rPr lang="en-US" err="1">
                    <a:latin typeface="Courier New" panose="02070309020205020404" pitchFamily="49" charset="0"/>
                    <a:cs typeface="Courier New" panose="02070309020205020404" pitchFamily="49" charset="0"/>
                  </a:rPr>
                  <a:t>lm</a:t>
                </a:r>
                <a:r>
                  <a:rPr lang="en-US">
                    <a:latin typeface="Courier New" panose="02070309020205020404" pitchFamily="49" charset="0"/>
                    <a:cs typeface="Courier New" panose="02070309020205020404" pitchFamily="49" charset="0"/>
                  </a:rPr>
                  <a:t>() </a:t>
                </a:r>
                <a:r>
                  <a:rPr lang="en-US"/>
                  <a:t>/ </a:t>
                </a:r>
                <a:r>
                  <a:rPr lang="en-US">
                    <a:latin typeface="Courier New" panose="02070309020205020404" pitchFamily="49" charset="0"/>
                    <a:cs typeface="Courier New" panose="02070309020205020404" pitchFamily="49" charset="0"/>
                  </a:rPr>
                  <a:t>.OLS </a:t>
                </a:r>
                <a:r>
                  <a:rPr lang="en-US"/>
                  <a:t>Output</a:t>
                </a:r>
              </a:p>
              <a:p>
                <a:r>
                  <a:rPr lang="en-US"/>
                  <a:t>Adjusted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𝑅</m:t>
                        </m:r>
                      </m:e>
                      <m:sup>
                        <m:r>
                          <a:rPr lang="en-US" b="0" i="1" smtClean="0">
                            <a:latin typeface="Cambria Math" panose="02040503050406030204" pitchFamily="18" charset="0"/>
                          </a:rPr>
                          <m:t>2</m:t>
                        </m:r>
                      </m:sup>
                    </m:sSup>
                  </m:oMath>
                </a14:m>
                <a:endParaRPr lang="en-US"/>
              </a:p>
              <a:p>
                <a:r>
                  <a:rPr lang="en-US"/>
                  <a:t>Other tests: Omnibus, Durbin-Watson etc.</a:t>
                </a:r>
              </a:p>
              <a:p>
                <a:r>
                  <a:rPr lang="en-US"/>
                  <a:t>t-tests for individual coefficients </a:t>
                </a:r>
                <a14:m>
                  <m:oMath xmlns:m="http://schemas.openxmlformats.org/officeDocument/2006/math">
                    <m:sSub>
                      <m:sSubPr>
                        <m:ctrlPr>
                          <a:rPr lang="en-US" b="0" i="1" dirty="0"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𝛽</m:t>
                            </m:r>
                          </m:e>
                        </m:acc>
                      </m:e>
                      <m:sub>
                        <m:r>
                          <a:rPr lang="en-US" b="0" i="1" dirty="0" smtClean="0">
                            <a:latin typeface="Cambria Math" panose="02040503050406030204" pitchFamily="18" charset="0"/>
                          </a:rPr>
                          <m:t>𝑗</m:t>
                        </m:r>
                      </m:sub>
                    </m:sSub>
                  </m:oMath>
                </a14:m>
                <a:endParaRPr lang="en-US"/>
              </a:p>
            </p:txBody>
          </p:sp>
        </mc:Choice>
        <mc:Fallback>
          <p:sp>
            <p:nvSpPr>
              <p:cNvPr id="3" name="Content Placeholder 2">
                <a:extLst>
                  <a:ext uri="{FF2B5EF4-FFF2-40B4-BE49-F238E27FC236}">
                    <a16:creationId xmlns:a16="http://schemas.microsoft.com/office/drawing/2014/main" id="{E80B5D00-C5CC-0B61-B3AA-4FF8930063A5}"/>
                  </a:ext>
                </a:extLst>
              </p:cNvPr>
              <p:cNvSpPr>
                <a:spLocks noGrp="1" noRot="1" noChangeAspect="1" noMove="1" noResize="1" noEditPoints="1" noAdjustHandles="1" noChangeArrowheads="1" noChangeShapeType="1" noTextEdit="1"/>
              </p:cNvSpPr>
              <p:nvPr>
                <p:ph idx="1"/>
              </p:nvPr>
            </p:nvSpPr>
            <p:spPr>
              <a:blipFill>
                <a:blip r:embed="rId2"/>
                <a:stretch>
                  <a:fillRect l="-1206" t="-2616"/>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0C2F9A1E-D1DC-5F9C-63E8-48C3F0D5833F}"/>
              </a:ext>
            </a:extLst>
          </p:cNvPr>
          <p:cNvSpPr>
            <a:spLocks noGrp="1"/>
          </p:cNvSpPr>
          <p:nvPr>
            <p:ph type="sldNum" sz="quarter" idx="12"/>
          </p:nvPr>
        </p:nvSpPr>
        <p:spPr/>
        <p:txBody>
          <a:bodyPr/>
          <a:lstStyle/>
          <a:p>
            <a:fld id="{330EA680-D336-4FF7-8B7A-9848BB0A1C32}" type="slidenum">
              <a:rPr lang="en-US" smtClean="0"/>
              <a:t>41</a:t>
            </a:fld>
            <a:endParaRPr lang="en-US"/>
          </a:p>
        </p:txBody>
      </p:sp>
    </p:spTree>
    <p:extLst>
      <p:ext uri="{BB962C8B-B14F-4D97-AF65-F5344CB8AC3E}">
        <p14:creationId xmlns:p14="http://schemas.microsoft.com/office/powerpoint/2010/main" val="23772050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D1E4D-4401-60DB-7A3D-20FB76BF6C34}"/>
              </a:ext>
            </a:extLst>
          </p:cNvPr>
          <p:cNvSpPr>
            <a:spLocks noGrp="1"/>
          </p:cNvSpPr>
          <p:nvPr>
            <p:ph type="title"/>
          </p:nvPr>
        </p:nvSpPr>
        <p:spPr/>
        <p:txBody>
          <a:bodyPr/>
          <a:lstStyle/>
          <a:p>
            <a:r>
              <a:rPr lang="en-US"/>
              <a:t>R’s </a:t>
            </a:r>
            <a:r>
              <a:rPr lang="en-US" err="1">
                <a:latin typeface="Courier New" panose="02070309020205020404" pitchFamily="49" charset="0"/>
                <a:cs typeface="Courier New" panose="02070309020205020404" pitchFamily="49" charset="0"/>
              </a:rPr>
              <a:t>lm</a:t>
            </a:r>
            <a:r>
              <a:rPr lang="en-US">
                <a:latin typeface="Courier New" panose="02070309020205020404" pitchFamily="49" charset="0"/>
                <a:cs typeface="Courier New" panose="02070309020205020404" pitchFamily="49" charset="0"/>
              </a:rPr>
              <a:t>() </a:t>
            </a:r>
            <a:r>
              <a:rPr lang="en-US"/>
              <a:t>Summary- Multiple R-Squared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F55E887-37AA-5AE6-D282-C39C6E9CEDF7}"/>
                  </a:ext>
                </a:extLst>
              </p:cNvPr>
              <p:cNvSpPr>
                <a:spLocks noGrp="1"/>
              </p:cNvSpPr>
              <p:nvPr>
                <p:ph idx="1"/>
              </p:nvPr>
            </p:nvSpPr>
            <p:spPr>
              <a:xfrm>
                <a:off x="838200" y="1825625"/>
                <a:ext cx="5390072" cy="4351338"/>
              </a:xfrm>
            </p:spPr>
            <p:txBody>
              <a:bodyPr/>
              <a:lstStyle/>
              <a:p>
                <a:pPr marL="0" indent="0">
                  <a:buNone/>
                </a:pPr>
                <a:r>
                  <a:rPr lang="en-US"/>
                  <a:t>We previously discussed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𝑅</m:t>
                        </m:r>
                      </m:e>
                      <m:sup>
                        <m:r>
                          <a:rPr lang="en-US" b="0" i="1" smtClean="0">
                            <a:latin typeface="Cambria Math" panose="02040503050406030204" pitchFamily="18" charset="0"/>
                          </a:rPr>
                          <m:t>2</m:t>
                        </m:r>
                      </m:sup>
                    </m:sSup>
                  </m:oMath>
                </a14:m>
                <a:r>
                  <a:rPr lang="en-US"/>
                  <a:t> when looking at evaluating SLR.</a:t>
                </a:r>
              </a:p>
              <a:p>
                <a:r>
                  <a:rPr lang="en-US"/>
                  <a:t>“Multiple” R-squared is this calculation.</a:t>
                </a:r>
              </a:p>
              <a:p>
                <a:pPr marL="0" indent="0">
                  <a:buNone/>
                </a:pPr>
                <a:endParaRPr lang="en-US"/>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𝑚𝑒𝑎𝑛</m:t>
                              </m:r>
                              <m:r>
                                <a:rPr lang="en-US" b="0" i="1" smtClean="0">
                                  <a:latin typeface="Cambria Math" panose="02040503050406030204" pitchFamily="18" charset="0"/>
                                </a:rPr>
                                <m:t> </m:t>
                              </m:r>
                              <m:r>
                                <a:rPr lang="en-US" b="0" i="1" smtClean="0">
                                  <a:latin typeface="Cambria Math" panose="02040503050406030204" pitchFamily="18" charset="0"/>
                                </a:rPr>
                                <m:t>𝑜𝑛𝑙𝑦</m:t>
                              </m:r>
                              <m:r>
                                <a:rPr lang="en-US" b="0" i="1" smtClean="0">
                                  <a:latin typeface="Cambria Math" panose="02040503050406030204" pitchFamily="18" charset="0"/>
                                </a:rPr>
                                <m:t> </m:t>
                              </m:r>
                            </m:sub>
                          </m:sSub>
                          <m:r>
                            <a:rPr lang="en-US" b="0" i="1" smtClean="0">
                              <a:latin typeface="Cambria Math" panose="02040503050406030204" pitchFamily="18" charset="0"/>
                            </a:rPr>
                            <m:t>−</m:t>
                          </m:r>
                          <m:r>
                            <a:rPr lang="en-US" b="0" i="1" smtClean="0">
                              <a:latin typeface="Cambria Math" panose="02040503050406030204" pitchFamily="18" charset="0"/>
                            </a:rPr>
                            <m:t>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𝑓𝑖𝑡</m:t>
                              </m:r>
                            </m:sub>
                          </m:sSub>
                        </m:num>
                        <m:den>
                          <m:r>
                            <a:rPr lang="en-US" b="0" i="1" smtClean="0">
                              <a:latin typeface="Cambria Math" panose="02040503050406030204" pitchFamily="18" charset="0"/>
                            </a:rPr>
                            <m:t>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𝑚𝑒𝑎𝑛</m:t>
                              </m:r>
                              <m:r>
                                <a:rPr lang="en-US" b="0" i="1" smtClean="0">
                                  <a:latin typeface="Cambria Math" panose="02040503050406030204" pitchFamily="18" charset="0"/>
                                </a:rPr>
                                <m:t> </m:t>
                              </m:r>
                              <m:r>
                                <a:rPr lang="en-US" b="0" i="1" smtClean="0">
                                  <a:latin typeface="Cambria Math" panose="02040503050406030204" pitchFamily="18" charset="0"/>
                                </a:rPr>
                                <m:t>𝑜𝑛𝑙𝑦</m:t>
                              </m:r>
                            </m:sub>
                          </m:sSub>
                        </m:den>
                      </m:f>
                    </m:oMath>
                  </m:oMathPara>
                </a14:m>
                <a:endParaRPr lang="en-US"/>
              </a:p>
            </p:txBody>
          </p:sp>
        </mc:Choice>
        <mc:Fallback>
          <p:sp>
            <p:nvSpPr>
              <p:cNvPr id="3" name="Content Placeholder 2">
                <a:extLst>
                  <a:ext uri="{FF2B5EF4-FFF2-40B4-BE49-F238E27FC236}">
                    <a16:creationId xmlns:a16="http://schemas.microsoft.com/office/drawing/2014/main" id="{6F55E887-37AA-5AE6-D282-C39C6E9CEDF7}"/>
                  </a:ext>
                </a:extLst>
              </p:cNvPr>
              <p:cNvSpPr>
                <a:spLocks noGrp="1" noRot="1" noChangeAspect="1" noMove="1" noResize="1" noEditPoints="1" noAdjustHandles="1" noChangeArrowheads="1" noChangeShapeType="1" noTextEdit="1"/>
              </p:cNvSpPr>
              <p:nvPr>
                <p:ph idx="1"/>
              </p:nvPr>
            </p:nvSpPr>
            <p:spPr>
              <a:xfrm>
                <a:off x="838200" y="1825625"/>
                <a:ext cx="5390072" cy="4351338"/>
              </a:xfrm>
              <a:blipFill>
                <a:blip r:embed="rId2"/>
                <a:stretch>
                  <a:fillRect l="-2353" t="-2326" r="-3059"/>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81631578-C653-86FC-2312-B7BC7472466E}"/>
              </a:ext>
            </a:extLst>
          </p:cNvPr>
          <p:cNvSpPr>
            <a:spLocks noGrp="1"/>
          </p:cNvSpPr>
          <p:nvPr>
            <p:ph type="sldNum" sz="quarter" idx="12"/>
          </p:nvPr>
        </p:nvSpPr>
        <p:spPr/>
        <p:txBody>
          <a:bodyPr/>
          <a:lstStyle/>
          <a:p>
            <a:fld id="{330EA680-D336-4FF7-8B7A-9848BB0A1C32}" type="slidenum">
              <a:rPr lang="en-US" smtClean="0"/>
              <a:t>42</a:t>
            </a:fld>
            <a:endParaRPr lang="en-US"/>
          </a:p>
        </p:txBody>
      </p:sp>
      <p:pic>
        <p:nvPicPr>
          <p:cNvPr id="6" name="Picture 5">
            <a:extLst>
              <a:ext uri="{FF2B5EF4-FFF2-40B4-BE49-F238E27FC236}">
                <a16:creationId xmlns:a16="http://schemas.microsoft.com/office/drawing/2014/main" id="{5A0C5C53-C6C8-F5A2-F50F-A6408BD48DFF}"/>
              </a:ext>
            </a:extLst>
          </p:cNvPr>
          <p:cNvPicPr>
            <a:picLocks noChangeAspect="1"/>
          </p:cNvPicPr>
          <p:nvPr/>
        </p:nvPicPr>
        <p:blipFill>
          <a:blip r:embed="rId3"/>
          <a:stretch>
            <a:fillRect/>
          </a:stretch>
        </p:blipFill>
        <p:spPr>
          <a:xfrm>
            <a:off x="6228272" y="1805030"/>
            <a:ext cx="5783986" cy="4371933"/>
          </a:xfrm>
          <a:prstGeom prst="rect">
            <a:avLst/>
          </a:prstGeom>
        </p:spPr>
      </p:pic>
      <p:sp>
        <p:nvSpPr>
          <p:cNvPr id="5" name="Rectangle 4">
            <a:extLst>
              <a:ext uri="{FF2B5EF4-FFF2-40B4-BE49-F238E27FC236}">
                <a16:creationId xmlns:a16="http://schemas.microsoft.com/office/drawing/2014/main" id="{25DA2475-9053-842D-4CC5-92FA14E4F12F}"/>
              </a:ext>
            </a:extLst>
          </p:cNvPr>
          <p:cNvSpPr/>
          <p:nvPr/>
        </p:nvSpPr>
        <p:spPr>
          <a:xfrm>
            <a:off x="6228272" y="5684808"/>
            <a:ext cx="2562045" cy="258792"/>
          </a:xfrm>
          <a:prstGeom prst="rect">
            <a:avLst/>
          </a:prstGeom>
          <a:noFill/>
          <a:ln w="28575">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309056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AE5AE-7888-2FF2-B24B-045DD5E956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1F2F50-F962-EF1A-B79A-E9C57A46DA97}"/>
              </a:ext>
            </a:extLst>
          </p:cNvPr>
          <p:cNvSpPr>
            <a:spLocks noGrp="1"/>
          </p:cNvSpPr>
          <p:nvPr>
            <p:ph type="title"/>
          </p:nvPr>
        </p:nvSpPr>
        <p:spPr/>
        <p:txBody>
          <a:bodyPr/>
          <a:lstStyle/>
          <a:p>
            <a:r>
              <a:rPr lang="en-US"/>
              <a:t>R’s </a:t>
            </a:r>
            <a:r>
              <a:rPr lang="en-US" err="1">
                <a:latin typeface="Courier New" panose="02070309020205020404" pitchFamily="49" charset="0"/>
                <a:cs typeface="Courier New" panose="02070309020205020404" pitchFamily="49" charset="0"/>
              </a:rPr>
              <a:t>lm</a:t>
            </a:r>
            <a:r>
              <a:rPr lang="en-US">
                <a:latin typeface="Courier New" panose="02070309020205020404" pitchFamily="49" charset="0"/>
                <a:cs typeface="Courier New" panose="02070309020205020404" pitchFamily="49" charset="0"/>
              </a:rPr>
              <a:t>() </a:t>
            </a:r>
            <a:r>
              <a:rPr lang="en-US"/>
              <a:t>Summary – Adjusted R-Squared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6886544-CC4A-1628-5B64-09CE2A5EBCC3}"/>
                  </a:ext>
                </a:extLst>
              </p:cNvPr>
              <p:cNvSpPr>
                <a:spLocks noGrp="1"/>
              </p:cNvSpPr>
              <p:nvPr>
                <p:ph idx="1"/>
              </p:nvPr>
            </p:nvSpPr>
            <p:spPr>
              <a:xfrm>
                <a:off x="838200" y="1825625"/>
                <a:ext cx="5390072" cy="4351338"/>
              </a:xfrm>
            </p:spPr>
            <p:txBody>
              <a:bodyPr>
                <a:normAutofit fontScale="85000" lnSpcReduction="10000"/>
              </a:bodyPr>
              <a:lstStyle/>
              <a:p>
                <a:pPr marL="0" indent="0">
                  <a:buNone/>
                </a:pPr>
                <a:r>
                  <a:rPr lang="en-US"/>
                  <a:t>Adjusted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𝑅</m:t>
                        </m:r>
                      </m:e>
                      <m:sup>
                        <m:r>
                          <a:rPr lang="en-US" b="0" i="1" smtClean="0">
                            <a:latin typeface="Cambria Math" panose="02040503050406030204" pitchFamily="18" charset="0"/>
                          </a:rPr>
                          <m:t>2</m:t>
                        </m:r>
                      </m:sup>
                    </m:sSup>
                  </m:oMath>
                </a14:m>
                <a:r>
                  <a:rPr lang="en-US"/>
                  <a:t> incorporates degrees of freedom to ask: did this pred</a:t>
                </a:r>
              </a:p>
              <a:p>
                <a:r>
                  <a:rPr lang="en-US"/>
                  <a:t>Adjusted R-squared:</a:t>
                </a:r>
              </a:p>
              <a:p>
                <a:pPr marL="0" indent="0">
                  <a:buNone/>
                </a:pPr>
                <a:endParaRPr lang="en-US"/>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𝑚𝑒𝑎𝑛</m:t>
                                      </m:r>
                                      <m:r>
                                        <a:rPr lang="en-US" b="0" i="1" smtClean="0">
                                          <a:latin typeface="Cambria Math" panose="02040503050406030204" pitchFamily="18" charset="0"/>
                                        </a:rPr>
                                        <m:t> </m:t>
                                      </m:r>
                                      <m:r>
                                        <a:rPr lang="en-US" b="0" i="1" smtClean="0">
                                          <a:latin typeface="Cambria Math" panose="02040503050406030204" pitchFamily="18" charset="0"/>
                                        </a:rPr>
                                        <m:t>𝑜𝑛𝑙𝑦</m:t>
                                      </m:r>
                                      <m:r>
                                        <a:rPr lang="en-US" b="0" i="1" smtClean="0">
                                          <a:latin typeface="Cambria Math" panose="02040503050406030204" pitchFamily="18" charset="0"/>
                                        </a:rPr>
                                        <m:t> </m:t>
                                      </m:r>
                                    </m:sub>
                                  </m:sSub>
                                  <m:r>
                                    <a:rPr lang="en-US" b="0" i="1" smtClean="0">
                                      <a:latin typeface="Cambria Math" panose="02040503050406030204" pitchFamily="18" charset="0"/>
                                    </a:rPr>
                                    <m:t>−</m:t>
                                  </m:r>
                                  <m:r>
                                    <a:rPr lang="en-US" b="0" i="1" smtClean="0">
                                      <a:latin typeface="Cambria Math" panose="02040503050406030204" pitchFamily="18" charset="0"/>
                                    </a:rPr>
                                    <m:t>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𝑓𝑖𝑡</m:t>
                                      </m:r>
                                    </m:sub>
                                  </m:sSub>
                                </m:num>
                                <m:den>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−1</m:t>
                                  </m:r>
                                </m:den>
                              </m:f>
                            </m:e>
                          </m:d>
                        </m:num>
                        <m:den>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𝑚𝑒𝑎𝑛</m:t>
                                      </m:r>
                                      <m:r>
                                        <a:rPr lang="en-US" b="0" i="1" smtClean="0">
                                          <a:latin typeface="Cambria Math" panose="02040503050406030204" pitchFamily="18" charset="0"/>
                                        </a:rPr>
                                        <m:t> </m:t>
                                      </m:r>
                                      <m:r>
                                        <a:rPr lang="en-US" b="0" i="1" smtClean="0">
                                          <a:latin typeface="Cambria Math" panose="02040503050406030204" pitchFamily="18" charset="0"/>
                                        </a:rPr>
                                        <m:t>𝑜𝑛𝑙𝑦</m:t>
                                      </m:r>
                                    </m:sub>
                                  </m:sSub>
                                </m:num>
                                <m:den>
                                  <m:r>
                                    <a:rPr lang="en-US" b="0" i="1" smtClean="0">
                                      <a:latin typeface="Cambria Math" panose="02040503050406030204" pitchFamily="18" charset="0"/>
                                    </a:rPr>
                                    <m:t>𝑛</m:t>
                                  </m:r>
                                  <m:r>
                                    <a:rPr lang="en-US" b="0" i="1" smtClean="0">
                                      <a:latin typeface="Cambria Math" panose="02040503050406030204" pitchFamily="18" charset="0"/>
                                    </a:rPr>
                                    <m:t>−1</m:t>
                                  </m:r>
                                </m:den>
                              </m:f>
                            </m:e>
                          </m:d>
                        </m:den>
                      </m:f>
                    </m:oMath>
                    <m:oMath xmlns:m="http://schemas.openxmlformats.org/officeDocument/2006/math">
                      <m:r>
                        <a:rPr lang="en-US" b="0" i="1" smtClean="0">
                          <a:latin typeface="Cambria Math" panose="02040503050406030204" pitchFamily="18" charset="0"/>
                        </a:rPr>
                        <m:t> </m:t>
                      </m:r>
                    </m:oMath>
                  </m:oMathPara>
                </a14:m>
                <a:endParaRPr lang="en-US"/>
              </a:p>
              <a:p>
                <a:r>
                  <a:rPr lang="en-US"/>
                  <a:t>This penalizes the model for adding predictors that don’t help.</a:t>
                </a:r>
              </a:p>
              <a:p>
                <a:r>
                  <a:rPr lang="en-US"/>
                  <a:t>Can go down with added parameters. </a:t>
                </a:r>
              </a:p>
            </p:txBody>
          </p:sp>
        </mc:Choice>
        <mc:Fallback>
          <p:sp>
            <p:nvSpPr>
              <p:cNvPr id="3" name="Content Placeholder 2">
                <a:extLst>
                  <a:ext uri="{FF2B5EF4-FFF2-40B4-BE49-F238E27FC236}">
                    <a16:creationId xmlns:a16="http://schemas.microsoft.com/office/drawing/2014/main" id="{B6886544-CC4A-1628-5B64-09CE2A5EBCC3}"/>
                  </a:ext>
                </a:extLst>
              </p:cNvPr>
              <p:cNvSpPr>
                <a:spLocks noGrp="1" noRot="1" noChangeAspect="1" noMove="1" noResize="1" noEditPoints="1" noAdjustHandles="1" noChangeArrowheads="1" noChangeShapeType="1" noTextEdit="1"/>
              </p:cNvSpPr>
              <p:nvPr>
                <p:ph idx="1"/>
              </p:nvPr>
            </p:nvSpPr>
            <p:spPr>
              <a:xfrm>
                <a:off x="838200" y="1825625"/>
                <a:ext cx="5390072" cy="4351338"/>
              </a:xfrm>
              <a:blipFill>
                <a:blip r:embed="rId3"/>
                <a:stretch>
                  <a:fillRect l="-1882" t="-2616" r="-941"/>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8213CD58-18D8-2039-7100-0D0EFDF93009}"/>
              </a:ext>
            </a:extLst>
          </p:cNvPr>
          <p:cNvSpPr>
            <a:spLocks noGrp="1"/>
          </p:cNvSpPr>
          <p:nvPr>
            <p:ph type="sldNum" sz="quarter" idx="12"/>
          </p:nvPr>
        </p:nvSpPr>
        <p:spPr/>
        <p:txBody>
          <a:bodyPr/>
          <a:lstStyle/>
          <a:p>
            <a:fld id="{330EA680-D336-4FF7-8B7A-9848BB0A1C32}" type="slidenum">
              <a:rPr lang="en-US" smtClean="0"/>
              <a:t>43</a:t>
            </a:fld>
            <a:endParaRPr lang="en-US"/>
          </a:p>
        </p:txBody>
      </p:sp>
      <p:pic>
        <p:nvPicPr>
          <p:cNvPr id="6" name="Picture 5">
            <a:extLst>
              <a:ext uri="{FF2B5EF4-FFF2-40B4-BE49-F238E27FC236}">
                <a16:creationId xmlns:a16="http://schemas.microsoft.com/office/drawing/2014/main" id="{1C7B855B-D2E4-49C6-C3A4-71FA05671A44}"/>
              </a:ext>
            </a:extLst>
          </p:cNvPr>
          <p:cNvPicPr>
            <a:picLocks noChangeAspect="1"/>
          </p:cNvPicPr>
          <p:nvPr/>
        </p:nvPicPr>
        <p:blipFill>
          <a:blip r:embed="rId4"/>
          <a:stretch>
            <a:fillRect/>
          </a:stretch>
        </p:blipFill>
        <p:spPr>
          <a:xfrm>
            <a:off x="6228272" y="1805030"/>
            <a:ext cx="5783986" cy="4371933"/>
          </a:xfrm>
          <a:prstGeom prst="rect">
            <a:avLst/>
          </a:prstGeom>
        </p:spPr>
      </p:pic>
      <p:sp>
        <p:nvSpPr>
          <p:cNvPr id="5" name="Rectangle 4">
            <a:extLst>
              <a:ext uri="{FF2B5EF4-FFF2-40B4-BE49-F238E27FC236}">
                <a16:creationId xmlns:a16="http://schemas.microsoft.com/office/drawing/2014/main" id="{EBCEF5DE-DD27-A31D-BB39-0006C9C02C94}"/>
              </a:ext>
            </a:extLst>
          </p:cNvPr>
          <p:cNvSpPr/>
          <p:nvPr/>
        </p:nvSpPr>
        <p:spPr>
          <a:xfrm>
            <a:off x="8989056" y="5676016"/>
            <a:ext cx="2562045" cy="258792"/>
          </a:xfrm>
          <a:prstGeom prst="rect">
            <a:avLst/>
          </a:prstGeom>
          <a:noFill/>
          <a:ln w="28575">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2893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D3FAF-2F70-8091-724A-0C372FE1DE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CA7938-0770-65E5-740D-AE64A05ED722}"/>
              </a:ext>
            </a:extLst>
          </p:cNvPr>
          <p:cNvSpPr>
            <a:spLocks noGrp="1"/>
          </p:cNvSpPr>
          <p:nvPr>
            <p:ph type="title"/>
          </p:nvPr>
        </p:nvSpPr>
        <p:spPr/>
        <p:txBody>
          <a:bodyPr/>
          <a:lstStyle/>
          <a:p>
            <a:r>
              <a:rPr lang="en-US"/>
              <a:t>R’s </a:t>
            </a:r>
            <a:r>
              <a:rPr lang="en-US" err="1">
                <a:latin typeface="Courier New" panose="02070309020205020404" pitchFamily="49" charset="0"/>
                <a:cs typeface="Courier New" panose="02070309020205020404" pitchFamily="49" charset="0"/>
              </a:rPr>
              <a:t>lm</a:t>
            </a:r>
            <a:r>
              <a:rPr lang="en-US">
                <a:latin typeface="Courier New" panose="02070309020205020404" pitchFamily="49" charset="0"/>
                <a:cs typeface="Courier New" panose="02070309020205020404" pitchFamily="49" charset="0"/>
              </a:rPr>
              <a:t>() </a:t>
            </a:r>
            <a:r>
              <a:rPr lang="en-US"/>
              <a:t>Summary – F-tests</a:t>
            </a:r>
          </a:p>
        </p:txBody>
      </p:sp>
      <p:sp>
        <p:nvSpPr>
          <p:cNvPr id="3" name="Content Placeholder 2">
            <a:extLst>
              <a:ext uri="{FF2B5EF4-FFF2-40B4-BE49-F238E27FC236}">
                <a16:creationId xmlns:a16="http://schemas.microsoft.com/office/drawing/2014/main" id="{EA4D3D45-4514-69DA-2192-244311B3EF67}"/>
              </a:ext>
            </a:extLst>
          </p:cNvPr>
          <p:cNvSpPr>
            <a:spLocks noGrp="1"/>
          </p:cNvSpPr>
          <p:nvPr>
            <p:ph idx="1"/>
          </p:nvPr>
        </p:nvSpPr>
        <p:spPr>
          <a:xfrm>
            <a:off x="838200" y="1825625"/>
            <a:ext cx="5390072" cy="4351338"/>
          </a:xfrm>
        </p:spPr>
        <p:txBody>
          <a:bodyPr>
            <a:normAutofit/>
          </a:bodyPr>
          <a:lstStyle/>
          <a:p>
            <a:pPr marL="0" indent="0">
              <a:buNone/>
            </a:pPr>
            <a:r>
              <a:rPr lang="en-US"/>
              <a:t>Recall the F-test, which asks whether our model as a whole fits the data with statistical significance.</a:t>
            </a:r>
          </a:p>
          <a:p>
            <a:r>
              <a:rPr lang="en-US"/>
              <a:t>In SLR, the F-test and t-test for the single predictor were the same</a:t>
            </a:r>
          </a:p>
          <a:p>
            <a:r>
              <a:rPr lang="en-US"/>
              <a:t>In MLR, the F-test asks whether </a:t>
            </a:r>
            <a:r>
              <a:rPr lang="en-US" i="1"/>
              <a:t>any</a:t>
            </a:r>
            <a:r>
              <a:rPr lang="en-US"/>
              <a:t> predictors have signal; the t-tests ask which ones do.</a:t>
            </a:r>
          </a:p>
          <a:p>
            <a:pPr marL="0" indent="0">
              <a:buNone/>
            </a:pPr>
            <a:endParaRPr lang="en-US"/>
          </a:p>
        </p:txBody>
      </p:sp>
      <p:sp>
        <p:nvSpPr>
          <p:cNvPr id="4" name="Slide Number Placeholder 3">
            <a:extLst>
              <a:ext uri="{FF2B5EF4-FFF2-40B4-BE49-F238E27FC236}">
                <a16:creationId xmlns:a16="http://schemas.microsoft.com/office/drawing/2014/main" id="{6F8ADCCC-4995-2316-AC5E-028D2AA7EE59}"/>
              </a:ext>
            </a:extLst>
          </p:cNvPr>
          <p:cNvSpPr>
            <a:spLocks noGrp="1"/>
          </p:cNvSpPr>
          <p:nvPr>
            <p:ph type="sldNum" sz="quarter" idx="12"/>
          </p:nvPr>
        </p:nvSpPr>
        <p:spPr/>
        <p:txBody>
          <a:bodyPr/>
          <a:lstStyle/>
          <a:p>
            <a:fld id="{330EA680-D336-4FF7-8B7A-9848BB0A1C32}" type="slidenum">
              <a:rPr lang="en-US" smtClean="0"/>
              <a:t>44</a:t>
            </a:fld>
            <a:endParaRPr lang="en-US"/>
          </a:p>
        </p:txBody>
      </p:sp>
      <p:pic>
        <p:nvPicPr>
          <p:cNvPr id="6" name="Picture 5">
            <a:extLst>
              <a:ext uri="{FF2B5EF4-FFF2-40B4-BE49-F238E27FC236}">
                <a16:creationId xmlns:a16="http://schemas.microsoft.com/office/drawing/2014/main" id="{07485368-4C14-4839-E407-DF72A8BB50E3}"/>
              </a:ext>
            </a:extLst>
          </p:cNvPr>
          <p:cNvPicPr>
            <a:picLocks noChangeAspect="1"/>
          </p:cNvPicPr>
          <p:nvPr/>
        </p:nvPicPr>
        <p:blipFill>
          <a:blip r:embed="rId3"/>
          <a:stretch>
            <a:fillRect/>
          </a:stretch>
        </p:blipFill>
        <p:spPr>
          <a:xfrm>
            <a:off x="6228272" y="1805030"/>
            <a:ext cx="5783986" cy="4371933"/>
          </a:xfrm>
          <a:prstGeom prst="rect">
            <a:avLst/>
          </a:prstGeom>
        </p:spPr>
      </p:pic>
      <p:sp>
        <p:nvSpPr>
          <p:cNvPr id="5" name="Rectangle 4">
            <a:extLst>
              <a:ext uri="{FF2B5EF4-FFF2-40B4-BE49-F238E27FC236}">
                <a16:creationId xmlns:a16="http://schemas.microsoft.com/office/drawing/2014/main" id="{63444759-E662-F93D-22AF-E6D274D01D66}"/>
              </a:ext>
            </a:extLst>
          </p:cNvPr>
          <p:cNvSpPr/>
          <p:nvPr/>
        </p:nvSpPr>
        <p:spPr>
          <a:xfrm>
            <a:off x="6228272" y="5878469"/>
            <a:ext cx="4885206" cy="258792"/>
          </a:xfrm>
          <a:prstGeom prst="rect">
            <a:avLst/>
          </a:prstGeom>
          <a:noFill/>
          <a:ln w="28575">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070452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A4242-4EAE-56CB-07DB-ADC87A6508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A7C4F7-168D-99D4-60B6-E00272D24D22}"/>
              </a:ext>
            </a:extLst>
          </p:cNvPr>
          <p:cNvSpPr>
            <a:spLocks noGrp="1"/>
          </p:cNvSpPr>
          <p:nvPr>
            <p:ph type="title"/>
          </p:nvPr>
        </p:nvSpPr>
        <p:spPr/>
        <p:txBody>
          <a:bodyPr/>
          <a:lstStyle/>
          <a:p>
            <a:r>
              <a:rPr lang="en-US"/>
              <a:t>R’s </a:t>
            </a:r>
            <a:r>
              <a:rPr lang="en-US" err="1">
                <a:latin typeface="Courier New" panose="02070309020205020404" pitchFamily="49" charset="0"/>
                <a:cs typeface="Courier New" panose="02070309020205020404" pitchFamily="49" charset="0"/>
              </a:rPr>
              <a:t>lm</a:t>
            </a:r>
            <a:r>
              <a:rPr lang="en-US">
                <a:latin typeface="Courier New" panose="02070309020205020404" pitchFamily="49" charset="0"/>
                <a:cs typeface="Courier New" panose="02070309020205020404" pitchFamily="49" charset="0"/>
              </a:rPr>
              <a:t>() </a:t>
            </a:r>
            <a:r>
              <a:rPr lang="en-US"/>
              <a:t>Summary – t-tests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51BFEAE-9FDC-6999-0B2E-8EC8D26DABD9}"/>
                  </a:ext>
                </a:extLst>
              </p:cNvPr>
              <p:cNvSpPr>
                <a:spLocks noGrp="1"/>
              </p:cNvSpPr>
              <p:nvPr>
                <p:ph idx="1"/>
              </p:nvPr>
            </p:nvSpPr>
            <p:spPr>
              <a:xfrm>
                <a:off x="838200" y="1825625"/>
                <a:ext cx="5390072" cy="4351338"/>
              </a:xfrm>
            </p:spPr>
            <p:txBody>
              <a:bodyPr>
                <a:normAutofit fontScale="85000" lnSpcReduction="20000"/>
              </a:bodyPr>
              <a:lstStyle/>
              <a:p>
                <a:pPr marL="0" indent="0">
                  <a:buNone/>
                </a:pPr>
                <a:r>
                  <a:rPr lang="en-US"/>
                  <a:t>Each coefficient row summarizes the respective test for that coefficient:</a:t>
                </a:r>
              </a:p>
              <a:p>
                <a:pPr marL="0" indent="0">
                  <a:buNone/>
                </a:pPr>
                <a:br>
                  <a:rPr lang="en-US" b="0" i="1">
                    <a:latin typeface="Cambria Math" panose="02040503050406030204" pitchFamily="18" charset="0"/>
                  </a:rPr>
                </a:b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𝑖</m:t>
                          </m:r>
                        </m:sub>
                      </m:sSub>
                      <m:r>
                        <a:rPr lang="en-US" b="0" i="1" smtClean="0">
                          <a:latin typeface="Cambria Math" panose="02040503050406030204" pitchFamily="18" charset="0"/>
                        </a:rPr>
                        <m:t>=0    </m:t>
                      </m:r>
                      <m:r>
                        <a:rPr lang="en-US" b="0" i="1" smtClean="0">
                          <a:latin typeface="Cambria Math" panose="02040503050406030204" pitchFamily="18" charset="0"/>
                        </a:rPr>
                        <m:t>𝑣𝑠</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𝐴</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𝑖</m:t>
                          </m:r>
                        </m:sub>
                      </m:sSub>
                      <m:r>
                        <a:rPr lang="en-US" b="0" i="1" smtClean="0">
                          <a:latin typeface="Cambria Math" panose="02040503050406030204" pitchFamily="18" charset="0"/>
                        </a:rPr>
                        <m:t>≠0</m:t>
                      </m:r>
                    </m:oMath>
                    <m:oMath xmlns:m="http://schemas.openxmlformats.org/officeDocument/2006/math">
                      <m:r>
                        <a:rPr lang="en-US" b="0" i="1" smtClean="0">
                          <a:latin typeface="Cambria Math" panose="02040503050406030204" pitchFamily="18" charset="0"/>
                        </a:rPr>
                        <m:t> </m:t>
                      </m:r>
                    </m:oMath>
                  </m:oMathPara>
                </a14:m>
                <a:endParaRPr lang="en-US"/>
              </a:p>
              <a:p>
                <a:pPr marL="0" indent="0">
                  <a:buNone/>
                </a:pPr>
                <a:r>
                  <a:rPr lang="en-US"/>
                  <a:t>while controlling for the other predictors.</a:t>
                </a:r>
              </a:p>
              <a:p>
                <a:pPr marL="0" indent="0">
                  <a:buNone/>
                </a:pPr>
                <a:endParaRPr lang="en-US"/>
              </a:p>
              <a:p>
                <a:pPr marL="0" indent="0">
                  <a:buNone/>
                </a:pPr>
                <a:r>
                  <a:rPr lang="en-US"/>
                  <a:t>In other words, it tests the statistical significance of that particular predictor against the same model without that predictor– </a:t>
                </a:r>
                <a:r>
                  <a:rPr lang="en-US" i="1"/>
                  <a:t>is it worthwhile to include this predictor?</a:t>
                </a:r>
              </a:p>
              <a:p>
                <a:pPr marL="0" indent="0">
                  <a:buNone/>
                </a:pPr>
                <a:endParaRPr lang="en-US"/>
              </a:p>
            </p:txBody>
          </p:sp>
        </mc:Choice>
        <mc:Fallback>
          <p:sp>
            <p:nvSpPr>
              <p:cNvPr id="3" name="Content Placeholder 2">
                <a:extLst>
                  <a:ext uri="{FF2B5EF4-FFF2-40B4-BE49-F238E27FC236}">
                    <a16:creationId xmlns:a16="http://schemas.microsoft.com/office/drawing/2014/main" id="{251BFEAE-9FDC-6999-0B2E-8EC8D26DABD9}"/>
                  </a:ext>
                </a:extLst>
              </p:cNvPr>
              <p:cNvSpPr>
                <a:spLocks noGrp="1" noRot="1" noChangeAspect="1" noMove="1" noResize="1" noEditPoints="1" noAdjustHandles="1" noChangeArrowheads="1" noChangeShapeType="1" noTextEdit="1"/>
              </p:cNvSpPr>
              <p:nvPr>
                <p:ph idx="1"/>
              </p:nvPr>
            </p:nvSpPr>
            <p:spPr>
              <a:xfrm>
                <a:off x="838200" y="1825625"/>
                <a:ext cx="5390072" cy="4351338"/>
              </a:xfrm>
              <a:blipFill>
                <a:blip r:embed="rId3"/>
                <a:stretch>
                  <a:fillRect l="-1882" t="-3198"/>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8B250721-FA9D-9EFB-F9FE-359A9A2CFF01}"/>
              </a:ext>
            </a:extLst>
          </p:cNvPr>
          <p:cNvSpPr>
            <a:spLocks noGrp="1"/>
          </p:cNvSpPr>
          <p:nvPr>
            <p:ph type="sldNum" sz="quarter" idx="12"/>
          </p:nvPr>
        </p:nvSpPr>
        <p:spPr/>
        <p:txBody>
          <a:bodyPr/>
          <a:lstStyle/>
          <a:p>
            <a:fld id="{330EA680-D336-4FF7-8B7A-9848BB0A1C32}" type="slidenum">
              <a:rPr lang="en-US" smtClean="0"/>
              <a:t>45</a:t>
            </a:fld>
            <a:endParaRPr lang="en-US"/>
          </a:p>
        </p:txBody>
      </p:sp>
      <p:pic>
        <p:nvPicPr>
          <p:cNvPr id="6" name="Picture 5">
            <a:extLst>
              <a:ext uri="{FF2B5EF4-FFF2-40B4-BE49-F238E27FC236}">
                <a16:creationId xmlns:a16="http://schemas.microsoft.com/office/drawing/2014/main" id="{AFC9CA94-FF72-9F25-5BF1-EC85D2CC1DFB}"/>
              </a:ext>
            </a:extLst>
          </p:cNvPr>
          <p:cNvPicPr>
            <a:picLocks noChangeAspect="1"/>
          </p:cNvPicPr>
          <p:nvPr/>
        </p:nvPicPr>
        <p:blipFill>
          <a:blip r:embed="rId4"/>
          <a:stretch>
            <a:fillRect/>
          </a:stretch>
        </p:blipFill>
        <p:spPr>
          <a:xfrm>
            <a:off x="6228272" y="1805030"/>
            <a:ext cx="5783986" cy="4371933"/>
          </a:xfrm>
          <a:prstGeom prst="rect">
            <a:avLst/>
          </a:prstGeom>
        </p:spPr>
      </p:pic>
      <p:sp>
        <p:nvSpPr>
          <p:cNvPr id="5" name="Rectangle 4">
            <a:extLst>
              <a:ext uri="{FF2B5EF4-FFF2-40B4-BE49-F238E27FC236}">
                <a16:creationId xmlns:a16="http://schemas.microsoft.com/office/drawing/2014/main" id="{711E4485-743C-A479-ACD7-40AD624A51F5}"/>
              </a:ext>
            </a:extLst>
          </p:cNvPr>
          <p:cNvSpPr/>
          <p:nvPr/>
        </p:nvSpPr>
        <p:spPr>
          <a:xfrm>
            <a:off x="9029700" y="3728389"/>
            <a:ext cx="1811216" cy="258792"/>
          </a:xfrm>
          <a:prstGeom prst="rect">
            <a:avLst/>
          </a:prstGeom>
          <a:noFill/>
          <a:ln w="28575">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459403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32565-21EE-105C-E335-32195ECDEF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7923BB-FE71-F2F1-0461-670B11994115}"/>
              </a:ext>
            </a:extLst>
          </p:cNvPr>
          <p:cNvSpPr>
            <a:spLocks noGrp="1"/>
          </p:cNvSpPr>
          <p:nvPr>
            <p:ph type="title"/>
          </p:nvPr>
        </p:nvSpPr>
        <p:spPr/>
        <p:txBody>
          <a:bodyPr/>
          <a:lstStyle/>
          <a:p>
            <a:r>
              <a:rPr lang="en-US"/>
              <a:t>R’s </a:t>
            </a:r>
            <a:r>
              <a:rPr lang="en-US" err="1">
                <a:latin typeface="Courier New" panose="02070309020205020404" pitchFamily="49" charset="0"/>
                <a:cs typeface="Courier New" panose="02070309020205020404" pitchFamily="49" charset="0"/>
              </a:rPr>
              <a:t>lm</a:t>
            </a:r>
            <a:r>
              <a:rPr lang="en-US">
                <a:latin typeface="Courier New" panose="02070309020205020404" pitchFamily="49" charset="0"/>
                <a:cs typeface="Courier New" panose="02070309020205020404" pitchFamily="49" charset="0"/>
              </a:rPr>
              <a:t>() </a:t>
            </a:r>
            <a:r>
              <a:rPr lang="en-US"/>
              <a:t>Summary – t-tests</a:t>
            </a:r>
          </a:p>
        </p:txBody>
      </p:sp>
      <p:sp>
        <p:nvSpPr>
          <p:cNvPr id="3" name="Content Placeholder 2">
            <a:extLst>
              <a:ext uri="{FF2B5EF4-FFF2-40B4-BE49-F238E27FC236}">
                <a16:creationId xmlns:a16="http://schemas.microsoft.com/office/drawing/2014/main" id="{60D78F85-EE96-571B-8DD3-AADC14F6D938}"/>
              </a:ext>
            </a:extLst>
          </p:cNvPr>
          <p:cNvSpPr>
            <a:spLocks noGrp="1"/>
          </p:cNvSpPr>
          <p:nvPr>
            <p:ph idx="1"/>
          </p:nvPr>
        </p:nvSpPr>
        <p:spPr>
          <a:xfrm>
            <a:off x="838200" y="1825625"/>
            <a:ext cx="5390072" cy="4351338"/>
          </a:xfrm>
        </p:spPr>
        <p:txBody>
          <a:bodyPr>
            <a:normAutofit/>
          </a:bodyPr>
          <a:lstStyle/>
          <a:p>
            <a:pPr marL="0" indent="0">
              <a:buNone/>
            </a:pPr>
            <a:r>
              <a:rPr lang="en-US" sz="2400"/>
              <a:t>For example, both Air Flow and Water Temp have low p-values, suggesting that their respective additions are significant in reducing the MSE for the model. </a:t>
            </a:r>
          </a:p>
          <a:p>
            <a:pPr marL="0" indent="0">
              <a:buNone/>
            </a:pPr>
            <a:endParaRPr lang="en-US" sz="2400" i="1"/>
          </a:p>
          <a:p>
            <a:pPr marL="0" indent="0">
              <a:buNone/>
            </a:pPr>
            <a:r>
              <a:rPr lang="en-US" sz="2400"/>
              <a:t>Ex: The p-value for having all three predictors indicates that it is worth adding Water Temp as a predictor, vs. only having Air Flow and Acid Concentration.</a:t>
            </a:r>
          </a:p>
          <a:p>
            <a:pPr marL="0" indent="0">
              <a:buNone/>
            </a:pPr>
            <a:endParaRPr lang="en-US" sz="2400"/>
          </a:p>
        </p:txBody>
      </p:sp>
      <p:sp>
        <p:nvSpPr>
          <p:cNvPr id="4" name="Slide Number Placeholder 3">
            <a:extLst>
              <a:ext uri="{FF2B5EF4-FFF2-40B4-BE49-F238E27FC236}">
                <a16:creationId xmlns:a16="http://schemas.microsoft.com/office/drawing/2014/main" id="{4B020904-0E15-184A-0141-5862BDE73FCF}"/>
              </a:ext>
            </a:extLst>
          </p:cNvPr>
          <p:cNvSpPr>
            <a:spLocks noGrp="1"/>
          </p:cNvSpPr>
          <p:nvPr>
            <p:ph type="sldNum" sz="quarter" idx="12"/>
          </p:nvPr>
        </p:nvSpPr>
        <p:spPr/>
        <p:txBody>
          <a:bodyPr/>
          <a:lstStyle/>
          <a:p>
            <a:fld id="{330EA680-D336-4FF7-8B7A-9848BB0A1C32}" type="slidenum">
              <a:rPr lang="en-US" smtClean="0"/>
              <a:t>46</a:t>
            </a:fld>
            <a:endParaRPr lang="en-US"/>
          </a:p>
        </p:txBody>
      </p:sp>
      <p:pic>
        <p:nvPicPr>
          <p:cNvPr id="6" name="Picture 5">
            <a:extLst>
              <a:ext uri="{FF2B5EF4-FFF2-40B4-BE49-F238E27FC236}">
                <a16:creationId xmlns:a16="http://schemas.microsoft.com/office/drawing/2014/main" id="{15EB7CF6-0436-E311-91FC-C2961E4C86B6}"/>
              </a:ext>
            </a:extLst>
          </p:cNvPr>
          <p:cNvPicPr>
            <a:picLocks noChangeAspect="1"/>
          </p:cNvPicPr>
          <p:nvPr/>
        </p:nvPicPr>
        <p:blipFill>
          <a:blip r:embed="rId3"/>
          <a:stretch>
            <a:fillRect/>
          </a:stretch>
        </p:blipFill>
        <p:spPr>
          <a:xfrm>
            <a:off x="6228272" y="1805030"/>
            <a:ext cx="5783986" cy="4371933"/>
          </a:xfrm>
          <a:prstGeom prst="rect">
            <a:avLst/>
          </a:prstGeom>
        </p:spPr>
      </p:pic>
      <p:sp>
        <p:nvSpPr>
          <p:cNvPr id="5" name="Rectangle 4">
            <a:extLst>
              <a:ext uri="{FF2B5EF4-FFF2-40B4-BE49-F238E27FC236}">
                <a16:creationId xmlns:a16="http://schemas.microsoft.com/office/drawing/2014/main" id="{844FEBEC-BD30-9738-4AC5-4B235F4EE509}"/>
              </a:ext>
            </a:extLst>
          </p:cNvPr>
          <p:cNvSpPr/>
          <p:nvPr/>
        </p:nvSpPr>
        <p:spPr>
          <a:xfrm>
            <a:off x="9803423" y="4176346"/>
            <a:ext cx="729762" cy="448408"/>
          </a:xfrm>
          <a:prstGeom prst="rect">
            <a:avLst/>
          </a:prstGeom>
          <a:noFill/>
          <a:ln w="28575">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94214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B809C-592A-5FF6-9DA4-9DB11B9FBF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738973-A051-F3B6-6D98-B8E22518313E}"/>
              </a:ext>
            </a:extLst>
          </p:cNvPr>
          <p:cNvSpPr>
            <a:spLocks noGrp="1"/>
          </p:cNvSpPr>
          <p:nvPr>
            <p:ph type="title"/>
          </p:nvPr>
        </p:nvSpPr>
        <p:spPr/>
        <p:txBody>
          <a:bodyPr/>
          <a:lstStyle/>
          <a:p>
            <a:r>
              <a:rPr lang="en-US"/>
              <a:t>R’s </a:t>
            </a:r>
            <a:r>
              <a:rPr lang="en-US" err="1">
                <a:latin typeface="Courier New" panose="02070309020205020404" pitchFamily="49" charset="0"/>
                <a:cs typeface="Courier New" panose="02070309020205020404" pitchFamily="49" charset="0"/>
              </a:rPr>
              <a:t>lm</a:t>
            </a:r>
            <a:r>
              <a:rPr lang="en-US">
                <a:latin typeface="Courier New" panose="02070309020205020404" pitchFamily="49" charset="0"/>
                <a:cs typeface="Courier New" panose="02070309020205020404" pitchFamily="49" charset="0"/>
              </a:rPr>
              <a:t>() </a:t>
            </a:r>
            <a:r>
              <a:rPr lang="en-US"/>
              <a:t>Summary – t-tests</a:t>
            </a:r>
          </a:p>
        </p:txBody>
      </p:sp>
      <p:sp>
        <p:nvSpPr>
          <p:cNvPr id="3" name="Content Placeholder 2">
            <a:extLst>
              <a:ext uri="{FF2B5EF4-FFF2-40B4-BE49-F238E27FC236}">
                <a16:creationId xmlns:a16="http://schemas.microsoft.com/office/drawing/2014/main" id="{58178B59-586E-D99F-40C3-0B40C454B33A}"/>
              </a:ext>
            </a:extLst>
          </p:cNvPr>
          <p:cNvSpPr>
            <a:spLocks noGrp="1"/>
          </p:cNvSpPr>
          <p:nvPr>
            <p:ph idx="1"/>
          </p:nvPr>
        </p:nvSpPr>
        <p:spPr>
          <a:xfrm>
            <a:off x="838200" y="1825625"/>
            <a:ext cx="5390072" cy="4351338"/>
          </a:xfrm>
        </p:spPr>
        <p:txBody>
          <a:bodyPr>
            <a:normAutofit/>
          </a:bodyPr>
          <a:lstStyle/>
          <a:p>
            <a:pPr marL="0" indent="0">
              <a:buNone/>
            </a:pPr>
            <a:r>
              <a:rPr lang="en-US" sz="2400"/>
              <a:t>Example:</a:t>
            </a:r>
          </a:p>
          <a:p>
            <a:pPr marL="0" indent="0">
              <a:buNone/>
            </a:pPr>
            <a:endParaRPr lang="en-US" sz="2400" i="1"/>
          </a:p>
          <a:p>
            <a:pPr marL="0" indent="0">
              <a:buNone/>
            </a:pPr>
            <a:r>
              <a:rPr lang="en-US" sz="2400"/>
              <a:t>The associated p-value for Acid Concentration, on the other hand, would cause us to fail to reject the null hypothesis.</a:t>
            </a:r>
          </a:p>
          <a:p>
            <a:r>
              <a:rPr lang="en-US" sz="2400"/>
              <a:t>This suggests that Acid Concentration does </a:t>
            </a:r>
            <a:r>
              <a:rPr lang="en-US" sz="2400" i="1"/>
              <a:t>not</a:t>
            </a:r>
            <a:r>
              <a:rPr lang="en-US" sz="2400"/>
              <a:t> add detectable linear signal when already considering Air Flow and Water Temp.</a:t>
            </a:r>
          </a:p>
        </p:txBody>
      </p:sp>
      <p:sp>
        <p:nvSpPr>
          <p:cNvPr id="4" name="Slide Number Placeholder 3">
            <a:extLst>
              <a:ext uri="{FF2B5EF4-FFF2-40B4-BE49-F238E27FC236}">
                <a16:creationId xmlns:a16="http://schemas.microsoft.com/office/drawing/2014/main" id="{BB04350E-FF36-CCBE-0B9A-2C140515AE08}"/>
              </a:ext>
            </a:extLst>
          </p:cNvPr>
          <p:cNvSpPr>
            <a:spLocks noGrp="1"/>
          </p:cNvSpPr>
          <p:nvPr>
            <p:ph type="sldNum" sz="quarter" idx="12"/>
          </p:nvPr>
        </p:nvSpPr>
        <p:spPr/>
        <p:txBody>
          <a:bodyPr/>
          <a:lstStyle/>
          <a:p>
            <a:fld id="{330EA680-D336-4FF7-8B7A-9848BB0A1C32}" type="slidenum">
              <a:rPr lang="en-US" smtClean="0"/>
              <a:t>47</a:t>
            </a:fld>
            <a:endParaRPr lang="en-US"/>
          </a:p>
        </p:txBody>
      </p:sp>
      <p:pic>
        <p:nvPicPr>
          <p:cNvPr id="6" name="Picture 5">
            <a:extLst>
              <a:ext uri="{FF2B5EF4-FFF2-40B4-BE49-F238E27FC236}">
                <a16:creationId xmlns:a16="http://schemas.microsoft.com/office/drawing/2014/main" id="{672D3B11-A137-5617-4FCF-1132509E3509}"/>
              </a:ext>
            </a:extLst>
          </p:cNvPr>
          <p:cNvPicPr>
            <a:picLocks noChangeAspect="1"/>
          </p:cNvPicPr>
          <p:nvPr/>
        </p:nvPicPr>
        <p:blipFill>
          <a:blip r:embed="rId3"/>
          <a:stretch>
            <a:fillRect/>
          </a:stretch>
        </p:blipFill>
        <p:spPr>
          <a:xfrm>
            <a:off x="6228272" y="1805030"/>
            <a:ext cx="5783986" cy="4371933"/>
          </a:xfrm>
          <a:prstGeom prst="rect">
            <a:avLst/>
          </a:prstGeom>
        </p:spPr>
      </p:pic>
      <p:sp>
        <p:nvSpPr>
          <p:cNvPr id="5" name="Rectangle 4">
            <a:extLst>
              <a:ext uri="{FF2B5EF4-FFF2-40B4-BE49-F238E27FC236}">
                <a16:creationId xmlns:a16="http://schemas.microsoft.com/office/drawing/2014/main" id="{A9F98045-D6F3-AC67-AC44-686519F5FBC0}"/>
              </a:ext>
            </a:extLst>
          </p:cNvPr>
          <p:cNvSpPr/>
          <p:nvPr/>
        </p:nvSpPr>
        <p:spPr>
          <a:xfrm>
            <a:off x="9741877" y="4598828"/>
            <a:ext cx="800100" cy="258792"/>
          </a:xfrm>
          <a:prstGeom prst="rect">
            <a:avLst/>
          </a:prstGeom>
          <a:noFill/>
          <a:ln w="28575">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604279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53E0D-D9E7-D028-A523-B9650F56CF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141972-E412-5BE7-A103-D6EEC69EE96A}"/>
              </a:ext>
            </a:extLst>
          </p:cNvPr>
          <p:cNvSpPr>
            <a:spLocks noGrp="1"/>
          </p:cNvSpPr>
          <p:nvPr>
            <p:ph type="title"/>
          </p:nvPr>
        </p:nvSpPr>
        <p:spPr/>
        <p:txBody>
          <a:bodyPr/>
          <a:lstStyle/>
          <a:p>
            <a:r>
              <a:rPr lang="en-US"/>
              <a:t>R’s </a:t>
            </a:r>
            <a:r>
              <a:rPr lang="en-US" err="1">
                <a:latin typeface="Courier New" panose="02070309020205020404" pitchFamily="49" charset="0"/>
                <a:cs typeface="Courier New" panose="02070309020205020404" pitchFamily="49" charset="0"/>
              </a:rPr>
              <a:t>lm</a:t>
            </a:r>
            <a:r>
              <a:rPr lang="en-US">
                <a:latin typeface="Courier New" panose="02070309020205020404" pitchFamily="49" charset="0"/>
                <a:cs typeface="Courier New" panose="02070309020205020404" pitchFamily="49" charset="0"/>
              </a:rPr>
              <a:t>() </a:t>
            </a:r>
            <a:r>
              <a:rPr lang="en-US"/>
              <a:t>Summary – t-tests</a:t>
            </a:r>
          </a:p>
        </p:txBody>
      </p:sp>
      <p:sp>
        <p:nvSpPr>
          <p:cNvPr id="3" name="Content Placeholder 2">
            <a:extLst>
              <a:ext uri="{FF2B5EF4-FFF2-40B4-BE49-F238E27FC236}">
                <a16:creationId xmlns:a16="http://schemas.microsoft.com/office/drawing/2014/main" id="{7228AD18-300D-EA5D-B710-F2B39BC31009}"/>
              </a:ext>
            </a:extLst>
          </p:cNvPr>
          <p:cNvSpPr>
            <a:spLocks noGrp="1"/>
          </p:cNvSpPr>
          <p:nvPr>
            <p:ph idx="1"/>
          </p:nvPr>
        </p:nvSpPr>
        <p:spPr>
          <a:xfrm>
            <a:off x="838200" y="1825625"/>
            <a:ext cx="5390072" cy="4351338"/>
          </a:xfrm>
        </p:spPr>
        <p:txBody>
          <a:bodyPr>
            <a:normAutofit/>
          </a:bodyPr>
          <a:lstStyle/>
          <a:p>
            <a:pPr marL="0" indent="0">
              <a:buNone/>
            </a:pPr>
            <a:r>
              <a:rPr lang="en-US"/>
              <a:t>You’ll notice that R provides a significance code for certain </a:t>
            </a:r>
            <a:br>
              <a:rPr lang="en-US"/>
            </a:br>
            <a:r>
              <a:rPr lang="en-US"/>
              <a:t>p-value categories, such as </a:t>
            </a:r>
          </a:p>
          <a:p>
            <a:pPr marL="0" indent="0">
              <a:buNone/>
            </a:pPr>
            <a:r>
              <a:rPr lang="en-US">
                <a:latin typeface="Courier New" panose="02070309020205020404" pitchFamily="49" charset="0"/>
                <a:cs typeface="Courier New" panose="02070309020205020404" pitchFamily="49" charset="0"/>
              </a:rPr>
              <a:t>**</a:t>
            </a:r>
            <a:r>
              <a:rPr lang="en-US"/>
              <a:t> for </a:t>
            </a:r>
            <a:r>
              <a:rPr lang="en-US">
                <a:latin typeface="Courier New" panose="02070309020205020404" pitchFamily="49" charset="0"/>
                <a:cs typeface="Courier New" panose="02070309020205020404" pitchFamily="49" charset="0"/>
              </a:rPr>
              <a:t>.01</a:t>
            </a:r>
            <a:r>
              <a:rPr lang="en-US"/>
              <a:t>. </a:t>
            </a:r>
          </a:p>
          <a:p>
            <a:r>
              <a:rPr lang="en-US"/>
              <a:t>A key for these symbols is displayed below the coefficient breakdown.</a:t>
            </a:r>
          </a:p>
          <a:p>
            <a:pPr marL="0" indent="0">
              <a:buNone/>
            </a:pPr>
            <a:endParaRPr lang="en-US"/>
          </a:p>
        </p:txBody>
      </p:sp>
      <p:sp>
        <p:nvSpPr>
          <p:cNvPr id="4" name="Slide Number Placeholder 3">
            <a:extLst>
              <a:ext uri="{FF2B5EF4-FFF2-40B4-BE49-F238E27FC236}">
                <a16:creationId xmlns:a16="http://schemas.microsoft.com/office/drawing/2014/main" id="{8173351D-CB38-0C8C-91BA-96FE2F61A846}"/>
              </a:ext>
            </a:extLst>
          </p:cNvPr>
          <p:cNvSpPr>
            <a:spLocks noGrp="1"/>
          </p:cNvSpPr>
          <p:nvPr>
            <p:ph type="sldNum" sz="quarter" idx="12"/>
          </p:nvPr>
        </p:nvSpPr>
        <p:spPr/>
        <p:txBody>
          <a:bodyPr/>
          <a:lstStyle/>
          <a:p>
            <a:fld id="{330EA680-D336-4FF7-8B7A-9848BB0A1C32}" type="slidenum">
              <a:rPr lang="en-US" smtClean="0"/>
              <a:t>48</a:t>
            </a:fld>
            <a:endParaRPr lang="en-US"/>
          </a:p>
        </p:txBody>
      </p:sp>
      <p:pic>
        <p:nvPicPr>
          <p:cNvPr id="6" name="Picture 5">
            <a:extLst>
              <a:ext uri="{FF2B5EF4-FFF2-40B4-BE49-F238E27FC236}">
                <a16:creationId xmlns:a16="http://schemas.microsoft.com/office/drawing/2014/main" id="{28CC15B7-2175-D451-525B-07D08D293AB4}"/>
              </a:ext>
            </a:extLst>
          </p:cNvPr>
          <p:cNvPicPr>
            <a:picLocks noChangeAspect="1"/>
          </p:cNvPicPr>
          <p:nvPr/>
        </p:nvPicPr>
        <p:blipFill>
          <a:blip r:embed="rId3"/>
          <a:stretch>
            <a:fillRect/>
          </a:stretch>
        </p:blipFill>
        <p:spPr>
          <a:xfrm>
            <a:off x="6228272" y="1805030"/>
            <a:ext cx="5783986" cy="4371933"/>
          </a:xfrm>
          <a:prstGeom prst="rect">
            <a:avLst/>
          </a:prstGeom>
        </p:spPr>
      </p:pic>
      <p:sp>
        <p:nvSpPr>
          <p:cNvPr id="5" name="Rectangle 4">
            <a:extLst>
              <a:ext uri="{FF2B5EF4-FFF2-40B4-BE49-F238E27FC236}">
                <a16:creationId xmlns:a16="http://schemas.microsoft.com/office/drawing/2014/main" id="{0EE712F8-BA82-E313-E771-B0DF70E43F90}"/>
              </a:ext>
            </a:extLst>
          </p:cNvPr>
          <p:cNvSpPr/>
          <p:nvPr/>
        </p:nvSpPr>
        <p:spPr>
          <a:xfrm>
            <a:off x="10489223" y="3871897"/>
            <a:ext cx="615462" cy="1016625"/>
          </a:xfrm>
          <a:prstGeom prst="rect">
            <a:avLst/>
          </a:prstGeom>
          <a:noFill/>
          <a:ln w="28575">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18E180A-6AD4-D2DD-29CE-4750ECFA7919}"/>
              </a:ext>
            </a:extLst>
          </p:cNvPr>
          <p:cNvSpPr/>
          <p:nvPr/>
        </p:nvSpPr>
        <p:spPr>
          <a:xfrm>
            <a:off x="6228272" y="5023459"/>
            <a:ext cx="5637930" cy="281233"/>
          </a:xfrm>
          <a:prstGeom prst="rect">
            <a:avLst/>
          </a:prstGeom>
          <a:noFill/>
          <a:ln w="28575">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421554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9D0A9-7AD5-4866-8ED2-DE1DB77FBF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6087A9-5394-26DE-4DD8-00C1A572B3DB}"/>
              </a:ext>
            </a:extLst>
          </p:cNvPr>
          <p:cNvSpPr>
            <a:spLocks noGrp="1"/>
          </p:cNvSpPr>
          <p:nvPr>
            <p:ph type="title"/>
          </p:nvPr>
        </p:nvSpPr>
        <p:spPr/>
        <p:txBody>
          <a:bodyPr/>
          <a:lstStyle/>
          <a:p>
            <a:r>
              <a:rPr lang="en-US"/>
              <a:t>R’s </a:t>
            </a:r>
            <a:r>
              <a:rPr lang="en-US" err="1">
                <a:latin typeface="Courier New" panose="02070309020205020404" pitchFamily="49" charset="0"/>
                <a:cs typeface="Courier New" panose="02070309020205020404" pitchFamily="49" charset="0"/>
              </a:rPr>
              <a:t>lm</a:t>
            </a:r>
            <a:r>
              <a:rPr lang="en-US">
                <a:latin typeface="Courier New" panose="02070309020205020404" pitchFamily="49" charset="0"/>
                <a:cs typeface="Courier New" panose="02070309020205020404" pitchFamily="49" charset="0"/>
              </a:rPr>
              <a:t>() </a:t>
            </a:r>
            <a:r>
              <a:rPr lang="en-US"/>
              <a:t>Summary – Std. Error</a:t>
            </a:r>
          </a:p>
        </p:txBody>
      </p:sp>
      <p:sp>
        <p:nvSpPr>
          <p:cNvPr id="3" name="Content Placeholder 2">
            <a:extLst>
              <a:ext uri="{FF2B5EF4-FFF2-40B4-BE49-F238E27FC236}">
                <a16:creationId xmlns:a16="http://schemas.microsoft.com/office/drawing/2014/main" id="{B15D56B2-8755-C735-22FC-6570DC7A1FFE}"/>
              </a:ext>
            </a:extLst>
          </p:cNvPr>
          <p:cNvSpPr>
            <a:spLocks noGrp="1"/>
          </p:cNvSpPr>
          <p:nvPr>
            <p:ph idx="1"/>
          </p:nvPr>
        </p:nvSpPr>
        <p:spPr>
          <a:xfrm>
            <a:off x="838200" y="1825625"/>
            <a:ext cx="5390072" cy="4351338"/>
          </a:xfrm>
        </p:spPr>
        <p:txBody>
          <a:bodyPr>
            <a:normAutofit/>
          </a:bodyPr>
          <a:lstStyle/>
          <a:p>
            <a:pPr marL="0" indent="0">
              <a:buNone/>
            </a:pPr>
            <a:r>
              <a:rPr lang="en-US"/>
              <a:t>We will discuss the math behind the t-tests as well as standard error in a later lecture when we look at confidence and prediction intervals.</a:t>
            </a:r>
          </a:p>
          <a:p>
            <a:pPr marL="0" indent="0">
              <a:buNone/>
            </a:pPr>
            <a:endParaRPr lang="en-US"/>
          </a:p>
          <a:p>
            <a:pPr marL="0" indent="0">
              <a:buNone/>
            </a:pPr>
            <a:endParaRPr lang="en-US"/>
          </a:p>
        </p:txBody>
      </p:sp>
      <p:sp>
        <p:nvSpPr>
          <p:cNvPr id="4" name="Slide Number Placeholder 3">
            <a:extLst>
              <a:ext uri="{FF2B5EF4-FFF2-40B4-BE49-F238E27FC236}">
                <a16:creationId xmlns:a16="http://schemas.microsoft.com/office/drawing/2014/main" id="{F826C966-7A26-4B46-19C1-805D084072AA}"/>
              </a:ext>
            </a:extLst>
          </p:cNvPr>
          <p:cNvSpPr>
            <a:spLocks noGrp="1"/>
          </p:cNvSpPr>
          <p:nvPr>
            <p:ph type="sldNum" sz="quarter" idx="12"/>
          </p:nvPr>
        </p:nvSpPr>
        <p:spPr/>
        <p:txBody>
          <a:bodyPr/>
          <a:lstStyle/>
          <a:p>
            <a:fld id="{330EA680-D336-4FF7-8B7A-9848BB0A1C32}" type="slidenum">
              <a:rPr lang="en-US" smtClean="0"/>
              <a:t>49</a:t>
            </a:fld>
            <a:endParaRPr lang="en-US"/>
          </a:p>
        </p:txBody>
      </p:sp>
      <p:pic>
        <p:nvPicPr>
          <p:cNvPr id="6" name="Picture 5">
            <a:extLst>
              <a:ext uri="{FF2B5EF4-FFF2-40B4-BE49-F238E27FC236}">
                <a16:creationId xmlns:a16="http://schemas.microsoft.com/office/drawing/2014/main" id="{C832DE7E-2280-7C5A-0AFD-22B90758896D}"/>
              </a:ext>
            </a:extLst>
          </p:cNvPr>
          <p:cNvPicPr>
            <a:picLocks noChangeAspect="1"/>
          </p:cNvPicPr>
          <p:nvPr/>
        </p:nvPicPr>
        <p:blipFill>
          <a:blip r:embed="rId3"/>
          <a:stretch>
            <a:fillRect/>
          </a:stretch>
        </p:blipFill>
        <p:spPr>
          <a:xfrm>
            <a:off x="6228272" y="1805030"/>
            <a:ext cx="5783986" cy="4371933"/>
          </a:xfrm>
          <a:prstGeom prst="rect">
            <a:avLst/>
          </a:prstGeom>
        </p:spPr>
      </p:pic>
      <p:sp>
        <p:nvSpPr>
          <p:cNvPr id="5" name="Rectangle 4">
            <a:extLst>
              <a:ext uri="{FF2B5EF4-FFF2-40B4-BE49-F238E27FC236}">
                <a16:creationId xmlns:a16="http://schemas.microsoft.com/office/drawing/2014/main" id="{ACD53344-BC66-AEB4-EFCC-3606991371D6}"/>
              </a:ext>
            </a:extLst>
          </p:cNvPr>
          <p:cNvSpPr/>
          <p:nvPr/>
        </p:nvSpPr>
        <p:spPr>
          <a:xfrm>
            <a:off x="8053754" y="3742502"/>
            <a:ext cx="984738" cy="258792"/>
          </a:xfrm>
          <a:prstGeom prst="rect">
            <a:avLst/>
          </a:prstGeom>
          <a:noFill/>
          <a:ln w="28575">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583130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59476-2B1D-0D8C-C98A-356E9E5D9444}"/>
              </a:ext>
            </a:extLst>
          </p:cNvPr>
          <p:cNvSpPr>
            <a:spLocks noGrp="1"/>
          </p:cNvSpPr>
          <p:nvPr>
            <p:ph type="title"/>
          </p:nvPr>
        </p:nvSpPr>
        <p:spPr/>
        <p:txBody>
          <a:bodyPr/>
          <a:lstStyle/>
          <a:p>
            <a:r>
              <a:rPr lang="en-US" dirty="0"/>
              <a:t>Python + </a:t>
            </a:r>
            <a:r>
              <a:rPr lang="en-US" dirty="0" err="1">
                <a:latin typeface="Courier New" panose="02070309020205020404" pitchFamily="49" charset="0"/>
                <a:cs typeface="Courier New" panose="02070309020205020404" pitchFamily="49" charset="0"/>
              </a:rPr>
              <a:t>statsmodels</a:t>
            </a:r>
            <a:r>
              <a:rPr lang="en-US" dirty="0"/>
              <a:t> Summary Output</a:t>
            </a:r>
          </a:p>
        </p:txBody>
      </p:sp>
      <p:sp>
        <p:nvSpPr>
          <p:cNvPr id="3" name="Content Placeholder 2">
            <a:extLst>
              <a:ext uri="{FF2B5EF4-FFF2-40B4-BE49-F238E27FC236}">
                <a16:creationId xmlns:a16="http://schemas.microsoft.com/office/drawing/2014/main" id="{A89FEA22-DBEF-17C9-6189-57D23797BCA0}"/>
              </a:ext>
            </a:extLst>
          </p:cNvPr>
          <p:cNvSpPr>
            <a:spLocks noGrp="1"/>
          </p:cNvSpPr>
          <p:nvPr>
            <p:ph idx="1"/>
          </p:nvPr>
        </p:nvSpPr>
        <p:spPr>
          <a:xfrm>
            <a:off x="838200" y="1825625"/>
            <a:ext cx="5079023" cy="4351338"/>
          </a:xfrm>
        </p:spPr>
        <p:txBody>
          <a:bodyPr/>
          <a:lstStyle/>
          <a:p>
            <a:pPr marL="0" indent="0">
              <a:buNone/>
            </a:pPr>
            <a:r>
              <a:rPr lang="en-US" dirty="0"/>
              <a:t>Python’s </a:t>
            </a:r>
            <a:r>
              <a:rPr lang="en-US" dirty="0" err="1">
                <a:latin typeface="Courier New" panose="02070309020205020404" pitchFamily="49" charset="0"/>
                <a:cs typeface="Courier New" panose="02070309020205020404" pitchFamily="49" charset="0"/>
              </a:rPr>
              <a:t>statsmodels</a:t>
            </a:r>
            <a:r>
              <a:rPr lang="en-US" dirty="0">
                <a:latin typeface="Courier New" panose="02070309020205020404" pitchFamily="49" charset="0"/>
                <a:cs typeface="Courier New" panose="02070309020205020404" pitchFamily="49" charset="0"/>
              </a:rPr>
              <a:t> OLS</a:t>
            </a:r>
            <a:r>
              <a:rPr lang="en-US" dirty="0"/>
              <a:t> output was designed to mirror R with a plethora of additional summary output.</a:t>
            </a:r>
          </a:p>
          <a:p>
            <a:pPr marL="0" indent="0">
              <a:buNone/>
            </a:pPr>
            <a:endParaRPr lang="en-US" dirty="0"/>
          </a:p>
          <a:p>
            <a:pPr marL="0" indent="0">
              <a:buNone/>
            </a:pPr>
            <a:r>
              <a:rPr lang="en-US" dirty="0"/>
              <a:t>Adjusted R-squared, F- and t-tests are the same as we saw in R.</a:t>
            </a:r>
          </a:p>
        </p:txBody>
      </p:sp>
      <p:sp>
        <p:nvSpPr>
          <p:cNvPr id="4" name="Slide Number Placeholder 3">
            <a:extLst>
              <a:ext uri="{FF2B5EF4-FFF2-40B4-BE49-F238E27FC236}">
                <a16:creationId xmlns:a16="http://schemas.microsoft.com/office/drawing/2014/main" id="{AE3B3C68-BD85-4399-BF8C-9C9B856AEB5D}"/>
              </a:ext>
            </a:extLst>
          </p:cNvPr>
          <p:cNvSpPr>
            <a:spLocks noGrp="1"/>
          </p:cNvSpPr>
          <p:nvPr>
            <p:ph type="sldNum" sz="quarter" idx="12"/>
          </p:nvPr>
        </p:nvSpPr>
        <p:spPr/>
        <p:txBody>
          <a:bodyPr/>
          <a:lstStyle/>
          <a:p>
            <a:fld id="{330EA680-D336-4FF7-8B7A-9848BB0A1C32}" type="slidenum">
              <a:rPr lang="en-US" smtClean="0"/>
              <a:t>50</a:t>
            </a:fld>
            <a:endParaRPr lang="en-US"/>
          </a:p>
        </p:txBody>
      </p:sp>
      <p:pic>
        <p:nvPicPr>
          <p:cNvPr id="6" name="Picture 5">
            <a:extLst>
              <a:ext uri="{FF2B5EF4-FFF2-40B4-BE49-F238E27FC236}">
                <a16:creationId xmlns:a16="http://schemas.microsoft.com/office/drawing/2014/main" id="{103FCDFE-B70F-7C3E-4855-FF7A6CFD140D}"/>
              </a:ext>
            </a:extLst>
          </p:cNvPr>
          <p:cNvPicPr>
            <a:picLocks noChangeAspect="1"/>
          </p:cNvPicPr>
          <p:nvPr/>
        </p:nvPicPr>
        <p:blipFill>
          <a:blip r:embed="rId2"/>
          <a:stretch>
            <a:fillRect/>
          </a:stretch>
        </p:blipFill>
        <p:spPr>
          <a:xfrm>
            <a:off x="5917223" y="1679696"/>
            <a:ext cx="6171190" cy="4761422"/>
          </a:xfrm>
          <a:prstGeom prst="rect">
            <a:avLst/>
          </a:prstGeom>
        </p:spPr>
      </p:pic>
      <p:sp>
        <p:nvSpPr>
          <p:cNvPr id="5" name="Rectangle 4">
            <a:extLst>
              <a:ext uri="{FF2B5EF4-FFF2-40B4-BE49-F238E27FC236}">
                <a16:creationId xmlns:a16="http://schemas.microsoft.com/office/drawing/2014/main" id="{0800ABB0-0665-8917-55C7-29824820FD26}"/>
              </a:ext>
            </a:extLst>
          </p:cNvPr>
          <p:cNvSpPr/>
          <p:nvPr/>
        </p:nvSpPr>
        <p:spPr>
          <a:xfrm>
            <a:off x="8610600" y="1974086"/>
            <a:ext cx="2620992" cy="682849"/>
          </a:xfrm>
          <a:prstGeom prst="rect">
            <a:avLst/>
          </a:prstGeom>
          <a:noFill/>
          <a:ln w="28575">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D32D615-4077-A8E4-CC0A-0541C0D2DEA8}"/>
              </a:ext>
            </a:extLst>
          </p:cNvPr>
          <p:cNvSpPr/>
          <p:nvPr/>
        </p:nvSpPr>
        <p:spPr>
          <a:xfrm>
            <a:off x="8375254" y="3579962"/>
            <a:ext cx="1286331" cy="301858"/>
          </a:xfrm>
          <a:prstGeom prst="rect">
            <a:avLst/>
          </a:prstGeom>
          <a:noFill/>
          <a:ln w="28575">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879226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EE542-7585-309A-963F-08F5ECEEDF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BF7148-EFCC-129F-7201-ED3F9EFFFB1B}"/>
              </a:ext>
            </a:extLst>
          </p:cNvPr>
          <p:cNvSpPr>
            <a:spLocks noGrp="1"/>
          </p:cNvSpPr>
          <p:nvPr>
            <p:ph type="title"/>
          </p:nvPr>
        </p:nvSpPr>
        <p:spPr/>
        <p:txBody>
          <a:bodyPr/>
          <a:lstStyle/>
          <a:p>
            <a:r>
              <a:rPr lang="en-US" dirty="0"/>
              <a:t>Python + </a:t>
            </a:r>
            <a:r>
              <a:rPr lang="en-US" dirty="0" err="1">
                <a:latin typeface="Courier New" panose="02070309020205020404" pitchFamily="49" charset="0"/>
                <a:cs typeface="Courier New" panose="02070309020205020404" pitchFamily="49" charset="0"/>
              </a:rPr>
              <a:t>statsmodels</a:t>
            </a:r>
            <a:r>
              <a:rPr lang="en-US" dirty="0"/>
              <a:t> Summary Output</a:t>
            </a:r>
          </a:p>
        </p:txBody>
      </p:sp>
      <p:sp>
        <p:nvSpPr>
          <p:cNvPr id="3" name="Content Placeholder 2">
            <a:extLst>
              <a:ext uri="{FF2B5EF4-FFF2-40B4-BE49-F238E27FC236}">
                <a16:creationId xmlns:a16="http://schemas.microsoft.com/office/drawing/2014/main" id="{90EC07A3-7675-B39D-3E31-AED50B4E7BBB}"/>
              </a:ext>
            </a:extLst>
          </p:cNvPr>
          <p:cNvSpPr>
            <a:spLocks noGrp="1"/>
          </p:cNvSpPr>
          <p:nvPr>
            <p:ph idx="1"/>
          </p:nvPr>
        </p:nvSpPr>
        <p:spPr>
          <a:xfrm>
            <a:off x="838200" y="1825625"/>
            <a:ext cx="5079023" cy="4351338"/>
          </a:xfrm>
        </p:spPr>
        <p:txBody>
          <a:bodyPr>
            <a:normAutofit/>
          </a:bodyPr>
          <a:lstStyle/>
          <a:p>
            <a:pPr marL="0" indent="0">
              <a:buNone/>
            </a:pPr>
            <a:r>
              <a:rPr lang="en-US" sz="2400" dirty="0">
                <a:cs typeface="Courier New" panose="02070309020205020404" pitchFamily="49" charset="0"/>
              </a:rPr>
              <a:t>The</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statsmodels</a:t>
            </a:r>
            <a:r>
              <a:rPr lang="en-US" sz="2400" dirty="0">
                <a:latin typeface="Courier New" panose="02070309020205020404" pitchFamily="49" charset="0"/>
                <a:cs typeface="Courier New" panose="02070309020205020404" pitchFamily="49" charset="0"/>
              </a:rPr>
              <a:t> </a:t>
            </a:r>
            <a:r>
              <a:rPr lang="en-US" sz="2400" dirty="0">
                <a:cs typeface="Courier New" panose="02070309020205020404" pitchFamily="49" charset="0"/>
              </a:rPr>
              <a:t>package includes confidence intervals for each of the coefficients. These are the same as computed by R (just not displayed).</a:t>
            </a:r>
          </a:p>
          <a:p>
            <a:pPr marL="0" indent="0">
              <a:buNone/>
            </a:pPr>
            <a:r>
              <a:rPr lang="en-US" sz="2400" dirty="0">
                <a:cs typeface="Courier New" panose="02070309020205020404" pitchFamily="49" charset="0"/>
              </a:rPr>
              <a:t>Again, we will discuss these in a specific lecture.</a:t>
            </a:r>
            <a:endParaRPr lang="en-US" sz="2400" dirty="0"/>
          </a:p>
        </p:txBody>
      </p:sp>
      <p:sp>
        <p:nvSpPr>
          <p:cNvPr id="4" name="Slide Number Placeholder 3">
            <a:extLst>
              <a:ext uri="{FF2B5EF4-FFF2-40B4-BE49-F238E27FC236}">
                <a16:creationId xmlns:a16="http://schemas.microsoft.com/office/drawing/2014/main" id="{154ED7EA-9FC0-E2C7-9C65-F6BED3802E0E}"/>
              </a:ext>
            </a:extLst>
          </p:cNvPr>
          <p:cNvSpPr>
            <a:spLocks noGrp="1"/>
          </p:cNvSpPr>
          <p:nvPr>
            <p:ph type="sldNum" sz="quarter" idx="12"/>
          </p:nvPr>
        </p:nvSpPr>
        <p:spPr/>
        <p:txBody>
          <a:bodyPr/>
          <a:lstStyle/>
          <a:p>
            <a:fld id="{330EA680-D336-4FF7-8B7A-9848BB0A1C32}" type="slidenum">
              <a:rPr lang="en-US" smtClean="0"/>
              <a:t>51</a:t>
            </a:fld>
            <a:endParaRPr lang="en-US"/>
          </a:p>
        </p:txBody>
      </p:sp>
      <p:pic>
        <p:nvPicPr>
          <p:cNvPr id="6" name="Picture 5">
            <a:extLst>
              <a:ext uri="{FF2B5EF4-FFF2-40B4-BE49-F238E27FC236}">
                <a16:creationId xmlns:a16="http://schemas.microsoft.com/office/drawing/2014/main" id="{080080DA-A274-7AEC-76B1-9640ACF0060E}"/>
              </a:ext>
            </a:extLst>
          </p:cNvPr>
          <p:cNvPicPr>
            <a:picLocks noChangeAspect="1"/>
          </p:cNvPicPr>
          <p:nvPr/>
        </p:nvPicPr>
        <p:blipFill>
          <a:blip r:embed="rId2"/>
          <a:stretch>
            <a:fillRect/>
          </a:stretch>
        </p:blipFill>
        <p:spPr>
          <a:xfrm>
            <a:off x="5917223" y="1679696"/>
            <a:ext cx="6171190" cy="4761422"/>
          </a:xfrm>
          <a:prstGeom prst="rect">
            <a:avLst/>
          </a:prstGeom>
        </p:spPr>
      </p:pic>
      <p:sp>
        <p:nvSpPr>
          <p:cNvPr id="5" name="Rectangle 4">
            <a:extLst>
              <a:ext uri="{FF2B5EF4-FFF2-40B4-BE49-F238E27FC236}">
                <a16:creationId xmlns:a16="http://schemas.microsoft.com/office/drawing/2014/main" id="{D9A61896-37A8-BE15-80C0-7B18BA7786F0}"/>
              </a:ext>
            </a:extLst>
          </p:cNvPr>
          <p:cNvSpPr/>
          <p:nvPr/>
        </p:nvSpPr>
        <p:spPr>
          <a:xfrm>
            <a:off x="9799608" y="3579962"/>
            <a:ext cx="1554192" cy="1104181"/>
          </a:xfrm>
          <a:prstGeom prst="rect">
            <a:avLst/>
          </a:prstGeom>
          <a:noFill/>
          <a:ln w="28575">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6956107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279A5-49AB-BDE6-16F5-E78A800EC6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6D004C-B037-FA45-56C3-0ADB0BC24AC2}"/>
              </a:ext>
            </a:extLst>
          </p:cNvPr>
          <p:cNvSpPr>
            <a:spLocks noGrp="1"/>
          </p:cNvSpPr>
          <p:nvPr>
            <p:ph type="title"/>
          </p:nvPr>
        </p:nvSpPr>
        <p:spPr/>
        <p:txBody>
          <a:bodyPr/>
          <a:lstStyle/>
          <a:p>
            <a:r>
              <a:rPr lang="en-US" dirty="0"/>
              <a:t>Python + </a:t>
            </a:r>
            <a:r>
              <a:rPr lang="en-US" dirty="0" err="1">
                <a:latin typeface="Courier New" panose="02070309020205020404" pitchFamily="49" charset="0"/>
                <a:cs typeface="Courier New" panose="02070309020205020404" pitchFamily="49" charset="0"/>
              </a:rPr>
              <a:t>statsmodels</a:t>
            </a:r>
            <a:r>
              <a:rPr lang="en-US" dirty="0"/>
              <a:t> Summary Output</a:t>
            </a:r>
          </a:p>
        </p:txBody>
      </p:sp>
      <p:sp>
        <p:nvSpPr>
          <p:cNvPr id="3" name="Content Placeholder 2">
            <a:extLst>
              <a:ext uri="{FF2B5EF4-FFF2-40B4-BE49-F238E27FC236}">
                <a16:creationId xmlns:a16="http://schemas.microsoft.com/office/drawing/2014/main" id="{04C43FEA-6501-1200-67E6-F5E3A40BD34B}"/>
              </a:ext>
            </a:extLst>
          </p:cNvPr>
          <p:cNvSpPr>
            <a:spLocks noGrp="1"/>
          </p:cNvSpPr>
          <p:nvPr>
            <p:ph idx="1"/>
          </p:nvPr>
        </p:nvSpPr>
        <p:spPr>
          <a:xfrm>
            <a:off x="838200" y="1825625"/>
            <a:ext cx="5079023" cy="4351338"/>
          </a:xfrm>
        </p:spPr>
        <p:txBody>
          <a:bodyPr>
            <a:normAutofit/>
          </a:bodyPr>
          <a:lstStyle/>
          <a:p>
            <a:pPr marL="0" indent="0">
              <a:buNone/>
            </a:pPr>
            <a:r>
              <a:rPr lang="en-US" sz="2400" dirty="0">
                <a:cs typeface="Courier New" panose="02070309020205020404" pitchFamily="49" charset="0"/>
              </a:rPr>
              <a:t>We will cover the summary output that is distinct from R, starting from the top.</a:t>
            </a:r>
          </a:p>
          <a:p>
            <a:pPr marL="0" indent="0">
              <a:buNone/>
            </a:pPr>
            <a:endParaRPr lang="en-US" sz="2400" dirty="0">
              <a:cs typeface="Courier New" panose="02070309020205020404" pitchFamily="49" charset="0"/>
            </a:endParaRPr>
          </a:p>
          <a:p>
            <a:pPr marL="0" indent="0">
              <a:buNone/>
            </a:pPr>
            <a:r>
              <a:rPr lang="en-US" sz="2400" dirty="0">
                <a:cs typeface="Courier New" panose="02070309020205020404" pitchFamily="49" charset="0"/>
              </a:rPr>
              <a:t>Log-Likelihood, Akaike Information Criterion (AIC), and Bayesian Information Criterion (BIC are related. They are ways of quantifying the fit of our model with respect to the number of parameters. We will cover these in more detail in a later lecture.</a:t>
            </a:r>
          </a:p>
          <a:p>
            <a:pPr marL="0" indent="0">
              <a:buNone/>
            </a:pPr>
            <a:endParaRPr lang="en-US" sz="2400" dirty="0"/>
          </a:p>
        </p:txBody>
      </p:sp>
      <p:sp>
        <p:nvSpPr>
          <p:cNvPr id="4" name="Slide Number Placeholder 3">
            <a:extLst>
              <a:ext uri="{FF2B5EF4-FFF2-40B4-BE49-F238E27FC236}">
                <a16:creationId xmlns:a16="http://schemas.microsoft.com/office/drawing/2014/main" id="{CDFFC345-D30C-2CFD-5242-C400248695AE}"/>
              </a:ext>
            </a:extLst>
          </p:cNvPr>
          <p:cNvSpPr>
            <a:spLocks noGrp="1"/>
          </p:cNvSpPr>
          <p:nvPr>
            <p:ph type="sldNum" sz="quarter" idx="12"/>
          </p:nvPr>
        </p:nvSpPr>
        <p:spPr/>
        <p:txBody>
          <a:bodyPr/>
          <a:lstStyle/>
          <a:p>
            <a:fld id="{330EA680-D336-4FF7-8B7A-9848BB0A1C32}" type="slidenum">
              <a:rPr lang="en-US" smtClean="0"/>
              <a:t>52</a:t>
            </a:fld>
            <a:endParaRPr lang="en-US"/>
          </a:p>
        </p:txBody>
      </p:sp>
      <p:pic>
        <p:nvPicPr>
          <p:cNvPr id="6" name="Picture 5">
            <a:extLst>
              <a:ext uri="{FF2B5EF4-FFF2-40B4-BE49-F238E27FC236}">
                <a16:creationId xmlns:a16="http://schemas.microsoft.com/office/drawing/2014/main" id="{6D24B91F-D2D5-A1B4-0FF7-3A12BB9DC257}"/>
              </a:ext>
            </a:extLst>
          </p:cNvPr>
          <p:cNvPicPr>
            <a:picLocks noChangeAspect="1"/>
          </p:cNvPicPr>
          <p:nvPr/>
        </p:nvPicPr>
        <p:blipFill>
          <a:blip r:embed="rId2"/>
          <a:stretch>
            <a:fillRect/>
          </a:stretch>
        </p:blipFill>
        <p:spPr>
          <a:xfrm>
            <a:off x="5917223" y="1679696"/>
            <a:ext cx="6171190" cy="4761422"/>
          </a:xfrm>
          <a:prstGeom prst="rect">
            <a:avLst/>
          </a:prstGeom>
        </p:spPr>
      </p:pic>
      <p:sp>
        <p:nvSpPr>
          <p:cNvPr id="5" name="Rectangle 4">
            <a:extLst>
              <a:ext uri="{FF2B5EF4-FFF2-40B4-BE49-F238E27FC236}">
                <a16:creationId xmlns:a16="http://schemas.microsoft.com/office/drawing/2014/main" id="{AA19A9DC-7380-790D-6790-0BB8B5FFB153}"/>
              </a:ext>
            </a:extLst>
          </p:cNvPr>
          <p:cNvSpPr/>
          <p:nvPr/>
        </p:nvSpPr>
        <p:spPr>
          <a:xfrm>
            <a:off x="8610600" y="2622431"/>
            <a:ext cx="2631056" cy="569344"/>
          </a:xfrm>
          <a:prstGeom prst="rect">
            <a:avLst/>
          </a:prstGeom>
          <a:noFill/>
          <a:ln w="28575">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022616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5642D-113F-458D-36B1-565C34DF92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0E1274-DE13-02A5-AB41-3ED4A9E7BB04}"/>
              </a:ext>
            </a:extLst>
          </p:cNvPr>
          <p:cNvSpPr>
            <a:spLocks noGrp="1"/>
          </p:cNvSpPr>
          <p:nvPr>
            <p:ph type="title"/>
          </p:nvPr>
        </p:nvSpPr>
        <p:spPr/>
        <p:txBody>
          <a:bodyPr/>
          <a:lstStyle/>
          <a:p>
            <a:r>
              <a:rPr lang="en-US" dirty="0"/>
              <a:t>Python + </a:t>
            </a:r>
            <a:r>
              <a:rPr lang="en-US" dirty="0" err="1">
                <a:latin typeface="Courier New" panose="02070309020205020404" pitchFamily="49" charset="0"/>
                <a:cs typeface="Courier New" panose="02070309020205020404" pitchFamily="49" charset="0"/>
              </a:rPr>
              <a:t>statsmodels</a:t>
            </a:r>
            <a:r>
              <a:rPr lang="en-US" dirty="0"/>
              <a:t> Summary Output</a:t>
            </a:r>
          </a:p>
        </p:txBody>
      </p:sp>
      <p:sp>
        <p:nvSpPr>
          <p:cNvPr id="3" name="Content Placeholder 2">
            <a:extLst>
              <a:ext uri="{FF2B5EF4-FFF2-40B4-BE49-F238E27FC236}">
                <a16:creationId xmlns:a16="http://schemas.microsoft.com/office/drawing/2014/main" id="{8F58D8C5-66D1-D07E-40BD-D4B65CD34E00}"/>
              </a:ext>
            </a:extLst>
          </p:cNvPr>
          <p:cNvSpPr>
            <a:spLocks noGrp="1"/>
          </p:cNvSpPr>
          <p:nvPr>
            <p:ph idx="1"/>
          </p:nvPr>
        </p:nvSpPr>
        <p:spPr>
          <a:xfrm>
            <a:off x="838200" y="1825625"/>
            <a:ext cx="5079023" cy="4351338"/>
          </a:xfrm>
        </p:spPr>
        <p:txBody>
          <a:bodyPr>
            <a:normAutofit/>
          </a:bodyPr>
          <a:lstStyle/>
          <a:p>
            <a:pPr marL="0" indent="0">
              <a:buNone/>
            </a:pPr>
            <a:r>
              <a:rPr lang="en-US" sz="2400" dirty="0">
                <a:cs typeface="Courier New" panose="02070309020205020404" pitchFamily="49" charset="0"/>
              </a:rPr>
              <a:t>The next few tests we will not cover in depth during this class (read: we will not go into the underlying math or formulae). </a:t>
            </a:r>
          </a:p>
          <a:p>
            <a:pPr marL="0" indent="0">
              <a:buNone/>
            </a:pPr>
            <a:endParaRPr lang="en-US" sz="2400" dirty="0">
              <a:cs typeface="Courier New" panose="02070309020205020404" pitchFamily="49" charset="0"/>
            </a:endParaRPr>
          </a:p>
          <a:p>
            <a:pPr marL="0" indent="0">
              <a:buNone/>
            </a:pPr>
            <a:r>
              <a:rPr lang="en-US" sz="2400" dirty="0">
                <a:cs typeface="Courier New" panose="02070309020205020404" pitchFamily="49" charset="0"/>
              </a:rPr>
              <a:t>We will discuss what they are for completeness, but we will not be expected to reference them in HW, projects, or exams.</a:t>
            </a:r>
          </a:p>
          <a:p>
            <a:pPr marL="0" indent="0">
              <a:buNone/>
            </a:pPr>
            <a:endParaRPr lang="en-US" sz="2400" dirty="0">
              <a:cs typeface="Courier New" panose="02070309020205020404" pitchFamily="49" charset="0"/>
            </a:endParaRPr>
          </a:p>
          <a:p>
            <a:pPr marL="0" indent="0">
              <a:buNone/>
            </a:pPr>
            <a:endParaRPr lang="en-US" sz="2400" dirty="0"/>
          </a:p>
        </p:txBody>
      </p:sp>
      <p:sp>
        <p:nvSpPr>
          <p:cNvPr id="4" name="Slide Number Placeholder 3">
            <a:extLst>
              <a:ext uri="{FF2B5EF4-FFF2-40B4-BE49-F238E27FC236}">
                <a16:creationId xmlns:a16="http://schemas.microsoft.com/office/drawing/2014/main" id="{BA5878FC-82EB-E5F3-BFB6-F63955040104}"/>
              </a:ext>
            </a:extLst>
          </p:cNvPr>
          <p:cNvSpPr>
            <a:spLocks noGrp="1"/>
          </p:cNvSpPr>
          <p:nvPr>
            <p:ph type="sldNum" sz="quarter" idx="12"/>
          </p:nvPr>
        </p:nvSpPr>
        <p:spPr/>
        <p:txBody>
          <a:bodyPr/>
          <a:lstStyle/>
          <a:p>
            <a:fld id="{330EA680-D336-4FF7-8B7A-9848BB0A1C32}" type="slidenum">
              <a:rPr lang="en-US" smtClean="0"/>
              <a:t>53</a:t>
            </a:fld>
            <a:endParaRPr lang="en-US"/>
          </a:p>
        </p:txBody>
      </p:sp>
      <p:pic>
        <p:nvPicPr>
          <p:cNvPr id="6" name="Picture 5">
            <a:extLst>
              <a:ext uri="{FF2B5EF4-FFF2-40B4-BE49-F238E27FC236}">
                <a16:creationId xmlns:a16="http://schemas.microsoft.com/office/drawing/2014/main" id="{D80D7A16-ACBE-BC92-C117-9B3541EFCC4B}"/>
              </a:ext>
            </a:extLst>
          </p:cNvPr>
          <p:cNvPicPr>
            <a:picLocks noChangeAspect="1"/>
          </p:cNvPicPr>
          <p:nvPr/>
        </p:nvPicPr>
        <p:blipFill>
          <a:blip r:embed="rId2"/>
          <a:stretch>
            <a:fillRect/>
          </a:stretch>
        </p:blipFill>
        <p:spPr>
          <a:xfrm>
            <a:off x="5917223" y="1679696"/>
            <a:ext cx="6171190" cy="4761422"/>
          </a:xfrm>
          <a:prstGeom prst="rect">
            <a:avLst/>
          </a:prstGeom>
        </p:spPr>
      </p:pic>
      <p:sp>
        <p:nvSpPr>
          <p:cNvPr id="5" name="Rectangle 4">
            <a:extLst>
              <a:ext uri="{FF2B5EF4-FFF2-40B4-BE49-F238E27FC236}">
                <a16:creationId xmlns:a16="http://schemas.microsoft.com/office/drawing/2014/main" id="{6635DBF5-0938-D070-795A-AE32C2375782}"/>
              </a:ext>
            </a:extLst>
          </p:cNvPr>
          <p:cNvSpPr/>
          <p:nvPr/>
        </p:nvSpPr>
        <p:spPr>
          <a:xfrm>
            <a:off x="5979544" y="4744529"/>
            <a:ext cx="5230648" cy="715992"/>
          </a:xfrm>
          <a:prstGeom prst="rect">
            <a:avLst/>
          </a:prstGeom>
          <a:noFill/>
          <a:ln w="28575">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7981901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8F62A-E1A8-FE39-5BD3-D5730CAEF3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4C8C58-EE9C-FE20-919A-A91F2F83F5F5}"/>
              </a:ext>
            </a:extLst>
          </p:cNvPr>
          <p:cNvSpPr>
            <a:spLocks noGrp="1"/>
          </p:cNvSpPr>
          <p:nvPr>
            <p:ph type="title"/>
          </p:nvPr>
        </p:nvSpPr>
        <p:spPr/>
        <p:txBody>
          <a:bodyPr/>
          <a:lstStyle/>
          <a:p>
            <a:r>
              <a:rPr lang="en-US" dirty="0"/>
              <a:t>Python + </a:t>
            </a:r>
            <a:r>
              <a:rPr lang="en-US" dirty="0" err="1">
                <a:latin typeface="Courier New" panose="02070309020205020404" pitchFamily="49" charset="0"/>
                <a:cs typeface="Courier New" panose="02070309020205020404" pitchFamily="49" charset="0"/>
              </a:rPr>
              <a:t>statsmodels</a:t>
            </a:r>
            <a:r>
              <a:rPr lang="en-US" dirty="0"/>
              <a:t> Summary Output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F31E916-76AA-939A-4900-2ED2D7EB45DB}"/>
                  </a:ext>
                </a:extLst>
              </p:cNvPr>
              <p:cNvSpPr>
                <a:spLocks noGrp="1"/>
              </p:cNvSpPr>
              <p:nvPr>
                <p:ph idx="1"/>
              </p:nvPr>
            </p:nvSpPr>
            <p:spPr>
              <a:xfrm>
                <a:off x="838200" y="1825625"/>
                <a:ext cx="5079023" cy="4351338"/>
              </a:xfrm>
            </p:spPr>
            <p:txBody>
              <a:bodyPr>
                <a:normAutofit lnSpcReduction="10000"/>
              </a:bodyPr>
              <a:lstStyle/>
              <a:p>
                <a:pPr marL="0" indent="0">
                  <a:buNone/>
                </a:pPr>
                <a:r>
                  <a:rPr lang="en-US" sz="2400" dirty="0">
                    <a:cs typeface="Courier New" panose="02070309020205020404" pitchFamily="49" charset="0"/>
                  </a:rPr>
                  <a:t>The </a:t>
                </a:r>
                <a:r>
                  <a:rPr lang="en-US" sz="2400" b="1" dirty="0">
                    <a:cs typeface="Courier New" panose="02070309020205020404" pitchFamily="49" charset="0"/>
                  </a:rPr>
                  <a:t>Durbin-Watson test </a:t>
                </a:r>
                <a:r>
                  <a:rPr lang="en-US" sz="2400" dirty="0">
                    <a:cs typeface="Courier New" panose="02070309020205020404" pitchFamily="49" charset="0"/>
                  </a:rPr>
                  <a:t>provides a test statistic for </a:t>
                </a:r>
                <a:r>
                  <a:rPr lang="en-US" sz="2400" i="1" dirty="0">
                    <a:cs typeface="Courier New" panose="02070309020205020404" pitchFamily="49" charset="0"/>
                  </a:rPr>
                  <a:t>autocorrelation</a:t>
                </a:r>
                <a:r>
                  <a:rPr lang="en-US" sz="2400" dirty="0">
                    <a:cs typeface="Courier New" panose="02070309020205020404" pitchFamily="49" charset="0"/>
                  </a:rPr>
                  <a:t> in the residuals. </a:t>
                </a:r>
              </a:p>
              <a:p>
                <a:r>
                  <a:rPr lang="en-US" sz="2400" dirty="0">
                    <a:cs typeface="Courier New" panose="02070309020205020404" pitchFamily="49" charset="0"/>
                  </a:rPr>
                  <a:t>It is time-series based (so it only applies in those contexts)</a:t>
                </a:r>
              </a:p>
              <a:p>
                <a:r>
                  <a:rPr lang="en-US" sz="2400" dirty="0">
                    <a:cs typeface="Courier New" panose="02070309020205020404" pitchFamily="49" charset="0"/>
                  </a:rPr>
                  <a:t>Checks whether residuals at time </a:t>
                </a:r>
                <a14:m>
                  <m:oMath xmlns:m="http://schemas.openxmlformats.org/officeDocument/2006/math">
                    <m:r>
                      <a:rPr lang="en-US" sz="2400" b="0" i="1" smtClean="0">
                        <a:latin typeface="Cambria Math" panose="02040503050406030204" pitchFamily="18" charset="0"/>
                        <a:cs typeface="Courier New" panose="02070309020205020404" pitchFamily="49" charset="0"/>
                      </a:rPr>
                      <m:t>𝑡</m:t>
                    </m:r>
                  </m:oMath>
                </a14:m>
                <a:r>
                  <a:rPr lang="en-US" sz="2400" dirty="0"/>
                  <a:t> are correlated with residuals at time </a:t>
                </a:r>
                <a14:m>
                  <m:oMath xmlns:m="http://schemas.openxmlformats.org/officeDocument/2006/math">
                    <m:r>
                      <a:rPr lang="en-US" sz="2400" b="0" i="1" smtClean="0">
                        <a:latin typeface="Cambria Math" panose="02040503050406030204" pitchFamily="18" charset="0"/>
                      </a:rPr>
                      <m:t>𝑡</m:t>
                    </m:r>
                    <m:r>
                      <a:rPr lang="en-US" sz="2400" b="0" i="1" smtClean="0">
                        <a:latin typeface="Cambria Math" panose="02040503050406030204" pitchFamily="18" charset="0"/>
                      </a:rPr>
                      <m:t>−1</m:t>
                    </m:r>
                  </m:oMath>
                </a14:m>
                <a:r>
                  <a:rPr lang="en-US" sz="2400" dirty="0"/>
                  <a:t>.</a:t>
                </a:r>
              </a:p>
              <a:p>
                <a:r>
                  <a:rPr lang="en-US" sz="2400" dirty="0"/>
                  <a:t>DW ranges from 0 to 4:</a:t>
                </a:r>
              </a:p>
              <a:p>
                <a:pPr lvl="1"/>
                <a14:m>
                  <m:oMath xmlns:m="http://schemas.openxmlformats.org/officeDocument/2006/math">
                    <m:r>
                      <a:rPr lang="en-US" sz="2000" b="0" i="1" smtClean="0">
                        <a:latin typeface="Cambria Math" panose="02040503050406030204" pitchFamily="18" charset="0"/>
                      </a:rPr>
                      <m:t>≈2 → </m:t>
                    </m:r>
                  </m:oMath>
                </a14:m>
                <a:r>
                  <a:rPr lang="en-US" sz="2000" dirty="0"/>
                  <a:t>	no autocorrelation</a:t>
                </a:r>
              </a:p>
              <a:p>
                <a:pPr lvl="1"/>
                <a14:m>
                  <m:oMath xmlns:m="http://schemas.openxmlformats.org/officeDocument/2006/math">
                    <m:r>
                      <a:rPr lang="en-US" sz="2000" b="0" i="1" smtClean="0">
                        <a:latin typeface="Cambria Math" panose="02040503050406030204" pitchFamily="18" charset="0"/>
                      </a:rPr>
                      <m:t>&lt;2 →</m:t>
                    </m:r>
                  </m:oMath>
                </a14:m>
                <a:r>
                  <a:rPr lang="en-US" sz="2000" dirty="0"/>
                  <a:t>	positive autocorrelation</a:t>
                </a:r>
              </a:p>
              <a:p>
                <a:pPr lvl="1"/>
                <a14:m>
                  <m:oMath xmlns:m="http://schemas.openxmlformats.org/officeDocument/2006/math">
                    <m:r>
                      <a:rPr lang="en-US" sz="2000" b="0" i="1" smtClean="0">
                        <a:latin typeface="Cambria Math" panose="02040503050406030204" pitchFamily="18" charset="0"/>
                      </a:rPr>
                      <m:t>&gt;2 →</m:t>
                    </m:r>
                  </m:oMath>
                </a14:m>
                <a:r>
                  <a:rPr lang="en-US" sz="2000" dirty="0"/>
                  <a:t>	negative autocorrelation</a:t>
                </a:r>
              </a:p>
            </p:txBody>
          </p:sp>
        </mc:Choice>
        <mc:Fallback>
          <p:sp>
            <p:nvSpPr>
              <p:cNvPr id="3" name="Content Placeholder 2">
                <a:extLst>
                  <a:ext uri="{FF2B5EF4-FFF2-40B4-BE49-F238E27FC236}">
                    <a16:creationId xmlns:a16="http://schemas.microsoft.com/office/drawing/2014/main" id="{EF31E916-76AA-939A-4900-2ED2D7EB45DB}"/>
                  </a:ext>
                </a:extLst>
              </p:cNvPr>
              <p:cNvSpPr>
                <a:spLocks noGrp="1" noRot="1" noChangeAspect="1" noMove="1" noResize="1" noEditPoints="1" noAdjustHandles="1" noChangeArrowheads="1" noChangeShapeType="1" noTextEdit="1"/>
              </p:cNvSpPr>
              <p:nvPr>
                <p:ph idx="1"/>
              </p:nvPr>
            </p:nvSpPr>
            <p:spPr>
              <a:xfrm>
                <a:off x="838200" y="1825625"/>
                <a:ext cx="5079023" cy="4351338"/>
              </a:xfrm>
              <a:blipFill>
                <a:blip r:embed="rId2"/>
                <a:stretch>
                  <a:fillRect l="-1995" t="-2616"/>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C3915139-E7C4-6CB2-6AB7-9C526D5B5C12}"/>
              </a:ext>
            </a:extLst>
          </p:cNvPr>
          <p:cNvSpPr>
            <a:spLocks noGrp="1"/>
          </p:cNvSpPr>
          <p:nvPr>
            <p:ph type="sldNum" sz="quarter" idx="12"/>
          </p:nvPr>
        </p:nvSpPr>
        <p:spPr/>
        <p:txBody>
          <a:bodyPr/>
          <a:lstStyle/>
          <a:p>
            <a:fld id="{330EA680-D336-4FF7-8B7A-9848BB0A1C32}" type="slidenum">
              <a:rPr lang="en-US" smtClean="0"/>
              <a:t>54</a:t>
            </a:fld>
            <a:endParaRPr lang="en-US"/>
          </a:p>
        </p:txBody>
      </p:sp>
      <p:pic>
        <p:nvPicPr>
          <p:cNvPr id="6" name="Picture 5">
            <a:extLst>
              <a:ext uri="{FF2B5EF4-FFF2-40B4-BE49-F238E27FC236}">
                <a16:creationId xmlns:a16="http://schemas.microsoft.com/office/drawing/2014/main" id="{78686D61-D31E-2431-6CA0-5C2BE55AADC6}"/>
              </a:ext>
            </a:extLst>
          </p:cNvPr>
          <p:cNvPicPr>
            <a:picLocks noChangeAspect="1"/>
          </p:cNvPicPr>
          <p:nvPr/>
        </p:nvPicPr>
        <p:blipFill>
          <a:blip r:embed="rId3"/>
          <a:stretch>
            <a:fillRect/>
          </a:stretch>
        </p:blipFill>
        <p:spPr>
          <a:xfrm>
            <a:off x="5917223" y="1679696"/>
            <a:ext cx="6171190" cy="4761422"/>
          </a:xfrm>
          <a:prstGeom prst="rect">
            <a:avLst/>
          </a:prstGeom>
        </p:spPr>
      </p:pic>
      <p:sp>
        <p:nvSpPr>
          <p:cNvPr id="5" name="Rectangle 4">
            <a:extLst>
              <a:ext uri="{FF2B5EF4-FFF2-40B4-BE49-F238E27FC236}">
                <a16:creationId xmlns:a16="http://schemas.microsoft.com/office/drawing/2014/main" id="{3A34DEEC-46B9-A332-9835-C88F6DDED0D8}"/>
              </a:ext>
            </a:extLst>
          </p:cNvPr>
          <p:cNvSpPr/>
          <p:nvPr/>
        </p:nvSpPr>
        <p:spPr>
          <a:xfrm>
            <a:off x="8610601" y="4735737"/>
            <a:ext cx="2647590" cy="223125"/>
          </a:xfrm>
          <a:prstGeom prst="rect">
            <a:avLst/>
          </a:prstGeom>
          <a:noFill/>
          <a:ln w="28575">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0323699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2C805-5D44-C9CF-7DF8-9C1822680A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F1D237-FB3C-373C-E477-71E24EE9825B}"/>
              </a:ext>
            </a:extLst>
          </p:cNvPr>
          <p:cNvSpPr>
            <a:spLocks noGrp="1"/>
          </p:cNvSpPr>
          <p:nvPr>
            <p:ph type="title"/>
          </p:nvPr>
        </p:nvSpPr>
        <p:spPr/>
        <p:txBody>
          <a:bodyPr/>
          <a:lstStyle/>
          <a:p>
            <a:r>
              <a:rPr lang="en-US" dirty="0"/>
              <a:t>Python + </a:t>
            </a:r>
            <a:r>
              <a:rPr lang="en-US" dirty="0" err="1">
                <a:latin typeface="Courier New" panose="02070309020205020404" pitchFamily="49" charset="0"/>
                <a:cs typeface="Courier New" panose="02070309020205020404" pitchFamily="49" charset="0"/>
              </a:rPr>
              <a:t>statsmodels</a:t>
            </a:r>
            <a:r>
              <a:rPr lang="en-US" dirty="0"/>
              <a:t> Summary Output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3AA554B-A625-96BE-FCB4-AAB9B4F25355}"/>
                  </a:ext>
                </a:extLst>
              </p:cNvPr>
              <p:cNvSpPr>
                <a:spLocks noGrp="1"/>
              </p:cNvSpPr>
              <p:nvPr>
                <p:ph idx="1"/>
              </p:nvPr>
            </p:nvSpPr>
            <p:spPr>
              <a:xfrm>
                <a:off x="838200" y="1825625"/>
                <a:ext cx="5079023" cy="4351338"/>
              </a:xfrm>
            </p:spPr>
            <p:txBody>
              <a:bodyPr>
                <a:normAutofit/>
              </a:bodyPr>
              <a:lstStyle/>
              <a:p>
                <a:pPr marL="0" indent="0">
                  <a:buNone/>
                </a:pPr>
                <a:r>
                  <a:rPr lang="en-US" sz="2400" b="1" dirty="0">
                    <a:cs typeface="Courier New" panose="02070309020205020404" pitchFamily="49" charset="0"/>
                  </a:rPr>
                  <a:t>Jarque-Bera</a:t>
                </a:r>
                <a:r>
                  <a:rPr lang="en-US" sz="2400" dirty="0">
                    <a:cs typeface="Courier New" panose="02070309020205020404" pitchFamily="49" charset="0"/>
                  </a:rPr>
                  <a:t> is another test of normality based on the skewness and kurtosis of the residuals.</a:t>
                </a:r>
              </a:p>
              <a:p>
                <a:r>
                  <a:rPr lang="en-US" sz="2400" dirty="0">
                    <a:cs typeface="Courier New" panose="02070309020205020404" pitchFamily="49" charset="0"/>
                  </a:rPr>
                  <a:t>Like Omnibus, it is underpowered with small </a:t>
                </a:r>
                <a14:m>
                  <m:oMath xmlns:m="http://schemas.openxmlformats.org/officeDocument/2006/math">
                    <m:r>
                      <a:rPr lang="en-US" sz="2400" b="0" i="1" smtClean="0">
                        <a:latin typeface="Cambria Math" panose="02040503050406030204" pitchFamily="18" charset="0"/>
                        <a:cs typeface="Courier New" panose="02070309020205020404" pitchFamily="49" charset="0"/>
                      </a:rPr>
                      <m:t>𝑛</m:t>
                    </m:r>
                  </m:oMath>
                </a14:m>
                <a:r>
                  <a:rPr lang="en-US" sz="2400" dirty="0"/>
                  <a:t> and overly sensitive with large </a:t>
                </a:r>
                <a14:m>
                  <m:oMath xmlns:m="http://schemas.openxmlformats.org/officeDocument/2006/math">
                    <m:r>
                      <a:rPr lang="en-US" sz="2400" b="0" i="1" smtClean="0">
                        <a:latin typeface="Cambria Math" panose="02040503050406030204" pitchFamily="18" charset="0"/>
                      </a:rPr>
                      <m:t>𝑛</m:t>
                    </m:r>
                  </m:oMath>
                </a14:m>
                <a:r>
                  <a:rPr lang="en-US" sz="2400" dirty="0"/>
                  <a:t>.</a:t>
                </a:r>
              </a:p>
              <a:p>
                <a:r>
                  <a:rPr lang="en-US" sz="2400" dirty="0"/>
                  <a:t>Q-Q plots are more informative and reliable.</a:t>
                </a:r>
              </a:p>
            </p:txBody>
          </p:sp>
        </mc:Choice>
        <mc:Fallback>
          <p:sp>
            <p:nvSpPr>
              <p:cNvPr id="3" name="Content Placeholder 2">
                <a:extLst>
                  <a:ext uri="{FF2B5EF4-FFF2-40B4-BE49-F238E27FC236}">
                    <a16:creationId xmlns:a16="http://schemas.microsoft.com/office/drawing/2014/main" id="{E3AA554B-A625-96BE-FCB4-AAB9B4F25355}"/>
                  </a:ext>
                </a:extLst>
              </p:cNvPr>
              <p:cNvSpPr>
                <a:spLocks noGrp="1" noRot="1" noChangeAspect="1" noMove="1" noResize="1" noEditPoints="1" noAdjustHandles="1" noChangeArrowheads="1" noChangeShapeType="1" noTextEdit="1"/>
              </p:cNvSpPr>
              <p:nvPr>
                <p:ph idx="1"/>
              </p:nvPr>
            </p:nvSpPr>
            <p:spPr>
              <a:xfrm>
                <a:off x="838200" y="1825625"/>
                <a:ext cx="5079023" cy="4351338"/>
              </a:xfrm>
              <a:blipFill>
                <a:blip r:embed="rId2"/>
                <a:stretch>
                  <a:fillRect l="-1995" t="-2035" r="-748"/>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EE09678F-EA5F-5BA4-0807-FB4AEAC03522}"/>
              </a:ext>
            </a:extLst>
          </p:cNvPr>
          <p:cNvSpPr>
            <a:spLocks noGrp="1"/>
          </p:cNvSpPr>
          <p:nvPr>
            <p:ph type="sldNum" sz="quarter" idx="12"/>
          </p:nvPr>
        </p:nvSpPr>
        <p:spPr/>
        <p:txBody>
          <a:bodyPr/>
          <a:lstStyle/>
          <a:p>
            <a:fld id="{330EA680-D336-4FF7-8B7A-9848BB0A1C32}" type="slidenum">
              <a:rPr lang="en-US" smtClean="0"/>
              <a:t>55</a:t>
            </a:fld>
            <a:endParaRPr lang="en-US"/>
          </a:p>
        </p:txBody>
      </p:sp>
      <p:pic>
        <p:nvPicPr>
          <p:cNvPr id="6" name="Picture 5">
            <a:extLst>
              <a:ext uri="{FF2B5EF4-FFF2-40B4-BE49-F238E27FC236}">
                <a16:creationId xmlns:a16="http://schemas.microsoft.com/office/drawing/2014/main" id="{89EA864E-53F5-DB54-89D0-536FE131115A}"/>
              </a:ext>
            </a:extLst>
          </p:cNvPr>
          <p:cNvPicPr>
            <a:picLocks noChangeAspect="1"/>
          </p:cNvPicPr>
          <p:nvPr/>
        </p:nvPicPr>
        <p:blipFill>
          <a:blip r:embed="rId3"/>
          <a:stretch>
            <a:fillRect/>
          </a:stretch>
        </p:blipFill>
        <p:spPr>
          <a:xfrm>
            <a:off x="5917223" y="1679696"/>
            <a:ext cx="6171190" cy="4761422"/>
          </a:xfrm>
          <a:prstGeom prst="rect">
            <a:avLst/>
          </a:prstGeom>
        </p:spPr>
      </p:pic>
      <p:sp>
        <p:nvSpPr>
          <p:cNvPr id="5" name="Rectangle 4">
            <a:extLst>
              <a:ext uri="{FF2B5EF4-FFF2-40B4-BE49-F238E27FC236}">
                <a16:creationId xmlns:a16="http://schemas.microsoft.com/office/drawing/2014/main" id="{BC651AAC-81A4-BE9C-041E-017E9EE4B7D2}"/>
              </a:ext>
            </a:extLst>
          </p:cNvPr>
          <p:cNvSpPr/>
          <p:nvPr/>
        </p:nvSpPr>
        <p:spPr>
          <a:xfrm>
            <a:off x="8610600" y="4920011"/>
            <a:ext cx="2647590" cy="365125"/>
          </a:xfrm>
          <a:prstGeom prst="rect">
            <a:avLst/>
          </a:prstGeom>
          <a:noFill/>
          <a:ln w="28575">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1827098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F9FFB-B47D-A51A-D16B-66CC6801E4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81DB3D-8642-998F-85EB-7B35E5C5E492}"/>
              </a:ext>
            </a:extLst>
          </p:cNvPr>
          <p:cNvSpPr>
            <a:spLocks noGrp="1"/>
          </p:cNvSpPr>
          <p:nvPr>
            <p:ph type="title"/>
          </p:nvPr>
        </p:nvSpPr>
        <p:spPr/>
        <p:txBody>
          <a:bodyPr/>
          <a:lstStyle/>
          <a:p>
            <a:r>
              <a:rPr lang="en-US" dirty="0"/>
              <a:t>Python + </a:t>
            </a:r>
            <a:r>
              <a:rPr lang="en-US" dirty="0" err="1">
                <a:latin typeface="Courier New" panose="02070309020205020404" pitchFamily="49" charset="0"/>
                <a:cs typeface="Courier New" panose="02070309020205020404" pitchFamily="49" charset="0"/>
              </a:rPr>
              <a:t>statsmodels</a:t>
            </a:r>
            <a:r>
              <a:rPr lang="en-US" dirty="0"/>
              <a:t> Summary Output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6959748-B967-C76F-BF2D-99DE9473F33C}"/>
                  </a:ext>
                </a:extLst>
              </p:cNvPr>
              <p:cNvSpPr>
                <a:spLocks noGrp="1"/>
              </p:cNvSpPr>
              <p:nvPr>
                <p:ph idx="1"/>
              </p:nvPr>
            </p:nvSpPr>
            <p:spPr>
              <a:xfrm>
                <a:off x="838200" y="1825624"/>
                <a:ext cx="5079023" cy="4615493"/>
              </a:xfrm>
            </p:spPr>
            <p:txBody>
              <a:bodyPr>
                <a:normAutofit fontScale="92500"/>
              </a:bodyPr>
              <a:lstStyle/>
              <a:p>
                <a:pPr marL="0" indent="0">
                  <a:buNone/>
                </a:pPr>
                <a:r>
                  <a:rPr lang="en-US" sz="2400" dirty="0">
                    <a:cs typeface="Courier New" panose="02070309020205020404" pitchFamily="49" charset="0"/>
                  </a:rPr>
                  <a:t>Finally, </a:t>
                </a:r>
                <a:r>
                  <a:rPr lang="en-US" sz="2400" dirty="0" err="1">
                    <a:latin typeface="Courier New" panose="02070309020205020404" pitchFamily="49" charset="0"/>
                    <a:cs typeface="Courier New" panose="02070309020205020404" pitchFamily="49" charset="0"/>
                  </a:rPr>
                  <a:t>statsmodels</a:t>
                </a:r>
                <a:r>
                  <a:rPr lang="en-US" sz="2400" dirty="0">
                    <a:cs typeface="Courier New" panose="02070309020205020404" pitchFamily="49" charset="0"/>
                  </a:rPr>
                  <a:t> provides </a:t>
                </a:r>
                <a:r>
                  <a:rPr lang="en-US" sz="2400" b="1" dirty="0">
                    <a:cs typeface="Courier New" panose="02070309020205020404" pitchFamily="49" charset="0"/>
                  </a:rPr>
                  <a:t>condition number</a:t>
                </a:r>
                <a:r>
                  <a:rPr lang="en-US" sz="2400" dirty="0">
                    <a:cs typeface="Courier New" panose="02070309020205020404" pitchFamily="49" charset="0"/>
                  </a:rPr>
                  <a:t>. It is a numerical measure of multicollinearity. </a:t>
                </a:r>
              </a:p>
              <a:p>
                <a:r>
                  <a:rPr lang="en-US" sz="2200" dirty="0">
                    <a:cs typeface="Courier New" panose="02070309020205020404" pitchFamily="49" charset="0"/>
                  </a:rPr>
                  <a:t>It is the ratio of the largest to smallest singular value of the design matrix </a:t>
                </a:r>
                <a14:m>
                  <m:oMath xmlns:m="http://schemas.openxmlformats.org/officeDocument/2006/math">
                    <m:r>
                      <a:rPr lang="en-US" sz="2200" b="1" i="1" smtClean="0">
                        <a:latin typeface="Cambria Math" panose="02040503050406030204" pitchFamily="18" charset="0"/>
                        <a:cs typeface="Courier New" panose="02070309020205020404" pitchFamily="49" charset="0"/>
                      </a:rPr>
                      <m:t>𝑿</m:t>
                    </m:r>
                  </m:oMath>
                </a14:m>
                <a:r>
                  <a:rPr lang="en-US" sz="2200" dirty="0">
                    <a:cs typeface="Courier New" panose="02070309020205020404" pitchFamily="49" charset="0"/>
                  </a:rPr>
                  <a:t>.</a:t>
                </a:r>
              </a:p>
              <a:p>
                <a:pPr marL="0" indent="0">
                  <a:buNone/>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cs typeface="Courier New" panose="02070309020205020404" pitchFamily="49" charset="0"/>
                        </a:rPr>
                        <m:t>𝜅</m:t>
                      </m:r>
                      <m:r>
                        <a:rPr lang="en-US" sz="2200" b="0" i="1" smtClean="0">
                          <a:latin typeface="Cambria Math" panose="02040503050406030204" pitchFamily="18" charset="0"/>
                          <a:cs typeface="Courier New" panose="02070309020205020404" pitchFamily="49" charset="0"/>
                        </a:rPr>
                        <m:t>=</m:t>
                      </m:r>
                      <m:f>
                        <m:fPr>
                          <m:ctrlPr>
                            <a:rPr lang="en-US" sz="2200" b="0" i="1" smtClean="0">
                              <a:latin typeface="Cambria Math" panose="02040503050406030204" pitchFamily="18" charset="0"/>
                              <a:cs typeface="Courier New" panose="02070309020205020404" pitchFamily="49" charset="0"/>
                            </a:rPr>
                          </m:ctrlPr>
                        </m:fPr>
                        <m:num>
                          <m:sSub>
                            <m:sSubPr>
                              <m:ctrlPr>
                                <a:rPr lang="en-US" sz="2200" b="0" i="1" smtClean="0">
                                  <a:latin typeface="Cambria Math" panose="02040503050406030204" pitchFamily="18" charset="0"/>
                                  <a:cs typeface="Courier New" panose="02070309020205020404" pitchFamily="49" charset="0"/>
                                </a:rPr>
                              </m:ctrlPr>
                            </m:sSubPr>
                            <m:e>
                              <m:r>
                                <a:rPr lang="en-US" sz="2200" b="0" i="1" smtClean="0">
                                  <a:latin typeface="Cambria Math" panose="02040503050406030204" pitchFamily="18" charset="0"/>
                                  <a:cs typeface="Courier New" panose="02070309020205020404" pitchFamily="49" charset="0"/>
                                </a:rPr>
                                <m:t>𝜎</m:t>
                              </m:r>
                            </m:e>
                            <m:sub>
                              <m:func>
                                <m:funcPr>
                                  <m:ctrlPr>
                                    <a:rPr lang="en-US" sz="2200" b="0" i="1" smtClean="0">
                                      <a:latin typeface="Cambria Math" panose="02040503050406030204" pitchFamily="18" charset="0"/>
                                      <a:cs typeface="Courier New" panose="02070309020205020404" pitchFamily="49" charset="0"/>
                                    </a:rPr>
                                  </m:ctrlPr>
                                </m:funcPr>
                                <m:fName>
                                  <m:r>
                                    <m:rPr>
                                      <m:sty m:val="p"/>
                                    </m:rPr>
                                    <a:rPr lang="en-US" sz="2200" b="0" i="0" smtClean="0">
                                      <a:latin typeface="Cambria Math" panose="02040503050406030204" pitchFamily="18" charset="0"/>
                                      <a:cs typeface="Courier New" panose="02070309020205020404" pitchFamily="49" charset="0"/>
                                    </a:rPr>
                                    <m:t>max</m:t>
                                  </m:r>
                                </m:fName>
                                <m:e>
                                  <m:r>
                                    <a:rPr lang="en-US" sz="2200" b="0" i="1" smtClean="0">
                                      <a:latin typeface="Cambria Math" panose="02040503050406030204" pitchFamily="18" charset="0"/>
                                      <a:cs typeface="Courier New" panose="02070309020205020404" pitchFamily="49" charset="0"/>
                                    </a:rPr>
                                    <m:t> </m:t>
                                  </m:r>
                                </m:e>
                              </m:func>
                            </m:sub>
                          </m:sSub>
                        </m:num>
                        <m:den>
                          <m:sSub>
                            <m:sSubPr>
                              <m:ctrlPr>
                                <a:rPr lang="en-US" sz="2200" b="0" i="1" smtClean="0">
                                  <a:latin typeface="Cambria Math" panose="02040503050406030204" pitchFamily="18" charset="0"/>
                                  <a:cs typeface="Courier New" panose="02070309020205020404" pitchFamily="49" charset="0"/>
                                </a:rPr>
                              </m:ctrlPr>
                            </m:sSubPr>
                            <m:e>
                              <m:r>
                                <a:rPr lang="en-US" sz="2200" b="0" i="1" smtClean="0">
                                  <a:latin typeface="Cambria Math" panose="02040503050406030204" pitchFamily="18" charset="0"/>
                                  <a:cs typeface="Courier New" panose="02070309020205020404" pitchFamily="49" charset="0"/>
                                </a:rPr>
                                <m:t>𝜎</m:t>
                              </m:r>
                            </m:e>
                            <m:sub>
                              <m:func>
                                <m:funcPr>
                                  <m:ctrlPr>
                                    <a:rPr lang="en-US" sz="2200" b="0" i="1" smtClean="0">
                                      <a:latin typeface="Cambria Math" panose="02040503050406030204" pitchFamily="18" charset="0"/>
                                      <a:cs typeface="Courier New" panose="02070309020205020404" pitchFamily="49" charset="0"/>
                                    </a:rPr>
                                  </m:ctrlPr>
                                </m:funcPr>
                                <m:fName>
                                  <m:r>
                                    <m:rPr>
                                      <m:sty m:val="p"/>
                                    </m:rPr>
                                    <a:rPr lang="en-US" sz="2200" b="0" i="0" smtClean="0">
                                      <a:latin typeface="Cambria Math" panose="02040503050406030204" pitchFamily="18" charset="0"/>
                                      <a:cs typeface="Courier New" panose="02070309020205020404" pitchFamily="49" charset="0"/>
                                    </a:rPr>
                                    <m:t>min</m:t>
                                  </m:r>
                                </m:fName>
                                <m:e>
                                  <m:r>
                                    <a:rPr lang="en-US" sz="2200" b="0" i="1" smtClean="0">
                                      <a:latin typeface="Cambria Math" panose="02040503050406030204" pitchFamily="18" charset="0"/>
                                      <a:cs typeface="Courier New" panose="02070309020205020404" pitchFamily="49" charset="0"/>
                                    </a:rPr>
                                    <m:t> </m:t>
                                  </m:r>
                                </m:e>
                              </m:func>
                            </m:sub>
                          </m:sSub>
                        </m:den>
                      </m:f>
                    </m:oMath>
                  </m:oMathPara>
                </a14:m>
                <a:endParaRPr lang="en-US" sz="2200" dirty="0">
                  <a:cs typeface="Courier New" panose="02070309020205020404" pitchFamily="49" charset="0"/>
                </a:endParaRPr>
              </a:p>
              <a:p>
                <a:r>
                  <a:rPr lang="en-US" sz="2200" dirty="0">
                    <a:cs typeface="Courier New" panose="02070309020205020404" pitchFamily="49" charset="0"/>
                  </a:rPr>
                  <a:t>Smaller values </a:t>
                </a:r>
                <a14:m>
                  <m:oMath xmlns:m="http://schemas.openxmlformats.org/officeDocument/2006/math">
                    <m:d>
                      <m:dPr>
                        <m:ctrlPr>
                          <a:rPr lang="en-US" sz="2200" b="0" i="1" smtClean="0">
                            <a:latin typeface="Cambria Math" panose="02040503050406030204" pitchFamily="18" charset="0"/>
                            <a:cs typeface="Courier New" panose="02070309020205020404" pitchFamily="49" charset="0"/>
                          </a:rPr>
                        </m:ctrlPr>
                      </m:dPr>
                      <m:e>
                        <m:r>
                          <a:rPr lang="en-US" sz="2200" b="0" i="1" smtClean="0">
                            <a:latin typeface="Cambria Math" panose="02040503050406030204" pitchFamily="18" charset="0"/>
                            <a:cs typeface="Courier New" panose="02070309020205020404" pitchFamily="49" charset="0"/>
                          </a:rPr>
                          <m:t>&lt;30</m:t>
                        </m:r>
                      </m:e>
                    </m:d>
                    <m:r>
                      <a:rPr lang="en-US" sz="2200" b="0" i="1" smtClean="0">
                        <a:latin typeface="Cambria Math" panose="02040503050406030204" pitchFamily="18" charset="0"/>
                        <a:cs typeface="Courier New" panose="02070309020205020404" pitchFamily="49" charset="0"/>
                      </a:rPr>
                      <m:t> </m:t>
                    </m:r>
                  </m:oMath>
                </a14:m>
                <a:r>
                  <a:rPr lang="en-US" sz="2200" dirty="0">
                    <a:cs typeface="Courier New" panose="02070309020205020404" pitchFamily="49" charset="0"/>
                  </a:rPr>
                  <a:t>signal no multicollinearity, while larger values </a:t>
                </a:r>
                <a14:m>
                  <m:oMath xmlns:m="http://schemas.openxmlformats.org/officeDocument/2006/math">
                    <m:r>
                      <a:rPr lang="en-US" sz="2200" b="0" i="1" smtClean="0">
                        <a:latin typeface="Cambria Math" panose="02040503050406030204" pitchFamily="18" charset="0"/>
                        <a:cs typeface="Courier New" panose="02070309020205020404" pitchFamily="49" charset="0"/>
                      </a:rPr>
                      <m:t>(&gt;1000)</m:t>
                    </m:r>
                  </m:oMath>
                </a14:m>
                <a:r>
                  <a:rPr lang="en-US" sz="2200" dirty="0">
                    <a:cs typeface="Courier New" panose="02070309020205020404" pitchFamily="49" charset="0"/>
                  </a:rPr>
                  <a:t> signal severe multicollinearity… with sufficient observations.</a:t>
                </a:r>
              </a:p>
              <a:p>
                <a:pPr marL="0" indent="0">
                  <a:buNone/>
                </a:pPr>
                <a:r>
                  <a:rPr lang="en-US" sz="2400" dirty="0">
                    <a:cs typeface="Courier New" panose="02070309020205020404" pitchFamily="49" charset="0"/>
                  </a:rPr>
                  <a:t>When we discuss multicollinearity later this quarter, we will use other measures instead. </a:t>
                </a:r>
              </a:p>
            </p:txBody>
          </p:sp>
        </mc:Choice>
        <mc:Fallback>
          <p:sp>
            <p:nvSpPr>
              <p:cNvPr id="3" name="Content Placeholder 2">
                <a:extLst>
                  <a:ext uri="{FF2B5EF4-FFF2-40B4-BE49-F238E27FC236}">
                    <a16:creationId xmlns:a16="http://schemas.microsoft.com/office/drawing/2014/main" id="{16959748-B967-C76F-BF2D-99DE9473F33C}"/>
                  </a:ext>
                </a:extLst>
              </p:cNvPr>
              <p:cNvSpPr>
                <a:spLocks noGrp="1" noRot="1" noChangeAspect="1" noMove="1" noResize="1" noEditPoints="1" noAdjustHandles="1" noChangeArrowheads="1" noChangeShapeType="1" noTextEdit="1"/>
              </p:cNvSpPr>
              <p:nvPr>
                <p:ph idx="1"/>
              </p:nvPr>
            </p:nvSpPr>
            <p:spPr>
              <a:xfrm>
                <a:off x="838200" y="1825624"/>
                <a:ext cx="5079023" cy="4615493"/>
              </a:xfrm>
              <a:blipFill>
                <a:blip r:embed="rId2"/>
                <a:stretch>
                  <a:fillRect l="-1496" t="-1370" r="-249"/>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CE5436A7-8F60-B3C0-D487-27F3C5F8940C}"/>
              </a:ext>
            </a:extLst>
          </p:cNvPr>
          <p:cNvSpPr>
            <a:spLocks noGrp="1"/>
          </p:cNvSpPr>
          <p:nvPr>
            <p:ph type="sldNum" sz="quarter" idx="12"/>
          </p:nvPr>
        </p:nvSpPr>
        <p:spPr/>
        <p:txBody>
          <a:bodyPr/>
          <a:lstStyle/>
          <a:p>
            <a:fld id="{330EA680-D336-4FF7-8B7A-9848BB0A1C32}" type="slidenum">
              <a:rPr lang="en-US" smtClean="0"/>
              <a:t>56</a:t>
            </a:fld>
            <a:endParaRPr lang="en-US"/>
          </a:p>
        </p:txBody>
      </p:sp>
      <p:pic>
        <p:nvPicPr>
          <p:cNvPr id="6" name="Picture 5">
            <a:extLst>
              <a:ext uri="{FF2B5EF4-FFF2-40B4-BE49-F238E27FC236}">
                <a16:creationId xmlns:a16="http://schemas.microsoft.com/office/drawing/2014/main" id="{65C33DEB-FD8D-B14B-F80F-C43AC920C1BB}"/>
              </a:ext>
            </a:extLst>
          </p:cNvPr>
          <p:cNvPicPr>
            <a:picLocks noChangeAspect="1"/>
          </p:cNvPicPr>
          <p:nvPr/>
        </p:nvPicPr>
        <p:blipFill>
          <a:blip r:embed="rId3"/>
          <a:stretch>
            <a:fillRect/>
          </a:stretch>
        </p:blipFill>
        <p:spPr>
          <a:xfrm>
            <a:off x="5917223" y="1679696"/>
            <a:ext cx="6171190" cy="4761422"/>
          </a:xfrm>
          <a:prstGeom prst="rect">
            <a:avLst/>
          </a:prstGeom>
        </p:spPr>
      </p:pic>
      <p:sp>
        <p:nvSpPr>
          <p:cNvPr id="5" name="Rectangle 4">
            <a:extLst>
              <a:ext uri="{FF2B5EF4-FFF2-40B4-BE49-F238E27FC236}">
                <a16:creationId xmlns:a16="http://schemas.microsoft.com/office/drawing/2014/main" id="{5818DC64-4AA8-43F6-89CB-FF4C543355BC}"/>
              </a:ext>
            </a:extLst>
          </p:cNvPr>
          <p:cNvSpPr/>
          <p:nvPr/>
        </p:nvSpPr>
        <p:spPr>
          <a:xfrm>
            <a:off x="8610600" y="5240215"/>
            <a:ext cx="2647590" cy="211974"/>
          </a:xfrm>
          <a:prstGeom prst="rect">
            <a:avLst/>
          </a:prstGeom>
          <a:noFill/>
          <a:ln w="28575">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3352680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B853C-A4BA-69DB-E81D-67F33A01BA74}"/>
              </a:ext>
            </a:extLst>
          </p:cNvPr>
          <p:cNvSpPr>
            <a:spLocks noGrp="1"/>
          </p:cNvSpPr>
          <p:nvPr>
            <p:ph type="title"/>
          </p:nvPr>
        </p:nvSpPr>
        <p:spPr/>
        <p:txBody>
          <a:bodyPr/>
          <a:lstStyle/>
          <a:p>
            <a:r>
              <a:rPr lang="en-US" dirty="0"/>
              <a:t>Which tests or plots should we use?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6A200A1-044B-891F-5199-DE19E2FB87A2}"/>
                  </a:ext>
                </a:extLst>
              </p:cNvPr>
              <p:cNvSpPr>
                <a:spLocks noGrp="1"/>
              </p:cNvSpPr>
              <p:nvPr>
                <p:ph idx="1"/>
              </p:nvPr>
            </p:nvSpPr>
            <p:spPr/>
            <p:txBody>
              <a:bodyPr/>
              <a:lstStyle/>
              <a:p>
                <a:pPr marL="0" indent="0">
                  <a:buNone/>
                </a:pPr>
                <a:r>
                  <a:rPr lang="en-US" dirty="0"/>
                  <a:t>We just introduced a lot of diagnostic tools</a:t>
                </a:r>
              </a:p>
              <a:p>
                <a:r>
                  <a:rPr lang="en-US" dirty="0"/>
                  <a:t>This can be overwhelming</a:t>
                </a:r>
              </a:p>
              <a:p>
                <a:pPr lvl="1"/>
                <a:r>
                  <a:rPr lang="en-US" dirty="0"/>
                  <a:t>For prediction, minimizing </a:t>
                </a:r>
                <a14:m>
                  <m:oMath xmlns:m="http://schemas.openxmlformats.org/officeDocument/2006/math">
                    <m:r>
                      <a:rPr lang="en-US" b="0" i="1" smtClean="0">
                        <a:latin typeface="Cambria Math" panose="02040503050406030204" pitchFamily="18" charset="0"/>
                      </a:rPr>
                      <m:t>𝑀𝑆</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𝑇𝑒𝑠𝑡</m:t>
                        </m:r>
                      </m:sub>
                    </m:sSub>
                  </m:oMath>
                </a14:m>
                <a:r>
                  <a:rPr lang="en-US" dirty="0"/>
                  <a:t> remains our goal</a:t>
                </a:r>
              </a:p>
              <a:p>
                <a:pPr lvl="1"/>
                <a:r>
                  <a:rPr lang="en-US" dirty="0"/>
                  <a:t>Start with EDA to </a:t>
                </a:r>
                <a:r>
                  <a:rPr lang="en-US" i="1" dirty="0"/>
                  <a:t>understand</a:t>
                </a:r>
                <a:r>
                  <a:rPr lang="en-US" dirty="0"/>
                  <a:t> the data</a:t>
                </a:r>
              </a:p>
              <a:p>
                <a:pPr lvl="1"/>
                <a:r>
                  <a:rPr lang="en-US" dirty="0"/>
                  <a:t>Use the other plots to verify we have met our assumptions</a:t>
                </a:r>
              </a:p>
              <a:p>
                <a:pPr lvl="1"/>
                <a:r>
                  <a:rPr lang="en-US" dirty="0"/>
                  <a:t>Use tests to support what the plots are telling us</a:t>
                </a:r>
              </a:p>
              <a:p>
                <a:pPr lvl="1"/>
                <a:endParaRPr lang="en-US" dirty="0"/>
              </a:p>
            </p:txBody>
          </p:sp>
        </mc:Choice>
        <mc:Fallback>
          <p:sp>
            <p:nvSpPr>
              <p:cNvPr id="3" name="Content Placeholder 2">
                <a:extLst>
                  <a:ext uri="{FF2B5EF4-FFF2-40B4-BE49-F238E27FC236}">
                    <a16:creationId xmlns:a16="http://schemas.microsoft.com/office/drawing/2014/main" id="{D6A200A1-044B-891F-5199-DE19E2FB87A2}"/>
                  </a:ext>
                </a:extLst>
              </p:cNvPr>
              <p:cNvSpPr>
                <a:spLocks noGrp="1" noRot="1" noChangeAspect="1" noMove="1" noResize="1" noEditPoints="1" noAdjustHandles="1" noChangeArrowheads="1" noChangeShapeType="1" noTextEdit="1"/>
              </p:cNvSpPr>
              <p:nvPr>
                <p:ph idx="1"/>
              </p:nvPr>
            </p:nvSpPr>
            <p:spPr>
              <a:blipFill>
                <a:blip r:embed="rId2"/>
                <a:stretch>
                  <a:fillRect l="-1206" t="-2326"/>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84E19DE1-1D46-8CA3-DBBF-E68825CA7D81}"/>
              </a:ext>
            </a:extLst>
          </p:cNvPr>
          <p:cNvSpPr>
            <a:spLocks noGrp="1"/>
          </p:cNvSpPr>
          <p:nvPr>
            <p:ph type="sldNum" sz="quarter" idx="12"/>
          </p:nvPr>
        </p:nvSpPr>
        <p:spPr/>
        <p:txBody>
          <a:bodyPr/>
          <a:lstStyle/>
          <a:p>
            <a:fld id="{330EA680-D336-4FF7-8B7A-9848BB0A1C32}" type="slidenum">
              <a:rPr lang="en-US" smtClean="0"/>
              <a:t>57</a:t>
            </a:fld>
            <a:endParaRPr lang="en-US"/>
          </a:p>
        </p:txBody>
      </p:sp>
    </p:spTree>
    <p:extLst>
      <p:ext uri="{BB962C8B-B14F-4D97-AF65-F5344CB8AC3E}">
        <p14:creationId xmlns:p14="http://schemas.microsoft.com/office/powerpoint/2010/main" val="267587039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98C09-4B19-5835-49E1-D67BFB5C0EAE}"/>
              </a:ext>
            </a:extLst>
          </p:cNvPr>
          <p:cNvSpPr>
            <a:spLocks noGrp="1"/>
          </p:cNvSpPr>
          <p:nvPr>
            <p:ph type="title"/>
          </p:nvPr>
        </p:nvSpPr>
        <p:spPr/>
        <p:txBody>
          <a:bodyPr/>
          <a:lstStyle/>
          <a:p>
            <a:r>
              <a:rPr lang="en-US"/>
              <a:t>A hierarchy of model evaluation</a:t>
            </a:r>
          </a:p>
        </p:txBody>
      </p:sp>
      <p:sp>
        <p:nvSpPr>
          <p:cNvPr id="3" name="Content Placeholder 2">
            <a:extLst>
              <a:ext uri="{FF2B5EF4-FFF2-40B4-BE49-F238E27FC236}">
                <a16:creationId xmlns:a16="http://schemas.microsoft.com/office/drawing/2014/main" id="{6F165F42-6521-FBD0-28D7-2F39DAC56D5A}"/>
              </a:ext>
            </a:extLst>
          </p:cNvPr>
          <p:cNvSpPr>
            <a:spLocks noGrp="1"/>
          </p:cNvSpPr>
          <p:nvPr>
            <p:ph idx="1"/>
          </p:nvPr>
        </p:nvSpPr>
        <p:spPr/>
        <p:txBody>
          <a:bodyPr/>
          <a:lstStyle/>
          <a:p>
            <a:pPr marL="0" indent="0">
              <a:buNone/>
            </a:pPr>
            <a:r>
              <a:rPr lang="en-US" dirty="0"/>
              <a:t>As a technique:</a:t>
            </a:r>
          </a:p>
          <a:p>
            <a:r>
              <a:rPr lang="en-US" sz="2400" b="1" dirty="0"/>
              <a:t>Test MSE</a:t>
            </a:r>
            <a:r>
              <a:rPr lang="en-US" sz="2400" dirty="0"/>
              <a:t> — primary metric for prediction</a:t>
            </a:r>
          </a:p>
          <a:p>
            <a:r>
              <a:rPr lang="en-US" sz="2400" b="1" dirty="0"/>
              <a:t>Residual plots</a:t>
            </a:r>
            <a:r>
              <a:rPr lang="en-US" sz="2400" dirty="0"/>
              <a:t> — primary tool for diagnosing structure</a:t>
            </a:r>
          </a:p>
          <a:p>
            <a:r>
              <a:rPr lang="en-US" sz="2400" b="1" dirty="0"/>
              <a:t>Partial regression plots</a:t>
            </a:r>
            <a:r>
              <a:rPr lang="en-US" sz="2400" dirty="0"/>
              <a:t> — check linearity of each predictor</a:t>
            </a:r>
          </a:p>
          <a:p>
            <a:r>
              <a:rPr lang="en-US" sz="2400" b="1" dirty="0"/>
              <a:t>BP test</a:t>
            </a:r>
            <a:r>
              <a:rPr lang="en-US" sz="2400" dirty="0"/>
              <a:t>— supporting evidence</a:t>
            </a:r>
          </a:p>
          <a:p>
            <a:r>
              <a:rPr lang="en-US" sz="2400" b="1" dirty="0"/>
              <a:t>t‑tests and F‑tests</a:t>
            </a:r>
            <a:r>
              <a:rPr lang="en-US" sz="2400" dirty="0"/>
              <a:t> — inference</a:t>
            </a:r>
          </a:p>
          <a:p>
            <a:endParaRPr lang="en-US" sz="2400" dirty="0"/>
          </a:p>
          <a:p>
            <a:pPr marL="0" indent="0">
              <a:buNone/>
            </a:pPr>
            <a:r>
              <a:rPr lang="en-US" sz="2400" dirty="0"/>
              <a:t>Use your intuition!</a:t>
            </a:r>
          </a:p>
          <a:p>
            <a:endParaRPr lang="en-US" dirty="0"/>
          </a:p>
        </p:txBody>
      </p:sp>
      <p:sp>
        <p:nvSpPr>
          <p:cNvPr id="4" name="Slide Number Placeholder 3">
            <a:extLst>
              <a:ext uri="{FF2B5EF4-FFF2-40B4-BE49-F238E27FC236}">
                <a16:creationId xmlns:a16="http://schemas.microsoft.com/office/drawing/2014/main" id="{6A13A799-BDF2-DE36-7622-E89B6F356D3A}"/>
              </a:ext>
            </a:extLst>
          </p:cNvPr>
          <p:cNvSpPr>
            <a:spLocks noGrp="1"/>
          </p:cNvSpPr>
          <p:nvPr>
            <p:ph type="sldNum" sz="quarter" idx="12"/>
          </p:nvPr>
        </p:nvSpPr>
        <p:spPr/>
        <p:txBody>
          <a:bodyPr/>
          <a:lstStyle/>
          <a:p>
            <a:fld id="{330EA680-D336-4FF7-8B7A-9848BB0A1C32}" type="slidenum">
              <a:rPr lang="en-US" smtClean="0"/>
              <a:t>58</a:t>
            </a:fld>
            <a:endParaRPr lang="en-US"/>
          </a:p>
        </p:txBody>
      </p:sp>
    </p:spTree>
    <p:extLst>
      <p:ext uri="{BB962C8B-B14F-4D97-AF65-F5344CB8AC3E}">
        <p14:creationId xmlns:p14="http://schemas.microsoft.com/office/powerpoint/2010/main" val="3825654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5C1E69E284ED9449A95CFBB495AA443" ma:contentTypeVersion="7" ma:contentTypeDescription="Create a new document." ma:contentTypeScope="" ma:versionID="5134f0f29be4e88ef689aacbe9a8a085">
  <xsd:schema xmlns:xsd="http://www.w3.org/2001/XMLSchema" xmlns:xs="http://www.w3.org/2001/XMLSchema" xmlns:p="http://schemas.microsoft.com/office/2006/metadata/properties" xmlns:ns2="0e81aeba-3fbe-492c-aacc-230c0d934791" targetNamespace="http://schemas.microsoft.com/office/2006/metadata/properties" ma:root="true" ma:fieldsID="8520aad81508b9d4e6b398ff0f1c36fd" ns2:_="">
    <xsd:import namespace="0e81aeba-3fbe-492c-aacc-230c0d93479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e81aeba-3fbe-492c-aacc-230c0d93479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6E155B6-F5C5-410A-979A-1A6C1F398249}">
  <ds:schemaRefs>
    <ds:schemaRef ds:uri="http://schemas.microsoft.com/sharepoint/v3/contenttype/forms"/>
  </ds:schemaRefs>
</ds:datastoreItem>
</file>

<file path=customXml/itemProps2.xml><?xml version="1.0" encoding="utf-8"?>
<ds:datastoreItem xmlns:ds="http://schemas.openxmlformats.org/officeDocument/2006/customXml" ds:itemID="{FB91EDB9-1A86-4946-AF8F-98782AA7A8D4}">
  <ds:schemaRefs>
    <ds:schemaRef ds:uri="0e81aeba-3fbe-492c-aacc-230c0d93479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customXml/itemProps3.xml><?xml version="1.0" encoding="utf-8"?>
<ds:datastoreItem xmlns:ds="http://schemas.openxmlformats.org/officeDocument/2006/customXml" ds:itemID="{658BC304-DC2C-4F92-97A0-4E7A9C735621}">
  <ds:schemaRefs>
    <ds:schemaRef ds:uri="http://purl.org/dc/dcmitype/"/>
    <ds:schemaRef ds:uri="http://purl.org/dc/terms/"/>
    <ds:schemaRef ds:uri="http://schemas.microsoft.com/office/2006/documentManagement/types"/>
    <ds:schemaRef ds:uri="0e81aeba-3fbe-492c-aacc-230c0d934791"/>
    <ds:schemaRef ds:uri="http://schemas.microsoft.com/office/2006/metadata/properties"/>
    <ds:schemaRef ds:uri="http://purl.org/dc/elements/1.1/"/>
    <ds:schemaRef ds:uri="http://schemas.openxmlformats.org/package/2006/metadata/core-properties"/>
    <ds:schemaRef ds:uri="http://schemas.microsoft.com/office/infopath/2007/PartnerControls"/>
    <ds:schemaRef ds:uri="http://www.w3.org/XML/1998/namespace"/>
  </ds:schemaRefs>
</ds:datastoreItem>
</file>

<file path=docProps/app.xml><?xml version="1.0" encoding="utf-8"?>
<ep:Properties xmlns:ep="http://schemas.openxmlformats.org/officeDocument/2006/extended-properties" xmlns:vt="http://schemas.openxmlformats.org/officeDocument/2006/docPropsVTypes">
  <ep:Template>office theme</ep:Template>
  <ep:TotalTime>0</ep:TotalTime>
  <ep:Words>3316</ep:Words>
  <ep:Application>Microsoft Macintosh PowerPoint</ep:Application>
  <ep:PresentationFormat>Widescreen</ep:PresentationFormat>
  <ep:Paragraphs>414</ep:Paragraphs>
  <ep:Slides>53</ep:Slides>
  <ep:Notes>7</ep:Notes>
  <ep:HiddenSlides>0</ep:HiddenSlides>
  <ep:MMClips>0</ep:MMClips>
  <ep:ScaleCrop>false</ep:ScaleCrop>
  <ep:HeadingPairs>
    <vt:vector size="6" baseType="variant">
      <vt:variant>
        <vt:lpstr>Fonts Used</vt:lpstr>
      </vt:variant>
      <vt:variant>
        <vt:i4>5</vt:i4>
      </vt:variant>
      <vt:variant>
        <vt:lpstr>Theme</vt:lpstr>
      </vt:variant>
      <vt:variant>
        <vt:i4>1</vt:i4>
      </vt:variant>
      <vt:variant>
        <vt:lpstr>Slide Titles</vt:lpstr>
      </vt:variant>
      <vt:variant>
        <vt:i4>58</vt:i4>
      </vt:variant>
    </vt:vector>
  </ep:HeadingPairs>
  <ep:TitlesOfParts>
    <vt:vector size="64" baseType="lpstr">
      <vt:lpstr>Aptos</vt:lpstr>
      <vt:lpstr>Aptos Display</vt:lpstr>
      <vt:lpstr>Arial</vt:lpstr>
      <vt:lpstr>Cambria Math</vt:lpstr>
      <vt:lpstr>Courier New</vt:lpstr>
      <vt:lpstr>office theme</vt:lpstr>
      <vt:lpstr>OA3103: Data Analysis</vt:lpstr>
      <vt:lpstr>References</vt:lpstr>
      <vt:lpstr>PowerPoint Presentation</vt:lpstr>
      <vt:lpstr>Theory → Application </vt:lpstr>
      <vt:lpstr>Why we look at residuals at all</vt:lpstr>
      <vt:lpstr>Checking Residuals Against our “Big 3”</vt:lpstr>
      <vt:lpstr>Plot Types</vt:lpstr>
      <vt:lpstr>Residual Diagnostic: Checking Mean Zero Assumption</vt:lpstr>
      <vt:lpstr>Residuals vs. Fitted: e_i vs y ̂</vt:lpstr>
      <vt:lpstr>Residuals vs. Predictor(s): e_i vs x_i</vt:lpstr>
      <vt:lpstr>Checking the Constant Variance Assumption</vt:lpstr>
      <vt:lpstr>Heteroskedasticity</vt:lpstr>
      <vt:lpstr>Scale-Location, √(|e_i | ) vs y ̂</vt:lpstr>
      <vt:lpstr>The Breusch–Pagan (BP) Test </vt:lpstr>
      <vt:lpstr>The Breusch–Pagan (BP) Test </vt:lpstr>
      <vt:lpstr>BP Bottom Line</vt:lpstr>
      <vt:lpstr>Residual Diagnostic Tools: Checking Normality</vt:lpstr>
      <vt:lpstr>Normal Quantile–Quantile (Q-Q) Plot</vt:lpstr>
      <vt:lpstr>PowerPoint Presentation</vt:lpstr>
      <vt:lpstr>Residual Diagnostic Tools – Hands On</vt:lpstr>
      <vt:lpstr>Four Plots</vt:lpstr>
      <vt:lpstr>Residual Diagnostic Tools – Hands On</vt:lpstr>
      <vt:lpstr>Residual Diagnostic Tools – Hands On</vt:lpstr>
      <vt:lpstr>Residuals vs Fitted</vt:lpstr>
      <vt:lpstr>Residual Diagnostic Tools</vt:lpstr>
      <vt:lpstr>Residual Q-Q Plot</vt:lpstr>
      <vt:lpstr>Residual Diagnostic Tools – Hands On</vt:lpstr>
      <vt:lpstr>Scale-Location Plot</vt:lpstr>
      <vt:lpstr>Residual Diagnostic Tools – Hands On</vt:lpstr>
      <vt:lpstr>Residuals vs Leverage (Cook’s Distance)</vt:lpstr>
      <vt:lpstr>Residual Diagnostic Tools – Hands On</vt:lpstr>
      <vt:lpstr>Closer to R</vt:lpstr>
      <vt:lpstr>(Studentized) Residuals vs Leverage</vt:lpstr>
      <vt:lpstr>What about R’s Plot #4?</vt:lpstr>
      <vt:lpstr>Leverage and Cook’s Distance</vt:lpstr>
      <vt:lpstr>Python Woes</vt:lpstr>
      <vt:lpstr>PowerPoint Presentation</vt:lpstr>
      <vt:lpstr>Checking Residuals against Predictors</vt:lpstr>
      <vt:lpstr>Checking Residuals against Predictors</vt:lpstr>
      <vt:lpstr>PowerPoint Presentation</vt:lpstr>
      <vt:lpstr>While We’re Here…</vt:lpstr>
      <vt:lpstr>R’s lm() Summary- Multiple R-Squared</vt:lpstr>
      <vt:lpstr>R’s lm() Summary – Adjusted R-Squared</vt:lpstr>
      <vt:lpstr>R’s lm() Summary – F-tests</vt:lpstr>
      <vt:lpstr>R’s lm() Summary – t-tests</vt:lpstr>
      <vt:lpstr>R’s lm() Summary – t-tests</vt:lpstr>
      <vt:lpstr>R’s lm() Summary – t-tests</vt:lpstr>
      <vt:lpstr>R’s lm() Summary – t-tests</vt:lpstr>
      <vt:lpstr>R’s lm() Summary – Std. Error</vt:lpstr>
      <vt:lpstr>Python + statsmodels Summary Output</vt:lpstr>
      <vt:lpstr>Python + statsmodels Summary Output</vt:lpstr>
      <vt:lpstr>Python + statsmodels Summary Output</vt:lpstr>
      <vt:lpstr>Python + statsmodels Summary Output</vt:lpstr>
      <vt:lpstr>Python + statsmodels Summary Output</vt:lpstr>
      <vt:lpstr>Python + statsmodels Summary Output</vt:lpstr>
      <vt:lpstr>Python + statsmodels Summary Output</vt:lpstr>
      <vt:lpstr>Which tests or plots should we use?</vt:lpstr>
      <vt:lpstr>A hierarchy of model evaluation</vt:lpstr>
    </vt:vector>
  </ep:TitlesOfParts>
  <ep:LinksUpToDate>false</ep:LinksUpToDate>
  <ep:SharedDoc>false</ep:SharedDoc>
  <ep:HyperlinksChanged>false</ep:HyperlinksChanged>
  <ep:AppVersion>16.0000</ep:AppVersion>
</ep: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OA3103: Data Analysis</dc:title>
  <dc:creator/>
  <cp:lastModifiedBy>Singh, Paolo (CDR)</cp:lastModifiedBy>
  <cp:revision>1</cp:revision>
  <dcterms:created xsi:type="dcterms:W3CDTF">2026-04-07T19:55:26Z</dcterms:created>
  <dcterms:modified xsi:type="dcterms:W3CDTF">2026-04-24T23:00:56Z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0x010100B5C1E69E284ED9449A95CFBB495AA443</vt:lpwstr>
  </property>
  <property fmtid="{D5CDD505-2E9C-101B-9397-08002B2CF9AE}" pid="3" name="MSIP_Label_acbbd4a6-dc2f-44d9-ad2c-c28d4679873f_Enabled">
    <vt:lpwstr>true</vt:lpwstr>
  </property>
  <property fmtid="{D5CDD505-2E9C-101B-9397-08002B2CF9AE}" pid="4" name="MSIP_Label_acbbd4a6-dc2f-44d9-ad2c-c28d4679873f_SetDate">
    <vt:lpwstr>2026-04-17T04:35:40Z</vt:lpwstr>
  </property>
  <property fmtid="{D5CDD505-2E9C-101B-9397-08002B2CF9AE}" pid="5" name="MSIP_Label_acbbd4a6-dc2f-44d9-ad2c-c28d4679873f_Method">
    <vt:lpwstr>Privileged</vt:lpwstr>
  </property>
  <property fmtid="{D5CDD505-2E9C-101B-9397-08002B2CF9AE}" pid="6" name="MSIP_Label_acbbd4a6-dc2f-44d9-ad2c-c28d4679873f_Name">
    <vt:lpwstr>No Label</vt:lpwstr>
  </property>
  <property fmtid="{D5CDD505-2E9C-101B-9397-08002B2CF9AE}" pid="7" name="MSIP_Label_acbbd4a6-dc2f-44d9-ad2c-c28d4679873f_SiteId">
    <vt:lpwstr>6d936231-a517-40ea-9199-f7578963378e</vt:lpwstr>
  </property>
  <property fmtid="{D5CDD505-2E9C-101B-9397-08002B2CF9AE}" pid="8" name="MSIP_Label_acbbd4a6-dc2f-44d9-ad2c-c28d4679873f_ActionId">
    <vt:lpwstr>fe27e104-8566-487f-9ba8-243e65bcaa87</vt:lpwstr>
  </property>
  <property fmtid="{D5CDD505-2E9C-101B-9397-08002B2CF9AE}" pid="9" name="MSIP_Label_acbbd4a6-dc2f-44d9-ad2c-c28d4679873f_ContentBits">
    <vt:lpwstr>0</vt:lpwstr>
  </property>
  <property fmtid="{D5CDD505-2E9C-101B-9397-08002B2CF9AE}" pid="10" name="MSIP_Label_acbbd4a6-dc2f-44d9-ad2c-c28d4679873f_Tag">
    <vt:lpwstr>50, 0, 1, 1</vt:lpwstr>
  </property>
</Properties>
</file>