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452" r:id="rId6"/>
    <p:sldId id="431" r:id="rId7"/>
    <p:sldId id="437" r:id="rId8"/>
    <p:sldId id="433" r:id="rId9"/>
    <p:sldId id="438" r:id="rId10"/>
    <p:sldId id="439" r:id="rId11"/>
    <p:sldId id="440" r:id="rId12"/>
    <p:sldId id="441" r:id="rId13"/>
    <p:sldId id="442" r:id="rId14"/>
    <p:sldId id="443" r:id="rId15"/>
    <p:sldId id="444" r:id="rId16"/>
    <p:sldId id="445" r:id="rId17"/>
    <p:sldId id="446" r:id="rId18"/>
    <p:sldId id="448" r:id="rId19"/>
    <p:sldId id="447" r:id="rId20"/>
    <p:sldId id="449" r:id="rId21"/>
    <p:sldId id="450" r:id="rId22"/>
    <p:sldId id="45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C0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55:49.568" v="3" actId="2696"/>
      <pc:docMkLst>
        <pc:docMk/>
      </pc:docMkLst>
      <pc:sldChg chg="del">
        <pc:chgData name="christopher posadas" userId="c785335156d879ca" providerId="LiveId" clId="{C9D886FB-ED5B-489B-8330-669FD307C29D}" dt="2026-04-22T18:35:06.623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21.659" v="1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55:49.568" v="3" actId="2696"/>
        <pc:sldMkLst>
          <pc:docMk/>
          <pc:sldMk cId="2936228974" sldId="414"/>
        </pc:sldMkLst>
      </pc:sldChg>
      <pc:sldChg chg="del">
        <pc:chgData name="christopher posadas" userId="c785335156d879ca" providerId="LiveId" clId="{C9D886FB-ED5B-489B-8330-669FD307C29D}" dt="2026-04-22T18:27:21.656" v="0" actId="2696"/>
        <pc:sldMkLst>
          <pc:docMk/>
          <pc:sldMk cId="1134038755" sldId="4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MLR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 / 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FALSE</a:t>
            </a:r>
          </a:p>
          <a:p>
            <a:r>
              <a:rPr lang="en-US" dirty="0">
                <a:cs typeface="Courier New" panose="02070309020205020404" pitchFamily="49" charset="0"/>
              </a:rPr>
              <a:t>We used this in the train/test split code yesterday for selecting a single column of data.</a:t>
            </a:r>
          </a:p>
          <a:p>
            <a:r>
              <a:rPr lang="en-US" dirty="0">
                <a:cs typeface="Courier New" panose="02070309020205020404" pitchFamily="49" charset="0"/>
              </a:rPr>
              <a:t>If we take a subset of data that consists of only one column, R likes to convert it to a vector.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This causes issues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model.matrix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 because they expect data frames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]				</a:t>
            </a:r>
            <a:r>
              <a:rPr lang="en-US" sz="2000" dirty="0">
                <a:cs typeface="Courier New" panose="02070309020205020404" pitchFamily="49" charset="0"/>
              </a:rPr>
              <a:t>returns a vector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, drop =FALSE]		</a:t>
            </a:r>
            <a:r>
              <a:rPr lang="en-US" sz="2000" dirty="0">
                <a:cs typeface="Courier New" panose="02070309020205020404" pitchFamily="49" charset="0"/>
              </a:rPr>
              <a:t>preserves a data frame</a:t>
            </a:r>
          </a:p>
          <a:p>
            <a:r>
              <a:rPr lang="en-US" dirty="0">
                <a:cs typeface="Courier New" panose="02070309020205020404" pitchFamily="49" charset="0"/>
              </a:rPr>
              <a:t>In other words, R defaults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TRUE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Up: The “Big 4” Subspaces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6557" r="-200662" b="-4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6557" r="-100662" b="-4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6557" r="-662" b="-473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8868" r="-200662" b="-1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8868" r="-100662" b="-1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8868" r="-662" b="-172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4194" r="-200662" b="-19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4194" r="-100662" b="-19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4194" r="-662" b="-19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000" r="-200662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236390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2F49-7FF7-AEE3-66F2-167AA985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C798-65FC-AFCD-035D-DA1C876C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E138E-A958-2001-D165-F49BA70E3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 is a </a:t>
                </a:r>
                <a:r>
                  <a:rPr lang="en-US" b="1" dirty="0"/>
                  <a:t>unique</a:t>
                </a:r>
                <a:r>
                  <a:rPr lang="en-US" dirty="0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not zero. What does this mean?</a:t>
                </a:r>
              </a:p>
              <a:p>
                <a:r>
                  <a:rPr lang="en-US" dirty="0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happen?</a:t>
                </a:r>
              </a:p>
              <a:p>
                <a:r>
                  <a:rPr lang="en-US" i="1" dirty="0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i="1" dirty="0"/>
                  <a:t> </a:t>
                </a:r>
                <a:r>
                  <a:rPr lang="en-US" i="1" dirty="0"/>
                  <a:t>are linearly dependent. </a:t>
                </a:r>
                <a:r>
                  <a:rPr lang="en-US" dirty="0"/>
                  <a:t>What does this mean?</a:t>
                </a:r>
              </a:p>
              <a:p>
                <a:r>
                  <a:rPr lang="en-US" dirty="0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:r>
                  <a:rPr lang="en-US" i="1" dirty="0"/>
                  <a:t>not identified</a:t>
                </a:r>
                <a:r>
                  <a:rPr lang="en-US" dirty="0"/>
                  <a:t>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E138E-A958-2001-D165-F49BA70E3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07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853A-B93E-8396-3A11-A8D79301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3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B155-2786-8657-F44D-6737C687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108250-DE34-0BD5-1B8A-3C089009F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108250-DE34-0BD5-1B8A-3C089009F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9656-B35C-D38D-E3B5-B0E035C2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6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9284-1795-F11E-4A11-D304903E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08B7-1856-2C94-4E63-DACEC957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design matrix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vector of coefficients.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BB985-2FD0-3438-5E55-1B0DF20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4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CF3-054C-37D8-3737-A5D78607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F772-9F7F-0A6F-1007-D16731C2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Multiple Linear Regression, we can have multiple predictors.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Tradeoff:</a:t>
            </a:r>
          </a:p>
          <a:p>
            <a:pPr lvl="1"/>
            <a:r>
              <a:rPr lang="en-US" sz="2800" dirty="0"/>
              <a:t>Graphics are difficult in higher dimensions.</a:t>
            </a:r>
          </a:p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line.</a:t>
            </a: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7CFCB-4785-E6BA-CDEE-5FDE2DB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78ED-8F69-A88D-862B-70BF6EF3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2008-1B67-803A-19D9-1B5D32C9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703C-5058-9D88-A5E8-4216FAEDF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8"/>
            <a:ext cx="10515600" cy="4351338"/>
          </a:xfrm>
        </p:spPr>
        <p:txBody>
          <a:bodyPr/>
          <a:lstStyle/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345C-FA3D-C557-78D4-A6B1545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7BE26-DEF7-9014-CD69-CC7222C5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64" y="2241756"/>
            <a:ext cx="4272265" cy="4479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E3C5F-EE53-9B05-2729-849C99D24D18}"/>
              </a:ext>
            </a:extLst>
          </p:cNvPr>
          <p:cNvSpPr txBox="1"/>
          <p:nvPr/>
        </p:nvSpPr>
        <p:spPr>
          <a:xfrm>
            <a:off x="0" y="6551054"/>
            <a:ext cx="4689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i="1" dirty="0"/>
              <a:t>ISLP</a:t>
            </a:r>
            <a:r>
              <a:rPr lang="en-US" sz="12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150764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92D7-541E-321D-B801-736E0C84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a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AD03-76B5-1D3D-0F34-682B3D91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</a:t>
            </a:r>
          </a:p>
          <a:p>
            <a:r>
              <a:rPr lang="en-US" dirty="0"/>
              <a:t>Contains data on </a:t>
            </a:r>
          </a:p>
          <a:p>
            <a:pPr lvl="1"/>
            <a:r>
              <a:rPr lang="en-US" dirty="0"/>
              <a:t>(Selected) Response Variable: 	Sales	 	thousands of units</a:t>
            </a:r>
          </a:p>
          <a:p>
            <a:pPr lvl="1"/>
            <a:r>
              <a:rPr lang="en-US" dirty="0"/>
              <a:t>Predictors are advertising budgets:</a:t>
            </a:r>
            <a:br>
              <a:rPr lang="en-US" dirty="0"/>
            </a:br>
            <a:r>
              <a:rPr lang="en-US" dirty="0"/>
              <a:t>						TV		thousands of dollars</a:t>
            </a:r>
            <a:br>
              <a:rPr lang="en-US" dirty="0"/>
            </a:br>
            <a:r>
              <a:rPr lang="en-US" dirty="0"/>
              <a:t>						Radio		thousands of dollars</a:t>
            </a:r>
            <a:br>
              <a:rPr lang="en-US" dirty="0"/>
            </a:br>
            <a:r>
              <a:rPr lang="en-US" dirty="0"/>
              <a:t>						</a:t>
            </a:r>
            <a:r>
              <a:rPr lang="en-US" dirty="0" err="1"/>
              <a:t>Nespaper</a:t>
            </a:r>
            <a:r>
              <a:rPr lang="en-US" dirty="0"/>
              <a:t>	thousands of dollars</a:t>
            </a:r>
          </a:p>
          <a:p>
            <a:pPr lvl="1"/>
            <a:endParaRPr lang="en-US" dirty="0"/>
          </a:p>
          <a:p>
            <a:r>
              <a:rPr lang="en-US" dirty="0"/>
              <a:t>200 different markets.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B261-DF69-100E-AAC1-3209391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3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DBE6-92DD-40BF-0F34-ED8DBA78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22C9-2532-8937-166A-E4483797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at least one of the predictors (TV, Radio, Newspaper) useful in predicting the response (Sales)?</a:t>
            </a:r>
          </a:p>
          <a:p>
            <a:r>
              <a:rPr lang="en-US" dirty="0"/>
              <a:t>Do all of the predictors help to explain Sales, or is only a subset of predictors useful?</a:t>
            </a:r>
          </a:p>
          <a:p>
            <a:r>
              <a:rPr lang="en-US" dirty="0"/>
              <a:t>How well does the model fit the data?</a:t>
            </a:r>
          </a:p>
          <a:p>
            <a:r>
              <a:rPr lang="en-US" dirty="0"/>
              <a:t>Given a set of predictor values, what response value should we predict for Sales, and how accurate is our prediction?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326C-CD9D-7356-158C-19723C99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1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AD45-05BA-1943-AB6B-66695BF2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22A4-6273-A5B7-37DB-13A7FC41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 </a:t>
            </a:r>
            <a:r>
              <a:rPr lang="en-US" dirty="0"/>
              <a:t>is a cleaned dataset: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# Do any of the columns in advertising have missing values?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(is.na(advertising))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 0    TV   0    Radio    0    Newspaper    0    Sales    0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EAF6-6BB3-11A9-184F-3C2C58DF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4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90F47-3E84-93E8-0BF0-24A8271B1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D3187-89E2-86F8-F402-4FF4F050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EA2D-FEB3-C9F6-ACD0-F58F2705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52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9DDB-9F2C-5221-9759-8BACAFFC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ggpairs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46C8F-B11A-6941-1BD7-8474AD7B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1DF40-AFD8-1A9B-E4C5-A8554660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7B9AD4-3655-02AF-07B3-2479A492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GGally</a:t>
            </a:r>
            <a:r>
              <a:rPr lang="en-US" dirty="0"/>
              <a:t> package in R</a:t>
            </a:r>
          </a:p>
        </p:txBody>
      </p:sp>
    </p:spTree>
    <p:extLst>
      <p:ext uri="{BB962C8B-B14F-4D97-AF65-F5344CB8AC3E}">
        <p14:creationId xmlns:p14="http://schemas.microsoft.com/office/powerpoint/2010/main" val="815080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8D36-46A9-9BDF-3023-DDDC48F3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790A-BF2F-82B9-97F6-413A37B4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predictors have the strongest correlation with Sales?</a:t>
            </a:r>
          </a:p>
          <a:p>
            <a:r>
              <a:rPr lang="en-US" dirty="0"/>
              <a:t>Which predictors have the strongest correlation with each other?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99DA-5CF5-41D5-0841-D26670A0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8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B23E1B-C5FC-D503-E540-90763E45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62EC0F-750B-94A0-22A3-FF8CC762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063C-4F40-64E0-2899-0B65A74A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corrplot</a:t>
            </a:r>
            <a:r>
              <a:rPr lang="en-US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33ED-BD90-3676-278F-8EFDD40A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5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6E8C-AB86-309E-5792-0964CC40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1040-5675-AA68-F7CA-1E270393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R, we build an MLR model with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C077-9A78-9EA7-5B9D-11F373B3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1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265E-015E-7567-CBB1-5E8C4D77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168-CA6E-81A3-4ECB-72D618A8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5034-BE6C-E305-D56F-BD9C18A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765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we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cs typeface="Courier New" panose="02070309020205020404" pitchFamily="49" charset="0"/>
              </a:rPr>
              <a:t> package: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statsmodels.formula.api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smf.ols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("Y ~ X1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data=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).fit()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 When using the formula interface, we don’t need to build a design matrix manually.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6559-C09E-3ACC-D667-7B4D7FE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24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0D00-67C2-DDE0-77A4-E74B9B29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CB16-BE0F-E288-83AF-E3879013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EB22-D113-1F24-50B8-B2E7C410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prediction</a:t>
            </a:r>
            <a:r>
              <a:rPr lang="en-US" dirty="0">
                <a:cs typeface="Courier New" panose="02070309020205020404" pitchFamily="49" charset="0"/>
              </a:rPr>
              <a:t> we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endParaRPr 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model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[["X1", "X2", "X3"]],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["Y"])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*No summary output like in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61F6-16D3-1A40-3A3F-CDB2440A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2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912</Words>
  <Application>Microsoft Office PowerPoint</Application>
  <PresentationFormat>Widescreen</PresentationFormat>
  <Paragraphs>137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Clarification / Clean Up</vt:lpstr>
      <vt:lpstr>Clean Up: The “Big 4” Subspaces</vt:lpstr>
      <vt:lpstr>Identifiability</vt:lpstr>
      <vt:lpstr>Non-Identifiability Example</vt:lpstr>
      <vt:lpstr>Multiple Linear Regression</vt:lpstr>
      <vt:lpstr>Multiple Linear Regression</vt:lpstr>
      <vt:lpstr>What is Different?</vt:lpstr>
      <vt:lpstr>What is Different?</vt:lpstr>
      <vt:lpstr>Let’s Look at a Dataset</vt:lpstr>
      <vt:lpstr>Some Important Questions</vt:lpstr>
      <vt:lpstr>Start with EDA</vt:lpstr>
      <vt:lpstr>Scatterplot Matrix</vt:lpstr>
      <vt:lpstr>ggpairs</vt:lpstr>
      <vt:lpstr>Things to Note</vt:lpstr>
      <vt:lpstr>Correlation  Heatmap</vt:lpstr>
      <vt:lpstr>New Commands</vt:lpstr>
      <vt:lpstr>New Commands</vt:lpstr>
      <vt:lpstr>New 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>Singh, Paolo (CDR)</dc:creator>
  <cp:lastModifiedBy>christopher posadas</cp:lastModifiedBy>
  <cp:revision>3</cp:revision>
  <dcterms:created xsi:type="dcterms:W3CDTF">2026-04-07T19:55:26Z</dcterms:created>
  <dcterms:modified xsi:type="dcterms:W3CDTF">2026-04-22T18:55:49Z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