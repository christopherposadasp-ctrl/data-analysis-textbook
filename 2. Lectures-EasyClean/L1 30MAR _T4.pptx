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331" r:id="rId7"/>
    <p:sldId id="332" r:id="rId8"/>
    <p:sldId id="1329" r:id="rId9"/>
    <p:sldId id="275" r:id="rId10"/>
    <p:sldId id="302" r:id="rId11"/>
    <p:sldId id="1330" r:id="rId12"/>
    <p:sldId id="1332" r:id="rId13"/>
    <p:sldId id="263" r:id="rId14"/>
    <p:sldId id="264" r:id="rId15"/>
    <p:sldId id="265" r:id="rId16"/>
    <p:sldId id="266" r:id="rId17"/>
    <p:sldId id="133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9855" autoAdjust="0"/>
  </p:normalViewPr>
  <p:slideViewPr>
    <p:cSldViewPr snapToGrid="0">
      <p:cViewPr varScale="1">
        <p:scale>
          <a:sx n="77" d="100"/>
          <a:sy n="77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54:52.169" v="0" actId="2696"/>
      <pc:docMkLst>
        <pc:docMk/>
      </pc:docMkLst>
      <pc:sldChg chg="del">
        <pc:chgData name="christopher posadas" userId="c785335156d879ca" providerId="LiveId" clId="{C9D886FB-ED5B-489B-8330-669FD307C29D}" dt="2026-04-22T18:54:52.169" v="0" actId="2696"/>
        <pc:sldMkLst>
          <pc:docMk/>
          <pc:sldMk cId="3763150084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D59C2-381A-411E-932F-E74AADCD057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2BE5-3065-486E-BA5C-8603D95DB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3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7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𝛽_1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𝛽_2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33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61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12CA-0D7C-EEF6-64EA-34114BD9D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DFB00-DB84-FC9E-A9A2-EEF084786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7527-D551-9689-D132-D720ED72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402D-3098-0E96-5C3F-CF468B43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D43B-4992-F232-201B-4A285C07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4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F83B-D189-3EF4-33BE-E29D48DE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7E11-EA7E-1641-F731-0488EEB4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2495-9028-D65B-D1B5-335FD58E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9D02-9F72-DDAC-139E-B86F6C27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C9339-29D7-3E7A-53CC-1EBEF231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5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505F-B716-FEFD-2008-BEBA90C2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39AB5-BD86-2D86-B52E-3B625648D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46D1-6CCD-BA09-4C46-4E615CE1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D6BE1-3FE1-B7C7-BA88-00E87629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7A80-A7F8-C4EB-B8F4-B0D29390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6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7A63-3371-B23F-C731-8952D928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1336-A053-1BD6-B6FA-7326F0C0F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B3DAA-C1FC-DBCB-A833-3A2993FBC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2702-0226-D78D-C776-1DF1A390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5A0D-1EAB-9DB6-7108-CEF2A16B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F6CCA-46D3-621F-3016-014BB229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47BE-4D8E-DEF6-744B-FA7AE03A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C4606-6B70-A571-B197-75D687F4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F0E0F-8ECE-2FAB-74E2-65A24390E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AA9EC-1D4A-E085-C46D-30B98ED43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E5009-59CB-F38C-0623-27BECE2BD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6733C-AFBB-85EF-4222-DBD3361B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49AD6-6630-333F-A96A-C7E2929C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4541F-45D6-9B54-F1CB-FA2E7F05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7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F6BC-8954-56F9-41A0-306CAAFE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42D1A-3278-D46C-6E75-F69EF40C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07279-CEA9-EED1-D617-803C54C4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03BF2-8BE4-5012-2C9E-873D3D38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8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D84A-FBAE-7E41-7897-8F1C712F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F697B-C615-DBB0-3CA4-3E3E75C1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C8427-D077-C2AE-15C1-F26F60F7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F299-6611-191B-8686-3465A6A0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EE03-EB43-FB99-1E97-CF34BD89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8ADA9-AA2A-EE5C-5B34-19964AF58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79DA1-E53F-CAA5-C1E2-641DDF51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D01CC-A341-ECBA-196E-ED15EB6D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4F45-41C2-ADE7-B93C-816FB5B7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7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110F-29C3-1291-8E10-1875CE7D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08B64-6FDA-0F1D-3FEF-802835BF4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57A4A-22B8-0BB2-A130-29C422173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5434E-6357-C812-BC9F-EBF5FE03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DE148-A8C0-B255-95D0-094A292B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9C46-4462-1A28-4C71-524D3EB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1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4AE5-08FF-5556-B5B0-1C8E2102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A74CE-E508-0B59-FF58-49A4B3684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ABF47-FC4D-CF64-E033-47C21C99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1075-DD6D-FB6A-2339-15445450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64301-4B63-6C54-37CC-B182C312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3D762-E8C1-81D7-68E9-7F684B457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3C2F3-B9B3-E03B-397A-B050203B2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B85E-F91F-19F7-AA99-D8CD0732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75FA-2848-FBFF-58AE-988E6B0B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7C1D-5317-8D0A-018E-BADA23F4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87170-D830-A5A2-569E-67BA90D8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E393-E4B2-2568-BD5E-90EF701CC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1B4F-3347-3A0C-C603-7D8D4A41E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C756-6C9A-6C35-A32A-8195D986E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FE98-31E2-209C-D456-77E24D6D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4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3093-5636-E755-B337-88CF6480D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0290"/>
            <a:ext cx="9144000" cy="1207008"/>
          </a:xfrm>
        </p:spPr>
        <p:txBody>
          <a:bodyPr>
            <a:normAutofit/>
          </a:bodyPr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DF0DC-F1F7-3BF2-7975-74E1D39E7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528" y="4983098"/>
            <a:ext cx="9144000" cy="649224"/>
          </a:xfrm>
        </p:spPr>
        <p:txBody>
          <a:bodyPr/>
          <a:lstStyle/>
          <a:p>
            <a:r>
              <a:rPr lang="en-US" dirty="0"/>
              <a:t>CDR Paolo “</a:t>
            </a:r>
            <a:r>
              <a:rPr lang="en-US" dirty="0" err="1"/>
              <a:t>Schwarma</a:t>
            </a:r>
            <a:r>
              <a:rPr lang="en-US" dirty="0"/>
              <a:t>” Singh, USN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0977E1-8760-696B-0AC4-BF4C6883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3557778"/>
            <a:ext cx="3143250" cy="108585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5A3DFF2-5271-B3AC-C1A3-02FF4404C02C}"/>
              </a:ext>
            </a:extLst>
          </p:cNvPr>
          <p:cNvSpPr txBox="1">
            <a:spLocks/>
          </p:cNvSpPr>
          <p:nvPr/>
        </p:nvSpPr>
        <p:spPr>
          <a:xfrm>
            <a:off x="1533144" y="4983098"/>
            <a:ext cx="9144000" cy="64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CDR Paolo “</a:t>
            </a:r>
            <a:r>
              <a:rPr lang="en-US" dirty="0" err="1"/>
              <a:t>Schwarma</a:t>
            </a:r>
            <a:r>
              <a:rPr lang="en-US" dirty="0"/>
              <a:t>” Singh, USN, PhD</a:t>
            </a:r>
          </a:p>
        </p:txBody>
      </p:sp>
    </p:spTree>
    <p:extLst>
      <p:ext uri="{BB962C8B-B14F-4D97-AF65-F5344CB8AC3E}">
        <p14:creationId xmlns:p14="http://schemas.microsoft.com/office/powerpoint/2010/main" val="250911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BF72-E4B3-9738-0947-A8D968CB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258A-984F-B0BA-05EA-007E83A91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modeling (statistical learning) class</a:t>
            </a:r>
          </a:p>
          <a:p>
            <a:r>
              <a:rPr lang="en-US" dirty="0"/>
              <a:t>Bridges what you learned in OA3101/3102</a:t>
            </a:r>
          </a:p>
          <a:p>
            <a:r>
              <a:rPr lang="en-US" dirty="0"/>
              <a:t>Tools for advanced methods leading to Machine Learning (OA4106/4118)</a:t>
            </a:r>
          </a:p>
        </p:txBody>
      </p:sp>
    </p:spTree>
    <p:extLst>
      <p:ext uri="{BB962C8B-B14F-4D97-AF65-F5344CB8AC3E}">
        <p14:creationId xmlns:p14="http://schemas.microsoft.com/office/powerpoint/2010/main" val="3391539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750-75BA-8BAC-5CDC-BACB6A0D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F007A-471D-4445-329F-C75D5A7E9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  <a:p>
            <a:r>
              <a:rPr lang="en-US" dirty="0"/>
              <a:t>Examples?</a:t>
            </a:r>
          </a:p>
          <a:p>
            <a:endParaRPr lang="en-US" dirty="0"/>
          </a:p>
          <a:p>
            <a:r>
              <a:rPr lang="en-US" dirty="0"/>
              <a:t>Input vs Output (response)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74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73CC-FD65-A37C-795E-DA3BAD12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vs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95FB-3A4B-F96E-2667-F87AD053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we’ve probably done a lot with </a:t>
            </a:r>
            <a:r>
              <a:rPr lang="en-US" i="1" dirty="0"/>
              <a:t>inference</a:t>
            </a:r>
          </a:p>
          <a:p>
            <a:r>
              <a:rPr lang="en-US" dirty="0"/>
              <a:t>Given input variables/parameters, what can we say about certain parameters and their effect on the output?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65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D0F2-EE9E-B7D8-4A51-9AE06B06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DA187-DB15-F177-D568-410DB10C5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input variables, what can we expect the output variable to be?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04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312773A9-FD3B-7E73-6F48-9B738741A460}"/>
              </a:ext>
            </a:extLst>
          </p:cNvPr>
          <p:cNvSpPr/>
          <p:nvPr/>
        </p:nvSpPr>
        <p:spPr>
          <a:xfrm>
            <a:off x="3434484" y="303248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18D990-4D8B-E1C5-4D63-5D84B1B7B5A3}"/>
              </a:ext>
            </a:extLst>
          </p:cNvPr>
          <p:cNvSpPr txBox="1">
            <a:spLocks/>
          </p:cNvSpPr>
          <p:nvPr/>
        </p:nvSpPr>
        <p:spPr>
          <a:xfrm>
            <a:off x="610796" y="1618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Regression and Classification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6C5B4-D3DE-2823-ABCA-425B476BDD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21857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r>
              <a:rPr lang="en-US" sz="1800" dirty="0"/>
              <a:t>Linear Regression Model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479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Classification</a:t>
            </a:r>
          </a:p>
          <a:p>
            <a:pPr marL="0" indent="0">
              <a:buNone/>
            </a:pPr>
            <a:r>
              <a:rPr lang="en-US" sz="1800" dirty="0"/>
              <a:t>Logistic Regression Model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5BC113-5097-6F4E-B3FB-5F43AE0161FA}"/>
              </a:ext>
            </a:extLst>
          </p:cNvPr>
          <p:cNvCxnSpPr>
            <a:cxnSpLocks/>
          </p:cNvCxnSpPr>
          <p:nvPr/>
        </p:nvCxnSpPr>
        <p:spPr>
          <a:xfrm flipV="1">
            <a:off x="1262726" y="3107570"/>
            <a:ext cx="2529911" cy="1769166"/>
          </a:xfrm>
          <a:prstGeom prst="line">
            <a:avLst/>
          </a:prstGeom>
          <a:ln w="2222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3055196" y="330836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blipFill>
                <a:blip r:embed="rId2"/>
                <a:stretch>
                  <a:fillRect l="-4211" t="-8333" r="-4211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749D675-86A8-8340-8C15-7B7C993C753B}"/>
              </a:ext>
            </a:extLst>
          </p:cNvPr>
          <p:cNvCxnSpPr>
            <a:cxnSpLocks/>
          </p:cNvCxnSpPr>
          <p:nvPr/>
        </p:nvCxnSpPr>
        <p:spPr>
          <a:xfrm flipV="1">
            <a:off x="7718198" y="3316282"/>
            <a:ext cx="860997" cy="1364981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/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  <a:alpha val="7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alpha val="7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bg2">
                                      <a:lumMod val="50000"/>
                                      <a:alpha val="7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4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7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8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9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6E098D-0948-E169-9BD9-9BD632928603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101436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5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84" grpId="0"/>
      <p:bldP spid="60" grpId="0"/>
      <p:bldP spid="61" grpId="0"/>
      <p:bldP spid="62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8E15-8512-6921-59FB-DF1D5C2D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 Classification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E27C24-5721-EFDD-3878-F6E7CB24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8689B73E-71F3-BB20-DD8B-DECE9027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5629275"/>
            <a:ext cx="80010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F69728-E0BB-7668-85AA-49312FDF91C4}"/>
              </a:ext>
            </a:extLst>
          </p:cNvPr>
          <p:cNvSpPr txBox="1"/>
          <p:nvPr/>
        </p:nvSpPr>
        <p:spPr>
          <a:xfrm>
            <a:off x="9815548" y="2412266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cat logit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D84E3-53E8-F367-CC45-DA1587277352}"/>
              </a:ext>
            </a:extLst>
          </p:cNvPr>
          <p:cNvSpPr txBox="1"/>
          <p:nvPr/>
        </p:nvSpPr>
        <p:spPr>
          <a:xfrm>
            <a:off x="9815548" y="3054519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dog logit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80AE2-C3F8-2BF0-77C9-D79FA0CC6CF4}"/>
              </a:ext>
            </a:extLst>
          </p:cNvPr>
          <p:cNvSpPr txBox="1"/>
          <p:nvPr/>
        </p:nvSpPr>
        <p:spPr>
          <a:xfrm>
            <a:off x="9815548" y="3696772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ship logit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33157-5F95-5F06-5A8A-63C40492D051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527918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FDF83A-2CC4-C076-E160-C048460C8C5B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87282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5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6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7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blipFill>
                <a:blip r:embed="rId8"/>
                <a:stretch>
                  <a:fillRect l="-2797" t="-8333" r="-2797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/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>
            <a:extLst>
              <a:ext uri="{FF2B5EF4-FFF2-40B4-BE49-F238E27FC236}">
                <a16:creationId xmlns:a16="http://schemas.microsoft.com/office/drawing/2014/main" id="{B213CA86-30D2-25FB-C7CA-EAD963775017}"/>
              </a:ext>
            </a:extLst>
          </p:cNvPr>
          <p:cNvSpPr/>
          <p:nvPr/>
        </p:nvSpPr>
        <p:spPr>
          <a:xfrm rot="5400000">
            <a:off x="-805283" y="730618"/>
            <a:ext cx="4241183" cy="3466447"/>
          </a:xfrm>
          <a:prstGeom prst="arc">
            <a:avLst>
              <a:gd name="adj1" fmla="val 16155139"/>
              <a:gd name="adj2" fmla="val 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86F837-A021-6A35-90F5-B1D6F5B7662A}"/>
              </a:ext>
            </a:extLst>
          </p:cNvPr>
          <p:cNvSpPr/>
          <p:nvPr/>
        </p:nvSpPr>
        <p:spPr>
          <a:xfrm>
            <a:off x="7744653" y="3063955"/>
            <a:ext cx="922435" cy="9343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811E4-E126-FC5A-D806-7F3B5941DA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86978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6220-883C-B3F2-168A-6B092E3C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05B5-DEB3-8806-7C5F-BA403743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Fully-connected Neural Network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3DC09-0A0E-2BFB-F132-EC3700D8F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55CCAD-F76C-5A62-C5EF-865DA94E55FB}"/>
              </a:ext>
            </a:extLst>
          </p:cNvPr>
          <p:cNvSpPr/>
          <p:nvPr/>
        </p:nvSpPr>
        <p:spPr>
          <a:xfrm>
            <a:off x="9804400" y="2041524"/>
            <a:ext cx="15494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F94D5-9948-D355-8216-3B171C3E9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6" r="11302" b="17343"/>
          <a:stretch/>
        </p:blipFill>
        <p:spPr bwMode="auto">
          <a:xfrm>
            <a:off x="9804400" y="1654175"/>
            <a:ext cx="1630019" cy="291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/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blipFill>
                <a:blip r:embed="rId3"/>
                <a:stretch>
                  <a:fillRect r="-1379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/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blipFill>
                <a:blip r:embed="rId4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1E874E-D04D-38CB-8544-FBFBD00FE32A}"/>
              </a:ext>
            </a:extLst>
          </p:cNvPr>
          <p:cNvSpPr txBox="1"/>
          <p:nvPr/>
        </p:nvSpPr>
        <p:spPr>
          <a:xfrm>
            <a:off x="8974147" y="4815261"/>
            <a:ext cx="228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Non-Linearity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3C13CD-3419-FFE8-1A85-2ADA5CAF0834}"/>
              </a:ext>
            </a:extLst>
          </p:cNvPr>
          <p:cNvCxnSpPr>
            <a:cxnSpLocks/>
          </p:cNvCxnSpPr>
          <p:nvPr/>
        </p:nvCxnSpPr>
        <p:spPr>
          <a:xfrm flipV="1">
            <a:off x="10118458" y="4516467"/>
            <a:ext cx="0" cy="2795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EDBE3A-E9CC-3485-FDC1-C82E66F239AD}"/>
              </a:ext>
            </a:extLst>
          </p:cNvPr>
          <p:cNvSpPr txBox="1"/>
          <p:nvPr/>
        </p:nvSpPr>
        <p:spPr>
          <a:xfrm>
            <a:off x="10448567" y="2365404"/>
            <a:ext cx="755374" cy="400110"/>
          </a:xfrm>
          <a:prstGeom prst="rect">
            <a:avLst/>
          </a:prstGeom>
          <a:solidFill>
            <a:srgbClr val="F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BAF7C63F-E6FC-F716-E976-137D3C53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96" y="4656248"/>
            <a:ext cx="3711232" cy="211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267503-5CAB-9CA0-838C-FF50B917CD5C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4182396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F673-4AD6-6183-1CD0-D544E9BE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Reproducibility and Defensibility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B00E-08D5-3195-5DD3-418F0169D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Reproducibility (What we </a:t>
            </a:r>
            <a:r>
              <a:rPr lang="en-US" i="1" dirty="0"/>
              <a:t>do</a:t>
            </a:r>
            <a:r>
              <a:rPr lang="en-US" dirty="0"/>
              <a:t>):</a:t>
            </a:r>
          </a:p>
          <a:p>
            <a:r>
              <a:rPr lang="en-US" dirty="0"/>
              <a:t>Same code + Same data = same results</a:t>
            </a:r>
          </a:p>
          <a:p>
            <a:r>
              <a:rPr lang="en-US" dirty="0"/>
              <a:t>Clear workflow</a:t>
            </a:r>
          </a:p>
          <a:p>
            <a:r>
              <a:rPr lang="en-US" dirty="0"/>
              <a:t>Document our assumptions, transformations, and decisions</a:t>
            </a:r>
          </a:p>
          <a:p>
            <a:r>
              <a:rPr lang="en-US" dirty="0"/>
              <a:t>Your future self (and others) should be able to rerun the analysis without guessing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F311B-C948-81AD-4D92-D10E2BCBFB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Defensibility (What we </a:t>
            </a:r>
            <a:r>
              <a:rPr lang="en-US" i="1" dirty="0"/>
              <a:t>explain</a:t>
            </a:r>
            <a:r>
              <a:rPr lang="en-US" dirty="0"/>
              <a:t>):</a:t>
            </a:r>
          </a:p>
          <a:p>
            <a:r>
              <a:rPr lang="en-US" dirty="0"/>
              <a:t>To our customer / Commander</a:t>
            </a:r>
          </a:p>
          <a:p>
            <a:r>
              <a:rPr lang="en-US" dirty="0"/>
              <a:t>Why this model?</a:t>
            </a:r>
          </a:p>
          <a:p>
            <a:r>
              <a:rPr lang="en-US" dirty="0"/>
              <a:t>What assumptions does our method rely on?</a:t>
            </a:r>
          </a:p>
          <a:p>
            <a:r>
              <a:rPr lang="en-US" dirty="0"/>
              <a:t>What alternatives did we consider?</a:t>
            </a:r>
          </a:p>
        </p:txBody>
      </p:sp>
    </p:spTree>
    <p:extLst>
      <p:ext uri="{BB962C8B-B14F-4D97-AF65-F5344CB8AC3E}">
        <p14:creationId xmlns:p14="http://schemas.microsoft.com/office/powerpoint/2010/main" val="327958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6C94-996B-FC5A-6053-5601ED93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of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A9E2-B842-F525-449F-10EC4BEF4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Come prepared</a:t>
            </a:r>
          </a:p>
          <a:p>
            <a:r>
              <a:rPr lang="en-US" dirty="0"/>
              <a:t>Engage (not just attend)</a:t>
            </a:r>
          </a:p>
          <a:p>
            <a:r>
              <a:rPr lang="en-US" dirty="0"/>
              <a:t>Be honest and humble (i.e. ask questions!)</a:t>
            </a:r>
          </a:p>
          <a:p>
            <a:r>
              <a:rPr lang="en-US" dirty="0"/>
              <a:t>Communicate</a:t>
            </a:r>
          </a:p>
          <a:p>
            <a:pPr lvl="1"/>
            <a:r>
              <a:rPr lang="en-US" sz="2800" dirty="0"/>
              <a:t>Mulligan policy</a:t>
            </a:r>
          </a:p>
          <a:p>
            <a:r>
              <a:rPr lang="en-US" dirty="0"/>
              <a:t>Learn something every day</a:t>
            </a:r>
          </a:p>
          <a:p>
            <a:r>
              <a:rPr lang="en-US" dirty="0"/>
              <a:t>Look out for each other</a:t>
            </a:r>
          </a:p>
        </p:txBody>
      </p:sp>
    </p:spTree>
    <p:extLst>
      <p:ext uri="{BB962C8B-B14F-4D97-AF65-F5344CB8AC3E}">
        <p14:creationId xmlns:p14="http://schemas.microsoft.com/office/powerpoint/2010/main" val="4268052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AAE-5E42-AF6A-42AE-00710EC6E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F386C-1145-9A5B-0ABE-EDAD6135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the primary workflow (ISLP textbook)</a:t>
            </a:r>
          </a:p>
          <a:p>
            <a:r>
              <a:rPr lang="en-US" dirty="0"/>
              <a:t>R is essential for OA4106 next quarter</a:t>
            </a:r>
          </a:p>
          <a:p>
            <a:r>
              <a:rPr lang="en-US" dirty="0"/>
              <a:t>We will work with both</a:t>
            </a:r>
          </a:p>
          <a:p>
            <a:pPr lvl="1"/>
            <a:r>
              <a:rPr lang="en-US" dirty="0"/>
              <a:t>VS Code /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Codespace</a:t>
            </a:r>
            <a:endParaRPr lang="en-US" dirty="0"/>
          </a:p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May be done in either Python or R</a:t>
            </a:r>
          </a:p>
          <a:p>
            <a:pPr lvl="1"/>
            <a:r>
              <a:rPr lang="en-US" dirty="0"/>
              <a:t>Some small tasks will explicitly ask for both</a:t>
            </a:r>
          </a:p>
        </p:txBody>
      </p:sp>
    </p:spTree>
    <p:extLst>
      <p:ext uri="{BB962C8B-B14F-4D97-AF65-F5344CB8AC3E}">
        <p14:creationId xmlns:p14="http://schemas.microsoft.com/office/powerpoint/2010/main" val="1438919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E7E5-CC85-0EC1-40CA-422B58EA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of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492E-5C83-DE4E-7F29-6BF8131E3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time teaching the course</a:t>
            </a:r>
          </a:p>
          <a:p>
            <a:pPr lvl="1"/>
            <a:r>
              <a:rPr lang="en-US" dirty="0"/>
              <a:t>I’ve taken it with both Bob </a:t>
            </a:r>
            <a:r>
              <a:rPr lang="en-US" dirty="0" err="1"/>
              <a:t>Koyak</a:t>
            </a:r>
            <a:r>
              <a:rPr lang="en-US" dirty="0"/>
              <a:t> and Robert Bassett</a:t>
            </a:r>
          </a:p>
          <a:p>
            <a:r>
              <a:rPr lang="en-US" dirty="0"/>
              <a:t>Course is evolving</a:t>
            </a:r>
          </a:p>
          <a:p>
            <a:pPr lvl="1"/>
            <a:r>
              <a:rPr lang="en-US" dirty="0"/>
              <a:t>Intent: We will learn a lot together</a:t>
            </a:r>
          </a:p>
          <a:p>
            <a:r>
              <a:rPr lang="en-US" dirty="0"/>
              <a:t>Open and upfront</a:t>
            </a:r>
          </a:p>
          <a:p>
            <a:pPr lvl="1"/>
            <a:r>
              <a:rPr lang="en-US" dirty="0"/>
              <a:t>My contract to you: No BS</a:t>
            </a:r>
          </a:p>
          <a:p>
            <a:r>
              <a:rPr lang="en-US" dirty="0"/>
              <a:t>Prof. Alderson’s guidance</a:t>
            </a:r>
          </a:p>
        </p:txBody>
      </p:sp>
    </p:spTree>
    <p:extLst>
      <p:ext uri="{BB962C8B-B14F-4D97-AF65-F5344CB8AC3E}">
        <p14:creationId xmlns:p14="http://schemas.microsoft.com/office/powerpoint/2010/main" val="675369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CDA1F-56B5-9BC4-72A6-1DBF221C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know when a Fighter Pilot walks into a room?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ADE60-11E8-2D96-1FB4-104F1813F5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F/A-18C/E/F Pilot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Permanent Military Professor</a:t>
                </a:r>
              </a:p>
              <a:p>
                <a:r>
                  <a:rPr lang="en-US" dirty="0"/>
                  <a:t>Aviation Community</a:t>
                </a:r>
              </a:p>
              <a:p>
                <a:r>
                  <a:rPr lang="en-US" dirty="0"/>
                  <a:t>Command Tour in Navy Recruiting</a:t>
                </a:r>
              </a:p>
              <a:p>
                <a:r>
                  <a:rPr lang="en-US" dirty="0"/>
                  <a:t>More expectations</a:t>
                </a:r>
              </a:p>
              <a:p>
                <a:endParaRPr lang="en-US" dirty="0"/>
              </a:p>
              <a:p>
                <a:r>
                  <a:rPr lang="en-US" dirty="0"/>
                  <a:t>Fine policy:</a:t>
                </a:r>
              </a:p>
              <a:p>
                <a:pPr lvl="1"/>
                <a:r>
                  <a:rPr lang="en-US" dirty="0"/>
                  <a:t>$10.00 per “major” offense</a:t>
                </a:r>
              </a:p>
              <a:p>
                <a:pPr lvl="1"/>
                <a:r>
                  <a:rPr lang="en-US" dirty="0"/>
                  <a:t>$2.00 per “minor” offense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3ADE60-11E8-2D96-1FB4-104F1813F5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68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DEBA-512C-ED3E-635E-54888D46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2050" name="Picture 2" descr="A colorful scribbles on a white background&#10;&#10;AI-generated content may be incorrect.">
            <a:extLst>
              <a:ext uri="{FF2B5EF4-FFF2-40B4-BE49-F238E27FC236}">
                <a16:creationId xmlns:a16="http://schemas.microsoft.com/office/drawing/2014/main" id="{670A87C9-992B-F847-81D6-E1E2E5454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117" y="525292"/>
            <a:ext cx="5287177" cy="390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jet flying in the air&#10;&#10;AI-generated content may be incorrect.">
            <a:extLst>
              <a:ext uri="{FF2B5EF4-FFF2-40B4-BE49-F238E27FC236}">
                <a16:creationId xmlns:a16="http://schemas.microsoft.com/office/drawing/2014/main" id="{4E6B9BEC-0AA4-B67E-98B5-976CA29E0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015574"/>
            <a:ext cx="6013654" cy="339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65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790</Words>
  <Application>Microsoft Office PowerPoint</Application>
  <PresentationFormat>Widescreen</PresentationFormat>
  <Paragraphs>155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OA3103: Data Analysis</vt:lpstr>
      <vt:lpstr>Welcome to Data Analysis</vt:lpstr>
      <vt:lpstr>Data?</vt:lpstr>
      <vt:lpstr>Inference vs Prediction</vt:lpstr>
      <vt:lpstr>Prediction</vt:lpstr>
      <vt:lpstr>PowerPoint Presentation</vt:lpstr>
      <vt:lpstr>Model: Linear</vt:lpstr>
      <vt:lpstr>Model: Linear Classification</vt:lpstr>
      <vt:lpstr>Data: Non-linear</vt:lpstr>
      <vt:lpstr>Model: Non-linear</vt:lpstr>
      <vt:lpstr>Model: Fully-connected Neural Network Layer</vt:lpstr>
      <vt:lpstr>Reproducibility and Defensibility</vt:lpstr>
      <vt:lpstr>Expectations of you</vt:lpstr>
      <vt:lpstr>Programming Software</vt:lpstr>
      <vt:lpstr>Expectations of Me</vt:lpstr>
      <vt:lpstr>How do you know when a Fighter Pilot walks into a room?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5</cp:revision>
  <dcterms:created xsi:type="dcterms:W3CDTF">2026-03-30T14:29:23Z</dcterms:created>
  <dcterms:modified xsi:type="dcterms:W3CDTF">2026-04-22T18:54:52Z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2026-03-30T14:46:15Z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d48e9fd2-069b-42a8-ac90-3320df63b347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</Properties>
</file>